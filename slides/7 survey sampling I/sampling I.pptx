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86"/>
  </p:notesMasterIdLst>
  <p:sldIdLst>
    <p:sldId id="256" r:id="rId2"/>
    <p:sldId id="262" r:id="rId3"/>
    <p:sldId id="263" r:id="rId4"/>
    <p:sldId id="264" r:id="rId5"/>
    <p:sldId id="265" r:id="rId6"/>
    <p:sldId id="273" r:id="rId7"/>
    <p:sldId id="272" r:id="rId8"/>
    <p:sldId id="354" r:id="rId9"/>
    <p:sldId id="267" r:id="rId10"/>
    <p:sldId id="269" r:id="rId11"/>
    <p:sldId id="270" r:id="rId12"/>
    <p:sldId id="271" r:id="rId13"/>
    <p:sldId id="355" r:id="rId14"/>
    <p:sldId id="356" r:id="rId15"/>
    <p:sldId id="365" r:id="rId16"/>
    <p:sldId id="366" r:id="rId17"/>
    <p:sldId id="367" r:id="rId18"/>
    <p:sldId id="358" r:id="rId19"/>
    <p:sldId id="293" r:id="rId20"/>
    <p:sldId id="359" r:id="rId21"/>
    <p:sldId id="363" r:id="rId22"/>
    <p:sldId id="364" r:id="rId23"/>
    <p:sldId id="370" r:id="rId24"/>
    <p:sldId id="275" r:id="rId25"/>
    <p:sldId id="371" r:id="rId26"/>
    <p:sldId id="276" r:id="rId27"/>
    <p:sldId id="372" r:id="rId28"/>
    <p:sldId id="374" r:id="rId29"/>
    <p:sldId id="379" r:id="rId30"/>
    <p:sldId id="380" r:id="rId31"/>
    <p:sldId id="375" r:id="rId32"/>
    <p:sldId id="376" r:id="rId33"/>
    <p:sldId id="369" r:id="rId34"/>
    <p:sldId id="295" r:id="rId35"/>
    <p:sldId id="360" r:id="rId36"/>
    <p:sldId id="296" r:id="rId37"/>
    <p:sldId id="362" r:id="rId38"/>
    <p:sldId id="377" r:id="rId39"/>
    <p:sldId id="416" r:id="rId40"/>
    <p:sldId id="383" r:id="rId41"/>
    <p:sldId id="384" r:id="rId42"/>
    <p:sldId id="381" r:id="rId43"/>
    <p:sldId id="278" r:id="rId44"/>
    <p:sldId id="396" r:id="rId45"/>
    <p:sldId id="417" r:id="rId46"/>
    <p:sldId id="378" r:id="rId47"/>
    <p:sldId id="418" r:id="rId48"/>
    <p:sldId id="279" r:id="rId49"/>
    <p:sldId id="280" r:id="rId50"/>
    <p:sldId id="281" r:id="rId51"/>
    <p:sldId id="386" r:id="rId52"/>
    <p:sldId id="387" r:id="rId53"/>
    <p:sldId id="388" r:id="rId54"/>
    <p:sldId id="385" r:id="rId55"/>
    <p:sldId id="282" r:id="rId56"/>
    <p:sldId id="389" r:id="rId57"/>
    <p:sldId id="392" r:id="rId58"/>
    <p:sldId id="391" r:id="rId59"/>
    <p:sldId id="393" r:id="rId60"/>
    <p:sldId id="394" r:id="rId61"/>
    <p:sldId id="395" r:id="rId62"/>
    <p:sldId id="399" r:id="rId63"/>
    <p:sldId id="400" r:id="rId64"/>
    <p:sldId id="401" r:id="rId65"/>
    <p:sldId id="402" r:id="rId66"/>
    <p:sldId id="420" r:id="rId67"/>
    <p:sldId id="397" r:id="rId68"/>
    <p:sldId id="398" r:id="rId69"/>
    <p:sldId id="403" r:id="rId70"/>
    <p:sldId id="283" r:id="rId71"/>
    <p:sldId id="404" r:id="rId72"/>
    <p:sldId id="421" r:id="rId73"/>
    <p:sldId id="288" r:id="rId74"/>
    <p:sldId id="405" r:id="rId75"/>
    <p:sldId id="406" r:id="rId76"/>
    <p:sldId id="407" r:id="rId77"/>
    <p:sldId id="408" r:id="rId78"/>
    <p:sldId id="409" r:id="rId79"/>
    <p:sldId id="410" r:id="rId80"/>
    <p:sldId id="411" r:id="rId81"/>
    <p:sldId id="412" r:id="rId82"/>
    <p:sldId id="413" r:id="rId83"/>
    <p:sldId id="414" r:id="rId84"/>
    <p:sldId id="415" r:id="rId85"/>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91" autoAdjust="0"/>
    <p:restoredTop sz="85897" autoAdjust="0"/>
  </p:normalViewPr>
  <p:slideViewPr>
    <p:cSldViewPr snapToGrid="0">
      <p:cViewPr varScale="1">
        <p:scale>
          <a:sx n="74" d="100"/>
          <a:sy n="74" d="100"/>
        </p:scale>
        <p:origin x="176" y="81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9/30/24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population has been defined - in particular, the target and the survey population - the next step is to establish a means of access to it. The frame will provide this means of access. In its simplest form the frame is a list of elements covering the survey population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list, map, or other </a:t>
            </a:r>
            <a:r>
              <a:rPr lang="en-US" dirty="0" err="1"/>
              <a:t>specication</a:t>
            </a:r>
            <a:r>
              <a:rPr lang="en-US" dirty="0"/>
              <a:t> of units in the population from which a sample may be selected. Examples include a list of all university students, a telephone directory, or a map of geographic areas.</a:t>
            </a:r>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7</a:t>
            </a:fld>
            <a:endParaRPr lang="en-US"/>
          </a:p>
        </p:txBody>
      </p:sp>
    </p:spTree>
    <p:extLst>
      <p:ext uri="{BB962C8B-B14F-4D97-AF65-F5344CB8AC3E}">
        <p14:creationId xmlns:p14="http://schemas.microsoft.com/office/powerpoint/2010/main" val="283112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8</a:t>
            </a:fld>
            <a:endParaRPr lang="en-US"/>
          </a:p>
        </p:txBody>
      </p:sp>
    </p:spTree>
    <p:extLst>
      <p:ext uri="{BB962C8B-B14F-4D97-AF65-F5344CB8AC3E}">
        <p14:creationId xmlns:p14="http://schemas.microsoft.com/office/powerpoint/2010/main" val="2737143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probability sample is not guaranteed to mirror the </a:t>
            </a:r>
            <a:r>
              <a:rPr lang="en-US" dirty="0" err="1"/>
              <a:t>popul</a:t>
            </a:r>
            <a:r>
              <a:rPr lang="en-US" dirty="0"/>
              <a:t> </a:t>
            </a:r>
            <a:r>
              <a:rPr lang="en-US" dirty="0" err="1"/>
              <a:t>ation</a:t>
            </a:r>
            <a:r>
              <a:rPr lang="en-US" dirty="0"/>
              <a:t> with regard to the characteristics of interest, but we can quantify what </a:t>
            </a:r>
            <a:r>
              <a:rPr lang="en-US" dirty="0" err="1"/>
              <a:t>propor</a:t>
            </a:r>
            <a:r>
              <a:rPr lang="en-US" dirty="0"/>
              <a:t> </a:t>
            </a:r>
            <a:r>
              <a:rPr lang="en-US" dirty="0" err="1"/>
              <a:t>tion</a:t>
            </a:r>
            <a:r>
              <a:rPr lang="en-US" dirty="0"/>
              <a:t> of the possible samples will give a statistic that is within a </a:t>
            </a:r>
            <a:r>
              <a:rPr lang="en-US" dirty="0" err="1"/>
              <a:t>xed</a:t>
            </a:r>
            <a:r>
              <a:rPr lang="en-US" dirty="0"/>
              <a:t> degree of tolerance from the </a:t>
            </a:r>
            <a:r>
              <a:rPr lang="en-US" dirty="0" err="1"/>
              <a:t>popul</a:t>
            </a:r>
            <a:r>
              <a:rPr lang="en-US" dirty="0"/>
              <a:t> </a:t>
            </a:r>
            <a:r>
              <a:rPr lang="en-US" dirty="0" err="1"/>
              <a:t>ation</a:t>
            </a:r>
            <a:r>
              <a:rPr lang="en-US" dirty="0"/>
              <a:t> quantity.</a:t>
            </a:r>
          </a:p>
        </p:txBody>
      </p:sp>
      <p:sp>
        <p:nvSpPr>
          <p:cNvPr id="4" name="Slide Number Placeholder 3"/>
          <p:cNvSpPr>
            <a:spLocks noGrp="1"/>
          </p:cNvSpPr>
          <p:nvPr>
            <p:ph type="sldNum" sz="quarter" idx="5"/>
          </p:nvPr>
        </p:nvSpPr>
        <p:spPr/>
        <p:txBody>
          <a:bodyPr/>
          <a:lstStyle/>
          <a:p>
            <a:fld id="{E0925CEA-CE71-402A-A3BD-05AB42F89E39}" type="slidenum">
              <a:rPr lang="en-US" smtClean="0"/>
              <a:t>13</a:t>
            </a:fld>
            <a:endParaRPr lang="en-US"/>
          </a:p>
        </p:txBody>
      </p:sp>
    </p:spTree>
    <p:extLst>
      <p:ext uri="{BB962C8B-B14F-4D97-AF65-F5344CB8AC3E}">
        <p14:creationId xmlns:p14="http://schemas.microsoft.com/office/powerpoint/2010/main" val="414436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xfrm>
            <a:off x="1371600" y="1143000"/>
            <a:ext cx="4114800" cy="3086100"/>
          </a:xfrm>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564ED61-26A6-44FA-9DC0-BEF60CC3EBBA}" type="slidenum">
              <a:rPr kumimoji="0" lang="en-US" altLang="en-US" sz="1200" b="0" i="0" u="none" strike="noStrike" kern="1200" cap="none" spc="0" normalizeH="0" baseline="0" noProof="0" smtClean="0">
                <a:ln>
                  <a:noFill/>
                </a:ln>
                <a:solidFill>
                  <a:prstClr val="black"/>
                </a:solidFill>
                <a:effectLst/>
                <a:uLnTx/>
                <a:uFillTx/>
                <a:latin typeface="Arial"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2634505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from </a:t>
            </a:r>
            <a:r>
              <a:rPr lang="en-US" dirty="0">
                <a:solidFill>
                  <a:srgbClr val="FF0000"/>
                </a:solidFill>
              </a:rPr>
              <a:t>https://</a:t>
            </a:r>
            <a:r>
              <a:rPr lang="en-US" dirty="0" err="1">
                <a:solidFill>
                  <a:srgbClr val="FF0000"/>
                </a:solidFill>
              </a:rPr>
              <a:t>www.questionpro.com</a:t>
            </a:r>
            <a:r>
              <a:rPr lang="en-US" dirty="0">
                <a:solidFill>
                  <a:srgbClr val="FF0000"/>
                </a:solidFill>
              </a:rPr>
              <a:t>/blog/probability-sampling/</a:t>
            </a:r>
          </a:p>
          <a:p>
            <a:endParaRPr lang="en-US" dirty="0"/>
          </a:p>
        </p:txBody>
      </p:sp>
      <p:sp>
        <p:nvSpPr>
          <p:cNvPr id="4" name="Slide Number Placeholder 3"/>
          <p:cNvSpPr>
            <a:spLocks noGrp="1"/>
          </p:cNvSpPr>
          <p:nvPr>
            <p:ph type="sldNum" sz="quarter" idx="5"/>
          </p:nvPr>
        </p:nvSpPr>
        <p:spPr/>
        <p:txBody>
          <a:bodyPr/>
          <a:lstStyle/>
          <a:p>
            <a:fld id="{9475402E-8C76-FA4C-94D1-82B3B93F5D01}" type="slidenum">
              <a:rPr lang="en-US" smtClean="0"/>
              <a:t>24</a:t>
            </a:fld>
            <a:endParaRPr lang="en-US"/>
          </a:p>
        </p:txBody>
      </p:sp>
    </p:spTree>
    <p:extLst>
      <p:ext uri="{BB962C8B-B14F-4D97-AF65-F5344CB8AC3E}">
        <p14:creationId xmlns:p14="http://schemas.microsoft.com/office/powerpoint/2010/main" val="231678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31</a:t>
            </a:fld>
            <a:endParaRPr lang="en-US"/>
          </a:p>
        </p:txBody>
      </p:sp>
    </p:spTree>
    <p:extLst>
      <p:ext uri="{BB962C8B-B14F-4D97-AF65-F5344CB8AC3E}">
        <p14:creationId xmlns:p14="http://schemas.microsoft.com/office/powerpoint/2010/main" val="3128962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take a sample survey, it is not </a:t>
            </a:r>
            <a:r>
              <a:rPr lang="en-US" dirty="0" err="1"/>
              <a:t>suf</a:t>
            </a:r>
            <a:r>
              <a:rPr lang="en-US" dirty="0"/>
              <a:t> </a:t>
            </a:r>
            <a:r>
              <a:rPr lang="en-US" dirty="0" err="1"/>
              <a:t>cient</a:t>
            </a:r>
            <a:r>
              <a:rPr lang="en-US" dirty="0"/>
              <a:t> to simply report the average height of trees or the sample proportion of voters who intend to vote for Candidate B in the next election. You also need to give an indication of how accurate your estimates are. Con </a:t>
            </a:r>
            <a:r>
              <a:rPr lang="en-US" dirty="0" err="1"/>
              <a:t>dence</a:t>
            </a:r>
            <a:r>
              <a:rPr lang="en-US" dirty="0"/>
              <a:t> intervals (CIs) indicate the accuracy of an estimate. A 95% con </a:t>
            </a:r>
            <a:r>
              <a:rPr lang="en-US" dirty="0" err="1"/>
              <a:t>dence</a:t>
            </a:r>
            <a:r>
              <a:rPr lang="en-US" dirty="0"/>
              <a:t> interval is often explained he</a:t>
            </a:r>
          </a:p>
        </p:txBody>
      </p:sp>
      <p:sp>
        <p:nvSpPr>
          <p:cNvPr id="4" name="Slide Number Placeholder 3"/>
          <p:cNvSpPr>
            <a:spLocks noGrp="1"/>
          </p:cNvSpPr>
          <p:nvPr>
            <p:ph type="sldNum" sz="quarter" idx="5"/>
          </p:nvPr>
        </p:nvSpPr>
        <p:spPr/>
        <p:txBody>
          <a:bodyPr/>
          <a:lstStyle/>
          <a:p>
            <a:fld id="{E0925CEA-CE71-402A-A3BD-05AB42F89E39}" type="slidenum">
              <a:rPr lang="en-US" smtClean="0"/>
              <a:t>32</a:t>
            </a:fld>
            <a:endParaRPr lang="en-US"/>
          </a:p>
        </p:txBody>
      </p:sp>
    </p:spTree>
    <p:extLst>
      <p:ext uri="{BB962C8B-B14F-4D97-AF65-F5344CB8AC3E}">
        <p14:creationId xmlns:p14="http://schemas.microsoft.com/office/powerpoint/2010/main" val="1213676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designing an SRS must decide what amount of sampling error in the estimates is tolerable and must balance the precision of the estimates with the cost of the survey. Even though many variables may be measured, an investigator can often focus on one or two responses that are of primary interest in the survey, and use these for estimating a sample size.</a:t>
            </a:r>
          </a:p>
        </p:txBody>
      </p:sp>
      <p:sp>
        <p:nvSpPr>
          <p:cNvPr id="4" name="Slide Number Placeholder 3"/>
          <p:cNvSpPr>
            <a:spLocks noGrp="1"/>
          </p:cNvSpPr>
          <p:nvPr>
            <p:ph type="sldNum" sz="quarter" idx="5"/>
          </p:nvPr>
        </p:nvSpPr>
        <p:spPr/>
        <p:txBody>
          <a:bodyPr/>
          <a:lstStyle/>
          <a:p>
            <a:fld id="{E0925CEA-CE71-402A-A3BD-05AB42F89E39}" type="slidenum">
              <a:rPr lang="en-US" smtClean="0"/>
              <a:t>40</a:t>
            </a:fld>
            <a:endParaRPr lang="en-US"/>
          </a:p>
        </p:txBody>
      </p:sp>
    </p:spTree>
    <p:extLst>
      <p:ext uri="{BB962C8B-B14F-4D97-AF65-F5344CB8AC3E}">
        <p14:creationId xmlns:p14="http://schemas.microsoft.com/office/powerpoint/2010/main" val="3956227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designing an SRS must decide what amount of sampling error in the estimates is tolerable and must balance the precision of the estimates with the cost of the survey. Even though many variables may be measured, an investigator can often focus on one or two responses that are of primary interest in the survey, and use these for estimating a sample size.</a:t>
            </a:r>
          </a:p>
        </p:txBody>
      </p:sp>
      <p:sp>
        <p:nvSpPr>
          <p:cNvPr id="4" name="Slide Number Placeholder 3"/>
          <p:cNvSpPr>
            <a:spLocks noGrp="1"/>
          </p:cNvSpPr>
          <p:nvPr>
            <p:ph type="sldNum" sz="quarter" idx="5"/>
          </p:nvPr>
        </p:nvSpPr>
        <p:spPr/>
        <p:txBody>
          <a:bodyPr/>
          <a:lstStyle/>
          <a:p>
            <a:fld id="{E0925CEA-CE71-402A-A3BD-05AB42F89E39}" type="slidenum">
              <a:rPr lang="en-US" smtClean="0"/>
              <a:t>41</a:t>
            </a:fld>
            <a:endParaRPr lang="en-US"/>
          </a:p>
        </p:txBody>
      </p:sp>
    </p:spTree>
    <p:extLst>
      <p:ext uri="{BB962C8B-B14F-4D97-AF65-F5344CB8AC3E}">
        <p14:creationId xmlns:p14="http://schemas.microsoft.com/office/powerpoint/2010/main" val="2056504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designing an SRS must decide what amount of sampling error in the estimates is tolerable and must balance the precision of the estimates with the cost of the survey. Even though many variables may be measured, an investigator can often focus on one or two responses that are of primary interest in the survey, and use these for estimating a sample size.</a:t>
            </a:r>
          </a:p>
        </p:txBody>
      </p:sp>
      <p:sp>
        <p:nvSpPr>
          <p:cNvPr id="4" name="Slide Number Placeholder 3"/>
          <p:cNvSpPr>
            <a:spLocks noGrp="1"/>
          </p:cNvSpPr>
          <p:nvPr>
            <p:ph type="sldNum" sz="quarter" idx="5"/>
          </p:nvPr>
        </p:nvSpPr>
        <p:spPr/>
        <p:txBody>
          <a:bodyPr/>
          <a:lstStyle/>
          <a:p>
            <a:fld id="{E0925CEA-CE71-402A-A3BD-05AB42F89E39}" type="slidenum">
              <a:rPr lang="en-US" smtClean="0"/>
              <a:t>42</a:t>
            </a:fld>
            <a:endParaRPr lang="en-US"/>
          </a:p>
        </p:txBody>
      </p:sp>
    </p:spTree>
    <p:extLst>
      <p:ext uri="{BB962C8B-B14F-4D97-AF65-F5344CB8AC3E}">
        <p14:creationId xmlns:p14="http://schemas.microsoft.com/office/powerpoint/2010/main" val="1793736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a:t>
            </a:r>
            <a:r>
              <a:rPr lang="en-US" dirty="0" err="1"/>
              <a:t>popul</a:t>
            </a:r>
            <a:r>
              <a:rPr lang="en-US" dirty="0"/>
              <a:t> </a:t>
            </a:r>
            <a:r>
              <a:rPr lang="en-US" dirty="0" err="1"/>
              <a:t>ation</a:t>
            </a:r>
            <a:r>
              <a:rPr lang="en-US" dirty="0"/>
              <a:t> into </a:t>
            </a:r>
            <a:r>
              <a:rPr lang="en-US" dirty="0" err="1"/>
              <a:t>Hsubpopulations</a:t>
            </a:r>
            <a:r>
              <a:rPr lang="en-US" dirty="0"/>
              <a:t>, called strata. The strata do not overlap, and they constitute the whole </a:t>
            </a:r>
            <a:r>
              <a:rPr lang="en-US" dirty="0" err="1"/>
              <a:t>popul</a:t>
            </a:r>
            <a:r>
              <a:rPr lang="en-US" dirty="0"/>
              <a:t> </a:t>
            </a:r>
            <a:r>
              <a:rPr lang="en-US" dirty="0" err="1"/>
              <a:t>ation</a:t>
            </a:r>
            <a:r>
              <a:rPr lang="en-US" dirty="0"/>
              <a:t> so that each sampling unit belongs to exactly one stratum. We draw an independent probability sample from each stratum, then pool the information to obtain overall population estimates.</a:t>
            </a:r>
          </a:p>
        </p:txBody>
      </p:sp>
      <p:sp>
        <p:nvSpPr>
          <p:cNvPr id="4" name="Slide Number Placeholder 3"/>
          <p:cNvSpPr>
            <a:spLocks noGrp="1"/>
          </p:cNvSpPr>
          <p:nvPr>
            <p:ph type="sldNum" sz="quarter" idx="5"/>
          </p:nvPr>
        </p:nvSpPr>
        <p:spPr/>
        <p:txBody>
          <a:bodyPr/>
          <a:lstStyle/>
          <a:p>
            <a:fld id="{E0925CEA-CE71-402A-A3BD-05AB42F89E39}" type="slidenum">
              <a:rPr lang="en-US" smtClean="0"/>
              <a:t>48</a:t>
            </a:fld>
            <a:endParaRPr lang="en-US"/>
          </a:p>
        </p:txBody>
      </p:sp>
    </p:spTree>
    <p:extLst>
      <p:ext uri="{BB962C8B-B14F-4D97-AF65-F5344CB8AC3E}">
        <p14:creationId xmlns:p14="http://schemas.microsoft.com/office/powerpoint/2010/main" val="3580848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taking an SRS of size 100 from a population of 1,000 male and 1,000 female students, obtaining a sample with no or very few males is theoretically possible</a:t>
            </a:r>
          </a:p>
          <a:p>
            <a:endParaRPr lang="en-US" dirty="0"/>
          </a:p>
          <a:p>
            <a:r>
              <a:rPr lang="en-US" dirty="0"/>
              <a:t>If we want to study the </a:t>
            </a:r>
            <a:r>
              <a:rPr lang="en-US" dirty="0" err="1"/>
              <a:t>satisification</a:t>
            </a:r>
            <a:r>
              <a:rPr lang="en-US" dirty="0"/>
              <a:t> of pre-K teachers, we may find that there were many more female than male teachers. We can sampled a higher fraction of male teachers to obtain comparable precisions for the two groups .</a:t>
            </a:r>
          </a:p>
          <a:p>
            <a:endParaRPr lang="en-US" dirty="0"/>
          </a:p>
          <a:p>
            <a:r>
              <a:rPr lang="en-US" dirty="0"/>
              <a:t>Persons of different ages tend to have different blood pressures, so in a blood pressure study it would be helpful to stratify by age groups .</a:t>
            </a:r>
          </a:p>
        </p:txBody>
      </p:sp>
      <p:sp>
        <p:nvSpPr>
          <p:cNvPr id="4" name="Slide Number Placeholder 3"/>
          <p:cNvSpPr>
            <a:spLocks noGrp="1"/>
          </p:cNvSpPr>
          <p:nvPr>
            <p:ph type="sldNum" sz="quarter" idx="5"/>
          </p:nvPr>
        </p:nvSpPr>
        <p:spPr/>
        <p:txBody>
          <a:bodyPr/>
          <a:lstStyle/>
          <a:p>
            <a:fld id="{E0925CEA-CE71-402A-A3BD-05AB42F89E39}" type="slidenum">
              <a:rPr lang="en-US" smtClean="0"/>
              <a:t>54</a:t>
            </a:fld>
            <a:endParaRPr lang="en-US"/>
          </a:p>
        </p:txBody>
      </p:sp>
    </p:spTree>
    <p:extLst>
      <p:ext uri="{BB962C8B-B14F-4D97-AF65-F5344CB8AC3E}">
        <p14:creationId xmlns:p14="http://schemas.microsoft.com/office/powerpoint/2010/main" val="3724346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were no </a:t>
            </a:r>
            <a:r>
              <a:rPr lang="en-US" dirty="0" err="1"/>
              <a:t>nonr</a:t>
            </a:r>
            <a:r>
              <a:rPr lang="en-US" dirty="0"/>
              <a:t> </a:t>
            </a:r>
            <a:r>
              <a:rPr lang="en-US" dirty="0" err="1"/>
              <a:t>esponse</a:t>
            </a:r>
            <a:r>
              <a:rPr lang="en-US" dirty="0"/>
              <a:t>, such a requirement would lead to sampling at least 1067 households in each stratum, as calculated in Example 2.12. Such an allocation is neither </a:t>
            </a:r>
            <a:r>
              <a:rPr lang="en-US" dirty="0" err="1"/>
              <a:t>propor</a:t>
            </a:r>
            <a:r>
              <a:rPr lang="en-US" dirty="0"/>
              <a:t> </a:t>
            </a:r>
            <a:r>
              <a:rPr lang="en-US" dirty="0" err="1"/>
              <a:t>tional</a:t>
            </a:r>
            <a:r>
              <a:rPr lang="en-US" dirty="0"/>
              <a:t>, as the num </a:t>
            </a:r>
            <a:r>
              <a:rPr lang="en-US" dirty="0" err="1"/>
              <a:t>ber</a:t>
            </a:r>
            <a:r>
              <a:rPr lang="en-US" dirty="0"/>
              <a:t> of residential </a:t>
            </a:r>
            <a:r>
              <a:rPr lang="en-US" dirty="0" err="1"/>
              <a:t>hous</a:t>
            </a:r>
            <a:r>
              <a:rPr lang="en-US" dirty="0"/>
              <a:t> </a:t>
            </a:r>
            <a:r>
              <a:rPr lang="en-US" dirty="0" err="1"/>
              <a:t>eholds</a:t>
            </a:r>
            <a:r>
              <a:rPr lang="en-US" dirty="0"/>
              <a:t> in the </a:t>
            </a:r>
            <a:r>
              <a:rPr lang="en-US" dirty="0" err="1"/>
              <a:t>popul</a:t>
            </a:r>
            <a:r>
              <a:rPr lang="en-US" dirty="0"/>
              <a:t> </a:t>
            </a:r>
            <a:r>
              <a:rPr lang="en-US" dirty="0" err="1"/>
              <a:t>ation</a:t>
            </a:r>
            <a:r>
              <a:rPr lang="en-US" dirty="0"/>
              <a:t> varies a great deal from stratum to stratum, nor optimal in the sense of providing the greatest </a:t>
            </a:r>
            <a:r>
              <a:rPr lang="en-US" dirty="0" err="1"/>
              <a:t>ef</a:t>
            </a:r>
            <a:r>
              <a:rPr lang="en-US" dirty="0"/>
              <a:t> </a:t>
            </a:r>
            <a:r>
              <a:rPr lang="en-US" dirty="0" err="1"/>
              <a:t>ciency</a:t>
            </a:r>
            <a:r>
              <a:rPr lang="en-US" dirty="0"/>
              <a:t> for estimating percentages for the whole population. It does, however, provide the desired precision w </a:t>
            </a:r>
            <a:r>
              <a:rPr lang="en-US" dirty="0" err="1"/>
              <a:t>ithin</a:t>
            </a:r>
            <a:r>
              <a:rPr lang="en-US" dirty="0"/>
              <a:t> each stratum.</a:t>
            </a:r>
          </a:p>
        </p:txBody>
      </p:sp>
      <p:sp>
        <p:nvSpPr>
          <p:cNvPr id="4" name="Slide Number Placeholder 3"/>
          <p:cNvSpPr>
            <a:spLocks noGrp="1"/>
          </p:cNvSpPr>
          <p:nvPr>
            <p:ph type="sldNum" sz="quarter" idx="5"/>
          </p:nvPr>
        </p:nvSpPr>
        <p:spPr/>
        <p:txBody>
          <a:bodyPr/>
          <a:lstStyle/>
          <a:p>
            <a:fld id="{E0925CEA-CE71-402A-A3BD-05AB42F89E39}" type="slidenum">
              <a:rPr lang="en-US" smtClean="0"/>
              <a:t>62</a:t>
            </a:fld>
            <a:endParaRPr lang="en-US"/>
          </a:p>
        </p:txBody>
      </p:sp>
    </p:spTree>
    <p:extLst>
      <p:ext uri="{BB962C8B-B14F-4D97-AF65-F5344CB8AC3E}">
        <p14:creationId xmlns:p14="http://schemas.microsoft.com/office/powerpoint/2010/main" val="2743510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this scheme is that we do not know the salary while designing the survey—if we did, we would not need to do a survey at all!</a:t>
            </a:r>
          </a:p>
          <a:p>
            <a:endParaRPr lang="en-US" dirty="0"/>
          </a:p>
          <a:p>
            <a:endParaRPr lang="en-US" dirty="0"/>
          </a:p>
        </p:txBody>
      </p:sp>
      <p:sp>
        <p:nvSpPr>
          <p:cNvPr id="4" name="Slide Number Placeholder 3"/>
          <p:cNvSpPr>
            <a:spLocks noGrp="1"/>
          </p:cNvSpPr>
          <p:nvPr>
            <p:ph type="sldNum" sz="quarter" idx="5"/>
          </p:nvPr>
        </p:nvSpPr>
        <p:spPr/>
        <p:txBody>
          <a:bodyPr/>
          <a:lstStyle/>
          <a:p>
            <a:fld id="{E0925CEA-CE71-402A-A3BD-05AB42F89E39}" type="slidenum">
              <a:rPr lang="en-US" smtClean="0"/>
              <a:t>69</a:t>
            </a:fld>
            <a:endParaRPr lang="en-US"/>
          </a:p>
        </p:txBody>
      </p:sp>
    </p:spTree>
    <p:extLst>
      <p:ext uri="{BB962C8B-B14F-4D97-AF65-F5344CB8AC3E}">
        <p14:creationId xmlns:p14="http://schemas.microsoft.com/office/powerpoint/2010/main" val="3761078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less expensive to take a sample of clusters rather than an SRS of individuals. If the target </a:t>
            </a:r>
            <a:r>
              <a:rPr lang="en-US" dirty="0" err="1"/>
              <a:t>popul</a:t>
            </a:r>
            <a:r>
              <a:rPr lang="en-US" dirty="0"/>
              <a:t> </a:t>
            </a:r>
            <a:r>
              <a:rPr lang="en-US" dirty="0" err="1"/>
              <a:t>ation</a:t>
            </a:r>
            <a:r>
              <a:rPr lang="en-US" dirty="0"/>
              <a:t> is residents of nursing </a:t>
            </a:r>
            <a:r>
              <a:rPr lang="en-US" dirty="0" err="1"/>
              <a:t>hom</a:t>
            </a:r>
            <a:r>
              <a:rPr lang="en-US" dirty="0"/>
              <a:t> es in the United States, it is much cheaper to sample nursing </a:t>
            </a:r>
            <a:r>
              <a:rPr lang="en-US" dirty="0" err="1"/>
              <a:t>hom</a:t>
            </a:r>
            <a:r>
              <a:rPr lang="en-US" dirty="0"/>
              <a:t> es and interview some or all residents in the selected </a:t>
            </a:r>
            <a:r>
              <a:rPr lang="en-US" dirty="0" err="1"/>
              <a:t>hom</a:t>
            </a:r>
            <a:r>
              <a:rPr lang="en-US" dirty="0"/>
              <a:t> es than to interview an SRS of nursing </a:t>
            </a:r>
            <a:r>
              <a:rPr lang="en-US" dirty="0" err="1"/>
              <a:t>hom</a:t>
            </a:r>
            <a:r>
              <a:rPr lang="en-US" dirty="0"/>
              <a:t> e residents: With an SRS of residents, you might have to travel to a nursing </a:t>
            </a:r>
            <a:r>
              <a:rPr lang="en-US" dirty="0" err="1"/>
              <a:t>hom</a:t>
            </a:r>
            <a:r>
              <a:rPr lang="en-US" dirty="0"/>
              <a:t> e just to interview one resident. I</a:t>
            </a:r>
          </a:p>
        </p:txBody>
      </p:sp>
      <p:sp>
        <p:nvSpPr>
          <p:cNvPr id="4" name="Slide Number Placeholder 3"/>
          <p:cNvSpPr>
            <a:spLocks noGrp="1"/>
          </p:cNvSpPr>
          <p:nvPr>
            <p:ph type="sldNum" sz="quarter" idx="5"/>
          </p:nvPr>
        </p:nvSpPr>
        <p:spPr/>
        <p:txBody>
          <a:bodyPr/>
          <a:lstStyle/>
          <a:p>
            <a:fld id="{E0925CEA-CE71-402A-A3BD-05AB42F89E39}" type="slidenum">
              <a:rPr lang="en-US" smtClean="0"/>
              <a:t>76</a:t>
            </a:fld>
            <a:endParaRPr lang="en-US"/>
          </a:p>
        </p:txBody>
      </p:sp>
    </p:spTree>
    <p:extLst>
      <p:ext uri="{BB962C8B-B14F-4D97-AF65-F5344CB8AC3E}">
        <p14:creationId xmlns:p14="http://schemas.microsoft.com/office/powerpoint/2010/main" val="2477892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education surveys, a natural </a:t>
            </a:r>
            <a:r>
              <a:rPr lang="en-US" dirty="0" err="1"/>
              <a:t>psu</a:t>
            </a:r>
            <a:r>
              <a:rPr lang="en-US" dirty="0"/>
              <a:t> is the classroom ; all students in a selected classroom are often included as the </a:t>
            </a:r>
            <a:r>
              <a:rPr lang="en-US" dirty="0" err="1"/>
              <a:t>ssus</a:t>
            </a:r>
            <a:r>
              <a:rPr lang="en-US" dirty="0"/>
              <a:t> since little extra cost is added by handing out a </a:t>
            </a:r>
            <a:r>
              <a:rPr lang="en-US" dirty="0" err="1"/>
              <a:t>questionna</a:t>
            </a:r>
            <a:r>
              <a:rPr lang="en-US" dirty="0"/>
              <a:t> ire to all students in the classroom rather than some</a:t>
            </a:r>
          </a:p>
        </p:txBody>
      </p:sp>
      <p:sp>
        <p:nvSpPr>
          <p:cNvPr id="4" name="Slide Number Placeholder 3"/>
          <p:cNvSpPr>
            <a:spLocks noGrp="1"/>
          </p:cNvSpPr>
          <p:nvPr>
            <p:ph type="sldNum" sz="quarter" idx="5"/>
          </p:nvPr>
        </p:nvSpPr>
        <p:spPr/>
        <p:txBody>
          <a:bodyPr/>
          <a:lstStyle/>
          <a:p>
            <a:fld id="{E0925CEA-CE71-402A-A3BD-05AB42F89E39}" type="slidenum">
              <a:rPr lang="en-US" smtClean="0"/>
              <a:t>78</a:t>
            </a:fld>
            <a:endParaRPr lang="en-US"/>
          </a:p>
        </p:txBody>
      </p:sp>
    </p:spTree>
    <p:extLst>
      <p:ext uri="{BB962C8B-B14F-4D97-AF65-F5344CB8AC3E}">
        <p14:creationId xmlns:p14="http://schemas.microsoft.com/office/powerpoint/2010/main" val="3321039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mistakes made by researchers using survey data is to analyze a cluster sample as if it were an SRS. Such confusion usually results in the researchers reporting standard errors that are smaller than they </a:t>
            </a:r>
            <a:r>
              <a:rPr lang="en-US" dirty="0" err="1"/>
              <a:t>shoul</a:t>
            </a:r>
            <a:r>
              <a:rPr lang="en-US" dirty="0"/>
              <a:t> d be, and this gives the impression that the statistics from the survey are much more precise than they really are. E</a:t>
            </a:r>
          </a:p>
        </p:txBody>
      </p:sp>
      <p:sp>
        <p:nvSpPr>
          <p:cNvPr id="4" name="Slide Number Placeholder 3"/>
          <p:cNvSpPr>
            <a:spLocks noGrp="1"/>
          </p:cNvSpPr>
          <p:nvPr>
            <p:ph type="sldNum" sz="quarter" idx="5"/>
          </p:nvPr>
        </p:nvSpPr>
        <p:spPr/>
        <p:txBody>
          <a:bodyPr/>
          <a:lstStyle/>
          <a:p>
            <a:fld id="{E0925CEA-CE71-402A-A3BD-05AB42F89E39}" type="slidenum">
              <a:rPr lang="en-US" smtClean="0"/>
              <a:t>81</a:t>
            </a:fld>
            <a:endParaRPr lang="en-US"/>
          </a:p>
        </p:txBody>
      </p:sp>
    </p:spTree>
    <p:extLst>
      <p:ext uri="{BB962C8B-B14F-4D97-AF65-F5344CB8AC3E}">
        <p14:creationId xmlns:p14="http://schemas.microsoft.com/office/powerpoint/2010/main" val="2644497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19467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9130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450051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7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01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67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01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64962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34953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18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extLst>
      <p:ext uri="{BB962C8B-B14F-4D97-AF65-F5344CB8AC3E}">
        <p14:creationId xmlns:p14="http://schemas.microsoft.com/office/powerpoint/2010/main" val="1877861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9.wmf"/><Relationship Id="rId7" Type="http://schemas.openxmlformats.org/officeDocument/2006/relationships/image" Target="../media/image20.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170.png"/><Relationship Id="rId4" Type="http://schemas.openxmlformats.org/officeDocument/2006/relationships/image" Target="../media/image160.png"/></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onlinestatbook.com/stat_sim/sampling_dist/"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7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dirty="0"/>
              <a:t>Sampling I</a:t>
            </a:r>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Key sampling vocabulary</a:t>
            </a:r>
          </a:p>
          <a:p>
            <a:r>
              <a:rPr lang="en-US" dirty="0"/>
              <a:t>Probability Sampling</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2</a:t>
            </a:fld>
            <a:endParaRPr lang="en-US" dirty="0"/>
          </a:p>
        </p:txBody>
      </p:sp>
    </p:spTree>
    <p:extLst>
      <p:ext uri="{BB962C8B-B14F-4D97-AF65-F5344CB8AC3E}">
        <p14:creationId xmlns:p14="http://schemas.microsoft.com/office/powerpoint/2010/main" val="116209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Key Sampling Vocabulary</a:t>
            </a:r>
          </a:p>
        </p:txBody>
      </p:sp>
      <p:sp>
        <p:nvSpPr>
          <p:cNvPr id="7" name="Text Placeholder 6"/>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a:xfrm>
            <a:off x="5279064"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baseline="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9942434" y="6375679"/>
            <a:ext cx="1487566"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baseline="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3</a:t>
            </a:fld>
            <a:endParaRPr lang="en-US" dirty="0"/>
          </a:p>
        </p:txBody>
      </p:sp>
    </p:spTree>
    <p:extLst>
      <p:ext uri="{BB962C8B-B14F-4D97-AF65-F5344CB8AC3E}">
        <p14:creationId xmlns:p14="http://schemas.microsoft.com/office/powerpoint/2010/main" val="2134196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Target Population</a:t>
            </a:r>
          </a:p>
        </p:txBody>
      </p:sp>
      <p:sp>
        <p:nvSpPr>
          <p:cNvPr id="7" name="Content Placeholder 6"/>
          <p:cNvSpPr>
            <a:spLocks noGrp="1"/>
          </p:cNvSpPr>
          <p:nvPr>
            <p:ph idx="1"/>
          </p:nvPr>
        </p:nvSpPr>
        <p:spPr/>
        <p:txBody>
          <a:bodyPr/>
          <a:lstStyle/>
          <a:p>
            <a:pPr marL="500022" indent="-342900"/>
            <a:r>
              <a:rPr lang="en-US" b="0" i="0" u="none" strike="noStrike" dirty="0">
                <a:solidFill>
                  <a:srgbClr val="000000"/>
                </a:solidFill>
                <a:effectLst/>
              </a:rPr>
              <a:t>The target population is the group of units to which survey results will be generalized.</a:t>
            </a:r>
          </a:p>
          <a:p>
            <a:pPr marL="442872" indent="-285750">
              <a:buFont typeface="Arial" panose="020B0604020202020204" pitchFamily="34" charset="0"/>
              <a:buChar char="•"/>
            </a:pPr>
            <a:r>
              <a:rPr lang="en-US" b="0" i="0" u="none" strike="noStrike" dirty="0">
                <a:solidFill>
                  <a:srgbClr val="000000"/>
                </a:solidFill>
                <a:effectLst/>
              </a:rPr>
              <a:t>It includes not just individuals, but entities like households, schools, hospitals, businesses, and more.</a:t>
            </a:r>
          </a:p>
          <a:p>
            <a:pPr marL="442872" indent="-285750">
              <a:buFont typeface="Arial" panose="020B0604020202020204" pitchFamily="34" charset="0"/>
              <a:buChar char="•"/>
            </a:pPr>
            <a:r>
              <a:rPr lang="en-US" b="0" i="0" u="none" strike="noStrike" dirty="0">
                <a:solidFill>
                  <a:srgbClr val="000000"/>
                </a:solidFill>
                <a:effectLst/>
              </a:rPr>
              <a:t>The goal is to ensure that the survey results apply to this broader population.</a:t>
            </a:r>
          </a:p>
          <a:p>
            <a:pPr marL="0" indent="0">
              <a:buNone/>
            </a:pPr>
            <a:endParaRPr lang="en-US" dirty="0"/>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4</a:t>
            </a:fld>
            <a:endParaRPr lang="en-US" dirty="0"/>
          </a:p>
        </p:txBody>
      </p:sp>
    </p:spTree>
    <p:extLst>
      <p:ext uri="{BB962C8B-B14F-4D97-AF65-F5344CB8AC3E}">
        <p14:creationId xmlns:p14="http://schemas.microsoft.com/office/powerpoint/2010/main" val="2870393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a:t>
            </a:r>
          </a:p>
        </p:txBody>
      </p:sp>
      <p:sp>
        <p:nvSpPr>
          <p:cNvPr id="3" name="Content Placeholder 2"/>
          <p:cNvSpPr>
            <a:spLocks noGrp="1"/>
          </p:cNvSpPr>
          <p:nvPr>
            <p:ph idx="1"/>
          </p:nvPr>
        </p:nvSpPr>
        <p:spPr/>
        <p:txBody>
          <a:bodyPr/>
          <a:lstStyle/>
          <a:p>
            <a:r>
              <a:rPr lang="en-US" dirty="0"/>
              <a:t>Each member of the population</a:t>
            </a:r>
          </a:p>
          <a:p>
            <a:r>
              <a:rPr lang="en-US" dirty="0"/>
              <a:t>Note:</a:t>
            </a:r>
          </a:p>
          <a:p>
            <a:pPr lvl="1"/>
            <a:r>
              <a:rPr lang="en-US" dirty="0"/>
              <a:t>Not all elements are sampled!</a:t>
            </a:r>
          </a:p>
          <a:p>
            <a:pPr marL="342900" lvl="1" indent="0">
              <a:buNone/>
            </a:pPr>
            <a:endParaRPr lang="en-US" b="1" i="1" dirty="0"/>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5</a:t>
            </a:fld>
            <a:endParaRPr lang="en-US" dirty="0"/>
          </a:p>
        </p:txBody>
      </p:sp>
    </p:spTree>
    <p:extLst>
      <p:ext uri="{BB962C8B-B14F-4D97-AF65-F5344CB8AC3E}">
        <p14:creationId xmlns:p14="http://schemas.microsoft.com/office/powerpoint/2010/main" val="6377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Sample</a:t>
            </a:r>
          </a:p>
        </p:txBody>
      </p:sp>
      <p:sp>
        <p:nvSpPr>
          <p:cNvPr id="3" name="Content Placeholder 2"/>
          <p:cNvSpPr>
            <a:spLocks noGrp="1"/>
          </p:cNvSpPr>
          <p:nvPr>
            <p:ph idx="1"/>
          </p:nvPr>
        </p:nvSpPr>
        <p:spPr/>
        <p:txBody>
          <a:bodyPr/>
          <a:lstStyle/>
          <a:p>
            <a:r>
              <a:rPr lang="en-US" dirty="0"/>
              <a:t>List of the individual elements in the entire population</a:t>
            </a:r>
          </a:p>
          <a:p>
            <a:r>
              <a:rPr lang="en-US" dirty="0"/>
              <a:t>Not always available </a:t>
            </a:r>
            <a:r>
              <a:rPr lang="en-US" dirty="0">
                <a:sym typeface="Wingdings"/>
              </a:rPr>
              <a:t> </a:t>
            </a:r>
            <a:endParaRPr lang="en-US" dirty="0"/>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6</a:t>
            </a:fld>
            <a:endParaRPr lang="en-US" dirty="0"/>
          </a:p>
        </p:txBody>
      </p:sp>
    </p:spTree>
    <p:extLst>
      <p:ext uri="{BB962C8B-B14F-4D97-AF65-F5344CB8AC3E}">
        <p14:creationId xmlns:p14="http://schemas.microsoft.com/office/powerpoint/2010/main" val="3686400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Frame</a:t>
            </a:r>
          </a:p>
        </p:txBody>
      </p:sp>
      <p:sp>
        <p:nvSpPr>
          <p:cNvPr id="3" name="Content Placeholder 2"/>
          <p:cNvSpPr>
            <a:spLocks noGrp="1"/>
          </p:cNvSpPr>
          <p:nvPr>
            <p:ph idx="1"/>
          </p:nvPr>
        </p:nvSpPr>
        <p:spPr/>
        <p:txBody>
          <a:bodyPr/>
          <a:lstStyle/>
          <a:p>
            <a:pPr fontAlgn="auto">
              <a:spcBef>
                <a:spcPts val="0"/>
              </a:spcBef>
              <a:spcAft>
                <a:spcPts val="0"/>
              </a:spcAft>
              <a:buClrTx/>
              <a:defRPr/>
            </a:pPr>
            <a:r>
              <a:rPr lang="en-US" dirty="0"/>
              <a:t>A list, map, or other specification of elements in the population from which a sample may be selected.</a:t>
            </a:r>
          </a:p>
          <a:p>
            <a:pPr fontAlgn="auto">
              <a:spcBef>
                <a:spcPts val="0"/>
              </a:spcBef>
              <a:spcAft>
                <a:spcPts val="0"/>
              </a:spcAft>
              <a:buClrTx/>
              <a:defRPr/>
            </a:pPr>
            <a:r>
              <a:rPr lang="en-US" dirty="0"/>
              <a:t>Examples include a list of all university students, a telephone directory, or a map of geographic areas.</a:t>
            </a:r>
          </a:p>
          <a:p>
            <a:pPr marL="0" indent="0">
              <a:buNone/>
            </a:pPr>
            <a:endParaRPr lang="en-US" dirty="0"/>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7</a:t>
            </a:fld>
            <a:endParaRPr lang="en-US" dirty="0"/>
          </a:p>
        </p:txBody>
      </p:sp>
    </p:spTree>
    <p:extLst>
      <p:ext uri="{BB962C8B-B14F-4D97-AF65-F5344CB8AC3E}">
        <p14:creationId xmlns:p14="http://schemas.microsoft.com/office/powerpoint/2010/main" val="3939304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DDAB-34B7-38F8-76E8-DC3ABC15FC7C}"/>
              </a:ext>
            </a:extLst>
          </p:cNvPr>
          <p:cNvSpPr>
            <a:spLocks noGrp="1"/>
          </p:cNvSpPr>
          <p:nvPr>
            <p:ph type="title"/>
          </p:nvPr>
        </p:nvSpPr>
        <p:spPr/>
        <p:txBody>
          <a:bodyPr/>
          <a:lstStyle/>
          <a:p>
            <a:r>
              <a:rPr lang="en-US" dirty="0"/>
              <a:t>Sampling unit</a:t>
            </a:r>
          </a:p>
        </p:txBody>
      </p:sp>
      <p:sp>
        <p:nvSpPr>
          <p:cNvPr id="3" name="Content Placeholder 2">
            <a:extLst>
              <a:ext uri="{FF2B5EF4-FFF2-40B4-BE49-F238E27FC236}">
                <a16:creationId xmlns:a16="http://schemas.microsoft.com/office/drawing/2014/main" id="{1E78337B-9354-5A00-CABF-58B8CAAA3A6B}"/>
              </a:ext>
            </a:extLst>
          </p:cNvPr>
          <p:cNvSpPr>
            <a:spLocks noGrp="1"/>
          </p:cNvSpPr>
          <p:nvPr>
            <p:ph idx="1"/>
          </p:nvPr>
        </p:nvSpPr>
        <p:spPr/>
        <p:txBody>
          <a:bodyPr/>
          <a:lstStyle/>
          <a:p>
            <a:r>
              <a:rPr lang="en-US" dirty="0"/>
              <a:t>For the purpose of sample selection, the population should be divisible into a finite number of distinct, nonoverlapping and identifiable units called </a:t>
            </a:r>
            <a:r>
              <a:rPr lang="en-US" b="1" i="1" dirty="0"/>
              <a:t>sampling units</a:t>
            </a:r>
            <a:r>
              <a:rPr lang="en-US" dirty="0"/>
              <a:t>, so that each member of the population belongs to only one sampling unit. </a:t>
            </a:r>
          </a:p>
          <a:p>
            <a:r>
              <a:rPr lang="en-US" dirty="0"/>
              <a:t>A sampling unit refers to an element or a set of elements about which information is measured. </a:t>
            </a:r>
          </a:p>
        </p:txBody>
      </p:sp>
    </p:spTree>
    <p:extLst>
      <p:ext uri="{BB962C8B-B14F-4D97-AF65-F5344CB8AC3E}">
        <p14:creationId xmlns:p14="http://schemas.microsoft.com/office/powerpoint/2010/main" val="3058505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Observation/Case/Subject</a:t>
            </a:r>
          </a:p>
        </p:txBody>
      </p:sp>
      <p:sp>
        <p:nvSpPr>
          <p:cNvPr id="3" name="Content Placeholder 2"/>
          <p:cNvSpPr>
            <a:spLocks noGrp="1"/>
          </p:cNvSpPr>
          <p:nvPr>
            <p:ph idx="1"/>
          </p:nvPr>
        </p:nvSpPr>
        <p:spPr/>
        <p:txBody>
          <a:bodyPr/>
          <a:lstStyle/>
          <a:p>
            <a:r>
              <a:rPr lang="en-US" dirty="0"/>
              <a:t>Each selected element for which data were gathered successfully</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9</a:t>
            </a:fld>
            <a:endParaRPr lang="en-US" dirty="0"/>
          </a:p>
        </p:txBody>
      </p:sp>
    </p:spTree>
    <p:extLst>
      <p:ext uri="{BB962C8B-B14F-4D97-AF65-F5344CB8AC3E}">
        <p14:creationId xmlns:p14="http://schemas.microsoft.com/office/powerpoint/2010/main" val="2756691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Coverage</a:t>
            </a:r>
          </a:p>
        </p:txBody>
      </p:sp>
      <p:sp>
        <p:nvSpPr>
          <p:cNvPr id="5" name="Content Placeholder 4"/>
          <p:cNvSpPr>
            <a:spLocks noGrp="1"/>
          </p:cNvSpPr>
          <p:nvPr>
            <p:ph idx="1"/>
          </p:nvPr>
        </p:nvSpPr>
        <p:spPr/>
        <p:txBody>
          <a:bodyPr/>
          <a:lstStyle/>
          <a:p>
            <a:r>
              <a:rPr lang="en-US" dirty="0"/>
              <a:t>Proportion of the target population that can be selected &amp; surveyed</a:t>
            </a:r>
          </a:p>
          <a:p>
            <a:r>
              <a:rPr lang="en-US" dirty="0"/>
              <a:t>Often expressed as a percentage (%)</a:t>
            </a:r>
          </a:p>
          <a:p>
            <a:pPr marL="0" indent="0">
              <a:buNone/>
            </a:pPr>
            <a:endParaRPr lang="en-US" dirty="0"/>
          </a:p>
        </p:txBody>
      </p:sp>
      <p:sp>
        <p:nvSpPr>
          <p:cNvPr id="2" name="Footer Placeholder 1"/>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10</a:t>
            </a:fld>
            <a:endParaRPr lang="en-US" dirty="0"/>
          </a:p>
        </p:txBody>
      </p:sp>
    </p:spTree>
    <p:extLst>
      <p:ext uri="{BB962C8B-B14F-4D97-AF65-F5344CB8AC3E}">
        <p14:creationId xmlns:p14="http://schemas.microsoft.com/office/powerpoint/2010/main" val="1336604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Defects in Coverage</a:t>
            </a:r>
          </a:p>
        </p:txBody>
      </p:sp>
      <p:sp>
        <p:nvSpPr>
          <p:cNvPr id="3" name="Content Placeholder 2"/>
          <p:cNvSpPr>
            <a:spLocks noGrp="1"/>
          </p:cNvSpPr>
          <p:nvPr>
            <p:ph idx="1"/>
          </p:nvPr>
        </p:nvSpPr>
        <p:spPr/>
        <p:txBody>
          <a:bodyPr/>
          <a:lstStyle/>
          <a:p>
            <a:r>
              <a:rPr lang="en-US" dirty="0"/>
              <a:t>Called non-coverage/under coverage</a:t>
            </a:r>
          </a:p>
          <a:p>
            <a:r>
              <a:rPr lang="en-US" dirty="0"/>
              <a:t>Arise because we usually can’t survey every element of our target population </a:t>
            </a:r>
          </a:p>
          <a:p>
            <a:pPr lvl="1"/>
            <a:r>
              <a:rPr lang="en-US" dirty="0"/>
              <a:t>Practical limitations (time, cost)</a:t>
            </a:r>
          </a:p>
          <a:p>
            <a:pPr lvl="1"/>
            <a:r>
              <a:rPr lang="en-US" dirty="0"/>
              <a:t>Information about the population (we can’t survey people we don</a:t>
            </a:r>
            <a:r>
              <a:rPr lang="fr-FR" dirty="0"/>
              <a:t>’</a:t>
            </a:r>
            <a:r>
              <a:rPr lang="en-US" dirty="0"/>
              <a:t>t know about or can’t reach)</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11</a:t>
            </a:fld>
            <a:endParaRPr lang="en-US" dirty="0"/>
          </a:p>
        </p:txBody>
      </p:sp>
    </p:spTree>
    <p:extLst>
      <p:ext uri="{BB962C8B-B14F-4D97-AF65-F5344CB8AC3E}">
        <p14:creationId xmlns:p14="http://schemas.microsoft.com/office/powerpoint/2010/main" val="3556079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arising from </a:t>
            </a:r>
            <a:r>
              <a:rPr lang="en-US" dirty="0" err="1"/>
              <a:t>Undercoverage</a:t>
            </a:r>
            <a:endParaRPr lang="en-US" dirty="0"/>
          </a:p>
        </p:txBody>
      </p:sp>
      <p:sp>
        <p:nvSpPr>
          <p:cNvPr id="3" name="Content Placeholder 2"/>
          <p:cNvSpPr>
            <a:spLocks noGrp="1"/>
          </p:cNvSpPr>
          <p:nvPr>
            <p:ph idx="1"/>
          </p:nvPr>
        </p:nvSpPr>
        <p:spPr/>
        <p:txBody>
          <a:bodyPr/>
          <a:lstStyle/>
          <a:p>
            <a:r>
              <a:rPr lang="en-US" dirty="0" err="1"/>
              <a:t>Undercoverage</a:t>
            </a:r>
            <a:r>
              <a:rPr lang="en-US" dirty="0"/>
              <a:t> is usually not random</a:t>
            </a:r>
          </a:p>
          <a:p>
            <a:pPr lvl="1"/>
            <a:r>
              <a:rPr lang="en-US" dirty="0"/>
              <a:t>Often </a:t>
            </a:r>
            <a:r>
              <a:rPr lang="en-US" b="1" dirty="0"/>
              <a:t>systematically related </a:t>
            </a:r>
            <a:r>
              <a:rPr lang="en-US" dirty="0"/>
              <a:t>to participant characteristics</a:t>
            </a:r>
          </a:p>
          <a:p>
            <a:r>
              <a:rPr lang="en-US" dirty="0"/>
              <a:t>Consequence: Sample may not accurately represent all subgroups within the population</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12</a:t>
            </a:fld>
            <a:endParaRPr lang="en-US" dirty="0"/>
          </a:p>
        </p:txBody>
      </p:sp>
    </p:spTree>
    <p:extLst>
      <p:ext uri="{BB962C8B-B14F-4D97-AF65-F5344CB8AC3E}">
        <p14:creationId xmlns:p14="http://schemas.microsoft.com/office/powerpoint/2010/main" val="281337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8C3C8-1EC7-ADC2-A298-C1215978FDA1}"/>
              </a:ext>
            </a:extLst>
          </p:cNvPr>
          <p:cNvSpPr>
            <a:spLocks noGrp="1"/>
          </p:cNvSpPr>
          <p:nvPr>
            <p:ph type="title"/>
          </p:nvPr>
        </p:nvSpPr>
        <p:spPr/>
        <p:txBody>
          <a:bodyPr/>
          <a:lstStyle/>
          <a:p>
            <a:r>
              <a:rPr lang="en-US" dirty="0"/>
              <a:t>Probability Samples</a:t>
            </a:r>
          </a:p>
        </p:txBody>
      </p:sp>
      <p:sp>
        <p:nvSpPr>
          <p:cNvPr id="3" name="Content Placeholder 2">
            <a:extLst>
              <a:ext uri="{FF2B5EF4-FFF2-40B4-BE49-F238E27FC236}">
                <a16:creationId xmlns:a16="http://schemas.microsoft.com/office/drawing/2014/main" id="{1404037D-B987-6073-A44A-AAB56CC752A6}"/>
              </a:ext>
            </a:extLst>
          </p:cNvPr>
          <p:cNvSpPr>
            <a:spLocks noGrp="1"/>
          </p:cNvSpPr>
          <p:nvPr>
            <p:ph idx="1"/>
          </p:nvPr>
        </p:nvSpPr>
        <p:spPr/>
        <p:txBody>
          <a:bodyPr/>
          <a:lstStyle/>
          <a:p>
            <a:r>
              <a:rPr lang="en-US" dirty="0"/>
              <a:t>Each element in the population has a known probability of being selected</a:t>
            </a:r>
          </a:p>
          <a:p>
            <a:r>
              <a:rPr lang="en-US" dirty="0"/>
              <a:t>Types of probability samples</a:t>
            </a:r>
          </a:p>
          <a:p>
            <a:pPr lvl="1"/>
            <a:r>
              <a:rPr lang="en-US" dirty="0"/>
              <a:t>Simple random sample</a:t>
            </a:r>
          </a:p>
          <a:p>
            <a:pPr lvl="1"/>
            <a:r>
              <a:rPr lang="en-US" dirty="0"/>
              <a:t>Stratified sample</a:t>
            </a:r>
          </a:p>
          <a:p>
            <a:pPr lvl="1"/>
            <a:r>
              <a:rPr lang="en-US" dirty="0"/>
              <a:t>Cluster sample</a:t>
            </a:r>
          </a:p>
          <a:p>
            <a:pPr lvl="1"/>
            <a:r>
              <a:rPr lang="en-US" dirty="0"/>
              <a:t>Systematic sample</a:t>
            </a:r>
          </a:p>
        </p:txBody>
      </p:sp>
    </p:spTree>
    <p:extLst>
      <p:ext uri="{BB962C8B-B14F-4D97-AF65-F5344CB8AC3E}">
        <p14:creationId xmlns:p14="http://schemas.microsoft.com/office/powerpoint/2010/main" val="2332271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A3F8B-8478-189B-8C60-04F4A5D7C4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5B4044-BF12-69E7-56FB-B67B9CA321CC}"/>
              </a:ext>
            </a:extLst>
          </p:cNvPr>
          <p:cNvSpPr>
            <a:spLocks noGrp="1"/>
          </p:cNvSpPr>
          <p:nvPr>
            <p:ph idx="1"/>
          </p:nvPr>
        </p:nvSpPr>
        <p:spPr/>
        <p:txBody>
          <a:bodyPr/>
          <a:lstStyle/>
          <a:p>
            <a:r>
              <a:rPr lang="en-US" dirty="0"/>
              <a:t>Most results in sampling rely on the sampling distribution</a:t>
            </a:r>
          </a:p>
        </p:txBody>
      </p:sp>
    </p:spTree>
    <p:extLst>
      <p:ext uri="{BB962C8B-B14F-4D97-AF65-F5344CB8AC3E}">
        <p14:creationId xmlns:p14="http://schemas.microsoft.com/office/powerpoint/2010/main" val="358689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FD62-BDD9-447B-AF0B-7EC108FD07EC}"/>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89ED8829-1959-40BD-AF99-E4F958434004}"/>
              </a:ext>
            </a:extLst>
          </p:cNvPr>
          <p:cNvSpPr>
            <a:spLocks noGrp="1"/>
          </p:cNvSpPr>
          <p:nvPr>
            <p:ph idx="1"/>
          </p:nvPr>
        </p:nvSpPr>
        <p:spPr/>
        <p:txBody>
          <a:bodyPr/>
          <a:lstStyle/>
          <a:p>
            <a:r>
              <a:rPr lang="en-US" altLang="zh-CN" dirty="0">
                <a:ea typeface="ＭＳ Ｐゴシック" charset="-128"/>
              </a:rPr>
              <a:t>We are interested in </a:t>
            </a:r>
            <a:r>
              <a:rPr lang="en-US" altLang="en-US" dirty="0">
                <a:ea typeface="ＭＳ Ｐゴシック" charset="-128"/>
              </a:rPr>
              <a:t>the average number of hours UofM undergraduates spend studying during the study week</a:t>
            </a:r>
          </a:p>
          <a:p>
            <a:r>
              <a:rPr lang="en-US" altLang="en-US" dirty="0">
                <a:ea typeface="ＭＳ Ｐゴシック" charset="-128"/>
              </a:rPr>
              <a:t>What are the population and parameter?</a:t>
            </a:r>
          </a:p>
          <a:p>
            <a:r>
              <a:rPr lang="en-US" altLang="en-US" dirty="0">
                <a:ea typeface="ＭＳ Ｐゴシック" charset="-128"/>
              </a:rPr>
              <a:t>A random sample of 10 UofM undergraduates:</a:t>
            </a:r>
          </a:p>
          <a:p>
            <a:pPr lvl="1"/>
            <a:r>
              <a:rPr lang="en-US" dirty="0">
                <a:ea typeface="ＭＳ Ｐゴシック" charset="-128"/>
              </a:rPr>
              <a:t>10, 5, 13, 10, 20, 22, 12, 8, 4, 16</a:t>
            </a:r>
          </a:p>
          <a:p>
            <a:r>
              <a:rPr lang="en-US" dirty="0">
                <a:ea typeface="ＭＳ Ｐゴシック" charset="-128"/>
              </a:rPr>
              <a:t>What are the sample and statistic?</a:t>
            </a:r>
          </a:p>
        </p:txBody>
      </p:sp>
      <p:sp>
        <p:nvSpPr>
          <p:cNvPr id="4" name="Footer Placeholder 3">
            <a:extLst>
              <a:ext uri="{FF2B5EF4-FFF2-40B4-BE49-F238E27FC236}">
                <a16:creationId xmlns:a16="http://schemas.microsoft.com/office/drawing/2014/main" id="{0E955C82-2916-4DA6-BD0B-3821FB144BE4}"/>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E1E70C15-1105-4C5A-AECE-B1F8125259B3}"/>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15</a:t>
            </a:fld>
            <a:endParaRPr lang="en-US"/>
          </a:p>
        </p:txBody>
      </p:sp>
      <p:sp>
        <p:nvSpPr>
          <p:cNvPr id="7" name="Rectangle 2">
            <a:extLst>
              <a:ext uri="{FF2B5EF4-FFF2-40B4-BE49-F238E27FC236}">
                <a16:creationId xmlns:a16="http://schemas.microsoft.com/office/drawing/2014/main" id="{C64FF194-69EE-4CB8-96EF-B0399F60155B}"/>
              </a:ext>
            </a:extLst>
          </p:cNvPr>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3620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FD62-BDD9-447B-AF0B-7EC108FD07EC}"/>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89ED8829-1959-40BD-AF99-E4F958434004}"/>
              </a:ext>
            </a:extLst>
          </p:cNvPr>
          <p:cNvSpPr>
            <a:spLocks noGrp="1"/>
          </p:cNvSpPr>
          <p:nvPr>
            <p:ph idx="1"/>
          </p:nvPr>
        </p:nvSpPr>
        <p:spPr/>
        <p:txBody>
          <a:bodyPr/>
          <a:lstStyle/>
          <a:p>
            <a:r>
              <a:rPr lang="en-US" altLang="zh-CN" dirty="0">
                <a:ea typeface="ＭＳ Ｐゴシック" charset="-128"/>
              </a:rPr>
              <a:t>Population: all </a:t>
            </a:r>
            <a:r>
              <a:rPr lang="en-US" altLang="en-US" dirty="0">
                <a:ea typeface="ＭＳ Ｐゴシック" charset="-128"/>
              </a:rPr>
              <a:t>UofM undergraduates </a:t>
            </a:r>
          </a:p>
          <a:p>
            <a:r>
              <a:rPr lang="en-US" altLang="en-US" dirty="0">
                <a:ea typeface="ＭＳ Ｐゴシック" charset="-128"/>
              </a:rPr>
              <a:t>Parameter (</a:t>
            </a:r>
            <a:r>
              <a:rPr lang="el-GR" altLang="en-US" dirty="0">
                <a:ea typeface="ＭＳ Ｐゴシック" charset="-128"/>
              </a:rPr>
              <a:t>μ</a:t>
            </a:r>
            <a:r>
              <a:rPr lang="en-US" altLang="en-US" dirty="0">
                <a:ea typeface="ＭＳ Ｐゴシック" charset="-128"/>
              </a:rPr>
              <a:t>): the average number of hours spend studying during finals week</a:t>
            </a:r>
          </a:p>
          <a:p>
            <a:r>
              <a:rPr lang="en-US" altLang="en-US" dirty="0">
                <a:ea typeface="ＭＳ Ｐゴシック" charset="-128"/>
              </a:rPr>
              <a:t>Sample:10 UofM undergraduates</a:t>
            </a:r>
          </a:p>
          <a:p>
            <a:r>
              <a:rPr lang="en-US" altLang="en-US" dirty="0">
                <a:ea typeface="ＭＳ Ｐゴシック" charset="-128"/>
              </a:rPr>
              <a:t>Statistic (M): 12</a:t>
            </a:r>
          </a:p>
          <a:p>
            <a:r>
              <a:rPr lang="en-US" altLang="en-US" dirty="0">
                <a:ea typeface="ＭＳ Ｐゴシック" charset="-128"/>
              </a:rPr>
              <a:t>Conclusion: The estimated average number of hours all UofM undergraduates spend studying during finals week is 12.</a:t>
            </a:r>
          </a:p>
        </p:txBody>
      </p:sp>
      <p:sp>
        <p:nvSpPr>
          <p:cNvPr id="4" name="Footer Placeholder 3">
            <a:extLst>
              <a:ext uri="{FF2B5EF4-FFF2-40B4-BE49-F238E27FC236}">
                <a16:creationId xmlns:a16="http://schemas.microsoft.com/office/drawing/2014/main" id="{0E955C82-2916-4DA6-BD0B-3821FB144BE4}"/>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E1E70C15-1105-4C5A-AECE-B1F8125259B3}"/>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16</a:t>
            </a:fld>
            <a:endParaRPr lang="en-US"/>
          </a:p>
        </p:txBody>
      </p:sp>
      <p:sp>
        <p:nvSpPr>
          <p:cNvPr id="7" name="Rectangle 2">
            <a:extLst>
              <a:ext uri="{FF2B5EF4-FFF2-40B4-BE49-F238E27FC236}">
                <a16:creationId xmlns:a16="http://schemas.microsoft.com/office/drawing/2014/main" id="{C64FF194-69EE-4CB8-96EF-B0399F60155B}"/>
              </a:ext>
            </a:extLst>
          </p:cNvPr>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4731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105B8-F0EA-4EFA-90C2-0771A1E19422}"/>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28834144-942B-4ACA-BC2F-4C12608D3B74}"/>
              </a:ext>
            </a:extLst>
          </p:cNvPr>
          <p:cNvSpPr>
            <a:spLocks noGrp="1"/>
          </p:cNvSpPr>
          <p:nvPr>
            <p:ph idx="1"/>
          </p:nvPr>
        </p:nvSpPr>
        <p:spPr/>
        <p:txBody>
          <a:bodyPr/>
          <a:lstStyle/>
          <a:p>
            <a:r>
              <a:rPr lang="en-US" dirty="0"/>
              <a:t>How accurate is the estimate? </a:t>
            </a:r>
          </a:p>
          <a:p>
            <a:r>
              <a:rPr lang="en-US" dirty="0"/>
              <a:t>How do we assess the accuracy of our estimate?</a:t>
            </a:r>
          </a:p>
        </p:txBody>
      </p:sp>
      <p:sp>
        <p:nvSpPr>
          <p:cNvPr id="4" name="Footer Placeholder 3">
            <a:extLst>
              <a:ext uri="{FF2B5EF4-FFF2-40B4-BE49-F238E27FC236}">
                <a16:creationId xmlns:a16="http://schemas.microsoft.com/office/drawing/2014/main" id="{7A1B273C-E169-462F-92EE-324E38CAAB10}"/>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D2BA703D-7078-435E-A7E0-0AA2BC916D0E}"/>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17</a:t>
            </a:fld>
            <a:endParaRPr lang="en-US"/>
          </a:p>
        </p:txBody>
      </p:sp>
    </p:spTree>
    <p:extLst>
      <p:ext uri="{BB962C8B-B14F-4D97-AF65-F5344CB8AC3E}">
        <p14:creationId xmlns:p14="http://schemas.microsoft.com/office/powerpoint/2010/main" val="4158883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7EFE5CCB-84DC-4186-9377-1E989FB81F42}"/>
              </a:ext>
            </a:extLst>
          </p:cNvPr>
          <p:cNvSpPr>
            <a:spLocks noGrp="1" noChangeArrowheads="1"/>
          </p:cNvSpPr>
          <p:nvPr>
            <p:ph type="title" idx="4294967295"/>
          </p:nvPr>
        </p:nvSpPr>
        <p:spPr>
          <a:xfrm>
            <a:off x="0" y="152400"/>
            <a:ext cx="7183438" cy="720725"/>
          </a:xfrm>
        </p:spPr>
        <p:txBody>
          <a:bodyPr/>
          <a:lstStyle/>
          <a:p>
            <a:pPr eaLnBrk="1" hangingPunct="1"/>
            <a:r>
              <a:rPr lang="en-US" altLang="en-US">
                <a:ea typeface="ＭＳ Ｐゴシック" panose="020B0600070205080204" pitchFamily="34" charset="-128"/>
                <a:cs typeface="Arial" panose="020B0604020202020204" pitchFamily="34" charset="0"/>
              </a:rPr>
              <a:t>Sampling Variability</a:t>
            </a:r>
          </a:p>
        </p:txBody>
      </p:sp>
      <p:sp>
        <p:nvSpPr>
          <p:cNvPr id="29700" name="Vertical Text Placeholder 2">
            <a:extLst>
              <a:ext uri="{FF2B5EF4-FFF2-40B4-BE49-F238E27FC236}">
                <a16:creationId xmlns:a16="http://schemas.microsoft.com/office/drawing/2014/main" id="{EF384F76-BBAC-4516-BC6B-4A8356F7C6E2}"/>
              </a:ext>
            </a:extLst>
          </p:cNvPr>
          <p:cNvSpPr txBox="1">
            <a:spLocks/>
          </p:cNvSpPr>
          <p:nvPr/>
        </p:nvSpPr>
        <p:spPr bwMode="auto">
          <a:xfrm>
            <a:off x="487147" y="1194174"/>
            <a:ext cx="83534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ts val="700"/>
              </a:spcBef>
              <a:buClr>
                <a:schemeClr val="accent2"/>
              </a:buClr>
              <a:buSzPct val="60000"/>
              <a:buFont typeface="Wingdings" panose="05000000000000000000" pitchFamily="2" charset="2"/>
              <a:buNone/>
            </a:pPr>
            <a:r>
              <a:rPr lang="en-US" altLang="ja-JP" sz="2000" dirty="0">
                <a:solidFill>
                  <a:srgbClr val="000000"/>
                </a:solidFill>
              </a:rPr>
              <a:t>What would happen if we took many samples of same size?</a:t>
            </a:r>
            <a:endParaRPr lang="en-US" altLang="en-US" sz="2000" dirty="0">
              <a:solidFill>
                <a:srgbClr val="000000"/>
              </a:solidFill>
            </a:endParaRPr>
          </a:p>
        </p:txBody>
      </p:sp>
      <p:sp>
        <p:nvSpPr>
          <p:cNvPr id="8" name="Rounded Rectangle 7">
            <a:extLst>
              <a:ext uri="{FF2B5EF4-FFF2-40B4-BE49-F238E27FC236}">
                <a16:creationId xmlns:a16="http://schemas.microsoft.com/office/drawing/2014/main" id="{080EC79E-C081-463C-A7C5-D8E6DBAEB614}"/>
              </a:ext>
            </a:extLst>
          </p:cNvPr>
          <p:cNvSpPr>
            <a:spLocks noChangeArrowheads="1"/>
          </p:cNvSpPr>
          <p:nvPr/>
        </p:nvSpPr>
        <p:spPr bwMode="auto">
          <a:xfrm>
            <a:off x="1073136" y="2387236"/>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fontAlgn="auto">
              <a:spcBef>
                <a:spcPts val="0"/>
              </a:spcBef>
              <a:spcAft>
                <a:spcPts val="0"/>
              </a:spcAft>
              <a:defRPr/>
            </a:pPr>
            <a:r>
              <a:rPr lang="en-US" sz="2000" b="1" dirty="0">
                <a:latin typeface="+mn-lt"/>
                <a:ea typeface="+mn-ea"/>
                <a:cs typeface="Arial"/>
              </a:rPr>
              <a:t>UofM graduates</a:t>
            </a:r>
          </a:p>
        </p:txBody>
      </p:sp>
      <p:sp>
        <p:nvSpPr>
          <p:cNvPr id="9" name="Oval 8">
            <a:extLst>
              <a:ext uri="{FF2B5EF4-FFF2-40B4-BE49-F238E27FC236}">
                <a16:creationId xmlns:a16="http://schemas.microsoft.com/office/drawing/2014/main" id="{E9870383-CF7E-4939-9DAE-4E49185C815A}"/>
              </a:ext>
            </a:extLst>
          </p:cNvPr>
          <p:cNvSpPr>
            <a:spLocks noChangeArrowheads="1"/>
          </p:cNvSpPr>
          <p:nvPr/>
        </p:nvSpPr>
        <p:spPr bwMode="auto">
          <a:xfrm>
            <a:off x="2605073" y="3050811"/>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0" name="Oval 9">
            <a:extLst>
              <a:ext uri="{FF2B5EF4-FFF2-40B4-BE49-F238E27FC236}">
                <a16:creationId xmlns:a16="http://schemas.microsoft.com/office/drawing/2014/main" id="{44B5F23E-A14C-4DC2-9687-653F18A0CD28}"/>
              </a:ext>
            </a:extLst>
          </p:cNvPr>
          <p:cNvSpPr>
            <a:spLocks noChangeArrowheads="1"/>
          </p:cNvSpPr>
          <p:nvPr/>
        </p:nvSpPr>
        <p:spPr bwMode="auto">
          <a:xfrm>
            <a:off x="3573448" y="3339736"/>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1" name="Oval 10">
            <a:extLst>
              <a:ext uri="{FF2B5EF4-FFF2-40B4-BE49-F238E27FC236}">
                <a16:creationId xmlns:a16="http://schemas.microsoft.com/office/drawing/2014/main" id="{24329622-0A57-40A2-B92A-84F293A8ECC0}"/>
              </a:ext>
            </a:extLst>
          </p:cNvPr>
          <p:cNvSpPr>
            <a:spLocks noChangeArrowheads="1"/>
          </p:cNvSpPr>
          <p:nvPr/>
        </p:nvSpPr>
        <p:spPr bwMode="auto">
          <a:xfrm>
            <a:off x="3486136" y="4328748"/>
            <a:ext cx="1454150"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2" name="Oval 11">
            <a:extLst>
              <a:ext uri="{FF2B5EF4-FFF2-40B4-BE49-F238E27FC236}">
                <a16:creationId xmlns:a16="http://schemas.microsoft.com/office/drawing/2014/main" id="{CAB8C046-4415-4125-8EA6-47D5185C1C5F}"/>
              </a:ext>
            </a:extLst>
          </p:cNvPr>
          <p:cNvSpPr>
            <a:spLocks noChangeArrowheads="1"/>
          </p:cNvSpPr>
          <p:nvPr/>
        </p:nvSpPr>
        <p:spPr bwMode="auto">
          <a:xfrm>
            <a:off x="3486136" y="2545986"/>
            <a:ext cx="1454150" cy="577850"/>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3" name="Oval 12">
            <a:extLst>
              <a:ext uri="{FF2B5EF4-FFF2-40B4-BE49-F238E27FC236}">
                <a16:creationId xmlns:a16="http://schemas.microsoft.com/office/drawing/2014/main" id="{6FE2B209-64CA-46BF-9C57-A9B1B87EE751}"/>
              </a:ext>
            </a:extLst>
          </p:cNvPr>
          <p:cNvSpPr>
            <a:spLocks noChangeArrowheads="1"/>
          </p:cNvSpPr>
          <p:nvPr/>
        </p:nvSpPr>
        <p:spPr bwMode="auto">
          <a:xfrm>
            <a:off x="2803511" y="3823923"/>
            <a:ext cx="1455737"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4" name="Oval 13">
            <a:extLst>
              <a:ext uri="{FF2B5EF4-FFF2-40B4-BE49-F238E27FC236}">
                <a16:creationId xmlns:a16="http://schemas.microsoft.com/office/drawing/2014/main" id="{29C073AA-45B7-4B03-AEA6-CB7F1F52EC3C}"/>
              </a:ext>
            </a:extLst>
          </p:cNvPr>
          <p:cNvSpPr>
            <a:spLocks noChangeArrowheads="1"/>
          </p:cNvSpPr>
          <p:nvPr/>
        </p:nvSpPr>
        <p:spPr bwMode="auto">
          <a:xfrm>
            <a:off x="1687498" y="3568336"/>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5" name="Oval 14">
            <a:extLst>
              <a:ext uri="{FF2B5EF4-FFF2-40B4-BE49-F238E27FC236}">
                <a16:creationId xmlns:a16="http://schemas.microsoft.com/office/drawing/2014/main" id="{B88FBFF8-C1A8-484F-A781-1D6BE117F810}"/>
              </a:ext>
            </a:extLst>
          </p:cNvPr>
          <p:cNvSpPr>
            <a:spLocks noChangeArrowheads="1"/>
          </p:cNvSpPr>
          <p:nvPr/>
        </p:nvSpPr>
        <p:spPr bwMode="auto">
          <a:xfrm>
            <a:off x="1506523" y="4328748"/>
            <a:ext cx="1455738"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6" name="Oval 15">
            <a:extLst>
              <a:ext uri="{FF2B5EF4-FFF2-40B4-BE49-F238E27FC236}">
                <a16:creationId xmlns:a16="http://schemas.microsoft.com/office/drawing/2014/main" id="{5BB8EC5B-DDC7-4444-B5A5-A7B7B1028334}"/>
              </a:ext>
            </a:extLst>
          </p:cNvPr>
          <p:cNvSpPr>
            <a:spLocks noChangeArrowheads="1"/>
          </p:cNvSpPr>
          <p:nvPr/>
        </p:nvSpPr>
        <p:spPr bwMode="auto">
          <a:xfrm>
            <a:off x="1349361" y="3050811"/>
            <a:ext cx="1454150"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7" name="Curved Down Arrow 16">
            <a:extLst>
              <a:ext uri="{FF2B5EF4-FFF2-40B4-BE49-F238E27FC236}">
                <a16:creationId xmlns:a16="http://schemas.microsoft.com/office/drawing/2014/main" id="{B51FE26D-CE3F-465C-99DD-E051803DAEEF}"/>
              </a:ext>
            </a:extLst>
          </p:cNvPr>
          <p:cNvSpPr/>
          <p:nvPr/>
        </p:nvSpPr>
        <p:spPr>
          <a:xfrm rot="367008">
            <a:off x="4600895" y="2229005"/>
            <a:ext cx="2830025"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18" name="Curved Down Arrow 17">
            <a:extLst>
              <a:ext uri="{FF2B5EF4-FFF2-40B4-BE49-F238E27FC236}">
                <a16:creationId xmlns:a16="http://schemas.microsoft.com/office/drawing/2014/main" id="{B1A445BE-26CD-4BF0-ADB2-60BF5D30A72C}"/>
              </a:ext>
            </a:extLst>
          </p:cNvPr>
          <p:cNvSpPr/>
          <p:nvPr/>
        </p:nvSpPr>
        <p:spPr>
          <a:xfrm rot="21385562">
            <a:off x="3746135" y="2755064"/>
            <a:ext cx="3440856" cy="499372"/>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19" name="Curved Down Arrow 18">
            <a:extLst>
              <a:ext uri="{FF2B5EF4-FFF2-40B4-BE49-F238E27FC236}">
                <a16:creationId xmlns:a16="http://schemas.microsoft.com/office/drawing/2014/main" id="{7F84214D-FE83-4C9E-96B1-38617BE9EC45}"/>
              </a:ext>
            </a:extLst>
          </p:cNvPr>
          <p:cNvSpPr/>
          <p:nvPr/>
        </p:nvSpPr>
        <p:spPr>
          <a:xfrm rot="214438" flipV="1">
            <a:off x="3987092" y="4146932"/>
            <a:ext cx="3217667" cy="517879"/>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0" name="Curved Down Arrow 19">
            <a:extLst>
              <a:ext uri="{FF2B5EF4-FFF2-40B4-BE49-F238E27FC236}">
                <a16:creationId xmlns:a16="http://schemas.microsoft.com/office/drawing/2014/main" id="{B97FBABB-BA29-40CD-9AB0-D16856FB6AF4}"/>
              </a:ext>
            </a:extLst>
          </p:cNvPr>
          <p:cNvSpPr/>
          <p:nvPr/>
        </p:nvSpPr>
        <p:spPr>
          <a:xfrm rot="21385562">
            <a:off x="2772694" y="3259995"/>
            <a:ext cx="443029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1" name="Curved Down Arrow 20">
            <a:extLst>
              <a:ext uri="{FF2B5EF4-FFF2-40B4-BE49-F238E27FC236}">
                <a16:creationId xmlns:a16="http://schemas.microsoft.com/office/drawing/2014/main" id="{F763E1E4-533F-4A29-B13C-0A9189768FD2}"/>
              </a:ext>
            </a:extLst>
          </p:cNvPr>
          <p:cNvSpPr/>
          <p:nvPr/>
        </p:nvSpPr>
        <p:spPr>
          <a:xfrm rot="21385562">
            <a:off x="2551337" y="2529150"/>
            <a:ext cx="4587242" cy="768566"/>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2" name="Curved Down Arrow 21">
            <a:extLst>
              <a:ext uri="{FF2B5EF4-FFF2-40B4-BE49-F238E27FC236}">
                <a16:creationId xmlns:a16="http://schemas.microsoft.com/office/drawing/2014/main" id="{65F728E7-7268-4838-B6B3-DDE7E3B839F9}"/>
              </a:ext>
            </a:extLst>
          </p:cNvPr>
          <p:cNvSpPr/>
          <p:nvPr/>
        </p:nvSpPr>
        <p:spPr>
          <a:xfrm flipV="1">
            <a:off x="2671515" y="4656156"/>
            <a:ext cx="4716314"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3" name="Curved Down Arrow 22">
            <a:extLst>
              <a:ext uri="{FF2B5EF4-FFF2-40B4-BE49-F238E27FC236}">
                <a16:creationId xmlns:a16="http://schemas.microsoft.com/office/drawing/2014/main" id="{D643EB80-5D27-4146-A2B1-A8504A5648E0}"/>
              </a:ext>
            </a:extLst>
          </p:cNvPr>
          <p:cNvSpPr/>
          <p:nvPr/>
        </p:nvSpPr>
        <p:spPr>
          <a:xfrm rot="21313586" flipV="1">
            <a:off x="4281366" y="4680085"/>
            <a:ext cx="3279600" cy="753331"/>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4" name="Curved Down Arrow 23">
            <a:extLst>
              <a:ext uri="{FF2B5EF4-FFF2-40B4-BE49-F238E27FC236}">
                <a16:creationId xmlns:a16="http://schemas.microsoft.com/office/drawing/2014/main" id="{CA929570-99AA-4A78-BE37-70E75E56D3C0}"/>
              </a:ext>
            </a:extLst>
          </p:cNvPr>
          <p:cNvSpPr/>
          <p:nvPr/>
        </p:nvSpPr>
        <p:spPr>
          <a:xfrm rot="21385562">
            <a:off x="4739488" y="2872520"/>
            <a:ext cx="246104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cs typeface="Arial"/>
            </a:endParaRPr>
          </a:p>
        </p:txBody>
      </p:sp>
      <p:sp>
        <p:nvSpPr>
          <p:cNvPr id="25" name="TextBox 24">
            <a:extLst>
              <a:ext uri="{FF2B5EF4-FFF2-40B4-BE49-F238E27FC236}">
                <a16:creationId xmlns:a16="http://schemas.microsoft.com/office/drawing/2014/main" id="{3D98FE72-8259-4368-A8F6-FDA1B6365A60}"/>
              </a:ext>
            </a:extLst>
          </p:cNvPr>
          <p:cNvSpPr txBox="1"/>
          <p:nvPr/>
        </p:nvSpPr>
        <p:spPr>
          <a:xfrm>
            <a:off x="7449187" y="3283707"/>
            <a:ext cx="577401" cy="923330"/>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a:defRPr/>
            </a:pPr>
            <a:r>
              <a:rPr lang="en-US" sz="5400" b="1" dirty="0">
                <a:solidFill>
                  <a:schemeClr val="tx1"/>
                </a:solidFill>
              </a:rPr>
              <a:t>μ</a:t>
            </a:r>
            <a:endParaRPr lang="en-US" sz="9600" b="1" dirty="0">
              <a:solidFill>
                <a:schemeClr val="tx1"/>
              </a:solidFill>
            </a:endParaRPr>
          </a:p>
        </p:txBody>
      </p:sp>
    </p:spTree>
    <p:extLst>
      <p:ext uri="{BB962C8B-B14F-4D97-AF65-F5344CB8AC3E}">
        <p14:creationId xmlns:p14="http://schemas.microsoft.com/office/powerpoint/2010/main" val="15063045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nodeType="afterGroup">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nodeType="afterGroup">
                            <p:stCondLst>
                              <p:cond delay="2000"/>
                            </p:stCondLst>
                            <p:childTnLst>
                              <p:par>
                                <p:cTn id="21" presetID="10"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par>
                          <p:cTn id="24" fill="hold" nodeType="afterGroup">
                            <p:stCondLst>
                              <p:cond delay="2500"/>
                            </p:stCondLst>
                            <p:childTnLst>
                              <p:par>
                                <p:cTn id="25" presetID="10"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par>
                          <p:cTn id="28" fill="hold" nodeType="afterGroup">
                            <p:stCondLst>
                              <p:cond delay="3000"/>
                            </p:stCondLst>
                            <p:childTnLst>
                              <p:par>
                                <p:cTn id="29" presetID="10"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nodeType="afterGroup">
                            <p:stCondLst>
                              <p:cond delay="3500"/>
                            </p:stCondLst>
                            <p:childTnLst>
                              <p:par>
                                <p:cTn id="33" presetID="10"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par>
                          <p:cTn id="36" fill="hold" nodeType="afterGroup">
                            <p:stCondLst>
                              <p:cond delay="4000"/>
                            </p:stCondLst>
                            <p:childTnLst>
                              <p:par>
                                <p:cTn id="37" presetID="10" presetClass="entr" presetSubtype="0"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childTnLst>
                          </p:cTn>
                        </p:par>
                        <p:par>
                          <p:cTn id="61" fill="hold" nodeType="afterGroup">
                            <p:stCondLst>
                              <p:cond delay="4500"/>
                            </p:stCondLst>
                            <p:childTnLst>
                              <p:par>
                                <p:cTn id="62" presetID="17" presetClass="entr" presetSubtype="10" fill="hold" nodeType="after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p:cTn id="64" dur="500" fill="hold"/>
                                        <p:tgtEl>
                                          <p:spTgt spid="25"/>
                                        </p:tgtEl>
                                        <p:attrNameLst>
                                          <p:attrName>ppt_w</p:attrName>
                                        </p:attrNameLst>
                                      </p:cBhvr>
                                      <p:tavLst>
                                        <p:tav tm="0">
                                          <p:val>
                                            <p:fltVal val="0"/>
                                          </p:val>
                                        </p:tav>
                                        <p:tav tm="100000">
                                          <p:val>
                                            <p:strVal val="#ppt_w"/>
                                          </p:val>
                                        </p:tav>
                                      </p:tavLst>
                                    </p:anim>
                                    <p:anim calcmode="lin" valueType="num">
                                      <p:cBhvr>
                                        <p:cTn id="65" dur="500" fill="hold"/>
                                        <p:tgtEl>
                                          <p:spTgt spid="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19">
            <a:extLst>
              <a:ext uri="{FF2B5EF4-FFF2-40B4-BE49-F238E27FC236}">
                <a16:creationId xmlns:a16="http://schemas.microsoft.com/office/drawing/2014/main" id="{08AF8081-B15A-409F-AF44-D3DEC7CDA6CA}"/>
              </a:ext>
            </a:extLst>
          </p:cNvPr>
          <p:cNvSpPr>
            <a:spLocks noGrp="1" noChangeArrowheads="1"/>
          </p:cNvSpPr>
          <p:nvPr>
            <p:ph type="title" idx="4294967295"/>
          </p:nvPr>
        </p:nvSpPr>
        <p:spPr>
          <a:xfrm>
            <a:off x="0" y="152400"/>
            <a:ext cx="7204075" cy="711200"/>
          </a:xfrm>
        </p:spPr>
        <p:txBody>
          <a:bodyPr/>
          <a:lstStyle/>
          <a:p>
            <a:pPr eaLnBrk="1" hangingPunct="1"/>
            <a:r>
              <a:rPr lang="en-US" altLang="en-US">
                <a:ea typeface="ＭＳ Ｐゴシック" panose="020B0600070205080204" pitchFamily="34" charset="-128"/>
                <a:cs typeface="Arial" panose="020B0604020202020204" pitchFamily="34" charset="0"/>
              </a:rPr>
              <a:t>Sampling Distributions</a:t>
            </a:r>
          </a:p>
        </p:txBody>
      </p:sp>
      <p:sp>
        <p:nvSpPr>
          <p:cNvPr id="30724" name="TextBox 1">
            <a:extLst>
              <a:ext uri="{FF2B5EF4-FFF2-40B4-BE49-F238E27FC236}">
                <a16:creationId xmlns:a16="http://schemas.microsoft.com/office/drawing/2014/main" id="{EE1B5926-6E5D-4C56-87B3-34CB737328EF}"/>
              </a:ext>
            </a:extLst>
          </p:cNvPr>
          <p:cNvSpPr txBox="1">
            <a:spLocks noChangeArrowheads="1"/>
          </p:cNvSpPr>
          <p:nvPr/>
        </p:nvSpPr>
        <p:spPr bwMode="auto">
          <a:xfrm>
            <a:off x="519113" y="1196975"/>
            <a:ext cx="837723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solidFill>
                  <a:srgbClr val="000000"/>
                </a:solidFill>
              </a:rPr>
              <a:t>If we took every one of the possible samples of a certain size, calculated the </a:t>
            </a:r>
            <a:r>
              <a:rPr lang="en-US" altLang="en-US" sz="2000" u="sng" dirty="0">
                <a:solidFill>
                  <a:srgbClr val="000000"/>
                </a:solidFill>
              </a:rPr>
              <a:t>sample mean </a:t>
            </a:r>
            <a:r>
              <a:rPr lang="en-US" altLang="en-US" sz="2000" dirty="0">
                <a:solidFill>
                  <a:srgbClr val="000000"/>
                </a:solidFill>
              </a:rPr>
              <a:t>for each, and graphed all of those values, we’</a:t>
            </a:r>
            <a:r>
              <a:rPr lang="en-US" altLang="ja-JP" sz="2000" dirty="0">
                <a:solidFill>
                  <a:srgbClr val="000000"/>
                </a:solidFill>
              </a:rPr>
              <a:t>d have a </a:t>
            </a:r>
            <a:r>
              <a:rPr lang="en-US" altLang="ja-JP" sz="2000" b="1" dirty="0">
                <a:solidFill>
                  <a:srgbClr val="800000"/>
                </a:solidFill>
              </a:rPr>
              <a:t>sampling distribution of the sample mean</a:t>
            </a:r>
            <a:r>
              <a:rPr lang="en-US" altLang="ja-JP" sz="2000" b="1" dirty="0">
                <a:solidFill>
                  <a:srgbClr val="993300"/>
                </a:solidFill>
              </a:rPr>
              <a:t>.</a:t>
            </a:r>
            <a:endParaRPr lang="en-US" altLang="ja-JP" sz="3600" dirty="0">
              <a:solidFill>
                <a:srgbClr val="993300"/>
              </a:solidFill>
            </a:endParaRPr>
          </a:p>
          <a:p>
            <a:pPr eaLnBrk="1" hangingPunct="1"/>
            <a:endParaRPr lang="en-US" altLang="en-US" sz="2000" dirty="0"/>
          </a:p>
        </p:txBody>
      </p:sp>
      <p:sp>
        <p:nvSpPr>
          <p:cNvPr id="6" name="TextBox 5">
            <a:extLst>
              <a:ext uri="{FF2B5EF4-FFF2-40B4-BE49-F238E27FC236}">
                <a16:creationId xmlns:a16="http://schemas.microsoft.com/office/drawing/2014/main" id="{141F760F-3817-487E-81C8-8BFD3694705B}"/>
              </a:ext>
            </a:extLst>
          </p:cNvPr>
          <p:cNvSpPr txBox="1">
            <a:spLocks noChangeArrowheads="1"/>
          </p:cNvSpPr>
          <p:nvPr/>
        </p:nvSpPr>
        <p:spPr bwMode="auto">
          <a:xfrm>
            <a:off x="718701" y="2853789"/>
            <a:ext cx="7515225" cy="204628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700" b="1" u="sng" dirty="0">
              <a:solidFill>
                <a:srgbClr val="E81F30"/>
              </a:solidFill>
            </a:endParaRPr>
          </a:p>
          <a:p>
            <a:pPr eaLnBrk="1" hangingPunct="1">
              <a:defRPr/>
            </a:pPr>
            <a:r>
              <a:rPr lang="en-US" altLang="en-US" sz="2000" dirty="0">
                <a:solidFill>
                  <a:srgbClr val="000000"/>
                </a:solidFill>
              </a:rPr>
              <a:t>The </a:t>
            </a:r>
            <a:r>
              <a:rPr lang="en-US" altLang="en-US" sz="2000" b="1" dirty="0">
                <a:solidFill>
                  <a:srgbClr val="800000"/>
                </a:solidFill>
              </a:rPr>
              <a:t>population distribution</a:t>
            </a:r>
            <a:r>
              <a:rPr lang="en-US" altLang="en-US" sz="2000" dirty="0">
                <a:solidFill>
                  <a:srgbClr val="800000"/>
                </a:solidFill>
              </a:rPr>
              <a:t> </a:t>
            </a:r>
            <a:r>
              <a:rPr lang="en-US" altLang="en-US" sz="2000" dirty="0">
                <a:solidFill>
                  <a:srgbClr val="000000"/>
                </a:solidFill>
              </a:rPr>
              <a:t>of a variable is the distribution of values of the variable among all individuals in the population.</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The </a:t>
            </a:r>
            <a:r>
              <a:rPr lang="en-US" altLang="en-US" sz="2000" b="1" dirty="0">
                <a:solidFill>
                  <a:srgbClr val="800000"/>
                </a:solidFill>
              </a:rPr>
              <a:t>sampling distribution </a:t>
            </a:r>
            <a:r>
              <a:rPr lang="en-US" altLang="en-US" sz="2000" dirty="0">
                <a:solidFill>
                  <a:srgbClr val="000000"/>
                </a:solidFill>
              </a:rPr>
              <a:t>of a statistic is the distribution of values taken by the statistic in all possible samples of the same size from the same population.</a:t>
            </a:r>
            <a:endParaRPr lang="en-US" altLang="en-US" dirty="0">
              <a:solidFill>
                <a:srgbClr val="000000"/>
              </a:solidFill>
            </a:endParaRPr>
          </a:p>
        </p:txBody>
      </p:sp>
    </p:spTree>
    <p:extLst>
      <p:ext uri="{BB962C8B-B14F-4D97-AF65-F5344CB8AC3E}">
        <p14:creationId xmlns:p14="http://schemas.microsoft.com/office/powerpoint/2010/main" val="20165767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2A192D-BA87-4524-B2F9-C6967686B46A}"/>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15C9FD5F-9385-43C8-90CD-1EE1EB1DB213}"/>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20</a:t>
            </a:fld>
            <a:endParaRPr lang="en-US"/>
          </a:p>
        </p:txBody>
      </p:sp>
      <p:pic>
        <p:nvPicPr>
          <p:cNvPr id="4" name="Picture 3">
            <a:extLst>
              <a:ext uri="{FF2B5EF4-FFF2-40B4-BE49-F238E27FC236}">
                <a16:creationId xmlns:a16="http://schemas.microsoft.com/office/drawing/2014/main" id="{69020066-2A47-4055-B52B-CB73C9BE8DCD}"/>
              </a:ext>
            </a:extLst>
          </p:cNvPr>
          <p:cNvPicPr>
            <a:picLocks noChangeAspect="1"/>
          </p:cNvPicPr>
          <p:nvPr/>
        </p:nvPicPr>
        <p:blipFill>
          <a:blip r:embed="rId2"/>
          <a:stretch>
            <a:fillRect/>
          </a:stretch>
        </p:blipFill>
        <p:spPr>
          <a:xfrm>
            <a:off x="4807599" y="2643200"/>
            <a:ext cx="3942773" cy="2977924"/>
          </a:xfrm>
          <a:prstGeom prst="rect">
            <a:avLst/>
          </a:prstGeom>
        </p:spPr>
      </p:pic>
      <p:sp>
        <p:nvSpPr>
          <p:cNvPr id="5" name="TextBox 4">
            <a:extLst>
              <a:ext uri="{FF2B5EF4-FFF2-40B4-BE49-F238E27FC236}">
                <a16:creationId xmlns:a16="http://schemas.microsoft.com/office/drawing/2014/main" id="{C9398F60-D840-429A-A90E-0E275EFE6B1C}"/>
              </a:ext>
            </a:extLst>
          </p:cNvPr>
          <p:cNvSpPr txBox="1"/>
          <p:nvPr/>
        </p:nvSpPr>
        <p:spPr>
          <a:xfrm>
            <a:off x="6054677" y="5543906"/>
            <a:ext cx="1524776" cy="369332"/>
          </a:xfrm>
          <a:prstGeom prst="rect">
            <a:avLst/>
          </a:prstGeom>
          <a:noFill/>
        </p:spPr>
        <p:txBody>
          <a:bodyPr wrap="none" rtlCol="0">
            <a:spAutoFit/>
          </a:bodyPr>
          <a:lstStyle/>
          <a:p>
            <a:r>
              <a:rPr lang="en-US" altLang="zh-CN" dirty="0"/>
              <a:t>Sample means</a:t>
            </a:r>
            <a:endParaRPr lang="en-US" dirty="0"/>
          </a:p>
        </p:txBody>
      </p:sp>
      <p:sp>
        <p:nvSpPr>
          <p:cNvPr id="6" name="Rounded Rectangle 7">
            <a:extLst>
              <a:ext uri="{FF2B5EF4-FFF2-40B4-BE49-F238E27FC236}">
                <a16:creationId xmlns:a16="http://schemas.microsoft.com/office/drawing/2014/main" id="{FBA0838F-9A99-45B9-9CD8-FDCF8DA2758C}"/>
              </a:ext>
            </a:extLst>
          </p:cNvPr>
          <p:cNvSpPr>
            <a:spLocks noChangeArrowheads="1"/>
          </p:cNvSpPr>
          <p:nvPr/>
        </p:nvSpPr>
        <p:spPr bwMode="auto">
          <a:xfrm>
            <a:off x="393628" y="323545"/>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fontAlgn="auto">
              <a:spcBef>
                <a:spcPts val="0"/>
              </a:spcBef>
              <a:spcAft>
                <a:spcPts val="0"/>
              </a:spcAft>
              <a:defRPr/>
            </a:pPr>
            <a:r>
              <a:rPr lang="en-US" sz="2000" b="1" dirty="0">
                <a:latin typeface="+mn-lt"/>
                <a:ea typeface="+mn-ea"/>
                <a:cs typeface="Arial"/>
              </a:rPr>
              <a:t>UofM graduates</a:t>
            </a:r>
          </a:p>
        </p:txBody>
      </p:sp>
      <p:sp>
        <p:nvSpPr>
          <p:cNvPr id="7" name="Oval 6">
            <a:extLst>
              <a:ext uri="{FF2B5EF4-FFF2-40B4-BE49-F238E27FC236}">
                <a16:creationId xmlns:a16="http://schemas.microsoft.com/office/drawing/2014/main" id="{1B613F38-F427-4EAE-AFEE-95A91B6C5204}"/>
              </a:ext>
            </a:extLst>
          </p:cNvPr>
          <p:cNvSpPr>
            <a:spLocks noChangeArrowheads="1"/>
          </p:cNvSpPr>
          <p:nvPr/>
        </p:nvSpPr>
        <p:spPr bwMode="auto">
          <a:xfrm>
            <a:off x="1925565" y="987120"/>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8" name="Oval 7">
            <a:extLst>
              <a:ext uri="{FF2B5EF4-FFF2-40B4-BE49-F238E27FC236}">
                <a16:creationId xmlns:a16="http://schemas.microsoft.com/office/drawing/2014/main" id="{D2EFF1F1-065E-45C2-A83E-4852F7A2F29C}"/>
              </a:ext>
            </a:extLst>
          </p:cNvPr>
          <p:cNvSpPr>
            <a:spLocks noChangeArrowheads="1"/>
          </p:cNvSpPr>
          <p:nvPr/>
        </p:nvSpPr>
        <p:spPr bwMode="auto">
          <a:xfrm>
            <a:off x="2893940" y="12760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9" name="Oval 8">
            <a:extLst>
              <a:ext uri="{FF2B5EF4-FFF2-40B4-BE49-F238E27FC236}">
                <a16:creationId xmlns:a16="http://schemas.microsoft.com/office/drawing/2014/main" id="{4441BEFB-30EB-4AA0-AEC8-818C2F2FD6B4}"/>
              </a:ext>
            </a:extLst>
          </p:cNvPr>
          <p:cNvSpPr>
            <a:spLocks noChangeArrowheads="1"/>
          </p:cNvSpPr>
          <p:nvPr/>
        </p:nvSpPr>
        <p:spPr bwMode="auto">
          <a:xfrm>
            <a:off x="2806628" y="2265057"/>
            <a:ext cx="1454150"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0" name="Oval 9">
            <a:extLst>
              <a:ext uri="{FF2B5EF4-FFF2-40B4-BE49-F238E27FC236}">
                <a16:creationId xmlns:a16="http://schemas.microsoft.com/office/drawing/2014/main" id="{01F3F40D-89B7-4A59-A866-FAB4C6F6A2EC}"/>
              </a:ext>
            </a:extLst>
          </p:cNvPr>
          <p:cNvSpPr>
            <a:spLocks noChangeArrowheads="1"/>
          </p:cNvSpPr>
          <p:nvPr/>
        </p:nvSpPr>
        <p:spPr bwMode="auto">
          <a:xfrm>
            <a:off x="2806628" y="482295"/>
            <a:ext cx="1454150" cy="577850"/>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1" name="Oval 10">
            <a:extLst>
              <a:ext uri="{FF2B5EF4-FFF2-40B4-BE49-F238E27FC236}">
                <a16:creationId xmlns:a16="http://schemas.microsoft.com/office/drawing/2014/main" id="{A3CAC52E-3F5C-43EC-985F-3A8E2442333D}"/>
              </a:ext>
            </a:extLst>
          </p:cNvPr>
          <p:cNvSpPr>
            <a:spLocks noChangeArrowheads="1"/>
          </p:cNvSpPr>
          <p:nvPr/>
        </p:nvSpPr>
        <p:spPr bwMode="auto">
          <a:xfrm>
            <a:off x="2124003" y="1760232"/>
            <a:ext cx="1455737"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2" name="Oval 11">
            <a:extLst>
              <a:ext uri="{FF2B5EF4-FFF2-40B4-BE49-F238E27FC236}">
                <a16:creationId xmlns:a16="http://schemas.microsoft.com/office/drawing/2014/main" id="{B7F2262A-D207-4707-B7A6-80B1488380BC}"/>
              </a:ext>
            </a:extLst>
          </p:cNvPr>
          <p:cNvSpPr>
            <a:spLocks noChangeArrowheads="1"/>
          </p:cNvSpPr>
          <p:nvPr/>
        </p:nvSpPr>
        <p:spPr bwMode="auto">
          <a:xfrm>
            <a:off x="1007990" y="15046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3" name="Oval 12">
            <a:extLst>
              <a:ext uri="{FF2B5EF4-FFF2-40B4-BE49-F238E27FC236}">
                <a16:creationId xmlns:a16="http://schemas.microsoft.com/office/drawing/2014/main" id="{F8FCF481-8734-442A-9BC3-E050002C9562}"/>
              </a:ext>
            </a:extLst>
          </p:cNvPr>
          <p:cNvSpPr>
            <a:spLocks noChangeArrowheads="1"/>
          </p:cNvSpPr>
          <p:nvPr/>
        </p:nvSpPr>
        <p:spPr bwMode="auto">
          <a:xfrm>
            <a:off x="827015" y="2265057"/>
            <a:ext cx="1455738"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4" name="Oval 13">
            <a:extLst>
              <a:ext uri="{FF2B5EF4-FFF2-40B4-BE49-F238E27FC236}">
                <a16:creationId xmlns:a16="http://schemas.microsoft.com/office/drawing/2014/main" id="{4B18F9A4-3AFC-43E3-BB51-62E44F89D6C9}"/>
              </a:ext>
            </a:extLst>
          </p:cNvPr>
          <p:cNvSpPr>
            <a:spLocks noChangeArrowheads="1"/>
          </p:cNvSpPr>
          <p:nvPr/>
        </p:nvSpPr>
        <p:spPr bwMode="auto">
          <a:xfrm>
            <a:off x="669853" y="987120"/>
            <a:ext cx="1454150"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cxnSp>
        <p:nvCxnSpPr>
          <p:cNvPr id="16" name="Straight Arrow Connector 15">
            <a:extLst>
              <a:ext uri="{FF2B5EF4-FFF2-40B4-BE49-F238E27FC236}">
                <a16:creationId xmlns:a16="http://schemas.microsoft.com/office/drawing/2014/main" id="{2E37D8B1-4BB4-456F-9414-1330E39052E3}"/>
              </a:ext>
            </a:extLst>
          </p:cNvPr>
          <p:cNvCxnSpPr/>
          <p:nvPr/>
        </p:nvCxnSpPr>
        <p:spPr>
          <a:xfrm>
            <a:off x="3800213" y="2841320"/>
            <a:ext cx="1879134" cy="2519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22D3AE-183F-4801-ABF0-31238D39963B}"/>
              </a:ext>
            </a:extLst>
          </p:cNvPr>
          <p:cNvCxnSpPr/>
          <p:nvPr/>
        </p:nvCxnSpPr>
        <p:spPr>
          <a:xfrm>
            <a:off x="1925565" y="2804807"/>
            <a:ext cx="3586002" cy="253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12A7C67-9D2A-4705-B211-02D11A36431E}"/>
              </a:ext>
            </a:extLst>
          </p:cNvPr>
          <p:cNvCxnSpPr/>
          <p:nvPr/>
        </p:nvCxnSpPr>
        <p:spPr>
          <a:xfrm>
            <a:off x="3456264" y="2139645"/>
            <a:ext cx="2894202" cy="322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A5F8B0A-8A11-491D-941B-1725A12557F7}"/>
              </a:ext>
            </a:extLst>
          </p:cNvPr>
          <p:cNvCxnSpPr>
            <a:stCxn id="8" idx="5"/>
          </p:cNvCxnSpPr>
          <p:nvPr/>
        </p:nvCxnSpPr>
        <p:spPr>
          <a:xfrm>
            <a:off x="4136490" y="1767915"/>
            <a:ext cx="3598160" cy="35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5D73357-2194-4FDD-8120-152B855CD7F9}"/>
              </a:ext>
            </a:extLst>
          </p:cNvPr>
          <p:cNvCxnSpPr>
            <a:stCxn id="10" idx="5"/>
          </p:cNvCxnSpPr>
          <p:nvPr/>
        </p:nvCxnSpPr>
        <p:spPr>
          <a:xfrm>
            <a:off x="4047823" y="975521"/>
            <a:ext cx="2769242" cy="4385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8069BD6-D946-47F0-B927-E3575E4001F5}"/>
              </a:ext>
            </a:extLst>
          </p:cNvPr>
          <p:cNvSpPr txBox="1"/>
          <p:nvPr/>
        </p:nvSpPr>
        <p:spPr>
          <a:xfrm>
            <a:off x="1121516" y="3208032"/>
            <a:ext cx="5261056" cy="369332"/>
          </a:xfrm>
          <a:prstGeom prst="rect">
            <a:avLst/>
          </a:prstGeom>
          <a:noFill/>
        </p:spPr>
        <p:txBody>
          <a:bodyPr wrap="none" rtlCol="0">
            <a:spAutoFit/>
          </a:bodyPr>
          <a:lstStyle/>
          <a:p>
            <a:r>
              <a:rPr lang="en-US" b="1" dirty="0"/>
              <a:t>Calculate average number of hours for each sample</a:t>
            </a:r>
          </a:p>
        </p:txBody>
      </p:sp>
    </p:spTree>
    <p:extLst>
      <p:ext uri="{BB962C8B-B14F-4D97-AF65-F5344CB8AC3E}">
        <p14:creationId xmlns:p14="http://schemas.microsoft.com/office/powerpoint/2010/main" val="1355955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9CC349-4038-4E88-BE69-55FAD23B79BA}"/>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E874FFB4-3806-4345-9092-5CD61E92BB8D}"/>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21</a:t>
            </a:fld>
            <a:endParaRPr lang="en-US"/>
          </a:p>
        </p:txBody>
      </p:sp>
      <p:pic>
        <p:nvPicPr>
          <p:cNvPr id="4" name="Picture 3">
            <a:extLst>
              <a:ext uri="{FF2B5EF4-FFF2-40B4-BE49-F238E27FC236}">
                <a16:creationId xmlns:a16="http://schemas.microsoft.com/office/drawing/2014/main" id="{4A7F03F4-1401-41CB-9BD6-382A1C82023F}"/>
              </a:ext>
            </a:extLst>
          </p:cNvPr>
          <p:cNvPicPr>
            <a:picLocks noChangeAspect="1"/>
          </p:cNvPicPr>
          <p:nvPr/>
        </p:nvPicPr>
        <p:blipFill>
          <a:blip r:embed="rId2"/>
          <a:stretch>
            <a:fillRect/>
          </a:stretch>
        </p:blipFill>
        <p:spPr>
          <a:xfrm>
            <a:off x="2685184" y="3079428"/>
            <a:ext cx="3942773" cy="2977924"/>
          </a:xfrm>
          <a:prstGeom prst="rect">
            <a:avLst/>
          </a:prstGeom>
        </p:spPr>
      </p:pic>
      <p:sp>
        <p:nvSpPr>
          <p:cNvPr id="5" name="TextBox 4">
            <a:extLst>
              <a:ext uri="{FF2B5EF4-FFF2-40B4-BE49-F238E27FC236}">
                <a16:creationId xmlns:a16="http://schemas.microsoft.com/office/drawing/2014/main" id="{4D3AB4A4-F9C6-4954-85A6-55103930C87F}"/>
              </a:ext>
            </a:extLst>
          </p:cNvPr>
          <p:cNvSpPr txBox="1"/>
          <p:nvPr/>
        </p:nvSpPr>
        <p:spPr>
          <a:xfrm>
            <a:off x="3932262" y="5980134"/>
            <a:ext cx="1524776" cy="369332"/>
          </a:xfrm>
          <a:prstGeom prst="rect">
            <a:avLst/>
          </a:prstGeom>
          <a:noFill/>
        </p:spPr>
        <p:txBody>
          <a:bodyPr wrap="none" rtlCol="0">
            <a:spAutoFit/>
          </a:bodyPr>
          <a:lstStyle/>
          <a:p>
            <a:r>
              <a:rPr lang="en-US" altLang="zh-CN" dirty="0"/>
              <a:t>Sample means</a:t>
            </a:r>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49F62AC-8B41-41BE-AB02-B9F0AE578105}"/>
                  </a:ext>
                </a:extLst>
              </p:cNvPr>
              <p:cNvSpPr/>
              <p:nvPr/>
            </p:nvSpPr>
            <p:spPr>
              <a:xfrm>
                <a:off x="5153697" y="3656250"/>
                <a:ext cx="1019703" cy="527452"/>
              </a:xfrm>
              <a:prstGeom prst="rect">
                <a:avLst/>
              </a:prstGeom>
            </p:spPr>
            <p:txBody>
              <a:bodyPr wrap="none">
                <a:spAutoFit/>
              </a:bodyPr>
              <a:lstStyle/>
              <a:p>
                <a:r>
                  <a:rPr lang="en-US" dirty="0"/>
                  <a:t>N</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𝜇</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e>
                    </m:d>
                  </m:oMath>
                </a14:m>
                <a:endParaRPr lang="en-US" dirty="0"/>
              </a:p>
            </p:txBody>
          </p:sp>
        </mc:Choice>
        <mc:Fallback xmlns="">
          <p:sp>
            <p:nvSpPr>
              <p:cNvPr id="6" name="Rectangle 5">
                <a:extLst>
                  <a:ext uri="{FF2B5EF4-FFF2-40B4-BE49-F238E27FC236}">
                    <a16:creationId xmlns:a16="http://schemas.microsoft.com/office/drawing/2014/main" id="{A49F62AC-8B41-41BE-AB02-B9F0AE578105}"/>
                  </a:ext>
                </a:extLst>
              </p:cNvPr>
              <p:cNvSpPr>
                <a:spLocks noRot="1" noChangeAspect="1" noMove="1" noResize="1" noEditPoints="1" noAdjustHandles="1" noChangeArrowheads="1" noChangeShapeType="1" noTextEdit="1"/>
              </p:cNvSpPr>
              <p:nvPr/>
            </p:nvSpPr>
            <p:spPr>
              <a:xfrm>
                <a:off x="5153697" y="3656250"/>
                <a:ext cx="1019703" cy="527452"/>
              </a:xfrm>
              <a:prstGeom prst="rect">
                <a:avLst/>
              </a:prstGeom>
              <a:blipFill>
                <a:blip r:embed="rId3"/>
                <a:stretch>
                  <a:fillRect l="-4762" b="-1163"/>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A83B62ED-CDAB-4703-BD5C-650883953144}"/>
              </a:ext>
            </a:extLst>
          </p:cNvPr>
          <p:cNvSpPr txBox="1">
            <a:spLocks/>
          </p:cNvSpPr>
          <p:nvPr/>
        </p:nvSpPr>
        <p:spPr>
          <a:xfrm>
            <a:off x="398477" y="738926"/>
            <a:ext cx="8229600" cy="2462823"/>
          </a:xfrm>
          <a:prstGeom prst="rect">
            <a:avLst/>
          </a:prstGeom>
        </p:spPr>
        <p:txBody>
          <a:bodyPr>
            <a:normAutofit fontScale="77500" lnSpcReduction="20000"/>
          </a:bodyPr>
          <a:lstStyle>
            <a:lvl1pPr marL="342891" indent="-342891" algn="l" defTabSz="914377"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2600" dirty="0">
                <a:solidFill>
                  <a:srgbClr val="0070C0"/>
                </a:solidFill>
                <a:ea typeface="ＭＳ Ｐゴシック" charset="-128"/>
              </a:rPr>
              <a:t>The standard deviation of a sampling distribution is called the </a:t>
            </a:r>
            <a:r>
              <a:rPr lang="en-US" altLang="en-US" sz="2600" b="1" dirty="0">
                <a:solidFill>
                  <a:srgbClr val="FF0000"/>
                </a:solidFill>
                <a:ea typeface="ＭＳ Ｐゴシック" charset="-128"/>
              </a:rPr>
              <a:t>standard error</a:t>
            </a:r>
          </a:p>
          <a:p>
            <a:pPr lvl="1"/>
            <a:endParaRPr lang="en-US" altLang="en-US" dirty="0"/>
          </a:p>
          <a:p>
            <a:pPr lvl="1"/>
            <a:endParaRPr lang="en-US" altLang="en-US" dirty="0"/>
          </a:p>
          <a:p>
            <a:r>
              <a:rPr lang="en-US" altLang="en-US" sz="2600" dirty="0">
                <a:ea typeface="ＭＳ Ｐゴシック" charset="-128"/>
              </a:rPr>
              <a:t>Standard Error</a:t>
            </a:r>
          </a:p>
          <a:p>
            <a:pPr lvl="1"/>
            <a:r>
              <a:rPr lang="en-US" altLang="en-US" sz="2200" dirty="0">
                <a:ea typeface="ＭＳ Ｐゴシック" charset="-128"/>
              </a:rPr>
              <a:t>The extent to which sample means selected from the same population differ from one another</a:t>
            </a:r>
          </a:p>
          <a:p>
            <a:pPr lvl="1"/>
            <a:r>
              <a:rPr lang="en-US" altLang="zh-CN" sz="2200" dirty="0">
                <a:ea typeface="ＭＳ Ｐゴシック" charset="-128"/>
              </a:rPr>
              <a:t>How accurate the sample mean is</a:t>
            </a:r>
            <a:endParaRPr lang="en-US" altLang="en-US" sz="2200" dirty="0">
              <a:ea typeface="ＭＳ Ｐゴシック" charset="-128"/>
            </a:endParaRPr>
          </a:p>
          <a:p>
            <a:endParaRPr lang="en-US" altLang="en-US" sz="2600" dirty="0">
              <a:ea typeface="ＭＳ Ｐゴシック" charset="-128"/>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713F835-612C-4183-971F-BFC935CB1694}"/>
                  </a:ext>
                </a:extLst>
              </p:cNvPr>
              <p:cNvSpPr/>
              <p:nvPr/>
            </p:nvSpPr>
            <p:spPr>
              <a:xfrm>
                <a:off x="3706902" y="1231226"/>
                <a:ext cx="806375" cy="488660"/>
              </a:xfrm>
              <a:prstGeom prst="rect">
                <a:avLst/>
              </a:prstGeom>
            </p:spPr>
            <p:txBody>
              <a:bodyPr wrap="none">
                <a:spAutoFit/>
              </a:bodyPr>
              <a:lstStyle/>
              <a:p>
                <a:r>
                  <a:rPr lang="en-US" dirty="0"/>
                  <a:t>SE=</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a14:m>
                <a:endParaRPr lang="en-US" dirty="0"/>
              </a:p>
            </p:txBody>
          </p:sp>
        </mc:Choice>
        <mc:Fallback xmlns="">
          <p:sp>
            <p:nvSpPr>
              <p:cNvPr id="8" name="Rectangle 7">
                <a:extLst>
                  <a:ext uri="{FF2B5EF4-FFF2-40B4-BE49-F238E27FC236}">
                    <a16:creationId xmlns:a16="http://schemas.microsoft.com/office/drawing/2014/main" id="{1713F835-612C-4183-971F-BFC935CB1694}"/>
                  </a:ext>
                </a:extLst>
              </p:cNvPr>
              <p:cNvSpPr>
                <a:spLocks noRot="1" noChangeAspect="1" noMove="1" noResize="1" noEditPoints="1" noAdjustHandles="1" noChangeArrowheads="1" noChangeShapeType="1" noTextEdit="1"/>
              </p:cNvSpPr>
              <p:nvPr/>
            </p:nvSpPr>
            <p:spPr>
              <a:xfrm>
                <a:off x="3706902" y="1231226"/>
                <a:ext cx="806375" cy="488660"/>
              </a:xfrm>
              <a:prstGeom prst="rect">
                <a:avLst/>
              </a:prstGeom>
              <a:blipFill>
                <a:blip r:embed="rId4"/>
                <a:stretch>
                  <a:fillRect l="-6061" t="-1250" b="-125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80E73F74-3267-47ED-9E0A-FB58F8A85AB7}"/>
              </a:ext>
            </a:extLst>
          </p:cNvPr>
          <p:cNvCxnSpPr>
            <a:cxnSpLocks/>
          </p:cNvCxnSpPr>
          <p:nvPr/>
        </p:nvCxnSpPr>
        <p:spPr>
          <a:xfrm>
            <a:off x="4623015" y="3079428"/>
            <a:ext cx="38079" cy="273414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440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381000"/>
            <a:ext cx="9144000" cy="838200"/>
          </a:xfrm>
        </p:spPr>
        <p:txBody>
          <a:bodyPr>
            <a:normAutofit/>
          </a:bodyPr>
          <a:lstStyle/>
          <a:p>
            <a:pPr eaLnBrk="1" hangingPunct="1"/>
            <a:r>
              <a:rPr lang="en-US" altLang="en-US" dirty="0">
                <a:ea typeface="ＭＳ Ｐゴシック" charset="-128"/>
              </a:rPr>
              <a:t>Factors That Decrease Standard Error</a:t>
            </a:r>
          </a:p>
        </p:txBody>
      </p:sp>
      <p:sp>
        <p:nvSpPr>
          <p:cNvPr id="32771" name="Content Placeholder 2"/>
          <p:cNvSpPr>
            <a:spLocks noGrp="1"/>
          </p:cNvSpPr>
          <p:nvPr>
            <p:ph idx="1"/>
          </p:nvPr>
        </p:nvSpPr>
        <p:spPr>
          <a:xfrm>
            <a:off x="457200" y="1542875"/>
            <a:ext cx="8229600" cy="2057400"/>
          </a:xfrm>
        </p:spPr>
        <p:txBody>
          <a:bodyPr>
            <a:normAutofit/>
          </a:bodyPr>
          <a:lstStyle/>
          <a:p>
            <a:pPr marL="0" indent="0">
              <a:buNone/>
            </a:pPr>
            <a:r>
              <a:rPr lang="en-US" altLang="en-US" sz="2800" dirty="0"/>
              <a:t>We want to have an accurate sample mean (smaller standard error).</a:t>
            </a:r>
          </a:p>
          <a:p>
            <a:pPr marL="0" indent="0">
              <a:buNone/>
            </a:pPr>
            <a:r>
              <a:rPr lang="en-US" altLang="en-US" sz="2800" dirty="0"/>
              <a:t>What can we do to achieve this goal?</a:t>
            </a:r>
          </a:p>
        </p:txBody>
      </p:sp>
      <p:sp>
        <p:nvSpPr>
          <p:cNvPr id="32773" name="Slide Number Placeholder 5"/>
          <p:cNvSpPr>
            <a:spLocks noGrp="1"/>
          </p:cNvSpPr>
          <p:nvPr>
            <p:ph type="sldNum" sz="quarter" idx="12"/>
          </p:nvPr>
        </p:nvSpPr>
        <p:spPr bwMode="auto">
          <a:xfrm>
            <a:off x="6553200" y="6356354"/>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573DE4CB-9E13-45EA-8201-D4366572BB13}" type="slidenum">
              <a:rPr lang="en-US" smtClean="0"/>
              <a:pPr eaLnBrk="1" hangingPunct="1"/>
              <a:t>22</a:t>
            </a:fld>
            <a:endParaRPr lang="en-US" altLang="en-US">
              <a:solidFill>
                <a:srgbClr val="898989"/>
              </a:solidFill>
            </a:endParaRPr>
          </a:p>
        </p:txBody>
      </p:sp>
      <p:graphicFrame>
        <p:nvGraphicFramePr>
          <p:cNvPr id="3" name="Object 2"/>
          <p:cNvGraphicFramePr>
            <a:graphicFrameLocks noChangeAspect="1"/>
          </p:cNvGraphicFramePr>
          <p:nvPr/>
        </p:nvGraphicFramePr>
        <p:xfrm>
          <a:off x="3926750" y="3722614"/>
          <a:ext cx="1454151" cy="990600"/>
        </p:xfrm>
        <a:graphic>
          <a:graphicData uri="http://schemas.openxmlformats.org/presentationml/2006/ole">
            <mc:AlternateContent xmlns:mc="http://schemas.openxmlformats.org/markup-compatibility/2006">
              <mc:Choice xmlns:v="urn:schemas-microsoft-com:vml" Requires="v">
                <p:oleObj name="Equation" r:id="rId3" imgW="585000" imgH="393120" progId="Equation.DSMT4">
                  <p:embed/>
                </p:oleObj>
              </mc:Choice>
              <mc:Fallback>
                <p:oleObj name="Equation" r:id="rId3" imgW="585000" imgH="393120" progId="Equation.DSMT4">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6750" y="3722614"/>
                        <a:ext cx="1454151"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44639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CB4CF-BB35-AEAA-C764-8FA400D9F4E4}"/>
              </a:ext>
            </a:extLst>
          </p:cNvPr>
          <p:cNvSpPr>
            <a:spLocks noGrp="1"/>
          </p:cNvSpPr>
          <p:nvPr>
            <p:ph idx="1"/>
          </p:nvPr>
        </p:nvSpPr>
        <p:spPr>
          <a:xfrm>
            <a:off x="685800" y="449943"/>
            <a:ext cx="7772400" cy="5265057"/>
          </a:xfrm>
        </p:spPr>
        <p:txBody>
          <a:bodyPr/>
          <a:lstStyle/>
          <a:p>
            <a:pPr marL="0" indent="0">
              <a:buNone/>
            </a:pPr>
            <a:r>
              <a:rPr lang="en-US" dirty="0"/>
              <a:t>Because we sometimes use biased estimators, we often use the mean squared error (MSE) rather than variance to measure the accuracy of an estimator: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An estimate is unbiased if                 , precise if </a:t>
            </a:r>
          </a:p>
          <a:p>
            <a:pPr marL="0" indent="0">
              <a:buNone/>
            </a:pPr>
            <a:r>
              <a:rPr lang="en-US" dirty="0"/>
              <a:t>is small, and accurate if                 is small.</a:t>
            </a:r>
          </a:p>
        </p:txBody>
      </p:sp>
      <p:pic>
        <p:nvPicPr>
          <p:cNvPr id="5" name="Picture 4">
            <a:extLst>
              <a:ext uri="{FF2B5EF4-FFF2-40B4-BE49-F238E27FC236}">
                <a16:creationId xmlns:a16="http://schemas.microsoft.com/office/drawing/2014/main" id="{8937772B-CE2E-2BAC-6E47-AD0A478D8183}"/>
              </a:ext>
            </a:extLst>
          </p:cNvPr>
          <p:cNvPicPr>
            <a:picLocks noChangeAspect="1"/>
          </p:cNvPicPr>
          <p:nvPr/>
        </p:nvPicPr>
        <p:blipFill>
          <a:blip r:embed="rId2"/>
          <a:stretch>
            <a:fillRect/>
          </a:stretch>
        </p:blipFill>
        <p:spPr>
          <a:xfrm>
            <a:off x="803231" y="1991349"/>
            <a:ext cx="7785595" cy="253976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ED8DC1-CCF3-2A9A-F756-6145B3392BC1}"/>
                  </a:ext>
                </a:extLst>
              </p:cNvPr>
              <p:cNvSpPr txBox="1"/>
              <p:nvPr/>
            </p:nvSpPr>
            <p:spPr>
              <a:xfrm>
                <a:off x="4303486" y="4681570"/>
                <a:ext cx="144417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lumMod val="50000"/>
                              <a:lumOff val="50000"/>
                            </a:schemeClr>
                          </a:solidFill>
                          <a:latin typeface="Cambria Math" panose="02040503050406030204" pitchFamily="18" charset="0"/>
                        </a:rPr>
                        <m:t>𝐸</m:t>
                      </m:r>
                      <m:d>
                        <m:dPr>
                          <m:ctrlPr>
                            <a:rPr lang="en-US" sz="2800" b="0" i="1" smtClean="0">
                              <a:solidFill>
                                <a:schemeClr val="tx1">
                                  <a:lumMod val="50000"/>
                                  <a:lumOff val="50000"/>
                                </a:schemeClr>
                              </a:solidFill>
                              <a:latin typeface="Cambria Math" panose="02040503050406030204" pitchFamily="18" charset="0"/>
                            </a:rPr>
                          </m:ctrlPr>
                        </m:dPr>
                        <m:e>
                          <m:acc>
                            <m:accPr>
                              <m:chr m:val="̂"/>
                              <m:ctrlPr>
                                <a:rPr lang="en-US" sz="2800" b="0" i="1" smtClean="0">
                                  <a:solidFill>
                                    <a:schemeClr val="tx1">
                                      <a:lumMod val="50000"/>
                                      <a:lumOff val="50000"/>
                                    </a:schemeClr>
                                  </a:solidFill>
                                  <a:latin typeface="Cambria Math" panose="02040503050406030204" pitchFamily="18" charset="0"/>
                                </a:rPr>
                              </m:ctrlPr>
                            </m:accPr>
                            <m:e>
                              <m:r>
                                <a:rPr lang="en-US" sz="2800" b="0" i="1" smtClean="0">
                                  <a:solidFill>
                                    <a:schemeClr val="tx1">
                                      <a:lumMod val="50000"/>
                                      <a:lumOff val="50000"/>
                                    </a:schemeClr>
                                  </a:solidFill>
                                  <a:latin typeface="Cambria Math" panose="02040503050406030204" pitchFamily="18" charset="0"/>
                                </a:rPr>
                                <m:t>𝑡</m:t>
                              </m:r>
                            </m:e>
                          </m:acc>
                        </m:e>
                      </m:d>
                      <m:r>
                        <a:rPr lang="en-US" sz="2800" b="0" i="1" smtClean="0">
                          <a:solidFill>
                            <a:schemeClr val="tx1">
                              <a:lumMod val="50000"/>
                              <a:lumOff val="50000"/>
                            </a:schemeClr>
                          </a:solidFill>
                          <a:latin typeface="Cambria Math" panose="02040503050406030204" pitchFamily="18" charset="0"/>
                        </a:rPr>
                        <m:t>=</m:t>
                      </m:r>
                      <m:r>
                        <a:rPr lang="en-US" sz="2800" b="0" i="1" smtClean="0">
                          <a:solidFill>
                            <a:schemeClr val="tx1">
                              <a:lumMod val="50000"/>
                              <a:lumOff val="50000"/>
                            </a:schemeClr>
                          </a:solidFill>
                          <a:latin typeface="Cambria Math" panose="02040503050406030204" pitchFamily="18" charset="0"/>
                        </a:rPr>
                        <m:t>𝑡</m:t>
                      </m:r>
                    </m:oMath>
                  </m:oMathPara>
                </a14:m>
                <a:endParaRPr lang="en-US" sz="28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B6ED8DC1-CCF3-2A9A-F756-6145B3392BC1}"/>
                  </a:ext>
                </a:extLst>
              </p:cNvPr>
              <p:cNvSpPr txBox="1">
                <a:spLocks noRot="1" noChangeAspect="1" noMove="1" noResize="1" noEditPoints="1" noAdjustHandles="1" noChangeArrowheads="1" noChangeShapeType="1" noTextEdit="1"/>
              </p:cNvSpPr>
              <p:nvPr/>
            </p:nvSpPr>
            <p:spPr>
              <a:xfrm>
                <a:off x="4303486" y="4681570"/>
                <a:ext cx="1444171"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D1ECF4-9682-54C2-3B64-619C60E12EA4}"/>
                  </a:ext>
                </a:extLst>
              </p:cNvPr>
              <p:cNvSpPr txBox="1"/>
              <p:nvPr/>
            </p:nvSpPr>
            <p:spPr>
              <a:xfrm>
                <a:off x="7144655" y="4681569"/>
                <a:ext cx="1444171" cy="430887"/>
              </a:xfrm>
              <a:prstGeom prst="rect">
                <a:avLst/>
              </a:prstGeom>
              <a:noFill/>
            </p:spPr>
            <p:txBody>
              <a:bodyPr wrap="square" lIns="0" tIns="0" rIns="0" bIns="0" rtlCol="0">
                <a:spAutoFit/>
              </a:bodyPr>
              <a:lstStyle/>
              <a:p>
                <a:r>
                  <a:rPr lang="en-US" sz="2800" b="0" dirty="0">
                    <a:solidFill>
                      <a:schemeClr val="tx1">
                        <a:lumMod val="50000"/>
                        <a:lumOff val="50000"/>
                      </a:schemeClr>
                    </a:solidFill>
                  </a:rPr>
                  <a:t>V</a:t>
                </a:r>
                <a14:m>
                  <m:oMath xmlns:m="http://schemas.openxmlformats.org/officeDocument/2006/math">
                    <m:d>
                      <m:dPr>
                        <m:ctrlPr>
                          <a:rPr lang="en-US" sz="2800" b="0" i="1" smtClean="0">
                            <a:solidFill>
                              <a:schemeClr val="tx1">
                                <a:lumMod val="50000"/>
                                <a:lumOff val="50000"/>
                              </a:schemeClr>
                            </a:solidFill>
                            <a:latin typeface="Cambria Math" panose="02040503050406030204" pitchFamily="18" charset="0"/>
                          </a:rPr>
                        </m:ctrlPr>
                      </m:dPr>
                      <m:e>
                        <m:acc>
                          <m:accPr>
                            <m:chr m:val="̂"/>
                            <m:ctrlPr>
                              <a:rPr lang="en-US" sz="2800" b="0" i="1" smtClean="0">
                                <a:solidFill>
                                  <a:schemeClr val="tx1">
                                    <a:lumMod val="50000"/>
                                    <a:lumOff val="50000"/>
                                  </a:schemeClr>
                                </a:solidFill>
                                <a:latin typeface="Cambria Math" panose="02040503050406030204" pitchFamily="18" charset="0"/>
                              </a:rPr>
                            </m:ctrlPr>
                          </m:accPr>
                          <m:e>
                            <m:r>
                              <a:rPr lang="en-US" sz="2800" b="0" i="1" smtClean="0">
                                <a:solidFill>
                                  <a:schemeClr val="tx1">
                                    <a:lumMod val="50000"/>
                                    <a:lumOff val="50000"/>
                                  </a:schemeClr>
                                </a:solidFill>
                                <a:latin typeface="Cambria Math" panose="02040503050406030204" pitchFamily="18" charset="0"/>
                              </a:rPr>
                              <m:t>𝑡</m:t>
                            </m:r>
                          </m:e>
                        </m:acc>
                      </m:e>
                    </m:d>
                  </m:oMath>
                </a14:m>
                <a:endParaRPr lang="en-US" sz="28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52D1ECF4-9682-54C2-3B64-619C60E12EA4}"/>
                  </a:ext>
                </a:extLst>
              </p:cNvPr>
              <p:cNvSpPr txBox="1">
                <a:spLocks noRot="1" noChangeAspect="1" noMove="1" noResize="1" noEditPoints="1" noAdjustHandles="1" noChangeArrowheads="1" noChangeShapeType="1" noTextEdit="1"/>
              </p:cNvSpPr>
              <p:nvPr/>
            </p:nvSpPr>
            <p:spPr>
              <a:xfrm>
                <a:off x="7144655" y="4681569"/>
                <a:ext cx="1444171" cy="430887"/>
              </a:xfrm>
              <a:prstGeom prst="rect">
                <a:avLst/>
              </a:prstGeom>
              <a:blipFill>
                <a:blip r:embed="rId4"/>
                <a:stretch>
                  <a:fillRect l="-14768" t="-26761" b="-46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9D306A4-91BB-0023-54C3-1ACDF25F4309}"/>
                  </a:ext>
                </a:extLst>
              </p:cNvPr>
              <p:cNvSpPr txBox="1"/>
              <p:nvPr/>
            </p:nvSpPr>
            <p:spPr>
              <a:xfrm>
                <a:off x="4060369" y="5112114"/>
                <a:ext cx="1444171" cy="430887"/>
              </a:xfrm>
              <a:prstGeom prst="rect">
                <a:avLst/>
              </a:prstGeom>
              <a:noFill/>
            </p:spPr>
            <p:txBody>
              <a:bodyPr wrap="square" lIns="0" tIns="0" rIns="0" bIns="0" rtlCol="0">
                <a:spAutoFit/>
              </a:bodyPr>
              <a:lstStyle/>
              <a:p>
                <a:r>
                  <a:rPr lang="en-US" sz="2800" dirty="0">
                    <a:solidFill>
                      <a:schemeClr val="tx1">
                        <a:lumMod val="50000"/>
                        <a:lumOff val="50000"/>
                      </a:schemeClr>
                    </a:solidFill>
                  </a:rPr>
                  <a:t>MSE</a:t>
                </a:r>
                <a14:m>
                  <m:oMath xmlns:m="http://schemas.openxmlformats.org/officeDocument/2006/math">
                    <m:d>
                      <m:dPr>
                        <m:ctrlPr>
                          <a:rPr lang="en-US" sz="2800" b="0" i="1" smtClean="0">
                            <a:solidFill>
                              <a:schemeClr val="tx1">
                                <a:lumMod val="50000"/>
                                <a:lumOff val="50000"/>
                              </a:schemeClr>
                            </a:solidFill>
                            <a:latin typeface="Cambria Math" panose="02040503050406030204" pitchFamily="18" charset="0"/>
                          </a:rPr>
                        </m:ctrlPr>
                      </m:dPr>
                      <m:e>
                        <m:acc>
                          <m:accPr>
                            <m:chr m:val="̂"/>
                            <m:ctrlPr>
                              <a:rPr lang="en-US" sz="2800" b="0" i="1" smtClean="0">
                                <a:solidFill>
                                  <a:schemeClr val="tx1">
                                    <a:lumMod val="50000"/>
                                    <a:lumOff val="50000"/>
                                  </a:schemeClr>
                                </a:solidFill>
                                <a:latin typeface="Cambria Math" panose="02040503050406030204" pitchFamily="18" charset="0"/>
                              </a:rPr>
                            </m:ctrlPr>
                          </m:accPr>
                          <m:e>
                            <m:r>
                              <a:rPr lang="en-US" sz="2800" b="0" i="1" smtClean="0">
                                <a:solidFill>
                                  <a:schemeClr val="tx1">
                                    <a:lumMod val="50000"/>
                                    <a:lumOff val="50000"/>
                                  </a:schemeClr>
                                </a:solidFill>
                                <a:latin typeface="Cambria Math" panose="02040503050406030204" pitchFamily="18" charset="0"/>
                              </a:rPr>
                              <m:t>𝑡</m:t>
                            </m:r>
                          </m:e>
                        </m:acc>
                      </m:e>
                    </m:d>
                  </m:oMath>
                </a14:m>
                <a:endParaRPr lang="en-US" sz="28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29D306A4-91BB-0023-54C3-1ACDF25F4309}"/>
                  </a:ext>
                </a:extLst>
              </p:cNvPr>
              <p:cNvSpPr txBox="1">
                <a:spLocks noRot="1" noChangeAspect="1" noMove="1" noResize="1" noEditPoints="1" noAdjustHandles="1" noChangeArrowheads="1" noChangeShapeType="1" noTextEdit="1"/>
              </p:cNvSpPr>
              <p:nvPr/>
            </p:nvSpPr>
            <p:spPr>
              <a:xfrm>
                <a:off x="4060369" y="5112114"/>
                <a:ext cx="1444171" cy="430887"/>
              </a:xfrm>
              <a:prstGeom prst="rect">
                <a:avLst/>
              </a:prstGeom>
              <a:blipFill>
                <a:blip r:embed="rId5"/>
                <a:stretch>
                  <a:fillRect l="-14768" t="-27143" b="-48571"/>
                </a:stretch>
              </a:blipFill>
            </p:spPr>
            <p:txBody>
              <a:bodyPr/>
              <a:lstStyle/>
              <a:p>
                <a:r>
                  <a:rPr lang="en-US">
                    <a:noFill/>
                  </a:rPr>
                  <a:t> </a:t>
                </a:r>
              </a:p>
            </p:txBody>
          </p:sp>
        </mc:Fallback>
      </mc:AlternateContent>
    </p:spTree>
    <p:extLst>
      <p:ext uri="{BB962C8B-B14F-4D97-AF65-F5344CB8AC3E}">
        <p14:creationId xmlns:p14="http://schemas.microsoft.com/office/powerpoint/2010/main" val="288577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Random Samples</a:t>
            </a:r>
          </a:p>
        </p:txBody>
      </p:sp>
      <p:sp>
        <p:nvSpPr>
          <p:cNvPr id="3" name="Content Placeholder 2"/>
          <p:cNvSpPr>
            <a:spLocks noGrp="1"/>
          </p:cNvSpPr>
          <p:nvPr>
            <p:ph idx="1"/>
          </p:nvPr>
        </p:nvSpPr>
        <p:spPr>
          <a:xfrm>
            <a:off x="976859" y="1822729"/>
            <a:ext cx="7633742" cy="2695193"/>
          </a:xfrm>
        </p:spPr>
        <p:txBody>
          <a:bodyPr/>
          <a:lstStyle/>
          <a:p>
            <a:r>
              <a:rPr lang="en-US" dirty="0"/>
              <a:t>Uses random selection</a:t>
            </a:r>
          </a:p>
          <a:p>
            <a:r>
              <a:rPr lang="en-US" dirty="0"/>
              <a:t>Each element has the same probability of being included</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24</a:t>
            </a:fld>
            <a:endParaRPr lang="en-US" dirty="0"/>
          </a:p>
        </p:txBody>
      </p:sp>
      <p:pic>
        <p:nvPicPr>
          <p:cNvPr id="6" name="Picture 5"/>
          <p:cNvPicPr>
            <a:picLocks noChangeAspect="1"/>
          </p:cNvPicPr>
          <p:nvPr/>
        </p:nvPicPr>
        <p:blipFill>
          <a:blip r:embed="rId3"/>
          <a:stretch>
            <a:fillRect/>
          </a:stretch>
        </p:blipFill>
        <p:spPr>
          <a:xfrm>
            <a:off x="2381250" y="3819525"/>
            <a:ext cx="4371975" cy="2181225"/>
          </a:xfrm>
          <a:prstGeom prst="rect">
            <a:avLst/>
          </a:prstGeom>
        </p:spPr>
      </p:pic>
    </p:spTree>
    <p:extLst>
      <p:ext uri="{BB962C8B-B14F-4D97-AF65-F5344CB8AC3E}">
        <p14:creationId xmlns:p14="http://schemas.microsoft.com/office/powerpoint/2010/main" val="1589362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F0D54-5C6D-7777-8D07-B733E882CBE5}"/>
              </a:ext>
            </a:extLst>
          </p:cNvPr>
          <p:cNvSpPr>
            <a:spLocks noGrp="1"/>
          </p:cNvSpPr>
          <p:nvPr>
            <p:ph type="title"/>
          </p:nvPr>
        </p:nvSpPr>
        <p:spPr/>
        <p:txBody>
          <a:bodyPr/>
          <a:lstStyle/>
          <a:p>
            <a:r>
              <a:rPr lang="en-US" dirty="0"/>
              <a:t>Simple Random Samples</a:t>
            </a:r>
          </a:p>
        </p:txBody>
      </p:sp>
      <p:sp>
        <p:nvSpPr>
          <p:cNvPr id="3" name="Content Placeholder 2">
            <a:extLst>
              <a:ext uri="{FF2B5EF4-FFF2-40B4-BE49-F238E27FC236}">
                <a16:creationId xmlns:a16="http://schemas.microsoft.com/office/drawing/2014/main" id="{A6B667D9-46FE-4BA2-3786-DA6194EF01BD}"/>
              </a:ext>
            </a:extLst>
          </p:cNvPr>
          <p:cNvSpPr>
            <a:spLocks noGrp="1"/>
          </p:cNvSpPr>
          <p:nvPr>
            <p:ph idx="1"/>
          </p:nvPr>
        </p:nvSpPr>
        <p:spPr/>
        <p:txBody>
          <a:bodyPr/>
          <a:lstStyle/>
          <a:p>
            <a:r>
              <a:rPr lang="en-US" dirty="0"/>
              <a:t>To take an SRS, you need a list of all observation units in the population; this list is the sampling frame. </a:t>
            </a:r>
          </a:p>
          <a:p>
            <a:r>
              <a:rPr lang="en-US" dirty="0"/>
              <a:t>In an SRS, the sampling unit and observation unit coincide. </a:t>
            </a:r>
          </a:p>
        </p:txBody>
      </p:sp>
    </p:spTree>
    <p:extLst>
      <p:ext uri="{BB962C8B-B14F-4D97-AF65-F5344CB8AC3E}">
        <p14:creationId xmlns:p14="http://schemas.microsoft.com/office/powerpoint/2010/main" val="1306044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Random Samples</a:t>
            </a:r>
          </a:p>
        </p:txBody>
      </p:sp>
      <p:sp>
        <p:nvSpPr>
          <p:cNvPr id="3" name="Content Placeholder 2"/>
          <p:cNvSpPr>
            <a:spLocks noGrp="1"/>
          </p:cNvSpPr>
          <p:nvPr>
            <p:ph idx="1"/>
          </p:nvPr>
        </p:nvSpPr>
        <p:spPr>
          <a:xfrm>
            <a:off x="938758" y="1944915"/>
            <a:ext cx="7633742" cy="3796372"/>
          </a:xfrm>
        </p:spPr>
        <p:txBody>
          <a:bodyPr>
            <a:normAutofit/>
          </a:bodyPr>
          <a:lstStyle/>
          <a:p>
            <a:r>
              <a:rPr lang="en-US" dirty="0"/>
              <a:t>Whether one element is selected has no effect on whether any other element is selected</a:t>
            </a:r>
          </a:p>
          <a:p>
            <a:pPr lvl="1"/>
            <a:r>
              <a:rPr lang="en-US" dirty="0"/>
              <a:t>Selections are </a:t>
            </a:r>
            <a:r>
              <a:rPr lang="en-US" b="1" i="1" dirty="0"/>
              <a:t>independent</a:t>
            </a:r>
          </a:p>
          <a:p>
            <a:r>
              <a:rPr lang="en-US" dirty="0"/>
              <a:t>Usually conducted </a:t>
            </a:r>
            <a:r>
              <a:rPr lang="en-US" b="1" i="1" dirty="0"/>
              <a:t>without replacement</a:t>
            </a:r>
            <a:endParaRPr lang="en-US" dirty="0"/>
          </a:p>
          <a:p>
            <a:pPr lvl="1"/>
            <a:r>
              <a:rPr lang="en-US" dirty="0"/>
              <a:t>After an element is selected it can’t be selected again</a:t>
            </a:r>
          </a:p>
          <a:p>
            <a:pPr marL="685800" lvl="2" indent="0">
              <a:buNone/>
            </a:pPr>
            <a:endParaRPr lang="en-US" i="1" dirty="0"/>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26</a:t>
            </a:fld>
            <a:endParaRPr lang="en-US" dirty="0"/>
          </a:p>
        </p:txBody>
      </p:sp>
    </p:spTree>
    <p:extLst>
      <p:ext uri="{BB962C8B-B14F-4D97-AF65-F5344CB8AC3E}">
        <p14:creationId xmlns:p14="http://schemas.microsoft.com/office/powerpoint/2010/main" val="398730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8AF24-2004-25E5-03F6-42589D694896}"/>
              </a:ext>
            </a:extLst>
          </p:cNvPr>
          <p:cNvSpPr>
            <a:spLocks noGrp="1"/>
          </p:cNvSpPr>
          <p:nvPr>
            <p:ph type="title"/>
          </p:nvPr>
        </p:nvSpPr>
        <p:spPr/>
        <p:txBody>
          <a:bodyPr/>
          <a:lstStyle/>
          <a:p>
            <a:r>
              <a:rPr lang="en-US" dirty="0"/>
              <a:t>Simple Random Samples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D9E467-BEE7-21B7-A636-6DB1E9083BFC}"/>
                  </a:ext>
                </a:extLst>
              </p:cNvPr>
              <p:cNvSpPr>
                <a:spLocks noGrp="1"/>
              </p:cNvSpPr>
              <p:nvPr>
                <p:ph idx="1"/>
              </p:nvPr>
            </p:nvSpPr>
            <p:spPr/>
            <p:txBody>
              <a:bodyPr/>
              <a:lstStyle/>
              <a:p>
                <a:r>
                  <a:rPr lang="en-US" dirty="0"/>
                  <a:t>Estimating a population mean </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dirty="0"/>
              </a:p>
              <a:p>
                <a:pPr marL="0" indent="0" algn="ctr">
                  <a:buNone/>
                </a:pPr>
                <a:endParaRPr lang="en-US" dirty="0"/>
              </a:p>
              <a:p>
                <a:r>
                  <a:rPr lang="en-US" dirty="0"/>
                  <a:t>Estimating population variance</a:t>
                </a:r>
              </a:p>
              <a:p>
                <a:endParaRPr lang="en-US" dirty="0"/>
              </a:p>
            </p:txBody>
          </p:sp>
        </mc:Choice>
        <mc:Fallback xmlns="">
          <p:sp>
            <p:nvSpPr>
              <p:cNvPr id="3" name="Content Placeholder 2">
                <a:extLst>
                  <a:ext uri="{FF2B5EF4-FFF2-40B4-BE49-F238E27FC236}">
                    <a16:creationId xmlns:a16="http://schemas.microsoft.com/office/drawing/2014/main" id="{42D9E467-BEE7-21B7-A636-6DB1E9083BFC}"/>
                  </a:ext>
                </a:extLst>
              </p:cNvPr>
              <p:cNvSpPr>
                <a:spLocks noGrp="1" noRot="1" noChangeAspect="1" noMove="1" noResize="1" noEditPoints="1" noAdjustHandles="1" noChangeArrowheads="1" noChangeShapeType="1" noTextEdit="1"/>
              </p:cNvSpPr>
              <p:nvPr>
                <p:ph idx="1"/>
              </p:nvPr>
            </p:nvSpPr>
            <p:spPr>
              <a:blipFill>
                <a:blip r:embed="rId2"/>
                <a:stretch>
                  <a:fillRect l="-1412" t="-1385"/>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1ECE5B37-DB9F-015B-C5F8-651848089DED}"/>
              </a:ext>
            </a:extLst>
          </p:cNvPr>
          <p:cNvPicPr>
            <a:picLocks noChangeAspect="1"/>
          </p:cNvPicPr>
          <p:nvPr/>
        </p:nvPicPr>
        <p:blipFill rotWithShape="1">
          <a:blip r:embed="rId3"/>
          <a:srcRect t="29932" r="1522"/>
          <a:stretch/>
        </p:blipFill>
        <p:spPr>
          <a:xfrm>
            <a:off x="2920883" y="4383315"/>
            <a:ext cx="3302234" cy="620773"/>
          </a:xfrm>
          <a:prstGeom prst="rect">
            <a:avLst/>
          </a:prstGeom>
        </p:spPr>
      </p:pic>
    </p:spTree>
    <p:extLst>
      <p:ext uri="{BB962C8B-B14F-4D97-AF65-F5344CB8AC3E}">
        <p14:creationId xmlns:p14="http://schemas.microsoft.com/office/powerpoint/2010/main" val="2360554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8AF24-2004-25E5-03F6-42589D694896}"/>
              </a:ext>
            </a:extLst>
          </p:cNvPr>
          <p:cNvSpPr>
            <a:spLocks noGrp="1"/>
          </p:cNvSpPr>
          <p:nvPr>
            <p:ph type="title"/>
          </p:nvPr>
        </p:nvSpPr>
        <p:spPr/>
        <p:txBody>
          <a:bodyPr/>
          <a:lstStyle/>
          <a:p>
            <a:r>
              <a:rPr lang="en-US" dirty="0"/>
              <a:t>Simple Random Samples</a:t>
            </a:r>
          </a:p>
        </p:txBody>
      </p:sp>
      <p:sp>
        <p:nvSpPr>
          <p:cNvPr id="3" name="Content Placeholder 2">
            <a:extLst>
              <a:ext uri="{FF2B5EF4-FFF2-40B4-BE49-F238E27FC236}">
                <a16:creationId xmlns:a16="http://schemas.microsoft.com/office/drawing/2014/main" id="{42D9E467-BEE7-21B7-A636-6DB1E9083BFC}"/>
              </a:ext>
            </a:extLst>
          </p:cNvPr>
          <p:cNvSpPr>
            <a:spLocks noGrp="1"/>
          </p:cNvSpPr>
          <p:nvPr>
            <p:ph idx="1"/>
          </p:nvPr>
        </p:nvSpPr>
        <p:spPr/>
        <p:txBody>
          <a:bodyPr/>
          <a:lstStyle/>
          <a:p>
            <a:r>
              <a:rPr lang="en-US" dirty="0"/>
              <a:t>Variance of the sample mean is</a:t>
            </a:r>
          </a:p>
          <a:p>
            <a:endParaRPr lang="en-US" dirty="0"/>
          </a:p>
          <a:p>
            <a:endParaRPr lang="en-US" dirty="0"/>
          </a:p>
          <a:p>
            <a:r>
              <a:rPr lang="en-US" dirty="0"/>
              <a:t>Factor (1 − n/N) is called the finite population correction (</a:t>
            </a:r>
            <a:r>
              <a:rPr lang="en-US" dirty="0" err="1"/>
              <a:t>fpc</a:t>
            </a:r>
            <a:r>
              <a:rPr lang="en-US" dirty="0"/>
              <a:t>).</a:t>
            </a:r>
          </a:p>
          <a:p>
            <a:endParaRPr lang="en-US" dirty="0"/>
          </a:p>
        </p:txBody>
      </p:sp>
      <p:pic>
        <p:nvPicPr>
          <p:cNvPr id="5" name="Picture 4">
            <a:extLst>
              <a:ext uri="{FF2B5EF4-FFF2-40B4-BE49-F238E27FC236}">
                <a16:creationId xmlns:a16="http://schemas.microsoft.com/office/drawing/2014/main" id="{F4939F61-B8A0-1F24-E506-E2BB4F99DF50}"/>
              </a:ext>
            </a:extLst>
          </p:cNvPr>
          <p:cNvPicPr>
            <a:picLocks noChangeAspect="1"/>
          </p:cNvPicPr>
          <p:nvPr/>
        </p:nvPicPr>
        <p:blipFill>
          <a:blip r:embed="rId2"/>
          <a:stretch>
            <a:fillRect/>
          </a:stretch>
        </p:blipFill>
        <p:spPr>
          <a:xfrm>
            <a:off x="3050526" y="2413445"/>
            <a:ext cx="2781688" cy="657317"/>
          </a:xfrm>
          <a:prstGeom prst="rect">
            <a:avLst/>
          </a:prstGeom>
        </p:spPr>
      </p:pic>
    </p:spTree>
    <p:extLst>
      <p:ext uri="{BB962C8B-B14F-4D97-AF65-F5344CB8AC3E}">
        <p14:creationId xmlns:p14="http://schemas.microsoft.com/office/powerpoint/2010/main" val="806069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6941-8ED8-5514-545B-95F0E1D0A560}"/>
              </a:ext>
            </a:extLst>
          </p:cNvPr>
          <p:cNvSpPr>
            <a:spLocks noGrp="1"/>
          </p:cNvSpPr>
          <p:nvPr>
            <p:ph type="title"/>
          </p:nvPr>
        </p:nvSpPr>
        <p:spPr/>
        <p:txBody>
          <a:bodyPr/>
          <a:lstStyle/>
          <a:p>
            <a:r>
              <a:rPr lang="en-US" dirty="0"/>
              <a:t>Sampling weight</a:t>
            </a:r>
          </a:p>
        </p:txBody>
      </p:sp>
      <p:sp>
        <p:nvSpPr>
          <p:cNvPr id="3" name="Content Placeholder 2">
            <a:extLst>
              <a:ext uri="{FF2B5EF4-FFF2-40B4-BE49-F238E27FC236}">
                <a16:creationId xmlns:a16="http://schemas.microsoft.com/office/drawing/2014/main" id="{B715FF5D-E8E2-41DA-F8B4-417BE4341C06}"/>
              </a:ext>
            </a:extLst>
          </p:cNvPr>
          <p:cNvSpPr>
            <a:spLocks noGrp="1"/>
          </p:cNvSpPr>
          <p:nvPr>
            <p:ph idx="1"/>
          </p:nvPr>
        </p:nvSpPr>
        <p:spPr>
          <a:xfrm>
            <a:off x="685800" y="1752600"/>
            <a:ext cx="7772400" cy="4800600"/>
          </a:xfrm>
        </p:spPr>
        <p:txBody>
          <a:bodyPr/>
          <a:lstStyle/>
          <a:p>
            <a:r>
              <a:rPr lang="en-US" dirty="0"/>
              <a:t>Sampling weight of sampled unit </a:t>
            </a:r>
            <a:r>
              <a:rPr lang="en-US" i="1" dirty="0" err="1"/>
              <a:t>i</a:t>
            </a:r>
            <a:r>
              <a:rPr lang="en-US" dirty="0"/>
              <a:t> can be interpreted as the number of population units represented by unit </a:t>
            </a:r>
            <a:r>
              <a:rPr lang="en-US" i="1" dirty="0" err="1"/>
              <a:t>i</a:t>
            </a:r>
            <a:r>
              <a:rPr lang="en-US" dirty="0"/>
              <a:t>.</a:t>
            </a:r>
          </a:p>
          <a:p>
            <a:r>
              <a:rPr lang="en-US" dirty="0"/>
              <a:t>Sometimes called the design weight</a:t>
            </a:r>
          </a:p>
          <a:p>
            <a:r>
              <a:rPr lang="en-US" dirty="0"/>
              <a:t>The inclusion probability in SRS is</a:t>
            </a:r>
          </a:p>
          <a:p>
            <a:endParaRPr lang="en-US" dirty="0"/>
          </a:p>
          <a:p>
            <a:endParaRPr lang="en-US" dirty="0"/>
          </a:p>
          <a:p>
            <a:endParaRPr lang="en-US" dirty="0"/>
          </a:p>
          <a:p>
            <a:r>
              <a:rPr lang="en-US" dirty="0"/>
              <a:t>The sampling weight sampled unit </a:t>
            </a:r>
            <a:r>
              <a:rPr lang="en-US" i="1" dirty="0" err="1"/>
              <a:t>i</a:t>
            </a:r>
            <a:r>
              <a:rPr lang="en-US" dirty="0"/>
              <a:t> is the reciprocal of inclusion probability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AF51BA1-2F0D-6486-A0DB-42EBF16C9C76}"/>
                  </a:ext>
                </a:extLst>
              </p:cNvPr>
              <p:cNvSpPr txBox="1"/>
              <p:nvPr/>
            </p:nvSpPr>
            <p:spPr>
              <a:xfrm>
                <a:off x="2648857" y="4136570"/>
                <a:ext cx="2663372" cy="6301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𝑁</m:t>
                          </m:r>
                        </m:den>
                      </m:f>
                    </m:oMath>
                  </m:oMathPara>
                </a14:m>
                <a:endParaRPr lang="en-US" sz="2400" dirty="0"/>
              </a:p>
            </p:txBody>
          </p:sp>
        </mc:Choice>
        <mc:Fallback xmlns="">
          <p:sp>
            <p:nvSpPr>
              <p:cNvPr id="4" name="TextBox 3">
                <a:extLst>
                  <a:ext uri="{FF2B5EF4-FFF2-40B4-BE49-F238E27FC236}">
                    <a16:creationId xmlns:a16="http://schemas.microsoft.com/office/drawing/2014/main" id="{4AF51BA1-2F0D-6486-A0DB-42EBF16C9C76}"/>
                  </a:ext>
                </a:extLst>
              </p:cNvPr>
              <p:cNvSpPr txBox="1">
                <a:spLocks noRot="1" noChangeAspect="1" noMove="1" noResize="1" noEditPoints="1" noAdjustHandles="1" noChangeArrowheads="1" noChangeShapeType="1" noTextEdit="1"/>
              </p:cNvSpPr>
              <p:nvPr/>
            </p:nvSpPr>
            <p:spPr>
              <a:xfrm>
                <a:off x="2648857" y="4136570"/>
                <a:ext cx="2663372" cy="63010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CF5943-0F83-A738-C2E2-F9A40884184B}"/>
                  </a:ext>
                </a:extLst>
              </p:cNvPr>
              <p:cNvSpPr txBox="1"/>
              <p:nvPr/>
            </p:nvSpPr>
            <p:spPr>
              <a:xfrm>
                <a:off x="3425371" y="5638799"/>
                <a:ext cx="2663372" cy="7562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𝑤</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rPr>
                                <m:t>𝑖</m:t>
                              </m:r>
                            </m:sub>
                          </m:sSub>
                        </m:den>
                      </m:f>
                    </m:oMath>
                  </m:oMathPara>
                </a14:m>
                <a:endParaRPr lang="en-US" sz="2400" dirty="0"/>
              </a:p>
            </p:txBody>
          </p:sp>
        </mc:Choice>
        <mc:Fallback xmlns="">
          <p:sp>
            <p:nvSpPr>
              <p:cNvPr id="5" name="TextBox 4">
                <a:extLst>
                  <a:ext uri="{FF2B5EF4-FFF2-40B4-BE49-F238E27FC236}">
                    <a16:creationId xmlns:a16="http://schemas.microsoft.com/office/drawing/2014/main" id="{4ECF5943-0F83-A738-C2E2-F9A40884184B}"/>
                  </a:ext>
                </a:extLst>
              </p:cNvPr>
              <p:cNvSpPr txBox="1">
                <a:spLocks noRot="1" noChangeAspect="1" noMove="1" noResize="1" noEditPoints="1" noAdjustHandles="1" noChangeArrowheads="1" noChangeShapeType="1" noTextEdit="1"/>
              </p:cNvSpPr>
              <p:nvPr/>
            </p:nvSpPr>
            <p:spPr>
              <a:xfrm>
                <a:off x="3425371" y="5638799"/>
                <a:ext cx="2663372" cy="75629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4669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F4F-82F1-0C60-BFC6-2DC1BD6875E8}"/>
              </a:ext>
            </a:extLst>
          </p:cNvPr>
          <p:cNvSpPr>
            <a:spLocks noGrp="1"/>
          </p:cNvSpPr>
          <p:nvPr>
            <p:ph type="title"/>
          </p:nvPr>
        </p:nvSpPr>
        <p:spPr/>
        <p:txBody>
          <a:bodyPr/>
          <a:lstStyle/>
          <a:p>
            <a:r>
              <a:rPr lang="en-US" dirty="0"/>
              <a:t>Sampling weight</a:t>
            </a:r>
          </a:p>
        </p:txBody>
      </p:sp>
      <p:sp>
        <p:nvSpPr>
          <p:cNvPr id="3" name="Content Placeholder 2">
            <a:extLst>
              <a:ext uri="{FF2B5EF4-FFF2-40B4-BE49-F238E27FC236}">
                <a16:creationId xmlns:a16="http://schemas.microsoft.com/office/drawing/2014/main" id="{B3C81BB1-0AD6-0139-7019-78E8D9B30874}"/>
              </a:ext>
            </a:extLst>
          </p:cNvPr>
          <p:cNvSpPr>
            <a:spLocks noGrp="1"/>
          </p:cNvSpPr>
          <p:nvPr>
            <p:ph idx="1"/>
          </p:nvPr>
        </p:nvSpPr>
        <p:spPr/>
        <p:txBody>
          <a:bodyPr/>
          <a:lstStyle/>
          <a:p>
            <a:r>
              <a:rPr lang="en-US" dirty="0"/>
              <a:t>The population size is estimated by the sum of the weights for the sample:</a:t>
            </a:r>
          </a:p>
          <a:p>
            <a:endParaRPr lang="en-US" dirty="0"/>
          </a:p>
          <a:p>
            <a:endParaRPr lang="en-US" dirty="0"/>
          </a:p>
          <a:p>
            <a:endParaRPr lang="en-US" dirty="0"/>
          </a:p>
          <a:p>
            <a:r>
              <a:rPr lang="en-US" dirty="0"/>
              <a:t>the population mean is estimated by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0F9268E-04BD-94A2-E3DB-54451E3F0467}"/>
                  </a:ext>
                </a:extLst>
              </p:cNvPr>
              <p:cNvSpPr txBox="1"/>
              <p:nvPr/>
            </p:nvSpPr>
            <p:spPr>
              <a:xfrm>
                <a:off x="3004457" y="2672703"/>
                <a:ext cx="2663372" cy="9026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m:t>
                              </m:r>
                            </m:sub>
                          </m:sSub>
                        </m:e>
                      </m:nary>
                    </m:oMath>
                  </m:oMathPara>
                </a14:m>
                <a:endParaRPr lang="en-US" sz="2400" dirty="0">
                  <a:latin typeface="+mn-lt"/>
                </a:endParaRPr>
              </a:p>
            </p:txBody>
          </p:sp>
        </mc:Choice>
        <mc:Fallback xmlns="">
          <p:sp>
            <p:nvSpPr>
              <p:cNvPr id="4" name="TextBox 3">
                <a:extLst>
                  <a:ext uri="{FF2B5EF4-FFF2-40B4-BE49-F238E27FC236}">
                    <a16:creationId xmlns:a16="http://schemas.microsoft.com/office/drawing/2014/main" id="{70F9268E-04BD-94A2-E3DB-54451E3F0467}"/>
                  </a:ext>
                </a:extLst>
              </p:cNvPr>
              <p:cNvSpPr txBox="1">
                <a:spLocks noRot="1" noChangeAspect="1" noMove="1" noResize="1" noEditPoints="1" noAdjustHandles="1" noChangeArrowheads="1" noChangeShapeType="1" noTextEdit="1"/>
              </p:cNvSpPr>
              <p:nvPr/>
            </p:nvSpPr>
            <p:spPr>
              <a:xfrm>
                <a:off x="3004457" y="2672703"/>
                <a:ext cx="2663372" cy="90268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A43D8A-2921-4892-C4E8-52BA27E570AD}"/>
                  </a:ext>
                </a:extLst>
              </p:cNvPr>
              <p:cNvSpPr txBox="1"/>
              <p:nvPr/>
            </p:nvSpPr>
            <p:spPr>
              <a:xfrm>
                <a:off x="3004457" y="4973217"/>
                <a:ext cx="2663372" cy="7990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𝑦</m:t>
                                  </m:r>
                                </m:e>
                                <m:sub>
                                  <m:r>
                                    <a:rPr lang="en-US" sz="2400" i="1">
                                      <a:latin typeface="Cambria Math" panose="02040503050406030204" pitchFamily="18" charset="0"/>
                                    </a:rPr>
                                    <m:t>𝑖</m:t>
                                  </m:r>
                                </m:sub>
                              </m:sSub>
                            </m:e>
                          </m:nary>
                        </m:num>
                        <m:den>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m:t>
                                  </m:r>
                                </m:sub>
                              </m:sSub>
                            </m:e>
                          </m:nary>
                        </m:den>
                      </m:f>
                    </m:oMath>
                  </m:oMathPara>
                </a14:m>
                <a:endParaRPr lang="en-US" sz="2400" dirty="0">
                  <a:latin typeface="+mn-lt"/>
                </a:endParaRPr>
              </a:p>
            </p:txBody>
          </p:sp>
        </mc:Choice>
        <mc:Fallback xmlns="">
          <p:sp>
            <p:nvSpPr>
              <p:cNvPr id="5" name="TextBox 4">
                <a:extLst>
                  <a:ext uri="{FF2B5EF4-FFF2-40B4-BE49-F238E27FC236}">
                    <a16:creationId xmlns:a16="http://schemas.microsoft.com/office/drawing/2014/main" id="{E3A43D8A-2921-4892-C4E8-52BA27E570AD}"/>
                  </a:ext>
                </a:extLst>
              </p:cNvPr>
              <p:cNvSpPr txBox="1">
                <a:spLocks noRot="1" noChangeAspect="1" noMove="1" noResize="1" noEditPoints="1" noAdjustHandles="1" noChangeArrowheads="1" noChangeShapeType="1" noTextEdit="1"/>
              </p:cNvSpPr>
              <p:nvPr/>
            </p:nvSpPr>
            <p:spPr>
              <a:xfrm>
                <a:off x="3004457" y="4973217"/>
                <a:ext cx="2663372" cy="79906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42165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01F0-A6BB-1DE9-FF67-DB78454E0680}"/>
              </a:ext>
            </a:extLst>
          </p:cNvPr>
          <p:cNvSpPr>
            <a:spLocks noGrp="1"/>
          </p:cNvSpPr>
          <p:nvPr>
            <p:ph type="title"/>
          </p:nvPr>
        </p:nvSpPr>
        <p:spPr/>
        <p:txBody>
          <a:bodyPr/>
          <a:lstStyle/>
          <a:p>
            <a:r>
              <a:rPr lang="en-US" dirty="0"/>
              <a:t>Sampling distribution under SRS</a:t>
            </a:r>
          </a:p>
        </p:txBody>
      </p:sp>
      <p:sp>
        <p:nvSpPr>
          <p:cNvPr id="3" name="Content Placeholder 2">
            <a:extLst>
              <a:ext uri="{FF2B5EF4-FFF2-40B4-BE49-F238E27FC236}">
                <a16:creationId xmlns:a16="http://schemas.microsoft.com/office/drawing/2014/main" id="{0BB943CC-9C78-435E-E007-BFDD5C077EAD}"/>
              </a:ext>
            </a:extLst>
          </p:cNvPr>
          <p:cNvSpPr>
            <a:spLocks noGrp="1"/>
          </p:cNvSpPr>
          <p:nvPr>
            <p:ph idx="1"/>
          </p:nvPr>
        </p:nvSpPr>
        <p:spPr/>
        <p:txBody>
          <a:bodyPr/>
          <a:lstStyle/>
          <a:p>
            <a:r>
              <a:rPr lang="en-US" dirty="0"/>
              <a:t>Many times, we are not only interested in estimating population mean</a:t>
            </a:r>
          </a:p>
          <a:p>
            <a:r>
              <a:rPr lang="en-US" dirty="0"/>
              <a:t>We also report the accuracy of the estimation</a:t>
            </a:r>
          </a:p>
          <a:p>
            <a:r>
              <a:rPr lang="en-US" dirty="0"/>
              <a:t>The standard error (SE) is the square root of the estimated variance of sample mean</a:t>
            </a:r>
          </a:p>
          <a:p>
            <a:endParaRPr lang="en-US" dirty="0"/>
          </a:p>
        </p:txBody>
      </p:sp>
      <p:pic>
        <p:nvPicPr>
          <p:cNvPr id="6" name="Picture 5">
            <a:extLst>
              <a:ext uri="{FF2B5EF4-FFF2-40B4-BE49-F238E27FC236}">
                <a16:creationId xmlns:a16="http://schemas.microsoft.com/office/drawing/2014/main" id="{59C3422D-2C4B-D170-82A5-471DFBDFAB34}"/>
              </a:ext>
            </a:extLst>
          </p:cNvPr>
          <p:cNvPicPr>
            <a:picLocks noChangeAspect="1"/>
          </p:cNvPicPr>
          <p:nvPr/>
        </p:nvPicPr>
        <p:blipFill>
          <a:blip r:embed="rId3"/>
          <a:stretch>
            <a:fillRect/>
          </a:stretch>
        </p:blipFill>
        <p:spPr>
          <a:xfrm>
            <a:off x="2377166" y="4072797"/>
            <a:ext cx="3286584" cy="657317"/>
          </a:xfrm>
          <a:prstGeom prst="rect">
            <a:avLst/>
          </a:prstGeom>
        </p:spPr>
      </p:pic>
    </p:spTree>
    <p:extLst>
      <p:ext uri="{BB962C8B-B14F-4D97-AF65-F5344CB8AC3E}">
        <p14:creationId xmlns:p14="http://schemas.microsoft.com/office/powerpoint/2010/main" val="597608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01F0-A6BB-1DE9-FF67-DB78454E0680}"/>
              </a:ext>
            </a:extLst>
          </p:cNvPr>
          <p:cNvSpPr>
            <a:spLocks noGrp="1"/>
          </p:cNvSpPr>
          <p:nvPr>
            <p:ph type="title"/>
          </p:nvPr>
        </p:nvSpPr>
        <p:spPr/>
        <p:txBody>
          <a:bodyPr/>
          <a:lstStyle/>
          <a:p>
            <a:r>
              <a:rPr lang="en-US" dirty="0"/>
              <a:t>Sampling distribution under SRS</a:t>
            </a:r>
          </a:p>
        </p:txBody>
      </p:sp>
      <p:sp>
        <p:nvSpPr>
          <p:cNvPr id="3" name="Content Placeholder 2">
            <a:extLst>
              <a:ext uri="{FF2B5EF4-FFF2-40B4-BE49-F238E27FC236}">
                <a16:creationId xmlns:a16="http://schemas.microsoft.com/office/drawing/2014/main" id="{0BB943CC-9C78-435E-E007-BFDD5C077EAD}"/>
              </a:ext>
            </a:extLst>
          </p:cNvPr>
          <p:cNvSpPr>
            <a:spLocks noGrp="1"/>
          </p:cNvSpPr>
          <p:nvPr>
            <p:ph idx="1"/>
          </p:nvPr>
        </p:nvSpPr>
        <p:spPr/>
        <p:txBody>
          <a:bodyPr/>
          <a:lstStyle/>
          <a:p>
            <a:r>
              <a:rPr lang="en-US" dirty="0"/>
              <a:t>In addition to point estimation, we might be also interested in interval estimation</a:t>
            </a:r>
          </a:p>
          <a:p>
            <a:r>
              <a:rPr lang="en-US" dirty="0"/>
              <a:t>We can report confidence interval</a:t>
            </a:r>
          </a:p>
          <a:p>
            <a:endParaRPr lang="en-US" dirty="0"/>
          </a:p>
        </p:txBody>
      </p:sp>
    </p:spTree>
    <p:extLst>
      <p:ext uri="{BB962C8B-B14F-4D97-AF65-F5344CB8AC3E}">
        <p14:creationId xmlns:p14="http://schemas.microsoft.com/office/powerpoint/2010/main" val="1105935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2A192D-BA87-4524-B2F9-C6967686B46A}"/>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15C9FD5F-9385-43C8-90CD-1EE1EB1DB213}"/>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33</a:t>
            </a:fld>
            <a:endParaRPr lang="en-US"/>
          </a:p>
        </p:txBody>
      </p:sp>
      <p:pic>
        <p:nvPicPr>
          <p:cNvPr id="4" name="Picture 3">
            <a:extLst>
              <a:ext uri="{FF2B5EF4-FFF2-40B4-BE49-F238E27FC236}">
                <a16:creationId xmlns:a16="http://schemas.microsoft.com/office/drawing/2014/main" id="{69020066-2A47-4055-B52B-CB73C9BE8DCD}"/>
              </a:ext>
            </a:extLst>
          </p:cNvPr>
          <p:cNvPicPr>
            <a:picLocks noChangeAspect="1"/>
          </p:cNvPicPr>
          <p:nvPr/>
        </p:nvPicPr>
        <p:blipFill>
          <a:blip r:embed="rId2"/>
          <a:stretch>
            <a:fillRect/>
          </a:stretch>
        </p:blipFill>
        <p:spPr>
          <a:xfrm>
            <a:off x="4807599" y="2643200"/>
            <a:ext cx="3942773" cy="2977924"/>
          </a:xfrm>
          <a:prstGeom prst="rect">
            <a:avLst/>
          </a:prstGeom>
        </p:spPr>
      </p:pic>
      <p:sp>
        <p:nvSpPr>
          <p:cNvPr id="5" name="TextBox 4">
            <a:extLst>
              <a:ext uri="{FF2B5EF4-FFF2-40B4-BE49-F238E27FC236}">
                <a16:creationId xmlns:a16="http://schemas.microsoft.com/office/drawing/2014/main" id="{C9398F60-D840-429A-A90E-0E275EFE6B1C}"/>
              </a:ext>
            </a:extLst>
          </p:cNvPr>
          <p:cNvSpPr txBox="1"/>
          <p:nvPr/>
        </p:nvSpPr>
        <p:spPr>
          <a:xfrm>
            <a:off x="6054677" y="5543906"/>
            <a:ext cx="1524776" cy="369332"/>
          </a:xfrm>
          <a:prstGeom prst="rect">
            <a:avLst/>
          </a:prstGeom>
          <a:noFill/>
        </p:spPr>
        <p:txBody>
          <a:bodyPr wrap="none" rtlCol="0">
            <a:spAutoFit/>
          </a:bodyPr>
          <a:lstStyle/>
          <a:p>
            <a:r>
              <a:rPr lang="en-US" altLang="zh-CN" dirty="0"/>
              <a:t>Sample means</a:t>
            </a:r>
            <a:endParaRPr lang="en-US" dirty="0"/>
          </a:p>
        </p:txBody>
      </p:sp>
      <p:sp>
        <p:nvSpPr>
          <p:cNvPr id="6" name="Rounded Rectangle 7">
            <a:extLst>
              <a:ext uri="{FF2B5EF4-FFF2-40B4-BE49-F238E27FC236}">
                <a16:creationId xmlns:a16="http://schemas.microsoft.com/office/drawing/2014/main" id="{FBA0838F-9A99-45B9-9CD8-FDCF8DA2758C}"/>
              </a:ext>
            </a:extLst>
          </p:cNvPr>
          <p:cNvSpPr>
            <a:spLocks noChangeArrowheads="1"/>
          </p:cNvSpPr>
          <p:nvPr/>
        </p:nvSpPr>
        <p:spPr bwMode="auto">
          <a:xfrm>
            <a:off x="393628" y="323545"/>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fontAlgn="auto">
              <a:spcBef>
                <a:spcPts val="0"/>
              </a:spcBef>
              <a:spcAft>
                <a:spcPts val="0"/>
              </a:spcAft>
              <a:defRPr/>
            </a:pPr>
            <a:r>
              <a:rPr lang="en-US" sz="2000" b="1" dirty="0">
                <a:latin typeface="+mn-lt"/>
                <a:ea typeface="+mn-ea"/>
                <a:cs typeface="Arial"/>
              </a:rPr>
              <a:t>UofM graduates</a:t>
            </a:r>
          </a:p>
        </p:txBody>
      </p:sp>
      <p:sp>
        <p:nvSpPr>
          <p:cNvPr id="7" name="Oval 6">
            <a:extLst>
              <a:ext uri="{FF2B5EF4-FFF2-40B4-BE49-F238E27FC236}">
                <a16:creationId xmlns:a16="http://schemas.microsoft.com/office/drawing/2014/main" id="{1B613F38-F427-4EAE-AFEE-95A91B6C5204}"/>
              </a:ext>
            </a:extLst>
          </p:cNvPr>
          <p:cNvSpPr>
            <a:spLocks noChangeArrowheads="1"/>
          </p:cNvSpPr>
          <p:nvPr/>
        </p:nvSpPr>
        <p:spPr bwMode="auto">
          <a:xfrm>
            <a:off x="1925565" y="987120"/>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8" name="Oval 7">
            <a:extLst>
              <a:ext uri="{FF2B5EF4-FFF2-40B4-BE49-F238E27FC236}">
                <a16:creationId xmlns:a16="http://schemas.microsoft.com/office/drawing/2014/main" id="{D2EFF1F1-065E-45C2-A83E-4852F7A2F29C}"/>
              </a:ext>
            </a:extLst>
          </p:cNvPr>
          <p:cNvSpPr>
            <a:spLocks noChangeArrowheads="1"/>
          </p:cNvSpPr>
          <p:nvPr/>
        </p:nvSpPr>
        <p:spPr bwMode="auto">
          <a:xfrm>
            <a:off x="2893940" y="12760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9" name="Oval 8">
            <a:extLst>
              <a:ext uri="{FF2B5EF4-FFF2-40B4-BE49-F238E27FC236}">
                <a16:creationId xmlns:a16="http://schemas.microsoft.com/office/drawing/2014/main" id="{4441BEFB-30EB-4AA0-AEC8-818C2F2FD6B4}"/>
              </a:ext>
            </a:extLst>
          </p:cNvPr>
          <p:cNvSpPr>
            <a:spLocks noChangeArrowheads="1"/>
          </p:cNvSpPr>
          <p:nvPr/>
        </p:nvSpPr>
        <p:spPr bwMode="auto">
          <a:xfrm>
            <a:off x="2806628" y="2265057"/>
            <a:ext cx="1454150"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0" name="Oval 9">
            <a:extLst>
              <a:ext uri="{FF2B5EF4-FFF2-40B4-BE49-F238E27FC236}">
                <a16:creationId xmlns:a16="http://schemas.microsoft.com/office/drawing/2014/main" id="{01F3F40D-89B7-4A59-A866-FAB4C6F6A2EC}"/>
              </a:ext>
            </a:extLst>
          </p:cNvPr>
          <p:cNvSpPr>
            <a:spLocks noChangeArrowheads="1"/>
          </p:cNvSpPr>
          <p:nvPr/>
        </p:nvSpPr>
        <p:spPr bwMode="auto">
          <a:xfrm>
            <a:off x="2806628" y="482295"/>
            <a:ext cx="1454150" cy="577850"/>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1" name="Oval 10">
            <a:extLst>
              <a:ext uri="{FF2B5EF4-FFF2-40B4-BE49-F238E27FC236}">
                <a16:creationId xmlns:a16="http://schemas.microsoft.com/office/drawing/2014/main" id="{A3CAC52E-3F5C-43EC-985F-3A8E2442333D}"/>
              </a:ext>
            </a:extLst>
          </p:cNvPr>
          <p:cNvSpPr>
            <a:spLocks noChangeArrowheads="1"/>
          </p:cNvSpPr>
          <p:nvPr/>
        </p:nvSpPr>
        <p:spPr bwMode="auto">
          <a:xfrm>
            <a:off x="2124003" y="1760232"/>
            <a:ext cx="1455737"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2" name="Oval 11">
            <a:extLst>
              <a:ext uri="{FF2B5EF4-FFF2-40B4-BE49-F238E27FC236}">
                <a16:creationId xmlns:a16="http://schemas.microsoft.com/office/drawing/2014/main" id="{B7F2262A-D207-4707-B7A6-80B1488380BC}"/>
              </a:ext>
            </a:extLst>
          </p:cNvPr>
          <p:cNvSpPr>
            <a:spLocks noChangeArrowheads="1"/>
          </p:cNvSpPr>
          <p:nvPr/>
        </p:nvSpPr>
        <p:spPr bwMode="auto">
          <a:xfrm>
            <a:off x="1007990" y="15046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3" name="Oval 12">
            <a:extLst>
              <a:ext uri="{FF2B5EF4-FFF2-40B4-BE49-F238E27FC236}">
                <a16:creationId xmlns:a16="http://schemas.microsoft.com/office/drawing/2014/main" id="{F8FCF481-8734-442A-9BC3-E050002C9562}"/>
              </a:ext>
            </a:extLst>
          </p:cNvPr>
          <p:cNvSpPr>
            <a:spLocks noChangeArrowheads="1"/>
          </p:cNvSpPr>
          <p:nvPr/>
        </p:nvSpPr>
        <p:spPr bwMode="auto">
          <a:xfrm>
            <a:off x="827015" y="2265057"/>
            <a:ext cx="1455738"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4" name="Oval 13">
            <a:extLst>
              <a:ext uri="{FF2B5EF4-FFF2-40B4-BE49-F238E27FC236}">
                <a16:creationId xmlns:a16="http://schemas.microsoft.com/office/drawing/2014/main" id="{4B18F9A4-3AFC-43E3-BB51-62E44F89D6C9}"/>
              </a:ext>
            </a:extLst>
          </p:cNvPr>
          <p:cNvSpPr>
            <a:spLocks noChangeArrowheads="1"/>
          </p:cNvSpPr>
          <p:nvPr/>
        </p:nvSpPr>
        <p:spPr bwMode="auto">
          <a:xfrm>
            <a:off x="669853" y="987120"/>
            <a:ext cx="1454150"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cxnSp>
        <p:nvCxnSpPr>
          <p:cNvPr id="16" name="Straight Arrow Connector 15">
            <a:extLst>
              <a:ext uri="{FF2B5EF4-FFF2-40B4-BE49-F238E27FC236}">
                <a16:creationId xmlns:a16="http://schemas.microsoft.com/office/drawing/2014/main" id="{2E37D8B1-4BB4-456F-9414-1330E39052E3}"/>
              </a:ext>
            </a:extLst>
          </p:cNvPr>
          <p:cNvCxnSpPr/>
          <p:nvPr/>
        </p:nvCxnSpPr>
        <p:spPr>
          <a:xfrm>
            <a:off x="3800213" y="2841320"/>
            <a:ext cx="1879134" cy="2519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22D3AE-183F-4801-ABF0-31238D39963B}"/>
              </a:ext>
            </a:extLst>
          </p:cNvPr>
          <p:cNvCxnSpPr/>
          <p:nvPr/>
        </p:nvCxnSpPr>
        <p:spPr>
          <a:xfrm>
            <a:off x="1925565" y="2804807"/>
            <a:ext cx="3586002" cy="253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12A7C67-9D2A-4705-B211-02D11A36431E}"/>
              </a:ext>
            </a:extLst>
          </p:cNvPr>
          <p:cNvCxnSpPr/>
          <p:nvPr/>
        </p:nvCxnSpPr>
        <p:spPr>
          <a:xfrm>
            <a:off x="3456264" y="2139645"/>
            <a:ext cx="2894202" cy="322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A5F8B0A-8A11-491D-941B-1725A12557F7}"/>
              </a:ext>
            </a:extLst>
          </p:cNvPr>
          <p:cNvCxnSpPr>
            <a:stCxn id="8" idx="5"/>
          </p:cNvCxnSpPr>
          <p:nvPr/>
        </p:nvCxnSpPr>
        <p:spPr>
          <a:xfrm>
            <a:off x="4136490" y="1767915"/>
            <a:ext cx="3598160" cy="35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5D73357-2194-4FDD-8120-152B855CD7F9}"/>
              </a:ext>
            </a:extLst>
          </p:cNvPr>
          <p:cNvCxnSpPr>
            <a:stCxn id="10" idx="5"/>
          </p:cNvCxnSpPr>
          <p:nvPr/>
        </p:nvCxnSpPr>
        <p:spPr>
          <a:xfrm>
            <a:off x="4047823" y="975521"/>
            <a:ext cx="2769242" cy="4385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8069BD6-D946-47F0-B927-E3575E4001F5}"/>
              </a:ext>
            </a:extLst>
          </p:cNvPr>
          <p:cNvSpPr txBox="1"/>
          <p:nvPr/>
        </p:nvSpPr>
        <p:spPr>
          <a:xfrm>
            <a:off x="1121516" y="3208032"/>
            <a:ext cx="5261056" cy="369332"/>
          </a:xfrm>
          <a:prstGeom prst="rect">
            <a:avLst/>
          </a:prstGeom>
          <a:noFill/>
        </p:spPr>
        <p:txBody>
          <a:bodyPr wrap="none" rtlCol="0">
            <a:spAutoFit/>
          </a:bodyPr>
          <a:lstStyle/>
          <a:p>
            <a:r>
              <a:rPr lang="en-US" b="1" dirty="0"/>
              <a:t>Calculate average number of hours for each sample</a:t>
            </a:r>
          </a:p>
        </p:txBody>
      </p:sp>
      <p:sp>
        <p:nvSpPr>
          <p:cNvPr id="26" name="TextBox 25">
            <a:extLst>
              <a:ext uri="{FF2B5EF4-FFF2-40B4-BE49-F238E27FC236}">
                <a16:creationId xmlns:a16="http://schemas.microsoft.com/office/drawing/2014/main" id="{3975816E-DF21-4EAE-AA4A-BAD92C815AC9}"/>
              </a:ext>
            </a:extLst>
          </p:cNvPr>
          <p:cNvSpPr txBox="1"/>
          <p:nvPr/>
        </p:nvSpPr>
        <p:spPr>
          <a:xfrm>
            <a:off x="393628" y="4664279"/>
            <a:ext cx="3867150" cy="646331"/>
          </a:xfrm>
          <a:prstGeom prst="rect">
            <a:avLst/>
          </a:prstGeom>
          <a:noFill/>
        </p:spPr>
        <p:txBody>
          <a:bodyPr wrap="square" rtlCol="0">
            <a:spAutoFit/>
          </a:bodyPr>
          <a:lstStyle/>
          <a:p>
            <a:r>
              <a:rPr lang="en-US" b="1" dirty="0">
                <a:solidFill>
                  <a:srgbClr val="FF0000"/>
                </a:solidFill>
              </a:rPr>
              <a:t>Q: What are the mean and variance of the sampling distribution?</a:t>
            </a:r>
          </a:p>
        </p:txBody>
      </p:sp>
    </p:spTree>
    <p:extLst>
      <p:ext uri="{BB962C8B-B14F-4D97-AF65-F5344CB8AC3E}">
        <p14:creationId xmlns:p14="http://schemas.microsoft.com/office/powerpoint/2010/main" val="28157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BFA2B91-5B33-4345-A6AD-984BEA2DE82E}"/>
              </a:ext>
            </a:extLst>
          </p:cNvPr>
          <p:cNvSpPr>
            <a:spLocks noGrp="1" noChangeArrowheads="1"/>
          </p:cNvSpPr>
          <p:nvPr>
            <p:ph type="title" idx="4294967295"/>
          </p:nvPr>
        </p:nvSpPr>
        <p:spPr>
          <a:xfrm>
            <a:off x="0" y="150813"/>
            <a:ext cx="8064500" cy="965200"/>
          </a:xfrm>
        </p:spPr>
        <p:txBody>
          <a:bodyPr>
            <a:normAutofit fontScale="90000"/>
          </a:bodyPr>
          <a:lstStyle/>
          <a:p>
            <a:pPr eaLnBrk="1" hangingPunct="1">
              <a:lnSpc>
                <a:spcPct val="90000"/>
              </a:lnSpc>
            </a:pPr>
            <a:r>
              <a:rPr lang="en-US" altLang="en-US" dirty="0">
                <a:ea typeface="ＭＳ Ｐゴシック" panose="020B0600070205080204" pitchFamily="34" charset="-128"/>
                <a:cs typeface="Arial" panose="020B0604020202020204" pitchFamily="34" charset="0"/>
              </a:rPr>
              <a:t>The Sampling Distribution of a Sample Mean </a:t>
            </a:r>
            <a:endParaRPr lang="en-US" altLang="en-US" sz="2400" dirty="0">
              <a:solidFill>
                <a:srgbClr val="33CCFF"/>
              </a:solidFill>
              <a:ea typeface="ＭＳ Ｐゴシック" panose="020B0600070205080204" pitchFamily="34" charset="-128"/>
              <a:cs typeface="Arial" panose="020B0604020202020204" pitchFamily="34" charset="0"/>
            </a:endParaRPr>
          </a:p>
        </p:txBody>
      </p:sp>
      <p:graphicFrame>
        <p:nvGraphicFramePr>
          <p:cNvPr id="7" name="Object 6">
            <a:extLst>
              <a:ext uri="{FF2B5EF4-FFF2-40B4-BE49-F238E27FC236}">
                <a16:creationId xmlns:a16="http://schemas.microsoft.com/office/drawing/2014/main" id="{611F57E6-29EA-4C45-9C7B-6D4C9F454B35}"/>
              </a:ext>
            </a:extLst>
          </p:cNvPr>
          <p:cNvGraphicFramePr>
            <a:graphicFrameLocks noChangeAspect="1"/>
          </p:cNvGraphicFramePr>
          <p:nvPr/>
        </p:nvGraphicFramePr>
        <p:xfrm>
          <a:off x="855663" y="4295775"/>
          <a:ext cx="7353300" cy="698500"/>
        </p:xfrm>
        <a:graphic>
          <a:graphicData uri="http://schemas.openxmlformats.org/presentationml/2006/ole">
            <mc:AlternateContent xmlns:mc="http://schemas.openxmlformats.org/markup-compatibility/2006">
              <mc:Choice xmlns:v="urn:schemas-microsoft-com:vml" Requires="v">
                <p:oleObj name="Equation" r:id="rId2" imgW="4520880" imgH="431640" progId="Equation.DSMT4">
                  <p:embed/>
                </p:oleObj>
              </mc:Choice>
              <mc:Fallback>
                <p:oleObj name="Equation" r:id="rId2" imgW="4520880" imgH="431640" progId="Equation.DSMT4">
                  <p:embed/>
                  <p:pic>
                    <p:nvPicPr>
                      <p:cNvPr id="7" name="Object 6">
                        <a:extLst>
                          <a:ext uri="{FF2B5EF4-FFF2-40B4-BE49-F238E27FC236}">
                            <a16:creationId xmlns:a16="http://schemas.microsoft.com/office/drawing/2014/main" id="{611F57E6-29EA-4C45-9C7B-6D4C9F454B35}"/>
                          </a:ext>
                        </a:extLst>
                      </p:cNvPr>
                      <p:cNvPicPr>
                        <a:picLocks noChangeAspect="1" noChangeArrowheads="1"/>
                      </p:cNvPicPr>
                      <p:nvPr/>
                    </p:nvPicPr>
                    <p:blipFill>
                      <a:blip r:embed="rId3"/>
                      <a:srcRect/>
                      <a:stretch>
                        <a:fillRect/>
                      </a:stretch>
                    </p:blipFill>
                    <p:spPr bwMode="auto">
                      <a:xfrm>
                        <a:off x="855663" y="4295775"/>
                        <a:ext cx="73533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2773" name="Group 18">
            <a:extLst>
              <a:ext uri="{FF2B5EF4-FFF2-40B4-BE49-F238E27FC236}">
                <a16:creationId xmlns:a16="http://schemas.microsoft.com/office/drawing/2014/main" id="{4D8973D8-04B2-45B6-80D5-A05987D16AB7}"/>
              </a:ext>
            </a:extLst>
          </p:cNvPr>
          <p:cNvGrpSpPr>
            <a:grpSpLocks/>
          </p:cNvGrpSpPr>
          <p:nvPr/>
        </p:nvGrpSpPr>
        <p:grpSpPr bwMode="auto">
          <a:xfrm>
            <a:off x="593725" y="1657418"/>
            <a:ext cx="7953375" cy="3286038"/>
            <a:chOff x="393701" y="1834876"/>
            <a:chExt cx="7953266" cy="2692374"/>
          </a:xfrm>
        </p:grpSpPr>
        <p:grpSp>
          <p:nvGrpSpPr>
            <p:cNvPr id="32779" name="Group 18">
              <a:extLst>
                <a:ext uri="{FF2B5EF4-FFF2-40B4-BE49-F238E27FC236}">
                  <a16:creationId xmlns:a16="http://schemas.microsoft.com/office/drawing/2014/main" id="{82417639-621C-4152-9B57-E7A9732AAF18}"/>
                </a:ext>
              </a:extLst>
            </p:cNvPr>
            <p:cNvGrpSpPr>
              <a:grpSpLocks/>
            </p:cNvGrpSpPr>
            <p:nvPr/>
          </p:nvGrpSpPr>
          <p:grpSpPr bwMode="auto">
            <a:xfrm>
              <a:off x="393701" y="1834876"/>
              <a:ext cx="7953266" cy="2692374"/>
              <a:chOff x="-242149" y="4952607"/>
              <a:chExt cx="8422734" cy="2695852"/>
            </a:xfrm>
          </p:grpSpPr>
          <p:sp>
            <p:nvSpPr>
              <p:cNvPr id="11" name="TextBox 10">
                <a:extLst>
                  <a:ext uri="{FF2B5EF4-FFF2-40B4-BE49-F238E27FC236}">
                    <a16:creationId xmlns:a16="http://schemas.microsoft.com/office/drawing/2014/main" id="{A8F08C6C-41AD-46E8-ABC2-2FF8EA24ED01}"/>
                  </a:ext>
                </a:extLst>
              </p:cNvPr>
              <p:cNvSpPr txBox="1">
                <a:spLocks noChangeArrowheads="1"/>
              </p:cNvSpPr>
              <p:nvPr/>
            </p:nvSpPr>
            <p:spPr bwMode="auto">
              <a:xfrm>
                <a:off x="-242149" y="5224472"/>
                <a:ext cx="8422734" cy="242398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2900" indent="-3429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defRPr/>
                </a:pPr>
                <a:endParaRPr lang="en-US" altLang="en-US" sz="1800" dirty="0">
                  <a:solidFill>
                    <a:srgbClr val="000000"/>
                  </a:solidFill>
                </a:endParaRPr>
              </a:p>
              <a:p>
                <a:pPr eaLnBrk="1" hangingPunct="1">
                  <a:spcAft>
                    <a:spcPts val="1200"/>
                  </a:spcAft>
                  <a:buFont typeface="Arial" charset="0"/>
                  <a:buChar char="•"/>
                  <a:defRPr/>
                </a:pPr>
                <a:endParaRPr lang="en-US" altLang="en-US" sz="1800" dirty="0">
                  <a:solidFill>
                    <a:srgbClr val="000000"/>
                  </a:solidFill>
                </a:endParaRPr>
              </a:p>
              <a:p>
                <a:pPr eaLnBrk="1" hangingPunct="1">
                  <a:spcAft>
                    <a:spcPts val="1200"/>
                  </a:spcAft>
                  <a:defRPr/>
                </a:pPr>
                <a:endParaRPr lang="en-US" altLang="en-US" sz="1800" dirty="0">
                  <a:solidFill>
                    <a:srgbClr val="000000"/>
                  </a:solidFill>
                </a:endParaRPr>
              </a:p>
              <a:p>
                <a:pPr eaLnBrk="1" hangingPunct="1">
                  <a:spcAft>
                    <a:spcPts val="1200"/>
                  </a:spcAft>
                  <a:defRPr/>
                </a:pPr>
                <a:endParaRPr lang="en-US" altLang="en-US" sz="1800" i="1" dirty="0">
                  <a:solidFill>
                    <a:srgbClr val="000000"/>
                  </a:solidFill>
                </a:endParaRPr>
              </a:p>
              <a:p>
                <a:pPr eaLnBrk="1" hangingPunct="1">
                  <a:spcAft>
                    <a:spcPts val="1200"/>
                  </a:spcAft>
                  <a:defRPr/>
                </a:pPr>
                <a:endParaRPr lang="en-US" altLang="en-US" sz="1800" i="1" dirty="0">
                  <a:solidFill>
                    <a:srgbClr val="000000"/>
                  </a:solidFill>
                </a:endParaRPr>
              </a:p>
              <a:p>
                <a:pPr eaLnBrk="1" hangingPunct="1">
                  <a:spcAft>
                    <a:spcPts val="1200"/>
                  </a:spcAft>
                  <a:defRPr/>
                </a:pPr>
                <a:endParaRPr lang="en-US" altLang="en-US" sz="1800" i="1" dirty="0">
                  <a:solidFill>
                    <a:srgbClr val="000000"/>
                  </a:solidFill>
                </a:endParaRPr>
              </a:p>
              <a:p>
                <a:pPr eaLnBrk="1" hangingPunct="1">
                  <a:spcAft>
                    <a:spcPts val="1200"/>
                  </a:spcAft>
                  <a:defRPr/>
                </a:pPr>
                <a:endParaRPr lang="en-US" altLang="en-US" sz="1800" i="1" dirty="0">
                  <a:solidFill>
                    <a:srgbClr val="000000"/>
                  </a:solidFill>
                </a:endParaRPr>
              </a:p>
            </p:txBody>
          </p:sp>
          <p:sp>
            <p:nvSpPr>
              <p:cNvPr id="12" name="TextBox 11">
                <a:extLst>
                  <a:ext uri="{FF2B5EF4-FFF2-40B4-BE49-F238E27FC236}">
                    <a16:creationId xmlns:a16="http://schemas.microsoft.com/office/drawing/2014/main" id="{9166D2EC-C35B-42B5-BAED-2F030DA938E6}"/>
                  </a:ext>
                </a:extLst>
              </p:cNvPr>
              <p:cNvSpPr txBox="1">
                <a:spLocks noChangeArrowheads="1"/>
              </p:cNvSpPr>
              <p:nvPr/>
            </p:nvSpPr>
            <p:spPr bwMode="auto">
              <a:xfrm>
                <a:off x="-184989" y="4952607"/>
                <a:ext cx="8254616" cy="370436"/>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800" b="1" dirty="0"/>
                  <a:t>The Sampling Distribution of Sample Means</a:t>
                </a:r>
                <a:endParaRPr lang="en-US" altLang="en-US" sz="1800" b="1" i="1" dirty="0">
                  <a:latin typeface="Palatino" pitchFamily="-65" charset="0"/>
                </a:endParaRPr>
              </a:p>
            </p:txBody>
          </p:sp>
        </p:grpSp>
        <mc:AlternateContent xmlns:mc="http://schemas.openxmlformats.org/markup-compatibility/2006" xmlns:a14="http://schemas.microsoft.com/office/drawing/2010/main">
          <mc:Choice Requires="a14">
            <p:sp>
              <p:nvSpPr>
                <p:cNvPr id="32780" name="Object 4">
                  <a:extLst>
                    <a:ext uri="{FF2B5EF4-FFF2-40B4-BE49-F238E27FC236}">
                      <a16:creationId xmlns:a16="http://schemas.microsoft.com/office/drawing/2014/main" id="{CDF31D93-D479-4A27-980E-4FD211C43A2A}"/>
                    </a:ext>
                  </a:extLst>
                </p:cNvPr>
                <p:cNvSpPr txBox="1"/>
                <p:nvPr/>
              </p:nvSpPr>
              <p:spPr bwMode="auto">
                <a:xfrm>
                  <a:off x="1073142" y="3381443"/>
                  <a:ext cx="6314988" cy="87329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standard</m:t>
                        </m:r>
                        <m:r>
                          <a:rPr lang="en-US" i="1">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deviation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sampling</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distribution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mean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oMath>
                    </m:oMathPara>
                  </a14:m>
                  <a:br>
                    <a:rPr lang="en-US" i="0" dirty="0">
                      <a:solidFill>
                        <a:srgbClr val="000000"/>
                      </a:solidFill>
                      <a:latin typeface="Cambria Math" panose="02040503050406030204" pitchFamily="18" charset="0"/>
                    </a:rPr>
                  </a:br>
                  <a:endParaRPr lang="en-US" dirty="0"/>
                </a:p>
              </p:txBody>
            </p:sp>
          </mc:Choice>
          <mc:Fallback xmlns="">
            <p:sp>
              <p:nvSpPr>
                <p:cNvPr id="32780" name="Object 4">
                  <a:extLst>
                    <a:ext uri="{FF2B5EF4-FFF2-40B4-BE49-F238E27FC236}">
                      <a16:creationId xmlns:a16="http://schemas.microsoft.com/office/drawing/2014/main" id="{CDF31D93-D479-4A27-980E-4FD211C43A2A}"/>
                    </a:ext>
                  </a:extLst>
                </p:cNvPr>
                <p:cNvSpPr txBox="1">
                  <a:spLocks noRot="1" noChangeAspect="1" noMove="1" noResize="1" noEditPoints="1" noAdjustHandles="1" noChangeArrowheads="1" noChangeShapeType="1" noTextEdit="1"/>
                </p:cNvSpPr>
                <p:nvPr/>
              </p:nvSpPr>
              <p:spPr bwMode="auto">
                <a:xfrm>
                  <a:off x="1073142" y="3381443"/>
                  <a:ext cx="6314988" cy="873293"/>
                </a:xfrm>
                <a:prstGeom prst="rect">
                  <a:avLst/>
                </a:prstGeom>
                <a:blipFill>
                  <a:blip r:embed="rId4"/>
                  <a:stretch>
                    <a:fillRect/>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774" name="Object 2">
                <a:extLst>
                  <a:ext uri="{FF2B5EF4-FFF2-40B4-BE49-F238E27FC236}">
                    <a16:creationId xmlns:a16="http://schemas.microsoft.com/office/drawing/2014/main" id="{4285B722-21AF-4ACC-9D6F-1C06D8746710}"/>
                  </a:ext>
                </a:extLst>
              </p:cNvPr>
              <p:cNvSpPr txBox="1"/>
              <p:nvPr/>
            </p:nvSpPr>
            <p:spPr bwMode="auto">
              <a:xfrm>
                <a:off x="1273175" y="2762250"/>
                <a:ext cx="7169150" cy="36353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m:rPr>
                          <m:nor/>
                        </m:rPr>
                        <a:rPr lang="en-US" i="0" smtClean="0">
                          <a:solidFill>
                            <a:srgbClr val="000000"/>
                          </a:solidFill>
                          <a:latin typeface="Cambria Math" panose="02040503050406030204" pitchFamily="18" charset="0"/>
                        </a:rPr>
                        <m:t>The</m:t>
                      </m:r>
                      <m:r>
                        <m:rPr>
                          <m:nor/>
                        </m:rPr>
                        <a:rPr lang="en-US" i="0" smtClean="0">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mean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sampling</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distribution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mean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𝑒𝑞𝑢𝑎𝑙</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𝑡𝑜</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𝑡h𝑒</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𝑝𝑜𝑝𝑢𝑙𝑎𝑡𝑖𝑜𝑛</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𝑚𝑒𝑎𝑛</m:t>
                      </m:r>
                    </m:oMath>
                  </m:oMathPara>
                </a14:m>
                <a:endParaRPr lang="en-US" dirty="0"/>
              </a:p>
            </p:txBody>
          </p:sp>
        </mc:Choice>
        <mc:Fallback xmlns="">
          <p:sp>
            <p:nvSpPr>
              <p:cNvPr id="32774" name="Object 2">
                <a:extLst>
                  <a:ext uri="{FF2B5EF4-FFF2-40B4-BE49-F238E27FC236}">
                    <a16:creationId xmlns:a16="http://schemas.microsoft.com/office/drawing/2014/main" id="{4285B722-21AF-4ACC-9D6F-1C06D8746710}"/>
                  </a:ext>
                </a:extLst>
              </p:cNvPr>
              <p:cNvSpPr txBox="1">
                <a:spLocks noRot="1" noChangeAspect="1" noMove="1" noResize="1" noEditPoints="1" noAdjustHandles="1" noChangeArrowheads="1" noChangeShapeType="1" noTextEdit="1"/>
              </p:cNvSpPr>
              <p:nvPr/>
            </p:nvSpPr>
            <p:spPr bwMode="auto">
              <a:xfrm>
                <a:off x="1273175" y="2762250"/>
                <a:ext cx="7169150" cy="363538"/>
              </a:xfrm>
              <a:prstGeom prst="rect">
                <a:avLst/>
              </a:prstGeom>
              <a:blipFill>
                <a:blip r:embed="rId5"/>
                <a:stretch>
                  <a:fillRect b="-90000"/>
                </a:stretch>
              </a:blipFill>
              <a:ln>
                <a:noFill/>
              </a:ln>
            </p:spPr>
            <p:txBody>
              <a:bodyPr/>
              <a:lstStyle/>
              <a:p>
                <a:r>
                  <a:rPr lang="en-US">
                    <a:noFill/>
                  </a:rPr>
                  <a:t> </a:t>
                </a:r>
              </a:p>
            </p:txBody>
          </p:sp>
        </mc:Fallback>
      </mc:AlternateContent>
      <p:graphicFrame>
        <p:nvGraphicFramePr>
          <p:cNvPr id="32775" name="Object 5">
            <a:extLst>
              <a:ext uri="{FF2B5EF4-FFF2-40B4-BE49-F238E27FC236}">
                <a16:creationId xmlns:a16="http://schemas.microsoft.com/office/drawing/2014/main" id="{11A6AD64-DF27-4426-A053-FF245C13C63A}"/>
              </a:ext>
            </a:extLst>
          </p:cNvPr>
          <p:cNvGraphicFramePr>
            <a:graphicFrameLocks noChangeAspect="1"/>
          </p:cNvGraphicFramePr>
          <p:nvPr/>
        </p:nvGraphicFramePr>
        <p:xfrm>
          <a:off x="1043780" y="2281012"/>
          <a:ext cx="7053263" cy="598487"/>
        </p:xfrm>
        <a:graphic>
          <a:graphicData uri="http://schemas.openxmlformats.org/presentationml/2006/ole">
            <mc:AlternateContent xmlns:mc="http://schemas.openxmlformats.org/markup-compatibility/2006">
              <mc:Choice xmlns:v="urn:schemas-microsoft-com:vml" Requires="v">
                <p:oleObj name="Equation" r:id="rId6" imgW="5041800" imgH="431640" progId="Equation.DSMT4">
                  <p:embed/>
                </p:oleObj>
              </mc:Choice>
              <mc:Fallback>
                <p:oleObj name="Equation" r:id="rId6" imgW="5041800" imgH="431640" progId="Equation.DSMT4">
                  <p:embed/>
                  <p:pic>
                    <p:nvPicPr>
                      <p:cNvPr id="32775" name="Object 5">
                        <a:extLst>
                          <a:ext uri="{FF2B5EF4-FFF2-40B4-BE49-F238E27FC236}">
                            <a16:creationId xmlns:a16="http://schemas.microsoft.com/office/drawing/2014/main" id="{11A6AD64-DF27-4426-A053-FF245C13C63A}"/>
                          </a:ext>
                        </a:extLst>
                      </p:cNvPr>
                      <p:cNvPicPr>
                        <a:picLocks noChangeAspect="1" noChangeArrowheads="1"/>
                      </p:cNvPicPr>
                      <p:nvPr/>
                    </p:nvPicPr>
                    <p:blipFill>
                      <a:blip r:embed="rId7"/>
                      <a:srcRect/>
                      <a:stretch>
                        <a:fillRect/>
                      </a:stretch>
                    </p:blipFill>
                    <p:spPr bwMode="auto">
                      <a:xfrm>
                        <a:off x="1043780" y="2281012"/>
                        <a:ext cx="7053263" cy="598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2778" name="Slide Number Placeholder 5">
            <a:extLst>
              <a:ext uri="{FF2B5EF4-FFF2-40B4-BE49-F238E27FC236}">
                <a16:creationId xmlns:a16="http://schemas.microsoft.com/office/drawing/2014/main" id="{8E221DF6-6820-48A3-92EC-BDC3980C9D3E}"/>
              </a:ext>
            </a:extLst>
          </p:cNvPr>
          <p:cNvSpPr txBox="1">
            <a:spLocks/>
          </p:cNvSpPr>
          <p:nvPr/>
        </p:nvSpPr>
        <p:spPr bwMode="auto">
          <a:xfrm>
            <a:off x="8661400" y="6508750"/>
            <a:ext cx="508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lnSpc>
                <a:spcPct val="80000"/>
              </a:lnSpc>
            </a:pPr>
            <a:fld id="{682559AB-141A-4147-9D48-E34545B64A13}" type="slidenum">
              <a:rPr lang="en-US" altLang="en-US" sz="1200" b="1">
                <a:solidFill>
                  <a:schemeClr val="accent1"/>
                </a:solidFill>
              </a:rPr>
              <a:pPr algn="r" eaLnBrk="1" hangingPunct="1">
                <a:lnSpc>
                  <a:spcPct val="80000"/>
                </a:lnSpc>
              </a:pPr>
              <a:t>34</a:t>
            </a:fld>
            <a:endParaRPr lang="en-US" altLang="en-US" sz="1200" b="1">
              <a:solidFill>
                <a:schemeClr val="accent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A7B1F75-81DD-749C-39F6-67D3683928A2}"/>
                  </a:ext>
                </a:extLst>
              </p:cNvPr>
              <p:cNvSpPr txBox="1"/>
              <p:nvPr/>
            </p:nvSpPr>
            <p:spPr>
              <a:xfrm>
                <a:off x="2016125" y="4032757"/>
                <a:ext cx="4673600"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1800" b="0" i="1" smtClean="0">
                          <a:solidFill>
                            <a:srgbClr val="000000"/>
                          </a:solidFill>
                          <a:latin typeface="Cambria Math" panose="02040503050406030204" pitchFamily="18" charset="0"/>
                        </a:rPr>
                        <m:t>𝑆𝐸</m:t>
                      </m:r>
                      <m:d>
                        <m:dPr>
                          <m:ctrlPr>
                            <a:rPr lang="en-US" altLang="en-US" sz="1800" b="0" i="1" smtClean="0">
                              <a:solidFill>
                                <a:srgbClr val="000000"/>
                              </a:solidFill>
                              <a:latin typeface="Cambria Math" panose="02040503050406030204" pitchFamily="18" charset="0"/>
                            </a:rPr>
                          </m:ctrlPr>
                        </m:dPr>
                        <m:e>
                          <m:acc>
                            <m:accPr>
                              <m:chr m:val="̅"/>
                              <m:ctrlPr>
                                <a:rPr lang="en-US" altLang="en-US" sz="1800" b="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𝑦</m:t>
                              </m:r>
                            </m:e>
                          </m:acc>
                        </m:e>
                      </m:d>
                      <m:r>
                        <a:rPr lang="en-US" altLang="en-US" sz="1800" b="0" i="1" smtClean="0">
                          <a:solidFill>
                            <a:srgbClr val="000000"/>
                          </a:solidFill>
                          <a:latin typeface="Cambria Math" panose="02040503050406030204" pitchFamily="18" charset="0"/>
                        </a:rPr>
                        <m:t>=</m:t>
                      </m:r>
                      <m:rad>
                        <m:radPr>
                          <m:degHide m:val="on"/>
                          <m:ctrlPr>
                            <a:rPr lang="en-US" altLang="en-US" sz="1800" b="0" i="1" smtClean="0">
                              <a:solidFill>
                                <a:srgbClr val="000000"/>
                              </a:solidFill>
                              <a:latin typeface="Cambria Math" panose="02040503050406030204" pitchFamily="18" charset="0"/>
                            </a:rPr>
                          </m:ctrlPr>
                        </m:radPr>
                        <m:deg/>
                        <m:e>
                          <m:r>
                            <a:rPr lang="en-US" altLang="en-US" sz="1800" b="0" i="1" smtClean="0">
                              <a:solidFill>
                                <a:srgbClr val="000000"/>
                              </a:solidFill>
                              <a:latin typeface="Cambria Math" panose="02040503050406030204" pitchFamily="18" charset="0"/>
                            </a:rPr>
                            <m:t>(1−</m:t>
                          </m:r>
                          <m:f>
                            <m:fPr>
                              <m:ctrlPr>
                                <a:rPr lang="en-US" altLang="en-US" sz="1800" b="0" i="1" smtClean="0">
                                  <a:solidFill>
                                    <a:srgbClr val="000000"/>
                                  </a:solidFill>
                                  <a:latin typeface="Cambria Math" panose="02040503050406030204" pitchFamily="18" charset="0"/>
                                </a:rPr>
                              </m:ctrlPr>
                            </m:fPr>
                            <m:num>
                              <m:r>
                                <a:rPr lang="en-US" altLang="en-US" sz="1800" b="0" i="1" smtClean="0">
                                  <a:solidFill>
                                    <a:srgbClr val="000000"/>
                                  </a:solidFill>
                                  <a:latin typeface="Cambria Math" panose="02040503050406030204" pitchFamily="18" charset="0"/>
                                </a:rPr>
                                <m:t>𝑛</m:t>
                              </m:r>
                            </m:num>
                            <m:den>
                              <m:r>
                                <a:rPr lang="en-US" altLang="en-US" sz="1800" b="0" i="1" smtClean="0">
                                  <a:solidFill>
                                    <a:srgbClr val="000000"/>
                                  </a:solidFill>
                                  <a:latin typeface="Cambria Math" panose="02040503050406030204" pitchFamily="18" charset="0"/>
                                </a:rPr>
                                <m:t>𝑁</m:t>
                              </m:r>
                            </m:den>
                          </m:f>
                          <m:r>
                            <a:rPr lang="en-US" altLang="en-US" sz="1800" b="0" i="1" smtClean="0">
                              <a:solidFill>
                                <a:srgbClr val="000000"/>
                              </a:solidFill>
                              <a:latin typeface="Cambria Math" panose="02040503050406030204" pitchFamily="18" charset="0"/>
                            </a:rPr>
                            <m:t>)</m:t>
                          </m:r>
                          <m:f>
                            <m:fPr>
                              <m:ctrlPr>
                                <a:rPr lang="en-US" altLang="en-US" sz="1800" b="0" i="1" smtClean="0">
                                  <a:solidFill>
                                    <a:srgbClr val="000000"/>
                                  </a:solidFill>
                                  <a:latin typeface="Cambria Math" panose="02040503050406030204" pitchFamily="18" charset="0"/>
                                </a:rPr>
                              </m:ctrlPr>
                            </m:fPr>
                            <m:num>
                              <m:sSup>
                                <m:sSupPr>
                                  <m:ctrlPr>
                                    <a:rPr lang="en-US" altLang="en-US" sz="1800" b="0" i="1" smtClean="0">
                                      <a:solidFill>
                                        <a:srgbClr val="000000"/>
                                      </a:solidFill>
                                      <a:latin typeface="Cambria Math" panose="02040503050406030204" pitchFamily="18" charset="0"/>
                                    </a:rPr>
                                  </m:ctrlPr>
                                </m:sSupPr>
                                <m:e>
                                  <m:r>
                                    <a:rPr lang="en-US" altLang="en-US" sz="1800" b="0" i="1" smtClean="0">
                                      <a:solidFill>
                                        <a:srgbClr val="000000"/>
                                      </a:solidFill>
                                      <a:latin typeface="Cambria Math" panose="02040503050406030204" pitchFamily="18" charset="0"/>
                                    </a:rPr>
                                    <m:t>𝑠</m:t>
                                  </m:r>
                                </m:e>
                                <m:sup>
                                  <m:r>
                                    <a:rPr lang="en-US" altLang="en-US" sz="1800" b="0" i="1" smtClean="0">
                                      <a:solidFill>
                                        <a:srgbClr val="000000"/>
                                      </a:solidFill>
                                      <a:latin typeface="Cambria Math" panose="02040503050406030204" pitchFamily="18" charset="0"/>
                                    </a:rPr>
                                    <m:t>2</m:t>
                                  </m:r>
                                </m:sup>
                              </m:sSup>
                            </m:num>
                            <m:den>
                              <m:r>
                                <a:rPr lang="en-US" altLang="en-US" sz="1800" b="0" i="1" smtClean="0">
                                  <a:solidFill>
                                    <a:srgbClr val="000000"/>
                                  </a:solidFill>
                                  <a:latin typeface="Cambria Math" panose="02040503050406030204" pitchFamily="18" charset="0"/>
                                </a:rPr>
                                <m:t>𝑛</m:t>
                              </m:r>
                            </m:den>
                          </m:f>
                        </m:e>
                      </m:rad>
                    </m:oMath>
                  </m:oMathPara>
                </a14:m>
                <a:endParaRPr lang="en-US" dirty="0"/>
              </a:p>
            </p:txBody>
          </p:sp>
        </mc:Choice>
        <mc:Fallback xmlns="">
          <p:sp>
            <p:nvSpPr>
              <p:cNvPr id="10" name="TextBox 9">
                <a:extLst>
                  <a:ext uri="{FF2B5EF4-FFF2-40B4-BE49-F238E27FC236}">
                    <a16:creationId xmlns:a16="http://schemas.microsoft.com/office/drawing/2014/main" id="{8A7B1F75-81DD-749C-39F6-67D3683928A2}"/>
                  </a:ext>
                </a:extLst>
              </p:cNvPr>
              <p:cNvSpPr txBox="1">
                <a:spLocks noRot="1" noChangeAspect="1" noMove="1" noResize="1" noEditPoints="1" noAdjustHandles="1" noChangeArrowheads="1" noChangeShapeType="1" noTextEdit="1"/>
              </p:cNvSpPr>
              <p:nvPr/>
            </p:nvSpPr>
            <p:spPr>
              <a:xfrm>
                <a:off x="2016125" y="4032757"/>
                <a:ext cx="4673600" cy="910699"/>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27429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from="(-#ppt_w/2)" to="(#ppt_x)" calcmode="lin" valueType="num">
                                      <p:cBhvr>
                                        <p:cTn id="7" dur="600" fill="hold">
                                          <p:stCondLst>
                                            <p:cond delay="0"/>
                                          </p:stCondLst>
                                        </p:cTn>
                                        <p:tgtEl>
                                          <p:spTgt spid="7"/>
                                        </p:tgtEl>
                                        <p:attrNameLst>
                                          <p:attrName>ppt_x</p:attrName>
                                        </p:attrNameLst>
                                      </p:cBhvr>
                                    </p:anim>
                                    <p:anim from="0" to="-1.0" calcmode="lin" valueType="num">
                                      <p:cBhvr>
                                        <p:cTn id="8" dur="200" decel="50000" autoRev="1" fill="hold">
                                          <p:stCondLst>
                                            <p:cond delay="600"/>
                                          </p:stCondLst>
                                        </p:cTn>
                                        <p:tgtEl>
                                          <p:spTgt spid="7"/>
                                        </p:tgtEl>
                                        <p:attrNameLst>
                                          <p:attrName>xshear</p:attrName>
                                        </p:attrNameLst>
                                      </p:cBhvr>
                                    </p:anim>
                                    <p:animScale>
                                      <p:cBhvr>
                                        <p:cTn id="9" dur="200" decel="100000" autoRev="1" fill="hold">
                                          <p:stCondLst>
                                            <p:cond delay="600"/>
                                          </p:stCondLst>
                                        </p:cTn>
                                        <p:tgtEl>
                                          <p:spTgt spid="7"/>
                                        </p:tgtEl>
                                      </p:cBhvr>
                                      <p:from x="100000" y="100000"/>
                                      <p:to x="80000" y="100000"/>
                                    </p:animScale>
                                    <p:anim by="(#ppt_h/3+#ppt_w*0.1)" calcmode="lin" valueType="num">
                                      <p:cBhvr additive="sum">
                                        <p:cTn id="10" dur="200" decel="100000" autoRev="1" fill="hold">
                                          <p:stCondLst>
                                            <p:cond delay="600"/>
                                          </p:stCondLst>
                                        </p:cTn>
                                        <p:tgtEl>
                                          <p:spTgt spid="7"/>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2A192D-BA87-4524-B2F9-C6967686B46A}"/>
              </a:ext>
            </a:extLst>
          </p:cNvPr>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15C9FD5F-9385-43C8-90CD-1EE1EB1DB213}"/>
              </a:ext>
            </a:extLst>
          </p:cNvPr>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35</a:t>
            </a:fld>
            <a:endParaRPr lang="en-US"/>
          </a:p>
        </p:txBody>
      </p:sp>
      <p:pic>
        <p:nvPicPr>
          <p:cNvPr id="4" name="Picture 3">
            <a:extLst>
              <a:ext uri="{FF2B5EF4-FFF2-40B4-BE49-F238E27FC236}">
                <a16:creationId xmlns:a16="http://schemas.microsoft.com/office/drawing/2014/main" id="{69020066-2A47-4055-B52B-CB73C9BE8DCD}"/>
              </a:ext>
            </a:extLst>
          </p:cNvPr>
          <p:cNvPicPr>
            <a:picLocks noChangeAspect="1"/>
          </p:cNvPicPr>
          <p:nvPr/>
        </p:nvPicPr>
        <p:blipFill>
          <a:blip r:embed="rId2"/>
          <a:stretch>
            <a:fillRect/>
          </a:stretch>
        </p:blipFill>
        <p:spPr>
          <a:xfrm>
            <a:off x="4807599" y="2643200"/>
            <a:ext cx="3942773" cy="2977924"/>
          </a:xfrm>
          <a:prstGeom prst="rect">
            <a:avLst/>
          </a:prstGeom>
        </p:spPr>
      </p:pic>
      <p:sp>
        <p:nvSpPr>
          <p:cNvPr id="5" name="TextBox 4">
            <a:extLst>
              <a:ext uri="{FF2B5EF4-FFF2-40B4-BE49-F238E27FC236}">
                <a16:creationId xmlns:a16="http://schemas.microsoft.com/office/drawing/2014/main" id="{C9398F60-D840-429A-A90E-0E275EFE6B1C}"/>
              </a:ext>
            </a:extLst>
          </p:cNvPr>
          <p:cNvSpPr txBox="1"/>
          <p:nvPr/>
        </p:nvSpPr>
        <p:spPr>
          <a:xfrm>
            <a:off x="6054677" y="5543906"/>
            <a:ext cx="1524776" cy="369332"/>
          </a:xfrm>
          <a:prstGeom prst="rect">
            <a:avLst/>
          </a:prstGeom>
          <a:noFill/>
        </p:spPr>
        <p:txBody>
          <a:bodyPr wrap="none" rtlCol="0">
            <a:spAutoFit/>
          </a:bodyPr>
          <a:lstStyle/>
          <a:p>
            <a:r>
              <a:rPr lang="en-US" altLang="zh-CN" dirty="0"/>
              <a:t>Sample means</a:t>
            </a:r>
            <a:endParaRPr lang="en-US" dirty="0"/>
          </a:p>
        </p:txBody>
      </p:sp>
      <p:sp>
        <p:nvSpPr>
          <p:cNvPr id="6" name="Rounded Rectangle 7">
            <a:extLst>
              <a:ext uri="{FF2B5EF4-FFF2-40B4-BE49-F238E27FC236}">
                <a16:creationId xmlns:a16="http://schemas.microsoft.com/office/drawing/2014/main" id="{FBA0838F-9A99-45B9-9CD8-FDCF8DA2758C}"/>
              </a:ext>
            </a:extLst>
          </p:cNvPr>
          <p:cNvSpPr>
            <a:spLocks noChangeArrowheads="1"/>
          </p:cNvSpPr>
          <p:nvPr/>
        </p:nvSpPr>
        <p:spPr bwMode="auto">
          <a:xfrm>
            <a:off x="393628" y="323545"/>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fontAlgn="auto">
              <a:spcBef>
                <a:spcPts val="0"/>
              </a:spcBef>
              <a:spcAft>
                <a:spcPts val="0"/>
              </a:spcAft>
              <a:defRPr/>
            </a:pPr>
            <a:r>
              <a:rPr lang="en-US" sz="2000" b="1" dirty="0">
                <a:latin typeface="+mn-lt"/>
                <a:ea typeface="+mn-ea"/>
                <a:cs typeface="Arial"/>
              </a:rPr>
              <a:t>UofM graduates</a:t>
            </a:r>
          </a:p>
        </p:txBody>
      </p:sp>
      <p:sp>
        <p:nvSpPr>
          <p:cNvPr id="7" name="Oval 6">
            <a:extLst>
              <a:ext uri="{FF2B5EF4-FFF2-40B4-BE49-F238E27FC236}">
                <a16:creationId xmlns:a16="http://schemas.microsoft.com/office/drawing/2014/main" id="{1B613F38-F427-4EAE-AFEE-95A91B6C5204}"/>
              </a:ext>
            </a:extLst>
          </p:cNvPr>
          <p:cNvSpPr>
            <a:spLocks noChangeArrowheads="1"/>
          </p:cNvSpPr>
          <p:nvPr/>
        </p:nvSpPr>
        <p:spPr bwMode="auto">
          <a:xfrm>
            <a:off x="1925565" y="987120"/>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8" name="Oval 7">
            <a:extLst>
              <a:ext uri="{FF2B5EF4-FFF2-40B4-BE49-F238E27FC236}">
                <a16:creationId xmlns:a16="http://schemas.microsoft.com/office/drawing/2014/main" id="{D2EFF1F1-065E-45C2-A83E-4852F7A2F29C}"/>
              </a:ext>
            </a:extLst>
          </p:cNvPr>
          <p:cNvSpPr>
            <a:spLocks noChangeArrowheads="1"/>
          </p:cNvSpPr>
          <p:nvPr/>
        </p:nvSpPr>
        <p:spPr bwMode="auto">
          <a:xfrm>
            <a:off x="2893940" y="12760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9" name="Oval 8">
            <a:extLst>
              <a:ext uri="{FF2B5EF4-FFF2-40B4-BE49-F238E27FC236}">
                <a16:creationId xmlns:a16="http://schemas.microsoft.com/office/drawing/2014/main" id="{4441BEFB-30EB-4AA0-AEC8-818C2F2FD6B4}"/>
              </a:ext>
            </a:extLst>
          </p:cNvPr>
          <p:cNvSpPr>
            <a:spLocks noChangeArrowheads="1"/>
          </p:cNvSpPr>
          <p:nvPr/>
        </p:nvSpPr>
        <p:spPr bwMode="auto">
          <a:xfrm>
            <a:off x="2806628" y="2265057"/>
            <a:ext cx="1454150"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0" name="Oval 9">
            <a:extLst>
              <a:ext uri="{FF2B5EF4-FFF2-40B4-BE49-F238E27FC236}">
                <a16:creationId xmlns:a16="http://schemas.microsoft.com/office/drawing/2014/main" id="{01F3F40D-89B7-4A59-A866-FAB4C6F6A2EC}"/>
              </a:ext>
            </a:extLst>
          </p:cNvPr>
          <p:cNvSpPr>
            <a:spLocks noChangeArrowheads="1"/>
          </p:cNvSpPr>
          <p:nvPr/>
        </p:nvSpPr>
        <p:spPr bwMode="auto">
          <a:xfrm>
            <a:off x="2806628" y="482295"/>
            <a:ext cx="1454150" cy="577850"/>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1" name="Oval 10">
            <a:extLst>
              <a:ext uri="{FF2B5EF4-FFF2-40B4-BE49-F238E27FC236}">
                <a16:creationId xmlns:a16="http://schemas.microsoft.com/office/drawing/2014/main" id="{A3CAC52E-3F5C-43EC-985F-3A8E2442333D}"/>
              </a:ext>
            </a:extLst>
          </p:cNvPr>
          <p:cNvSpPr>
            <a:spLocks noChangeArrowheads="1"/>
          </p:cNvSpPr>
          <p:nvPr/>
        </p:nvSpPr>
        <p:spPr bwMode="auto">
          <a:xfrm>
            <a:off x="2124003" y="1760232"/>
            <a:ext cx="1455737"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2" name="Oval 11">
            <a:extLst>
              <a:ext uri="{FF2B5EF4-FFF2-40B4-BE49-F238E27FC236}">
                <a16:creationId xmlns:a16="http://schemas.microsoft.com/office/drawing/2014/main" id="{B7F2262A-D207-4707-B7A6-80B1488380BC}"/>
              </a:ext>
            </a:extLst>
          </p:cNvPr>
          <p:cNvSpPr>
            <a:spLocks noChangeArrowheads="1"/>
          </p:cNvSpPr>
          <p:nvPr/>
        </p:nvSpPr>
        <p:spPr bwMode="auto">
          <a:xfrm>
            <a:off x="1007990" y="1504645"/>
            <a:ext cx="1455738"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3" name="Oval 12">
            <a:extLst>
              <a:ext uri="{FF2B5EF4-FFF2-40B4-BE49-F238E27FC236}">
                <a16:creationId xmlns:a16="http://schemas.microsoft.com/office/drawing/2014/main" id="{F8FCF481-8734-442A-9BC3-E050002C9562}"/>
              </a:ext>
            </a:extLst>
          </p:cNvPr>
          <p:cNvSpPr>
            <a:spLocks noChangeArrowheads="1"/>
          </p:cNvSpPr>
          <p:nvPr/>
        </p:nvSpPr>
        <p:spPr bwMode="auto">
          <a:xfrm>
            <a:off x="827015" y="2265057"/>
            <a:ext cx="1455738" cy="576263"/>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sp>
        <p:nvSpPr>
          <p:cNvPr id="14" name="Oval 13">
            <a:extLst>
              <a:ext uri="{FF2B5EF4-FFF2-40B4-BE49-F238E27FC236}">
                <a16:creationId xmlns:a16="http://schemas.microsoft.com/office/drawing/2014/main" id="{4B18F9A4-3AFC-43E3-BB51-62E44F89D6C9}"/>
              </a:ext>
            </a:extLst>
          </p:cNvPr>
          <p:cNvSpPr>
            <a:spLocks noChangeArrowheads="1"/>
          </p:cNvSpPr>
          <p:nvPr/>
        </p:nvSpPr>
        <p:spPr bwMode="auto">
          <a:xfrm>
            <a:off x="669853" y="987120"/>
            <a:ext cx="1454150" cy="576262"/>
          </a:xfrm>
          <a:prstGeom prst="ellipse">
            <a:avLst/>
          </a:prstGeom>
          <a:solidFill>
            <a:srgbClr val="B88472"/>
          </a:solidFill>
          <a:ln w="10000">
            <a:solidFill>
              <a:srgbClr val="B88472"/>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altLang="en-US" sz="1600" b="1">
                <a:solidFill>
                  <a:srgbClr val="FFFFFF"/>
                </a:solidFill>
                <a:cs typeface="Arial" charset="0"/>
              </a:rPr>
              <a:t>Sample</a:t>
            </a:r>
            <a:endParaRPr lang="en-US" altLang="en-US" sz="2000" b="1">
              <a:solidFill>
                <a:srgbClr val="FFFFFF"/>
              </a:solidFill>
              <a:cs typeface="Arial" charset="0"/>
            </a:endParaRPr>
          </a:p>
        </p:txBody>
      </p:sp>
      <p:cxnSp>
        <p:nvCxnSpPr>
          <p:cNvPr id="16" name="Straight Arrow Connector 15">
            <a:extLst>
              <a:ext uri="{FF2B5EF4-FFF2-40B4-BE49-F238E27FC236}">
                <a16:creationId xmlns:a16="http://schemas.microsoft.com/office/drawing/2014/main" id="{2E37D8B1-4BB4-456F-9414-1330E39052E3}"/>
              </a:ext>
            </a:extLst>
          </p:cNvPr>
          <p:cNvCxnSpPr/>
          <p:nvPr/>
        </p:nvCxnSpPr>
        <p:spPr>
          <a:xfrm>
            <a:off x="3800213" y="2841320"/>
            <a:ext cx="1879134" cy="2519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22D3AE-183F-4801-ABF0-31238D39963B}"/>
              </a:ext>
            </a:extLst>
          </p:cNvPr>
          <p:cNvCxnSpPr/>
          <p:nvPr/>
        </p:nvCxnSpPr>
        <p:spPr>
          <a:xfrm>
            <a:off x="1925565" y="2804807"/>
            <a:ext cx="3586002" cy="253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12A7C67-9D2A-4705-B211-02D11A36431E}"/>
              </a:ext>
            </a:extLst>
          </p:cNvPr>
          <p:cNvCxnSpPr/>
          <p:nvPr/>
        </p:nvCxnSpPr>
        <p:spPr>
          <a:xfrm>
            <a:off x="3456264" y="2139645"/>
            <a:ext cx="2894202" cy="322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A5F8B0A-8A11-491D-941B-1725A12557F7}"/>
              </a:ext>
            </a:extLst>
          </p:cNvPr>
          <p:cNvCxnSpPr>
            <a:stCxn id="8" idx="5"/>
          </p:cNvCxnSpPr>
          <p:nvPr/>
        </p:nvCxnSpPr>
        <p:spPr>
          <a:xfrm>
            <a:off x="4136490" y="1767915"/>
            <a:ext cx="3598160" cy="3575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5D73357-2194-4FDD-8120-152B855CD7F9}"/>
              </a:ext>
            </a:extLst>
          </p:cNvPr>
          <p:cNvCxnSpPr>
            <a:stCxn id="10" idx="5"/>
          </p:cNvCxnSpPr>
          <p:nvPr/>
        </p:nvCxnSpPr>
        <p:spPr>
          <a:xfrm>
            <a:off x="4047823" y="975521"/>
            <a:ext cx="2769242" cy="4385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8069BD6-D946-47F0-B927-E3575E4001F5}"/>
              </a:ext>
            </a:extLst>
          </p:cNvPr>
          <p:cNvSpPr txBox="1"/>
          <p:nvPr/>
        </p:nvSpPr>
        <p:spPr>
          <a:xfrm>
            <a:off x="1121516" y="3208032"/>
            <a:ext cx="5261056" cy="369332"/>
          </a:xfrm>
          <a:prstGeom prst="rect">
            <a:avLst/>
          </a:prstGeom>
          <a:noFill/>
        </p:spPr>
        <p:txBody>
          <a:bodyPr wrap="none" rtlCol="0">
            <a:spAutoFit/>
          </a:bodyPr>
          <a:lstStyle/>
          <a:p>
            <a:r>
              <a:rPr lang="en-US" b="1" dirty="0"/>
              <a:t>Calculate average number of hours for each sample</a:t>
            </a:r>
          </a:p>
        </p:txBody>
      </p:sp>
      <p:sp>
        <p:nvSpPr>
          <p:cNvPr id="26" name="TextBox 25">
            <a:extLst>
              <a:ext uri="{FF2B5EF4-FFF2-40B4-BE49-F238E27FC236}">
                <a16:creationId xmlns:a16="http://schemas.microsoft.com/office/drawing/2014/main" id="{3975816E-DF21-4EAE-AA4A-BAD92C815AC9}"/>
              </a:ext>
            </a:extLst>
          </p:cNvPr>
          <p:cNvSpPr txBox="1"/>
          <p:nvPr/>
        </p:nvSpPr>
        <p:spPr>
          <a:xfrm>
            <a:off x="393628" y="4664279"/>
            <a:ext cx="3867150" cy="646331"/>
          </a:xfrm>
          <a:prstGeom prst="rect">
            <a:avLst/>
          </a:prstGeom>
          <a:noFill/>
        </p:spPr>
        <p:txBody>
          <a:bodyPr wrap="square" rtlCol="0">
            <a:spAutoFit/>
          </a:bodyPr>
          <a:lstStyle/>
          <a:p>
            <a:r>
              <a:rPr lang="en-US" b="1" dirty="0">
                <a:solidFill>
                  <a:srgbClr val="FF0000"/>
                </a:solidFill>
              </a:rPr>
              <a:t>Q: What are the shape of the sampling distribution?</a:t>
            </a:r>
          </a:p>
        </p:txBody>
      </p:sp>
    </p:spTree>
    <p:extLst>
      <p:ext uri="{BB962C8B-B14F-4D97-AF65-F5344CB8AC3E}">
        <p14:creationId xmlns:p14="http://schemas.microsoft.com/office/powerpoint/2010/main" val="35373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1">
            <a:extLst>
              <a:ext uri="{FF2B5EF4-FFF2-40B4-BE49-F238E27FC236}">
                <a16:creationId xmlns:a16="http://schemas.microsoft.com/office/drawing/2014/main" id="{0860076D-B014-425F-B77D-958E001E7094}"/>
              </a:ext>
            </a:extLst>
          </p:cNvPr>
          <p:cNvSpPr>
            <a:spLocks noChangeArrowheads="1"/>
          </p:cNvSpPr>
          <p:nvPr/>
        </p:nvSpPr>
        <p:spPr bwMode="auto">
          <a:xfrm>
            <a:off x="463550" y="1046163"/>
            <a:ext cx="8229600"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2000" dirty="0">
                <a:solidFill>
                  <a:srgbClr val="000000"/>
                </a:solidFill>
              </a:rPr>
              <a:t>As </a:t>
            </a:r>
            <a:r>
              <a:rPr lang="en-US" altLang="en-US" sz="2000" i="1" dirty="0">
                <a:solidFill>
                  <a:srgbClr val="000000"/>
                </a:solidFill>
              </a:rPr>
              <a:t>the sample size increases, the distribution of sample means begins to look more and more like a Normal distribution! </a:t>
            </a:r>
            <a:endParaRPr lang="en-US" altLang="en-US" sz="2000" dirty="0">
              <a:solidFill>
                <a:srgbClr val="000000"/>
              </a:solidFill>
            </a:endParaRPr>
          </a:p>
          <a:p>
            <a:pPr eaLnBrk="1" hangingPunct="1">
              <a:spcBef>
                <a:spcPts val="600"/>
              </a:spcBef>
              <a:buFont typeface="Wingdings" panose="05000000000000000000" pitchFamily="2" charset="2"/>
              <a:buNone/>
            </a:pPr>
            <a:endParaRPr lang="en-US" altLang="en-US" sz="2000" dirty="0">
              <a:solidFill>
                <a:srgbClr val="000000"/>
              </a:solidFill>
            </a:endParaRPr>
          </a:p>
          <a:p>
            <a:pPr eaLnBrk="1" hangingPunct="1">
              <a:spcBef>
                <a:spcPts val="600"/>
              </a:spcBef>
              <a:buFont typeface="Wingdings" panose="05000000000000000000" pitchFamily="2" charset="2"/>
              <a:buNone/>
            </a:pPr>
            <a:r>
              <a:rPr lang="en-US" altLang="en-US" sz="2000" dirty="0">
                <a:solidFill>
                  <a:srgbClr val="000000"/>
                </a:solidFill>
              </a:rPr>
              <a:t>When the sample is large enough, the distribution of sample means is very close to Normal, </a:t>
            </a:r>
            <a:r>
              <a:rPr lang="en-US" altLang="en-US" sz="2000" i="1" dirty="0">
                <a:solidFill>
                  <a:srgbClr val="000000"/>
                </a:solidFill>
              </a:rPr>
              <a:t>no matter what shape the population distribution has, </a:t>
            </a:r>
            <a:r>
              <a:rPr lang="en-US" altLang="en-US" sz="2000" dirty="0">
                <a:solidFill>
                  <a:srgbClr val="000000"/>
                </a:solidFill>
              </a:rPr>
              <a:t>as long as the population has a finite standard deviation.</a:t>
            </a:r>
          </a:p>
          <a:p>
            <a:pPr eaLnBrk="1" hangingPunct="1">
              <a:buFont typeface="Wingdings" panose="05000000000000000000" pitchFamily="2" charset="2"/>
              <a:buNone/>
            </a:pPr>
            <a:endParaRPr lang="en-US" altLang="en-US" sz="3600" dirty="0">
              <a:solidFill>
                <a:srgbClr val="000000"/>
              </a:solidFill>
            </a:endParaRPr>
          </a:p>
        </p:txBody>
      </p:sp>
      <p:grpSp>
        <p:nvGrpSpPr>
          <p:cNvPr id="2" name="Group 2">
            <a:extLst>
              <a:ext uri="{FF2B5EF4-FFF2-40B4-BE49-F238E27FC236}">
                <a16:creationId xmlns:a16="http://schemas.microsoft.com/office/drawing/2014/main" id="{94FC4969-0325-4431-942A-2D46C2D568C2}"/>
              </a:ext>
            </a:extLst>
          </p:cNvPr>
          <p:cNvGrpSpPr>
            <a:grpSpLocks/>
          </p:cNvGrpSpPr>
          <p:nvPr/>
        </p:nvGrpSpPr>
        <p:grpSpPr bwMode="auto">
          <a:xfrm>
            <a:off x="331251" y="3613082"/>
            <a:ext cx="8286397" cy="2122487"/>
            <a:chOff x="685800" y="4611104"/>
            <a:chExt cx="7981921" cy="2123658"/>
          </a:xfrm>
        </p:grpSpPr>
        <p:sp>
          <p:nvSpPr>
            <p:cNvPr id="9" name="TextBox 8">
              <a:extLst>
                <a:ext uri="{FF2B5EF4-FFF2-40B4-BE49-F238E27FC236}">
                  <a16:creationId xmlns:a16="http://schemas.microsoft.com/office/drawing/2014/main" id="{686F80F8-9B5C-4744-A657-02AFD54CC685}"/>
                </a:ext>
              </a:extLst>
            </p:cNvPr>
            <p:cNvSpPr txBox="1">
              <a:spLocks noChangeArrowheads="1"/>
            </p:cNvSpPr>
            <p:nvPr/>
          </p:nvSpPr>
          <p:spPr bwMode="auto">
            <a:xfrm>
              <a:off x="685800" y="4611104"/>
              <a:ext cx="7981921" cy="2123658"/>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a:p>
              <a:pPr eaLnBrk="1" hangingPunct="1">
                <a:defRPr/>
              </a:pPr>
              <a:endParaRPr lang="en-US" altLang="en-US" sz="600" b="1" u="sng">
                <a:solidFill>
                  <a:srgbClr val="E81F30"/>
                </a:solidFill>
              </a:endParaRPr>
            </a:p>
          </p:txBody>
        </p:sp>
        <mc:AlternateContent xmlns:mc="http://schemas.openxmlformats.org/markup-compatibility/2006" xmlns:a14="http://schemas.microsoft.com/office/drawing/2010/main">
          <mc:Choice Requires="a14">
            <p:sp>
              <p:nvSpPr>
                <p:cNvPr id="33799" name="Object 2">
                  <a:extLst>
                    <a:ext uri="{FF2B5EF4-FFF2-40B4-BE49-F238E27FC236}">
                      <a16:creationId xmlns:a16="http://schemas.microsoft.com/office/drawing/2014/main" id="{2FC46553-96E2-4E57-887E-BB2219CFB32A}"/>
                    </a:ext>
                  </a:extLst>
                </p:cNvPr>
                <p:cNvSpPr txBox="1"/>
                <p:nvPr/>
              </p:nvSpPr>
              <p:spPr bwMode="auto">
                <a:xfrm>
                  <a:off x="686317" y="4657235"/>
                  <a:ext cx="7980731" cy="2014061"/>
                </a:xfrm>
                <a:prstGeom prst="rect">
                  <a:avLst/>
                </a:prstGeom>
                <a:noFill/>
                <a:ln>
                  <a:noFill/>
                </a:ln>
              </p:spPr>
              <p:txBody>
                <a:bodyPr>
                  <a:normAutofit fontScale="92500"/>
                </a:bodyPr>
                <a:lstStyle/>
                <a:p>
                  <a:pPr algn="ctr"/>
                  <a14:m>
                    <m:oMathPara xmlns:m="http://schemas.openxmlformats.org/officeDocument/2006/math">
                      <m:oMathParaPr>
                        <m:jc m:val="left"/>
                      </m:oMathParaPr>
                      <m:oMath xmlns:m="http://schemas.openxmlformats.org/officeDocument/2006/math">
                        <m:r>
                          <m:rPr>
                            <m:nor/>
                          </m:rPr>
                          <a:rPr lang="en-US" i="0" smtClean="0">
                            <a:solidFill>
                              <a:srgbClr val="000000"/>
                            </a:solidFill>
                            <a:latin typeface="Cambria Math" panose="02040503050406030204" pitchFamily="18" charset="0"/>
                          </a:rPr>
                          <m:t>Draw</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a</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simple</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random</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sample</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of</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size</m:t>
                        </m:r>
                        <m:r>
                          <m:rPr>
                            <m:nor/>
                          </m:rPr>
                          <a:rPr lang="en-US" i="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𝑛</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from</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any</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population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with</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mean</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𝜇</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finite</m:t>
                        </m:r>
                      </m:oMath>
                      <m:oMath xmlns:m="http://schemas.openxmlformats.org/officeDocument/2006/math">
                        <m:r>
                          <m:rPr>
                            <m:nor/>
                          </m:rPr>
                          <a:rPr lang="en-US" i="0">
                            <a:solidFill>
                              <a:srgbClr val="000000"/>
                            </a:solidFill>
                            <a:latin typeface="Cambria Math" panose="02040503050406030204" pitchFamily="18" charset="0"/>
                          </a:rPr>
                          <m:t>standard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deviation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central</m:t>
                        </m:r>
                        <m:r>
                          <a:rPr lang="en-US" i="1">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limit</m:t>
                        </m:r>
                        <m:r>
                          <a:rPr lang="en-US" i="1">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theorem</m:t>
                        </m:r>
                        <m:r>
                          <a:rPr lang="en-US" i="1">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CLT</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says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that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when</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𝑛</m:t>
                        </m:r>
                      </m:oMath>
                      <m:oMath xmlns:m="http://schemas.openxmlformats.org/officeDocument/2006/math">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large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sampling</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distribution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mean</m:t>
                        </m:r>
                        <m:r>
                          <m:rPr>
                            <m:nor/>
                          </m:rPr>
                          <a:rPr lang="en-US" b="0" i="0" smtClean="0">
                            <a:solidFill>
                              <a:srgbClr val="000000"/>
                            </a:solidFill>
                            <a:latin typeface="Cambria Math" panose="02040503050406030204" pitchFamily="18" charset="0"/>
                          </a:rPr>
                          <m:t> </m:t>
                        </m:r>
                        <m:acc>
                          <m:accPr>
                            <m:chr m:val="̅"/>
                            <m:ctrlPr>
                              <a:rPr lang="en-US" altLang="en-US" i="1">
                                <a:solidFill>
                                  <a:srgbClr val="000000"/>
                                </a:solidFill>
                                <a:latin typeface="Cambria Math" panose="02040503050406030204" pitchFamily="18" charset="0"/>
                              </a:rPr>
                            </m:ctrlPr>
                          </m:accPr>
                          <m:e>
                            <m:r>
                              <a:rPr lang="en-US" altLang="en-US" i="1">
                                <a:solidFill>
                                  <a:srgbClr val="000000"/>
                                </a:solidFill>
                                <a:latin typeface="Cambria Math" panose="02040503050406030204" pitchFamily="18" charset="0"/>
                              </a:rPr>
                              <m:t>𝑦</m:t>
                            </m:r>
                          </m:e>
                        </m:acc>
                        <m:r>
                          <m:rPr>
                            <m:nor/>
                          </m:rPr>
                          <a:rPr lang="en-US" altLang="en-US" b="0" i="0" smtClean="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approximately</m:t>
                        </m:r>
                      </m:oMath>
                      <m:oMath xmlns:m="http://schemas.openxmlformats.org/officeDocument/2006/math">
                        <m:r>
                          <m:rPr>
                            <m:nor/>
                          </m:rPr>
                          <a:rPr lang="en-US" i="0">
                            <a:solidFill>
                              <a:srgbClr val="000000"/>
                            </a:solidFill>
                            <a:latin typeface="Cambria Math" panose="02040503050406030204" pitchFamily="18" charset="0"/>
                          </a:rPr>
                          <m:t>Normal</m:t>
                        </m:r>
                        <m:r>
                          <m:rPr>
                            <m:nor/>
                          </m:rPr>
                          <a:rPr lang="en-US" i="0">
                            <a:solidFill>
                              <a:srgbClr val="000000"/>
                            </a:solidFill>
                            <a:latin typeface="Cambria Math" panose="02040503050406030204" pitchFamily="18" charset="0"/>
                          </a:rPr>
                          <m:t>:</m:t>
                        </m:r>
                      </m:oMath>
                    </m:oMathPara>
                  </a14:m>
                  <a:br>
                    <a:rPr lang="en-US" i="0" dirty="0">
                      <a:solidFill>
                        <a:srgbClr val="000000"/>
                      </a:solidFill>
                      <a:latin typeface="Cambria Math" panose="02040503050406030204" pitchFamily="18" charset="0"/>
                    </a:rPr>
                  </a:br>
                  <a:r>
                    <a:rPr lang="en-US" i="0" dirty="0">
                      <a:solidFill>
                        <a:srgbClr val="000000"/>
                      </a:solidFill>
                      <a:latin typeface="Cambria Math" panose="02040503050406030204" pitchFamily="18" charset="0"/>
                    </a:rPr>
                    <a:t> </a:t>
                  </a:r>
                  <a14:m>
                    <m:oMath xmlns:m="http://schemas.openxmlformats.org/officeDocument/2006/math">
                      <m:r>
                        <a:rPr lang="en-US" b="0" i="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𝑁</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𝜇</m:t>
                          </m:r>
                          <m:r>
                            <a:rPr lang="en-US" i="1">
                              <a:solidFill>
                                <a:srgbClr val="000000"/>
                              </a:solidFill>
                              <a:latin typeface="Cambria Math" panose="02040503050406030204" pitchFamily="18" charset="0"/>
                            </a:rPr>
                            <m:t>,</m:t>
                          </m:r>
                          <m:rad>
                            <m:radPr>
                              <m:degHide m:val="on"/>
                              <m:ctrlPr>
                                <a:rPr lang="en-US" altLang="en-US" i="1">
                                  <a:solidFill>
                                    <a:srgbClr val="000000"/>
                                  </a:solidFill>
                                  <a:latin typeface="Cambria Math" panose="02040503050406030204" pitchFamily="18" charset="0"/>
                                </a:rPr>
                              </m:ctrlPr>
                            </m:radPr>
                            <m:deg/>
                            <m:e>
                              <m:r>
                                <a:rPr lang="en-US" altLang="en-US" i="1">
                                  <a:solidFill>
                                    <a:srgbClr val="000000"/>
                                  </a:solidFill>
                                  <a:latin typeface="Cambria Math" panose="02040503050406030204" pitchFamily="18" charset="0"/>
                                </a:rPr>
                                <m:t>(1−</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𝑛</m:t>
                                  </m:r>
                                </m:num>
                                <m:den>
                                  <m:r>
                                    <a:rPr lang="en-US" altLang="en-US" i="1">
                                      <a:solidFill>
                                        <a:srgbClr val="000000"/>
                                      </a:solidFill>
                                      <a:latin typeface="Cambria Math" panose="02040503050406030204" pitchFamily="18" charset="0"/>
                                    </a:rPr>
                                    <m:t>𝑁</m:t>
                                  </m:r>
                                </m:den>
                              </m:f>
                              <m:r>
                                <a:rPr lang="en-US" altLang="en-US" i="1">
                                  <a:solidFill>
                                    <a:srgbClr val="000000"/>
                                  </a:solidFill>
                                  <a:latin typeface="Cambria Math" panose="02040503050406030204" pitchFamily="18" charset="0"/>
                                </a:rPr>
                                <m:t>)</m:t>
                              </m:r>
                              <m:f>
                                <m:fPr>
                                  <m:ctrlPr>
                                    <a:rPr lang="en-US" altLang="en-US" i="1">
                                      <a:solidFill>
                                        <a:srgbClr val="000000"/>
                                      </a:solidFill>
                                      <a:latin typeface="Cambria Math" panose="02040503050406030204" pitchFamily="18" charset="0"/>
                                    </a:rPr>
                                  </m:ctrlPr>
                                </m:fPr>
                                <m:num>
                                  <m:sSup>
                                    <m:sSupPr>
                                      <m:ctrlPr>
                                        <a:rPr lang="en-US" altLang="en-US" i="1">
                                          <a:solidFill>
                                            <a:srgbClr val="000000"/>
                                          </a:solidFill>
                                          <a:latin typeface="Cambria Math" panose="02040503050406030204" pitchFamily="18" charset="0"/>
                                        </a:rPr>
                                      </m:ctrlPr>
                                    </m:sSupPr>
                                    <m:e>
                                      <m:r>
                                        <a:rPr lang="en-US" altLang="en-US" i="1">
                                          <a:solidFill>
                                            <a:srgbClr val="000000"/>
                                          </a:solidFill>
                                          <a:latin typeface="Cambria Math" panose="02040503050406030204" pitchFamily="18" charset="0"/>
                                        </a:rPr>
                                        <m:t>𝑠</m:t>
                                      </m:r>
                                    </m:e>
                                    <m:sup>
                                      <m:r>
                                        <a:rPr lang="en-US" altLang="en-US" i="1">
                                          <a:solidFill>
                                            <a:srgbClr val="000000"/>
                                          </a:solidFill>
                                          <a:latin typeface="Cambria Math" panose="02040503050406030204" pitchFamily="18" charset="0"/>
                                        </a:rPr>
                                        <m:t>2</m:t>
                                      </m:r>
                                    </m:sup>
                                  </m:sSup>
                                </m:num>
                                <m:den>
                                  <m:r>
                                    <a:rPr lang="en-US" altLang="en-US" i="1">
                                      <a:solidFill>
                                        <a:srgbClr val="000000"/>
                                      </a:solidFill>
                                      <a:latin typeface="Cambria Math" panose="02040503050406030204" pitchFamily="18" charset="0"/>
                                    </a:rPr>
                                    <m:t>𝑛</m:t>
                                  </m:r>
                                </m:den>
                              </m:f>
                            </m:e>
                          </m:rad>
                        </m:e>
                      </m:d>
                    </m:oMath>
                  </a14:m>
                  <a:endParaRPr lang="en-US" i="0" dirty="0">
                    <a:solidFill>
                      <a:srgbClr val="000000"/>
                    </a:solidFill>
                    <a:latin typeface="Cambria Math" panose="02040503050406030204" pitchFamily="18" charset="0"/>
                  </a:endParaRPr>
                </a:p>
                <a:p>
                  <a:pPr algn="ctr"/>
                  <a:endParaRPr lang="en-US" dirty="0"/>
                </a:p>
              </p:txBody>
            </p:sp>
          </mc:Choice>
          <mc:Fallback xmlns="">
            <p:sp>
              <p:nvSpPr>
                <p:cNvPr id="33799" name="Object 2">
                  <a:extLst>
                    <a:ext uri="{FF2B5EF4-FFF2-40B4-BE49-F238E27FC236}">
                      <a16:creationId xmlns:a16="http://schemas.microsoft.com/office/drawing/2014/main" id="{2FC46553-96E2-4E57-887E-BB2219CFB32A}"/>
                    </a:ext>
                  </a:extLst>
                </p:cNvPr>
                <p:cNvSpPr txBox="1">
                  <a:spLocks noRot="1" noChangeAspect="1" noMove="1" noResize="1" noEditPoints="1" noAdjustHandles="1" noChangeArrowheads="1" noChangeShapeType="1" noTextEdit="1"/>
                </p:cNvSpPr>
                <p:nvPr/>
              </p:nvSpPr>
              <p:spPr bwMode="auto">
                <a:xfrm>
                  <a:off x="686317" y="4657235"/>
                  <a:ext cx="7980731" cy="2014061"/>
                </a:xfrm>
                <a:prstGeom prst="rect">
                  <a:avLst/>
                </a:prstGeom>
                <a:blipFill>
                  <a:blip r:embed="rId2"/>
                  <a:stretch>
                    <a:fillRect/>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17932875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2" end="2"/>
                                            </p:txEl>
                                          </p:spTgt>
                                        </p:tgtEl>
                                        <p:attrNameLst>
                                          <p:attrName>style.visibility</p:attrName>
                                        </p:attrNameLst>
                                      </p:cBhvr>
                                      <p:to>
                                        <p:strVal val="visible"/>
                                      </p:to>
                                    </p:set>
                                    <p:animEffect transition="in" filter="fade">
                                      <p:cBhvr>
                                        <p:cTn id="12" dur="500"/>
                                        <p:tgtEl>
                                          <p:spTgt spid="276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5"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24200" y="6356354"/>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p:cNvSpPr>
            <a:spLocks noGrp="1"/>
          </p:cNvSpPr>
          <p:nvPr>
            <p:ph type="sldNum" sz="quarter" idx="12"/>
          </p:nvPr>
        </p:nvSpPr>
        <p:spPr>
          <a:xfrm>
            <a:off x="6553200" y="635635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3DE4CB-9E13-45EA-8201-D4366572BB13}" type="slidenum">
              <a:rPr lang="en-US" smtClean="0"/>
              <a:pPr/>
              <a:t>37</a:t>
            </a:fld>
            <a:endParaRPr lang="en-US"/>
          </a:p>
        </p:txBody>
      </p:sp>
      <p:sp>
        <p:nvSpPr>
          <p:cNvPr id="4" name="TextBox 3"/>
          <p:cNvSpPr txBox="1"/>
          <p:nvPr/>
        </p:nvSpPr>
        <p:spPr>
          <a:xfrm>
            <a:off x="3809612" y="1679331"/>
            <a:ext cx="1524776" cy="923330"/>
          </a:xfrm>
          <a:prstGeom prst="rect">
            <a:avLst/>
          </a:prstGeom>
          <a:noFill/>
        </p:spPr>
        <p:txBody>
          <a:bodyPr wrap="none" rtlCol="0">
            <a:spAutoFit/>
          </a:bodyPr>
          <a:lstStyle/>
          <a:p>
            <a:r>
              <a:rPr lang="en-US" dirty="0"/>
              <a:t>An illustration</a:t>
            </a:r>
          </a:p>
          <a:p>
            <a:endParaRPr lang="en-US" dirty="0"/>
          </a:p>
          <a:p>
            <a:endParaRPr lang="en-US" dirty="0"/>
          </a:p>
        </p:txBody>
      </p:sp>
      <p:sp>
        <p:nvSpPr>
          <p:cNvPr id="6" name="Rectangle 5"/>
          <p:cNvSpPr/>
          <p:nvPr/>
        </p:nvSpPr>
        <p:spPr>
          <a:xfrm>
            <a:off x="2373923" y="2602661"/>
            <a:ext cx="4853354" cy="369332"/>
          </a:xfrm>
          <a:prstGeom prst="rect">
            <a:avLst/>
          </a:prstGeom>
        </p:spPr>
        <p:txBody>
          <a:bodyPr wrap="square">
            <a:spAutoFit/>
          </a:bodyPr>
          <a:lstStyle/>
          <a:p>
            <a:r>
              <a:rPr lang="en-US" u="sng" dirty="0">
                <a:solidFill>
                  <a:srgbClr val="0000FF"/>
                </a:solidFill>
                <a:latin typeface="Times New Roman" panose="02020603050405020304" pitchFamily="18" charset="0"/>
                <a:ea typeface="Times New Roman" panose="02020603050405020304" pitchFamily="18" charset="0"/>
                <a:hlinkClick r:id="rId2"/>
              </a:rPr>
              <a:t>http://onlinestatbook.com/stat_sim/sampling_dist/</a:t>
            </a:r>
            <a:endParaRPr lang="en-US" dirty="0"/>
          </a:p>
        </p:txBody>
      </p:sp>
    </p:spTree>
    <p:extLst>
      <p:ext uri="{BB962C8B-B14F-4D97-AF65-F5344CB8AC3E}">
        <p14:creationId xmlns:p14="http://schemas.microsoft.com/office/powerpoint/2010/main" val="23103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EFB91-848F-4F55-B5D5-321BB96B48C2}"/>
              </a:ext>
            </a:extLst>
          </p:cNvPr>
          <p:cNvSpPr>
            <a:spLocks noGrp="1"/>
          </p:cNvSpPr>
          <p:nvPr>
            <p:ph type="title"/>
          </p:nvPr>
        </p:nvSpPr>
        <p:spPr/>
        <p:txBody>
          <a:bodyPr/>
          <a:lstStyle/>
          <a:p>
            <a:r>
              <a:rPr lang="en-US" dirty="0"/>
              <a:t>Confidence Intervals</a:t>
            </a:r>
          </a:p>
        </p:txBody>
      </p:sp>
      <p:sp>
        <p:nvSpPr>
          <p:cNvPr id="3" name="Content Placeholder 2">
            <a:extLst>
              <a:ext uri="{FF2B5EF4-FFF2-40B4-BE49-F238E27FC236}">
                <a16:creationId xmlns:a16="http://schemas.microsoft.com/office/drawing/2014/main" id="{31FAC469-D9B9-FA96-CFAC-BCBF74D82A5C}"/>
              </a:ext>
            </a:extLst>
          </p:cNvPr>
          <p:cNvSpPr>
            <a:spLocks noGrp="1"/>
          </p:cNvSpPr>
          <p:nvPr>
            <p:ph idx="1"/>
          </p:nvPr>
        </p:nvSpPr>
        <p:spPr/>
        <p:txBody>
          <a:bodyPr/>
          <a:lstStyle/>
          <a:p>
            <a:r>
              <a:rPr lang="en-US" dirty="0"/>
              <a:t>large-sample 100(1 − α) % CI for the population mean can be calculated as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098C33-9A31-DECE-4D63-CAB28482447D}"/>
                  </a:ext>
                </a:extLst>
              </p:cNvPr>
              <p:cNvSpPr txBox="1"/>
              <p:nvPr/>
            </p:nvSpPr>
            <p:spPr>
              <a:xfrm>
                <a:off x="2418878" y="2977402"/>
                <a:ext cx="4306243" cy="903196"/>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acc>
                            <m:accPr>
                              <m:chr m:val="̅"/>
                              <m:ctrlPr>
                                <a:rPr lang="en-US" altLang="en-US" i="1">
                                  <a:solidFill>
                                    <a:srgbClr val="000000"/>
                                  </a:solidFill>
                                  <a:latin typeface="Cambria Math" panose="02040503050406030204" pitchFamily="18" charset="0"/>
                                </a:rPr>
                              </m:ctrlPr>
                            </m:accPr>
                            <m:e>
                              <m:r>
                                <a:rPr lang="en-US" altLang="en-US" i="1">
                                  <a:solidFill>
                                    <a:srgbClr val="000000"/>
                                  </a:solidFill>
                                  <a:latin typeface="Cambria Math" panose="02040503050406030204" pitchFamily="18" charset="0"/>
                                </a:rPr>
                                <m:t>𝑦</m:t>
                              </m:r>
                            </m:e>
                          </m:acc>
                          <m:r>
                            <a:rPr lang="en-US" altLang="en-US" i="1">
                              <a:solidFill>
                                <a:srgbClr val="000000"/>
                              </a:solidFill>
                              <a:latin typeface="Cambria Math" panose="02040503050406030204" pitchFamily="18" charset="0"/>
                            </a:rPr>
                            <m:t>−</m:t>
                          </m:r>
                          <m:sSub>
                            <m:sSubPr>
                              <m:ctrlPr>
                                <a:rPr lang="en-US" altLang="en-US" i="1">
                                  <a:solidFill>
                                    <a:srgbClr val="000000"/>
                                  </a:solidFill>
                                  <a:latin typeface="Cambria Math" panose="02040503050406030204" pitchFamily="18" charset="0"/>
                                </a:rPr>
                              </m:ctrlPr>
                            </m:sSubPr>
                            <m:e>
                              <m:r>
                                <a:rPr lang="en-US" altLang="en-US" i="1">
                                  <a:solidFill>
                                    <a:srgbClr val="000000"/>
                                  </a:solidFill>
                                  <a:latin typeface="Cambria Math" panose="02040503050406030204" pitchFamily="18" charset="0"/>
                                </a:rPr>
                                <m:t>𝑧</m:t>
                              </m:r>
                            </m:e>
                            <m:sub>
                              <m:f>
                                <m:fPr>
                                  <m:ctrlPr>
                                    <a:rPr lang="en-US" altLang="en-US" i="1">
                                      <a:solidFill>
                                        <a:srgbClr val="000000"/>
                                      </a:solidFill>
                                      <a:latin typeface="Cambria Math" panose="02040503050406030204" pitchFamily="18" charset="0"/>
                                      <a:ea typeface="Cambria Math" panose="02040503050406030204" pitchFamily="18" charset="0"/>
                                    </a:rPr>
                                  </m:ctrlPr>
                                </m:fPr>
                                <m:num>
                                  <m:r>
                                    <a:rPr lang="en-US" altLang="en-US" i="1">
                                      <a:solidFill>
                                        <a:srgbClr val="000000"/>
                                      </a:solidFill>
                                      <a:latin typeface="Cambria Math" panose="02040503050406030204" pitchFamily="18" charset="0"/>
                                      <a:ea typeface="Cambria Math" panose="02040503050406030204" pitchFamily="18" charset="0"/>
                                    </a:rPr>
                                    <m:t>𝛼</m:t>
                                  </m:r>
                                </m:num>
                                <m:den>
                                  <m:r>
                                    <a:rPr lang="en-US" altLang="en-US" i="1">
                                      <a:solidFill>
                                        <a:srgbClr val="000000"/>
                                      </a:solidFill>
                                      <a:latin typeface="Cambria Math" panose="02040503050406030204" pitchFamily="18" charset="0"/>
                                      <a:ea typeface="Cambria Math" panose="02040503050406030204" pitchFamily="18" charset="0"/>
                                    </a:rPr>
                                    <m:t>2</m:t>
                                  </m:r>
                                </m:den>
                              </m:f>
                            </m:sub>
                          </m:sSub>
                          <m:rad>
                            <m:radPr>
                              <m:degHide m:val="on"/>
                              <m:ctrlPr>
                                <a:rPr lang="en-US" altLang="en-US" i="1">
                                  <a:solidFill>
                                    <a:srgbClr val="000000"/>
                                  </a:solidFill>
                                  <a:latin typeface="Cambria Math" panose="02040503050406030204" pitchFamily="18" charset="0"/>
                                </a:rPr>
                              </m:ctrlPr>
                            </m:radPr>
                            <m:deg/>
                            <m:e>
                              <m:d>
                                <m:dPr>
                                  <m:ctrlPr>
                                    <a:rPr lang="en-US" altLang="en-US" i="1">
                                      <a:solidFill>
                                        <a:srgbClr val="000000"/>
                                      </a:solidFill>
                                      <a:latin typeface="Cambria Math" panose="02040503050406030204" pitchFamily="18" charset="0"/>
                                    </a:rPr>
                                  </m:ctrlPr>
                                </m:dPr>
                                <m:e>
                                  <m:r>
                                    <a:rPr lang="en-US" altLang="en-US" i="1">
                                      <a:solidFill>
                                        <a:srgbClr val="000000"/>
                                      </a:solidFill>
                                      <a:latin typeface="Cambria Math" panose="02040503050406030204" pitchFamily="18" charset="0"/>
                                    </a:rPr>
                                    <m:t>1−</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𝑛</m:t>
                                      </m:r>
                                    </m:num>
                                    <m:den>
                                      <m:r>
                                        <a:rPr lang="en-US" altLang="en-US" i="1">
                                          <a:solidFill>
                                            <a:srgbClr val="000000"/>
                                          </a:solidFill>
                                          <a:latin typeface="Cambria Math" panose="02040503050406030204" pitchFamily="18" charset="0"/>
                                        </a:rPr>
                                        <m:t>𝑁</m:t>
                                      </m:r>
                                    </m:den>
                                  </m:f>
                                </m:e>
                              </m:d>
                              <m:f>
                                <m:fPr>
                                  <m:ctrlPr>
                                    <a:rPr lang="en-US" altLang="en-US" i="1">
                                      <a:solidFill>
                                        <a:srgbClr val="000000"/>
                                      </a:solidFill>
                                      <a:latin typeface="Cambria Math" panose="02040503050406030204" pitchFamily="18" charset="0"/>
                                    </a:rPr>
                                  </m:ctrlPr>
                                </m:fPr>
                                <m:num>
                                  <m:sSup>
                                    <m:sSupPr>
                                      <m:ctrlPr>
                                        <a:rPr lang="en-US" altLang="en-US" i="1">
                                          <a:solidFill>
                                            <a:srgbClr val="000000"/>
                                          </a:solidFill>
                                          <a:latin typeface="Cambria Math" panose="02040503050406030204" pitchFamily="18" charset="0"/>
                                        </a:rPr>
                                      </m:ctrlPr>
                                    </m:sSupPr>
                                    <m:e>
                                      <m:r>
                                        <a:rPr lang="en-US" altLang="en-US" b="0" i="1" smtClean="0">
                                          <a:solidFill>
                                            <a:srgbClr val="000000"/>
                                          </a:solidFill>
                                          <a:latin typeface="Cambria Math" panose="02040503050406030204" pitchFamily="18" charset="0"/>
                                        </a:rPr>
                                        <m:t>𝑆</m:t>
                                      </m:r>
                                    </m:e>
                                    <m:sup>
                                      <m:r>
                                        <a:rPr lang="en-US" altLang="en-US" i="1">
                                          <a:solidFill>
                                            <a:srgbClr val="000000"/>
                                          </a:solidFill>
                                          <a:latin typeface="Cambria Math" panose="02040503050406030204" pitchFamily="18" charset="0"/>
                                        </a:rPr>
                                        <m:t>2</m:t>
                                      </m:r>
                                    </m:sup>
                                  </m:sSup>
                                </m:num>
                                <m:den>
                                  <m:r>
                                    <a:rPr lang="en-US" altLang="en-US" i="1">
                                      <a:solidFill>
                                        <a:srgbClr val="000000"/>
                                      </a:solidFill>
                                      <a:latin typeface="Cambria Math" panose="02040503050406030204" pitchFamily="18" charset="0"/>
                                    </a:rPr>
                                    <m:t>𝑛</m:t>
                                  </m:r>
                                </m:den>
                              </m:f>
                            </m:e>
                          </m:rad>
                          <m:r>
                            <a:rPr lang="en-US" altLang="en-US" b="0" i="1" smtClean="0">
                              <a:solidFill>
                                <a:srgbClr val="000000"/>
                              </a:solidFill>
                              <a:latin typeface="Cambria Math" panose="02040503050406030204" pitchFamily="18" charset="0"/>
                            </a:rPr>
                            <m:t>,</m:t>
                          </m:r>
                          <m:acc>
                            <m:accPr>
                              <m:chr m:val="̅"/>
                              <m:ctrlPr>
                                <a:rPr lang="en-US" altLang="en-US" i="1">
                                  <a:solidFill>
                                    <a:srgbClr val="000000"/>
                                  </a:solidFill>
                                  <a:latin typeface="Cambria Math" panose="02040503050406030204" pitchFamily="18" charset="0"/>
                                </a:rPr>
                              </m:ctrlPr>
                            </m:accPr>
                            <m:e>
                              <m:r>
                                <a:rPr lang="en-US" altLang="en-US" i="1">
                                  <a:solidFill>
                                    <a:srgbClr val="000000"/>
                                  </a:solidFill>
                                  <a:latin typeface="Cambria Math" panose="02040503050406030204" pitchFamily="18" charset="0"/>
                                </a:rPr>
                                <m:t>𝑦</m:t>
                              </m:r>
                            </m:e>
                          </m:acc>
                          <m:r>
                            <a:rPr lang="en-US" altLang="en-US" b="0" i="1" smtClean="0">
                              <a:solidFill>
                                <a:srgbClr val="000000"/>
                              </a:solidFill>
                              <a:latin typeface="Cambria Math" panose="02040503050406030204" pitchFamily="18" charset="0"/>
                            </a:rPr>
                            <m:t>+</m:t>
                          </m:r>
                          <m:sSub>
                            <m:sSubPr>
                              <m:ctrlPr>
                                <a:rPr lang="en-US" altLang="en-US" i="1">
                                  <a:solidFill>
                                    <a:srgbClr val="000000"/>
                                  </a:solidFill>
                                  <a:latin typeface="Cambria Math" panose="02040503050406030204" pitchFamily="18" charset="0"/>
                                </a:rPr>
                              </m:ctrlPr>
                            </m:sSubPr>
                            <m:e>
                              <m:r>
                                <a:rPr lang="en-US" altLang="en-US" i="1">
                                  <a:solidFill>
                                    <a:srgbClr val="000000"/>
                                  </a:solidFill>
                                  <a:latin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𝛼</m:t>
                              </m:r>
                              <m:r>
                                <a:rPr lang="en-US" altLang="en-US" i="1">
                                  <a:solidFill>
                                    <a:srgbClr val="000000"/>
                                  </a:solidFill>
                                  <a:latin typeface="Cambria Math" panose="02040503050406030204" pitchFamily="18" charset="0"/>
                                  <a:ea typeface="Cambria Math" panose="02040503050406030204" pitchFamily="18" charset="0"/>
                                </a:rPr>
                                <m:t>/2</m:t>
                              </m:r>
                            </m:sub>
                          </m:sSub>
                          <m:rad>
                            <m:radPr>
                              <m:degHide m:val="on"/>
                              <m:ctrlPr>
                                <a:rPr lang="en-US" altLang="en-US" i="1">
                                  <a:solidFill>
                                    <a:srgbClr val="000000"/>
                                  </a:solidFill>
                                  <a:latin typeface="Cambria Math" panose="02040503050406030204" pitchFamily="18" charset="0"/>
                                </a:rPr>
                              </m:ctrlPr>
                            </m:radPr>
                            <m:deg/>
                            <m:e>
                              <m:r>
                                <a:rPr lang="en-US" altLang="en-US" i="1">
                                  <a:solidFill>
                                    <a:srgbClr val="000000"/>
                                  </a:solidFill>
                                  <a:latin typeface="Cambria Math" panose="02040503050406030204" pitchFamily="18" charset="0"/>
                                </a:rPr>
                                <m:t>(1−</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𝑛</m:t>
                                  </m:r>
                                </m:num>
                                <m:den>
                                  <m:r>
                                    <a:rPr lang="en-US" altLang="en-US" i="1">
                                      <a:solidFill>
                                        <a:srgbClr val="000000"/>
                                      </a:solidFill>
                                      <a:latin typeface="Cambria Math" panose="02040503050406030204" pitchFamily="18" charset="0"/>
                                    </a:rPr>
                                    <m:t>𝑁</m:t>
                                  </m:r>
                                </m:den>
                              </m:f>
                              <m:r>
                                <a:rPr lang="en-US" altLang="en-US" i="1">
                                  <a:solidFill>
                                    <a:srgbClr val="000000"/>
                                  </a:solidFill>
                                  <a:latin typeface="Cambria Math" panose="02040503050406030204" pitchFamily="18" charset="0"/>
                                </a:rPr>
                                <m:t>)</m:t>
                              </m:r>
                              <m:f>
                                <m:fPr>
                                  <m:ctrlPr>
                                    <a:rPr lang="en-US" altLang="en-US" i="1">
                                      <a:solidFill>
                                        <a:srgbClr val="000000"/>
                                      </a:solidFill>
                                      <a:latin typeface="Cambria Math" panose="02040503050406030204" pitchFamily="18" charset="0"/>
                                    </a:rPr>
                                  </m:ctrlPr>
                                </m:fPr>
                                <m:num>
                                  <m:sSup>
                                    <m:sSupPr>
                                      <m:ctrlPr>
                                        <a:rPr lang="en-US" altLang="en-US" i="1">
                                          <a:solidFill>
                                            <a:srgbClr val="000000"/>
                                          </a:solidFill>
                                          <a:latin typeface="Cambria Math" panose="02040503050406030204" pitchFamily="18" charset="0"/>
                                        </a:rPr>
                                      </m:ctrlPr>
                                    </m:sSupPr>
                                    <m:e>
                                      <m:r>
                                        <a:rPr lang="en-US" altLang="en-US" b="0" i="1" smtClean="0">
                                          <a:solidFill>
                                            <a:srgbClr val="000000"/>
                                          </a:solidFill>
                                          <a:latin typeface="Cambria Math" panose="02040503050406030204" pitchFamily="18" charset="0"/>
                                        </a:rPr>
                                        <m:t>𝑆</m:t>
                                      </m:r>
                                    </m:e>
                                    <m:sup>
                                      <m:r>
                                        <a:rPr lang="en-US" altLang="en-US" i="1">
                                          <a:solidFill>
                                            <a:srgbClr val="000000"/>
                                          </a:solidFill>
                                          <a:latin typeface="Cambria Math" panose="02040503050406030204" pitchFamily="18" charset="0"/>
                                        </a:rPr>
                                        <m:t>2</m:t>
                                      </m:r>
                                    </m:sup>
                                  </m:sSup>
                                </m:num>
                                <m:den>
                                  <m:r>
                                    <a:rPr lang="en-US" altLang="en-US" i="1">
                                      <a:solidFill>
                                        <a:srgbClr val="000000"/>
                                      </a:solidFill>
                                      <a:latin typeface="Cambria Math" panose="02040503050406030204" pitchFamily="18" charset="0"/>
                                    </a:rPr>
                                    <m:t>𝑛</m:t>
                                  </m:r>
                                </m:den>
                              </m:f>
                            </m:e>
                          </m:rad>
                        </m:e>
                      </m:d>
                    </m:oMath>
                  </m:oMathPara>
                </a14:m>
                <a:endParaRPr lang="en-US" dirty="0"/>
              </a:p>
            </p:txBody>
          </p:sp>
        </mc:Choice>
        <mc:Fallback xmlns="">
          <p:sp>
            <p:nvSpPr>
              <p:cNvPr id="6" name="TextBox 5">
                <a:extLst>
                  <a:ext uri="{FF2B5EF4-FFF2-40B4-BE49-F238E27FC236}">
                    <a16:creationId xmlns:a16="http://schemas.microsoft.com/office/drawing/2014/main" id="{E8098C33-9A31-DECE-4D63-CAB28482447D}"/>
                  </a:ext>
                </a:extLst>
              </p:cNvPr>
              <p:cNvSpPr txBox="1">
                <a:spLocks noRot="1" noChangeAspect="1" noMove="1" noResize="1" noEditPoints="1" noAdjustHandles="1" noChangeArrowheads="1" noChangeShapeType="1" noTextEdit="1"/>
              </p:cNvSpPr>
              <p:nvPr/>
            </p:nvSpPr>
            <p:spPr>
              <a:xfrm>
                <a:off x="2418878" y="2977402"/>
                <a:ext cx="4306243" cy="90319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0D67C1-C6AB-BD2D-7536-3D19FF182D59}"/>
                  </a:ext>
                </a:extLst>
              </p:cNvPr>
              <p:cNvSpPr txBox="1"/>
              <p:nvPr/>
            </p:nvSpPr>
            <p:spPr>
              <a:xfrm>
                <a:off x="1182914" y="4133467"/>
                <a:ext cx="7275286" cy="1779333"/>
              </a:xfrm>
              <a:prstGeom prst="rect">
                <a:avLst/>
              </a:prstGeom>
              <a:noFill/>
            </p:spPr>
            <p:txBody>
              <a:bodyPr wrap="square">
                <a:spAutoFit/>
              </a:bodyPr>
              <a:lstStyle/>
              <a:p>
                <a:r>
                  <a:rPr lang="en-US" sz="2400" dirty="0">
                    <a:solidFill>
                      <a:srgbClr val="595959"/>
                    </a:solidFill>
                    <a:latin typeface="+mn-lt"/>
                  </a:rPr>
                  <a:t>where </a:t>
                </a:r>
                <a14:m>
                  <m:oMath xmlns:m="http://schemas.openxmlformats.org/officeDocument/2006/math">
                    <m:sSub>
                      <m:sSubPr>
                        <m:ctrlPr>
                          <a:rPr lang="en-US" altLang="en-US" sz="2400" i="1">
                            <a:solidFill>
                              <a:srgbClr val="595959"/>
                            </a:solidFill>
                            <a:latin typeface="Cambria Math" panose="02040503050406030204" pitchFamily="18" charset="0"/>
                          </a:rPr>
                        </m:ctrlPr>
                      </m:sSubPr>
                      <m:e>
                        <m:r>
                          <a:rPr lang="en-US" altLang="en-US" sz="2400">
                            <a:solidFill>
                              <a:srgbClr val="595959"/>
                            </a:solidFill>
                            <a:latin typeface="Cambria Math" panose="02040503050406030204" pitchFamily="18" charset="0"/>
                          </a:rPr>
                          <m:t>𝑧</m:t>
                        </m:r>
                      </m:e>
                      <m:sub>
                        <m:f>
                          <m:fPr>
                            <m:ctrlPr>
                              <a:rPr lang="en-US" altLang="en-US" sz="2400" i="1">
                                <a:solidFill>
                                  <a:srgbClr val="595959"/>
                                </a:solidFill>
                                <a:latin typeface="Cambria Math" panose="02040503050406030204" pitchFamily="18" charset="0"/>
                              </a:rPr>
                            </m:ctrlPr>
                          </m:fPr>
                          <m:num>
                            <m:r>
                              <a:rPr lang="en-US" altLang="en-US" sz="2400">
                                <a:solidFill>
                                  <a:srgbClr val="595959"/>
                                </a:solidFill>
                                <a:latin typeface="Cambria Math" panose="02040503050406030204" pitchFamily="18" charset="0"/>
                              </a:rPr>
                              <m:t>𝛼</m:t>
                            </m:r>
                          </m:num>
                          <m:den>
                            <m:r>
                              <a:rPr lang="en-US" altLang="en-US" sz="2400">
                                <a:solidFill>
                                  <a:srgbClr val="595959"/>
                                </a:solidFill>
                                <a:latin typeface="Cambria Math" panose="02040503050406030204" pitchFamily="18" charset="0"/>
                              </a:rPr>
                              <m:t>2</m:t>
                            </m:r>
                          </m:den>
                        </m:f>
                      </m:sub>
                    </m:sSub>
                  </m:oMath>
                </a14:m>
                <a:r>
                  <a:rPr lang="en-US" sz="2400" dirty="0">
                    <a:solidFill>
                      <a:srgbClr val="595959"/>
                    </a:solidFill>
                    <a:latin typeface="+mn-lt"/>
                  </a:rPr>
                  <a:t> is the (1 − α/2)</a:t>
                </a:r>
                <a:r>
                  <a:rPr lang="en-US" sz="2400" dirty="0" err="1">
                    <a:solidFill>
                      <a:srgbClr val="595959"/>
                    </a:solidFill>
                    <a:latin typeface="+mn-lt"/>
                  </a:rPr>
                  <a:t>th</a:t>
                </a:r>
                <a:r>
                  <a:rPr lang="en-US" sz="2400" dirty="0">
                    <a:solidFill>
                      <a:srgbClr val="595959"/>
                    </a:solidFill>
                    <a:latin typeface="+mn-lt"/>
                  </a:rPr>
                  <a:t> percentile of the standard normal distribution. </a:t>
                </a:r>
              </a:p>
              <a:p>
                <a:endParaRPr lang="en-US" sz="1400" dirty="0">
                  <a:solidFill>
                    <a:srgbClr val="595959"/>
                  </a:solidFill>
                  <a:latin typeface="+mn-lt"/>
                </a:endParaRPr>
              </a:p>
              <a:p>
                <a:r>
                  <a:rPr lang="en-US" sz="1400" dirty="0">
                    <a:solidFill>
                      <a:srgbClr val="595959"/>
                    </a:solidFill>
                    <a:latin typeface="+mn-lt"/>
                  </a:rPr>
                  <a:t>                     </a:t>
                </a:r>
              </a:p>
              <a:p>
                <a:r>
                  <a:rPr lang="en-US" sz="2400" dirty="0">
                    <a:solidFill>
                      <a:srgbClr val="595959"/>
                    </a:solidFill>
                    <a:latin typeface="+mn-lt"/>
                  </a:rPr>
                  <a:t>                       is called margin of error.</a:t>
                </a:r>
              </a:p>
            </p:txBody>
          </p:sp>
        </mc:Choice>
        <mc:Fallback xmlns="">
          <p:sp>
            <p:nvSpPr>
              <p:cNvPr id="8" name="TextBox 7">
                <a:extLst>
                  <a:ext uri="{FF2B5EF4-FFF2-40B4-BE49-F238E27FC236}">
                    <a16:creationId xmlns:a16="http://schemas.microsoft.com/office/drawing/2014/main" id="{330D67C1-C6AB-BD2D-7536-3D19FF182D59}"/>
                  </a:ext>
                </a:extLst>
              </p:cNvPr>
              <p:cNvSpPr txBox="1">
                <a:spLocks noRot="1" noChangeAspect="1" noMove="1" noResize="1" noEditPoints="1" noAdjustHandles="1" noChangeArrowheads="1" noChangeShapeType="1" noTextEdit="1"/>
              </p:cNvSpPr>
              <p:nvPr/>
            </p:nvSpPr>
            <p:spPr>
              <a:xfrm>
                <a:off x="1182914" y="4133467"/>
                <a:ext cx="7275286" cy="1779333"/>
              </a:xfrm>
              <a:prstGeom prst="rect">
                <a:avLst/>
              </a:prstGeom>
              <a:blipFill>
                <a:blip r:embed="rId3"/>
                <a:stretch>
                  <a:fillRect l="-1394" t="-2837" r="-1568" b="-63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309AE2-F311-6138-BBCE-38BAA7F38BBA}"/>
                  </a:ext>
                </a:extLst>
              </p:cNvPr>
              <p:cNvSpPr txBox="1"/>
              <p:nvPr/>
            </p:nvSpPr>
            <p:spPr>
              <a:xfrm>
                <a:off x="-51692" y="5134037"/>
                <a:ext cx="4572000"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en-US" i="1" smtClean="0">
                              <a:solidFill>
                                <a:srgbClr val="000000"/>
                              </a:solidFill>
                              <a:latin typeface="Cambria Math" panose="02040503050406030204" pitchFamily="18" charset="0"/>
                            </a:rPr>
                          </m:ctrlPr>
                        </m:sSubPr>
                        <m:e>
                          <m:r>
                            <a:rPr lang="en-US" altLang="en-US" i="1">
                              <a:solidFill>
                                <a:srgbClr val="000000"/>
                              </a:solidFill>
                              <a:latin typeface="Cambria Math" panose="02040503050406030204" pitchFamily="18" charset="0"/>
                            </a:rPr>
                            <m:t>𝑧</m:t>
                          </m:r>
                        </m:e>
                        <m:sub>
                          <m:f>
                            <m:fPr>
                              <m:ctrlPr>
                                <a:rPr lang="en-US" altLang="en-US" i="1">
                                  <a:solidFill>
                                    <a:srgbClr val="000000"/>
                                  </a:solidFill>
                                  <a:latin typeface="Cambria Math" panose="02040503050406030204" pitchFamily="18" charset="0"/>
                                  <a:ea typeface="Cambria Math" panose="02040503050406030204" pitchFamily="18" charset="0"/>
                                </a:rPr>
                              </m:ctrlPr>
                            </m:fPr>
                            <m:num>
                              <m:r>
                                <a:rPr lang="en-US" altLang="en-US" i="1">
                                  <a:solidFill>
                                    <a:srgbClr val="000000"/>
                                  </a:solidFill>
                                  <a:latin typeface="Cambria Math" panose="02040503050406030204" pitchFamily="18" charset="0"/>
                                  <a:ea typeface="Cambria Math" panose="02040503050406030204" pitchFamily="18" charset="0"/>
                                </a:rPr>
                                <m:t>𝛼</m:t>
                              </m:r>
                            </m:num>
                            <m:den>
                              <m:r>
                                <a:rPr lang="en-US" altLang="en-US" i="1">
                                  <a:solidFill>
                                    <a:srgbClr val="000000"/>
                                  </a:solidFill>
                                  <a:latin typeface="Cambria Math" panose="02040503050406030204" pitchFamily="18" charset="0"/>
                                  <a:ea typeface="Cambria Math" panose="02040503050406030204" pitchFamily="18" charset="0"/>
                                </a:rPr>
                                <m:t>2</m:t>
                              </m:r>
                            </m:den>
                          </m:f>
                        </m:sub>
                      </m:sSub>
                      <m:rad>
                        <m:radPr>
                          <m:degHide m:val="on"/>
                          <m:ctrlPr>
                            <a:rPr lang="en-US" altLang="en-US" i="1">
                              <a:solidFill>
                                <a:srgbClr val="000000"/>
                              </a:solidFill>
                              <a:latin typeface="Cambria Math" panose="02040503050406030204" pitchFamily="18" charset="0"/>
                            </a:rPr>
                          </m:ctrlPr>
                        </m:radPr>
                        <m:deg/>
                        <m:e>
                          <m:d>
                            <m:dPr>
                              <m:ctrlPr>
                                <a:rPr lang="en-US" altLang="en-US" i="1">
                                  <a:solidFill>
                                    <a:srgbClr val="000000"/>
                                  </a:solidFill>
                                  <a:latin typeface="Cambria Math" panose="02040503050406030204" pitchFamily="18" charset="0"/>
                                </a:rPr>
                              </m:ctrlPr>
                            </m:dPr>
                            <m:e>
                              <m:r>
                                <a:rPr lang="en-US" altLang="en-US" i="1">
                                  <a:solidFill>
                                    <a:srgbClr val="000000"/>
                                  </a:solidFill>
                                  <a:latin typeface="Cambria Math" panose="02040503050406030204" pitchFamily="18" charset="0"/>
                                </a:rPr>
                                <m:t>1−</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𝑛</m:t>
                                  </m:r>
                                </m:num>
                                <m:den>
                                  <m:r>
                                    <a:rPr lang="en-US" altLang="en-US" i="1">
                                      <a:solidFill>
                                        <a:srgbClr val="000000"/>
                                      </a:solidFill>
                                      <a:latin typeface="Cambria Math" panose="02040503050406030204" pitchFamily="18" charset="0"/>
                                    </a:rPr>
                                    <m:t>𝑁</m:t>
                                  </m:r>
                                </m:den>
                              </m:f>
                            </m:e>
                          </m:d>
                          <m:f>
                            <m:fPr>
                              <m:ctrlPr>
                                <a:rPr lang="en-US" altLang="en-US" i="1">
                                  <a:solidFill>
                                    <a:srgbClr val="000000"/>
                                  </a:solidFill>
                                  <a:latin typeface="Cambria Math" panose="02040503050406030204" pitchFamily="18" charset="0"/>
                                </a:rPr>
                              </m:ctrlPr>
                            </m:fPr>
                            <m:num>
                              <m:sSup>
                                <m:sSupPr>
                                  <m:ctrlPr>
                                    <a:rPr lang="en-US" altLang="en-US" i="1">
                                      <a:solidFill>
                                        <a:srgbClr val="000000"/>
                                      </a:solidFill>
                                      <a:latin typeface="Cambria Math" panose="02040503050406030204" pitchFamily="18" charset="0"/>
                                    </a:rPr>
                                  </m:ctrlPr>
                                </m:sSupPr>
                                <m:e>
                                  <m:r>
                                    <a:rPr lang="en-US" altLang="en-US" b="0" i="1" smtClean="0">
                                      <a:solidFill>
                                        <a:srgbClr val="000000"/>
                                      </a:solidFill>
                                      <a:latin typeface="Cambria Math" panose="02040503050406030204" pitchFamily="18" charset="0"/>
                                    </a:rPr>
                                    <m:t>𝑆</m:t>
                                  </m:r>
                                </m:e>
                                <m:sup>
                                  <m:r>
                                    <a:rPr lang="en-US" altLang="en-US" i="1">
                                      <a:solidFill>
                                        <a:srgbClr val="000000"/>
                                      </a:solidFill>
                                      <a:latin typeface="Cambria Math" panose="02040503050406030204" pitchFamily="18" charset="0"/>
                                    </a:rPr>
                                    <m:t>2</m:t>
                                  </m:r>
                                </m:sup>
                              </m:sSup>
                            </m:num>
                            <m:den>
                              <m:r>
                                <a:rPr lang="en-US" altLang="en-US" i="1">
                                  <a:solidFill>
                                    <a:srgbClr val="000000"/>
                                  </a:solidFill>
                                  <a:latin typeface="Cambria Math" panose="02040503050406030204" pitchFamily="18" charset="0"/>
                                </a:rPr>
                                <m:t>𝑛</m:t>
                              </m:r>
                            </m:den>
                          </m:f>
                        </m:e>
                      </m:rad>
                    </m:oMath>
                  </m:oMathPara>
                </a14:m>
                <a:endParaRPr lang="en-US" dirty="0"/>
              </a:p>
            </p:txBody>
          </p:sp>
        </mc:Choice>
        <mc:Fallback xmlns="">
          <p:sp>
            <p:nvSpPr>
              <p:cNvPr id="5" name="TextBox 4">
                <a:extLst>
                  <a:ext uri="{FF2B5EF4-FFF2-40B4-BE49-F238E27FC236}">
                    <a16:creationId xmlns:a16="http://schemas.microsoft.com/office/drawing/2014/main" id="{4B309AE2-F311-6138-BBCE-38BAA7F38BBA}"/>
                  </a:ext>
                </a:extLst>
              </p:cNvPr>
              <p:cNvSpPr txBox="1">
                <a:spLocks noRot="1" noChangeAspect="1" noMove="1" noResize="1" noEditPoints="1" noAdjustHandles="1" noChangeArrowheads="1" noChangeShapeType="1" noTextEdit="1"/>
              </p:cNvSpPr>
              <p:nvPr/>
            </p:nvSpPr>
            <p:spPr>
              <a:xfrm>
                <a:off x="-51692" y="5134037"/>
                <a:ext cx="4572000" cy="91069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24398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D7F31-081E-6F7D-C04C-F883F95F64F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A17FB82-0BC3-CBED-E764-DD218591A01B}"/>
              </a:ext>
            </a:extLst>
          </p:cNvPr>
          <p:cNvSpPr>
            <a:spLocks noGrp="1"/>
          </p:cNvSpPr>
          <p:nvPr>
            <p:ph idx="1"/>
          </p:nvPr>
        </p:nvSpPr>
        <p:spPr/>
        <p:txBody>
          <a:bodyPr/>
          <a:lstStyle/>
          <a:p>
            <a:pPr algn="l"/>
            <a:r>
              <a:rPr lang="en-US" b="0" i="0" u="none" strike="noStrike" dirty="0">
                <a:solidFill>
                  <a:srgbClr val="000000"/>
                </a:solidFill>
                <a:effectLst/>
              </a:rPr>
              <a:t>In a Pew Research Center political survey conducted in 2023, 1,500 U.S. adults were polled about their approval of the president’s job performance. The survey reported that 52% of respondents approved of the president's performance, with a </a:t>
            </a:r>
            <a:r>
              <a:rPr lang="en-US" b="1" i="0" u="none" strike="noStrike" dirty="0">
                <a:solidFill>
                  <a:srgbClr val="000000"/>
                </a:solidFill>
                <a:effectLst/>
              </a:rPr>
              <a:t>margin of error</a:t>
            </a:r>
            <a:r>
              <a:rPr lang="en-US" b="0" i="0" u="none" strike="noStrike" dirty="0">
                <a:solidFill>
                  <a:srgbClr val="000000"/>
                </a:solidFill>
                <a:effectLst/>
              </a:rPr>
              <a:t> of </a:t>
            </a:r>
            <a:r>
              <a:rPr lang="en-US" b="1" i="0" u="none" strike="noStrike" dirty="0">
                <a:solidFill>
                  <a:srgbClr val="000000"/>
                </a:solidFill>
                <a:effectLst/>
              </a:rPr>
              <a:t>3 percentage points</a:t>
            </a:r>
            <a:r>
              <a:rPr lang="en-US" b="0" i="0" u="none" strike="noStrike" dirty="0">
                <a:solidFill>
                  <a:srgbClr val="000000"/>
                </a:solidFill>
                <a:effectLst/>
              </a:rPr>
              <a:t> at the </a:t>
            </a:r>
            <a:r>
              <a:rPr lang="en-US" b="1" i="0" u="none" strike="noStrike" dirty="0">
                <a:solidFill>
                  <a:srgbClr val="000000"/>
                </a:solidFill>
                <a:effectLst/>
              </a:rPr>
              <a:t>95% confidence level</a:t>
            </a:r>
            <a:r>
              <a:rPr lang="en-US" b="0" i="0" u="none" strike="noStrike" dirty="0">
                <a:solidFill>
                  <a:srgbClr val="000000"/>
                </a:solidFill>
                <a:effectLst/>
              </a:rPr>
              <a:t>. </a:t>
            </a:r>
          </a:p>
          <a:p>
            <a:pPr algn="l"/>
            <a:r>
              <a:rPr lang="en-US" b="0" i="0" u="none" strike="noStrike" dirty="0">
                <a:solidFill>
                  <a:srgbClr val="000000"/>
                </a:solidFill>
                <a:effectLst/>
              </a:rPr>
              <a:t>This means the true approval rating for the president in the general population could range from </a:t>
            </a:r>
            <a:r>
              <a:rPr lang="en-US" b="1" i="0" u="none" strike="noStrike" dirty="0">
                <a:solidFill>
                  <a:srgbClr val="000000"/>
                </a:solidFill>
                <a:effectLst/>
              </a:rPr>
              <a:t>_____ to _______</a:t>
            </a:r>
            <a:r>
              <a:rPr lang="en-US" b="0" i="0" u="none" strike="noStrike" dirty="0">
                <a:solidFill>
                  <a:srgbClr val="000000"/>
                </a:solidFill>
                <a:effectLst/>
              </a:rPr>
              <a:t>.</a:t>
            </a:r>
          </a:p>
          <a:p>
            <a:endParaRPr lang="en-US" dirty="0"/>
          </a:p>
        </p:txBody>
      </p:sp>
    </p:spTree>
    <p:extLst>
      <p:ext uri="{BB962C8B-B14F-4D97-AF65-F5344CB8AC3E}">
        <p14:creationId xmlns:p14="http://schemas.microsoft.com/office/powerpoint/2010/main" val="3290710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18E3-EE60-9941-0463-085D7B53806A}"/>
              </a:ext>
            </a:extLst>
          </p:cNvPr>
          <p:cNvSpPr>
            <a:spLocks noGrp="1"/>
          </p:cNvSpPr>
          <p:nvPr>
            <p:ph type="title"/>
          </p:nvPr>
        </p:nvSpPr>
        <p:spPr/>
        <p:txBody>
          <a:bodyPr/>
          <a:lstStyle/>
          <a:p>
            <a:r>
              <a:rPr lang="en-US" dirty="0"/>
              <a:t>Determining sample size</a:t>
            </a:r>
          </a:p>
        </p:txBody>
      </p:sp>
      <p:sp>
        <p:nvSpPr>
          <p:cNvPr id="3" name="Content Placeholder 2">
            <a:extLst>
              <a:ext uri="{FF2B5EF4-FFF2-40B4-BE49-F238E27FC236}">
                <a16:creationId xmlns:a16="http://schemas.microsoft.com/office/drawing/2014/main" id="{2F908990-8627-E680-8FF5-009FE76AC83E}"/>
              </a:ext>
            </a:extLst>
          </p:cNvPr>
          <p:cNvSpPr>
            <a:spLocks noGrp="1"/>
          </p:cNvSpPr>
          <p:nvPr>
            <p:ph idx="1"/>
          </p:nvPr>
        </p:nvSpPr>
        <p:spPr/>
        <p:txBody>
          <a:bodyPr/>
          <a:lstStyle/>
          <a:p>
            <a:r>
              <a:rPr lang="en-US" dirty="0"/>
              <a:t>Specify the tolerable error</a:t>
            </a:r>
          </a:p>
          <a:p>
            <a:endParaRPr lang="en-US" dirty="0"/>
          </a:p>
          <a:p>
            <a:endParaRPr lang="en-US" dirty="0"/>
          </a:p>
          <a:p>
            <a:r>
              <a:rPr lang="en-US" i="1" dirty="0"/>
              <a:t>e</a:t>
            </a:r>
            <a:r>
              <a:rPr lang="en-US" dirty="0"/>
              <a:t> is the </a:t>
            </a:r>
            <a:r>
              <a:rPr lang="en-US" b="1" dirty="0"/>
              <a:t>margin of error</a:t>
            </a:r>
            <a:r>
              <a:rPr lang="en-US" dirty="0"/>
              <a:t>. </a:t>
            </a:r>
          </a:p>
          <a:p>
            <a:r>
              <a:rPr lang="en-US" dirty="0"/>
              <a:t>Again, the margin of error is one-half of the width of a CI.</a:t>
            </a:r>
          </a:p>
          <a:p>
            <a:endParaRPr lang="en-US" dirty="0"/>
          </a:p>
          <a:p>
            <a:endParaRPr lang="en-US" dirty="0"/>
          </a:p>
        </p:txBody>
      </p:sp>
      <p:pic>
        <p:nvPicPr>
          <p:cNvPr id="5" name="Picture 4">
            <a:extLst>
              <a:ext uri="{FF2B5EF4-FFF2-40B4-BE49-F238E27FC236}">
                <a16:creationId xmlns:a16="http://schemas.microsoft.com/office/drawing/2014/main" id="{44795C50-E100-A804-AD99-4C57B2517DAC}"/>
              </a:ext>
            </a:extLst>
          </p:cNvPr>
          <p:cNvPicPr>
            <a:picLocks noChangeAspect="1"/>
          </p:cNvPicPr>
          <p:nvPr/>
        </p:nvPicPr>
        <p:blipFill>
          <a:blip r:embed="rId3"/>
          <a:stretch>
            <a:fillRect/>
          </a:stretch>
        </p:blipFill>
        <p:spPr>
          <a:xfrm>
            <a:off x="2576276" y="2456050"/>
            <a:ext cx="3381847" cy="55252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56AE14-D61D-A315-A4A0-F69F43F0B905}"/>
                  </a:ext>
                </a:extLst>
              </p:cNvPr>
              <p:cNvSpPr txBox="1"/>
              <p:nvPr/>
            </p:nvSpPr>
            <p:spPr>
              <a:xfrm>
                <a:off x="1981199" y="4306991"/>
                <a:ext cx="4572000"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en-US"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𝑒</m:t>
                          </m:r>
                          <m:r>
                            <a:rPr lang="en-US" altLang="en-US" b="0" i="1" smtClean="0">
                              <a:solidFill>
                                <a:srgbClr val="000000"/>
                              </a:solidFill>
                              <a:latin typeface="Cambria Math" panose="02040503050406030204" pitchFamily="18" charset="0"/>
                            </a:rPr>
                            <m:t>=</m:t>
                          </m:r>
                          <m:r>
                            <a:rPr lang="en-US" altLang="en-US" i="1">
                              <a:solidFill>
                                <a:srgbClr val="000000"/>
                              </a:solidFill>
                              <a:latin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𝛼</m:t>
                          </m:r>
                          <m:r>
                            <a:rPr lang="en-US" altLang="en-US" i="1">
                              <a:solidFill>
                                <a:srgbClr val="000000"/>
                              </a:solidFill>
                              <a:latin typeface="Cambria Math" panose="02040503050406030204" pitchFamily="18" charset="0"/>
                              <a:ea typeface="Cambria Math" panose="02040503050406030204" pitchFamily="18" charset="0"/>
                            </a:rPr>
                            <m:t>/2</m:t>
                          </m:r>
                        </m:sub>
                      </m:sSub>
                      <m:rad>
                        <m:radPr>
                          <m:degHide m:val="on"/>
                          <m:ctrlPr>
                            <a:rPr lang="en-US" altLang="en-US" i="1">
                              <a:solidFill>
                                <a:srgbClr val="000000"/>
                              </a:solidFill>
                              <a:latin typeface="Cambria Math" panose="02040503050406030204" pitchFamily="18" charset="0"/>
                            </a:rPr>
                          </m:ctrlPr>
                        </m:radPr>
                        <m:deg/>
                        <m:e>
                          <m:r>
                            <a:rPr lang="en-US" altLang="en-US" i="1">
                              <a:solidFill>
                                <a:srgbClr val="000000"/>
                              </a:solidFill>
                              <a:latin typeface="Cambria Math" panose="02040503050406030204" pitchFamily="18" charset="0"/>
                            </a:rPr>
                            <m:t>(1−</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𝑛</m:t>
                              </m:r>
                            </m:num>
                            <m:den>
                              <m:r>
                                <a:rPr lang="en-US" altLang="en-US" i="1">
                                  <a:solidFill>
                                    <a:srgbClr val="000000"/>
                                  </a:solidFill>
                                  <a:latin typeface="Cambria Math" panose="02040503050406030204" pitchFamily="18" charset="0"/>
                                </a:rPr>
                                <m:t>𝑁</m:t>
                              </m:r>
                            </m:den>
                          </m:f>
                          <m:r>
                            <a:rPr lang="en-US" altLang="en-US" i="1">
                              <a:solidFill>
                                <a:srgbClr val="000000"/>
                              </a:solidFill>
                              <a:latin typeface="Cambria Math" panose="02040503050406030204" pitchFamily="18" charset="0"/>
                            </a:rPr>
                            <m:t>)</m:t>
                          </m:r>
                          <m:f>
                            <m:fPr>
                              <m:ctrlPr>
                                <a:rPr lang="en-US" altLang="en-US" i="1">
                                  <a:solidFill>
                                    <a:srgbClr val="000000"/>
                                  </a:solidFill>
                                  <a:latin typeface="Cambria Math" panose="02040503050406030204" pitchFamily="18" charset="0"/>
                                </a:rPr>
                              </m:ctrlPr>
                            </m:fPr>
                            <m:num>
                              <m:sSup>
                                <m:sSupPr>
                                  <m:ctrlPr>
                                    <a:rPr lang="en-US" altLang="en-US" i="1">
                                      <a:solidFill>
                                        <a:srgbClr val="000000"/>
                                      </a:solidFill>
                                      <a:latin typeface="Cambria Math" panose="02040503050406030204" pitchFamily="18" charset="0"/>
                                    </a:rPr>
                                  </m:ctrlPr>
                                </m:sSupPr>
                                <m:e>
                                  <m:r>
                                    <a:rPr lang="en-US" altLang="en-US" b="0" i="1" smtClean="0">
                                      <a:solidFill>
                                        <a:srgbClr val="000000"/>
                                      </a:solidFill>
                                      <a:latin typeface="Cambria Math" panose="02040503050406030204" pitchFamily="18" charset="0"/>
                                    </a:rPr>
                                    <m:t>𝑆</m:t>
                                  </m:r>
                                </m:e>
                                <m:sup>
                                  <m:r>
                                    <a:rPr lang="en-US" altLang="en-US" i="1">
                                      <a:solidFill>
                                        <a:srgbClr val="000000"/>
                                      </a:solidFill>
                                      <a:latin typeface="Cambria Math" panose="02040503050406030204" pitchFamily="18" charset="0"/>
                                    </a:rPr>
                                    <m:t>2</m:t>
                                  </m:r>
                                </m:sup>
                              </m:sSup>
                            </m:num>
                            <m:den>
                              <m:r>
                                <a:rPr lang="en-US" altLang="en-US" i="1">
                                  <a:solidFill>
                                    <a:srgbClr val="000000"/>
                                  </a:solidFill>
                                  <a:latin typeface="Cambria Math" panose="02040503050406030204" pitchFamily="18" charset="0"/>
                                </a:rPr>
                                <m:t>𝑛</m:t>
                              </m:r>
                            </m:den>
                          </m:f>
                        </m:e>
                      </m:rad>
                    </m:oMath>
                  </m:oMathPara>
                </a14:m>
                <a:endParaRPr lang="en-US" dirty="0"/>
              </a:p>
            </p:txBody>
          </p:sp>
        </mc:Choice>
        <mc:Fallback xmlns="">
          <p:sp>
            <p:nvSpPr>
              <p:cNvPr id="7" name="TextBox 6">
                <a:extLst>
                  <a:ext uri="{FF2B5EF4-FFF2-40B4-BE49-F238E27FC236}">
                    <a16:creationId xmlns:a16="http://schemas.microsoft.com/office/drawing/2014/main" id="{E056AE14-D61D-A315-A4A0-F69F43F0B905}"/>
                  </a:ext>
                </a:extLst>
              </p:cNvPr>
              <p:cNvSpPr txBox="1">
                <a:spLocks noRot="1" noChangeAspect="1" noMove="1" noResize="1" noEditPoints="1" noAdjustHandles="1" noChangeArrowheads="1" noChangeShapeType="1" noTextEdit="1"/>
              </p:cNvSpPr>
              <p:nvPr/>
            </p:nvSpPr>
            <p:spPr>
              <a:xfrm>
                <a:off x="1981199" y="4306991"/>
                <a:ext cx="4572000" cy="91069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0611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18E3-EE60-9941-0463-085D7B53806A}"/>
              </a:ext>
            </a:extLst>
          </p:cNvPr>
          <p:cNvSpPr>
            <a:spLocks noGrp="1"/>
          </p:cNvSpPr>
          <p:nvPr>
            <p:ph type="title"/>
          </p:nvPr>
        </p:nvSpPr>
        <p:spPr/>
        <p:txBody>
          <a:bodyPr/>
          <a:lstStyle/>
          <a:p>
            <a:r>
              <a:rPr lang="en-US" dirty="0"/>
              <a:t>Determining sample size</a:t>
            </a:r>
          </a:p>
        </p:txBody>
      </p:sp>
      <p:sp>
        <p:nvSpPr>
          <p:cNvPr id="3" name="Content Placeholder 2">
            <a:extLst>
              <a:ext uri="{FF2B5EF4-FFF2-40B4-BE49-F238E27FC236}">
                <a16:creationId xmlns:a16="http://schemas.microsoft.com/office/drawing/2014/main" id="{2F908990-8627-E680-8FF5-009FE76AC83E}"/>
              </a:ext>
            </a:extLst>
          </p:cNvPr>
          <p:cNvSpPr>
            <a:spLocks noGrp="1"/>
          </p:cNvSpPr>
          <p:nvPr>
            <p:ph idx="1"/>
          </p:nvPr>
        </p:nvSpPr>
        <p:spPr/>
        <p:txBody>
          <a:bodyPr/>
          <a:lstStyle/>
          <a:p>
            <a:r>
              <a:rPr lang="en-US" dirty="0"/>
              <a:t>When N is very large, we can ignore the </a:t>
            </a:r>
            <a:r>
              <a:rPr lang="en-US" dirty="0" err="1"/>
              <a:t>fpc</a:t>
            </a:r>
            <a:r>
              <a:rPr lang="en-US" dirty="0"/>
              <a:t> term and thus</a:t>
            </a:r>
          </a:p>
          <a:p>
            <a:endParaRPr lang="en-US" dirty="0"/>
          </a:p>
          <a:p>
            <a:endParaRPr lang="en-US" dirty="0"/>
          </a:p>
          <a:p>
            <a:endParaRPr lang="en-US" dirty="0"/>
          </a:p>
          <a:p>
            <a:r>
              <a:rPr lang="en-US" dirty="0"/>
              <a:t>If we cannot ignore </a:t>
            </a:r>
            <a:r>
              <a:rPr lang="en-US" dirty="0" err="1"/>
              <a:t>fpc</a:t>
            </a:r>
            <a:r>
              <a:rPr lang="en-US" dirty="0"/>
              <a:t>, the sample size is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56AE14-D61D-A315-A4A0-F69F43F0B905}"/>
                  </a:ext>
                </a:extLst>
              </p:cNvPr>
              <p:cNvSpPr txBox="1"/>
              <p:nvPr/>
            </p:nvSpPr>
            <p:spPr>
              <a:xfrm>
                <a:off x="2286000" y="2748621"/>
                <a:ext cx="4572000" cy="7693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i="1" smtClean="0">
                          <a:solidFill>
                            <a:srgbClr val="000000"/>
                          </a:solidFill>
                          <a:latin typeface="Cambria Math" panose="02040503050406030204" pitchFamily="18" charset="0"/>
                        </a:rPr>
                        <m:t>𝑛</m:t>
                      </m:r>
                      <m:r>
                        <a:rPr lang="en-US" altLang="en-US" i="1" smtClean="0">
                          <a:solidFill>
                            <a:srgbClr val="000000"/>
                          </a:solidFill>
                          <a:latin typeface="Cambria Math" panose="02040503050406030204" pitchFamily="18" charset="0"/>
                        </a:rPr>
                        <m:t>=</m:t>
                      </m:r>
                      <m:sSup>
                        <m:sSupPr>
                          <m:ctrlPr>
                            <a:rPr lang="en-US" altLang="en-US" i="1" smtClean="0">
                              <a:solidFill>
                                <a:srgbClr val="000000"/>
                              </a:solidFill>
                              <a:latin typeface="Cambria Math" panose="02040503050406030204" pitchFamily="18" charset="0"/>
                            </a:rPr>
                          </m:ctrlPr>
                        </m:sSupPr>
                        <m:e>
                          <m:d>
                            <m:dPr>
                              <m:ctrlPr>
                                <a:rPr lang="en-US" altLang="en-US" i="1">
                                  <a:solidFill>
                                    <a:srgbClr val="000000"/>
                                  </a:solidFill>
                                  <a:latin typeface="Cambria Math" panose="02040503050406030204" pitchFamily="18" charset="0"/>
                                </a:rPr>
                              </m:ctrlPr>
                            </m:dPr>
                            <m:e>
                              <m:f>
                                <m:fPr>
                                  <m:ctrlPr>
                                    <a:rPr lang="en-US" altLang="en-US" i="1">
                                      <a:solidFill>
                                        <a:srgbClr val="000000"/>
                                      </a:solidFill>
                                      <a:latin typeface="Cambria Math" panose="02040503050406030204" pitchFamily="18" charset="0"/>
                                    </a:rPr>
                                  </m:ctrlPr>
                                </m:fPr>
                                <m:num>
                                  <m:sSub>
                                    <m:sSubPr>
                                      <m:ctrlPr>
                                        <a:rPr lang="en-US" altLang="en-US" i="1">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𝑆</m:t>
                                      </m:r>
                                      <m:r>
                                        <a:rPr lang="en-US" altLang="en-US" i="1">
                                          <a:solidFill>
                                            <a:srgbClr val="000000"/>
                                          </a:solidFill>
                                          <a:latin typeface="Cambria Math" panose="02040503050406030204" pitchFamily="18" charset="0"/>
                                          <a:ea typeface="Cambria Math" panose="02040503050406030204" pitchFamily="18" charset="0"/>
                                        </a:rPr>
                                        <m:t>×</m:t>
                                      </m:r>
                                      <m:r>
                                        <a:rPr lang="en-US" altLang="en-US" i="1">
                                          <a:solidFill>
                                            <a:srgbClr val="000000"/>
                                          </a:solidFill>
                                          <a:latin typeface="Cambria Math" panose="02040503050406030204" pitchFamily="18" charset="0"/>
                                        </a:rPr>
                                        <m:t>𝑧</m:t>
                                      </m:r>
                                    </m:e>
                                    <m:sub>
                                      <m:r>
                                        <a:rPr lang="en-US" altLang="en-US" i="1">
                                          <a:solidFill>
                                            <a:srgbClr val="000000"/>
                                          </a:solidFill>
                                          <a:latin typeface="Cambria Math" panose="02040503050406030204" pitchFamily="18" charset="0"/>
                                          <a:ea typeface="Cambria Math" panose="02040503050406030204" pitchFamily="18" charset="0"/>
                                        </a:rPr>
                                        <m:t>𝛼</m:t>
                                      </m:r>
                                      <m:r>
                                        <a:rPr lang="en-US" altLang="en-US" i="1">
                                          <a:solidFill>
                                            <a:srgbClr val="000000"/>
                                          </a:solidFill>
                                          <a:latin typeface="Cambria Math" panose="02040503050406030204" pitchFamily="18" charset="0"/>
                                          <a:ea typeface="Cambria Math" panose="02040503050406030204" pitchFamily="18" charset="0"/>
                                        </a:rPr>
                                        <m:t>/2</m:t>
                                      </m:r>
                                    </m:sub>
                                  </m:sSub>
                                </m:num>
                                <m:den>
                                  <m:r>
                                    <a:rPr lang="en-US" altLang="en-US" i="1">
                                      <a:solidFill>
                                        <a:srgbClr val="000000"/>
                                      </a:solidFill>
                                      <a:latin typeface="Cambria Math" panose="02040503050406030204" pitchFamily="18" charset="0"/>
                                    </a:rPr>
                                    <m:t>𝑒</m:t>
                                  </m:r>
                                </m:den>
                              </m:f>
                            </m:e>
                          </m:d>
                        </m:e>
                        <m:sup>
                          <m:r>
                            <a:rPr lang="en-US" altLang="en-US" b="0" i="1" smtClean="0">
                              <a:solidFill>
                                <a:srgbClr val="000000"/>
                              </a:solidFill>
                              <a:latin typeface="Cambria Math" panose="02040503050406030204" pitchFamily="18" charset="0"/>
                            </a:rPr>
                            <m:t>2</m:t>
                          </m:r>
                        </m:sup>
                      </m:sSup>
                    </m:oMath>
                  </m:oMathPara>
                </a14:m>
                <a:endParaRPr lang="en-US" dirty="0"/>
              </a:p>
            </p:txBody>
          </p:sp>
        </mc:Choice>
        <mc:Fallback xmlns="">
          <p:sp>
            <p:nvSpPr>
              <p:cNvPr id="7" name="TextBox 6">
                <a:extLst>
                  <a:ext uri="{FF2B5EF4-FFF2-40B4-BE49-F238E27FC236}">
                    <a16:creationId xmlns:a16="http://schemas.microsoft.com/office/drawing/2014/main" id="{E056AE14-D61D-A315-A4A0-F69F43F0B905}"/>
                  </a:ext>
                </a:extLst>
              </p:cNvPr>
              <p:cNvSpPr txBox="1">
                <a:spLocks noRot="1" noChangeAspect="1" noMove="1" noResize="1" noEditPoints="1" noAdjustHandles="1" noChangeArrowheads="1" noChangeShapeType="1" noTextEdit="1"/>
              </p:cNvSpPr>
              <p:nvPr/>
            </p:nvSpPr>
            <p:spPr>
              <a:xfrm>
                <a:off x="2286000" y="2748621"/>
                <a:ext cx="4572000" cy="76937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7D4DB7B-43E6-A1FC-308B-4D595D655187}"/>
                  </a:ext>
                </a:extLst>
              </p:cNvPr>
              <p:cNvSpPr txBox="1"/>
              <p:nvPr/>
            </p:nvSpPr>
            <p:spPr>
              <a:xfrm>
                <a:off x="2286000" y="4874963"/>
                <a:ext cx="4572000" cy="7884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en-US"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𝑓𝑝𝑐</m:t>
                          </m:r>
                        </m:sub>
                      </m:sSub>
                      <m:r>
                        <a:rPr lang="en-US" altLang="en-US" i="1" smtClean="0">
                          <a:solidFill>
                            <a:srgbClr val="000000"/>
                          </a:solidFill>
                          <a:latin typeface="Cambria Math" panose="02040503050406030204" pitchFamily="18" charset="0"/>
                        </a:rPr>
                        <m:t>=</m:t>
                      </m:r>
                      <m:f>
                        <m:fPr>
                          <m:ctrlPr>
                            <a:rPr lang="en-US" altLang="en-US" i="1" smtClean="0">
                              <a:solidFill>
                                <a:srgbClr val="000000"/>
                              </a:solidFill>
                              <a:latin typeface="Cambria Math" panose="02040503050406030204" pitchFamily="18" charset="0"/>
                            </a:rPr>
                          </m:ctrlPr>
                        </m:fPr>
                        <m:num>
                          <m:r>
                            <a:rPr lang="en-US" altLang="en-US" b="0" i="1" smtClean="0">
                              <a:solidFill>
                                <a:srgbClr val="000000"/>
                              </a:solidFill>
                              <a:latin typeface="Cambria Math" panose="02040503050406030204" pitchFamily="18" charset="0"/>
                            </a:rPr>
                            <m:t>𝑛</m:t>
                          </m:r>
                        </m:num>
                        <m:den>
                          <m:r>
                            <a:rPr lang="en-US" altLang="en-US" b="0" i="1" smtClean="0">
                              <a:solidFill>
                                <a:srgbClr val="000000"/>
                              </a:solidFill>
                              <a:latin typeface="Cambria Math" panose="02040503050406030204" pitchFamily="18" charset="0"/>
                            </a:rPr>
                            <m:t>1+</m:t>
                          </m:r>
                          <m:f>
                            <m:fPr>
                              <m:ctrlPr>
                                <a:rPr lang="en-US" altLang="en-US" b="0" i="1" smtClean="0">
                                  <a:solidFill>
                                    <a:srgbClr val="000000"/>
                                  </a:solidFill>
                                  <a:latin typeface="Cambria Math" panose="02040503050406030204" pitchFamily="18" charset="0"/>
                                </a:rPr>
                              </m:ctrlPr>
                            </m:fPr>
                            <m:num>
                              <m:r>
                                <a:rPr lang="en-US" altLang="en-US" b="0" i="1" smtClean="0">
                                  <a:solidFill>
                                    <a:srgbClr val="000000"/>
                                  </a:solidFill>
                                  <a:latin typeface="Cambria Math" panose="02040503050406030204" pitchFamily="18" charset="0"/>
                                </a:rPr>
                                <m:t>𝑛</m:t>
                              </m:r>
                              <m:r>
                                <a:rPr lang="en-US" altLang="en-US" b="0" i="1" smtClean="0">
                                  <a:solidFill>
                                    <a:srgbClr val="000000"/>
                                  </a:solidFill>
                                  <a:latin typeface="Cambria Math" panose="02040503050406030204" pitchFamily="18" charset="0"/>
                                </a:rPr>
                                <m:t>−1</m:t>
                              </m:r>
                            </m:num>
                            <m:den>
                              <m:r>
                                <a:rPr lang="en-US" altLang="en-US" b="0" i="1" smtClean="0">
                                  <a:solidFill>
                                    <a:srgbClr val="000000"/>
                                  </a:solidFill>
                                  <a:latin typeface="Cambria Math" panose="02040503050406030204" pitchFamily="18" charset="0"/>
                                </a:rPr>
                                <m:t>𝑁</m:t>
                              </m:r>
                            </m:den>
                          </m:f>
                        </m:den>
                      </m:f>
                    </m:oMath>
                  </m:oMathPara>
                </a14:m>
                <a:endParaRPr lang="en-US" dirty="0"/>
              </a:p>
            </p:txBody>
          </p:sp>
        </mc:Choice>
        <mc:Fallback xmlns="">
          <p:sp>
            <p:nvSpPr>
              <p:cNvPr id="4" name="TextBox 3">
                <a:extLst>
                  <a:ext uri="{FF2B5EF4-FFF2-40B4-BE49-F238E27FC236}">
                    <a16:creationId xmlns:a16="http://schemas.microsoft.com/office/drawing/2014/main" id="{E7D4DB7B-43E6-A1FC-308B-4D595D655187}"/>
                  </a:ext>
                </a:extLst>
              </p:cNvPr>
              <p:cNvSpPr txBox="1">
                <a:spLocks noRot="1" noChangeAspect="1" noMove="1" noResize="1" noEditPoints="1" noAdjustHandles="1" noChangeArrowheads="1" noChangeShapeType="1" noTextEdit="1"/>
              </p:cNvSpPr>
              <p:nvPr/>
            </p:nvSpPr>
            <p:spPr>
              <a:xfrm>
                <a:off x="2286000" y="4874963"/>
                <a:ext cx="4572000" cy="788421"/>
              </a:xfrm>
              <a:prstGeom prst="rect">
                <a:avLst/>
              </a:prstGeom>
              <a:blipFill>
                <a:blip r:embed="rId4"/>
                <a:stretch>
                  <a:fillRect b="-4839"/>
                </a:stretch>
              </a:blipFill>
            </p:spPr>
            <p:txBody>
              <a:bodyPr/>
              <a:lstStyle/>
              <a:p>
                <a:r>
                  <a:rPr lang="en-US">
                    <a:noFill/>
                  </a:rPr>
                  <a:t> </a:t>
                </a:r>
              </a:p>
            </p:txBody>
          </p:sp>
        </mc:Fallback>
      </mc:AlternateContent>
    </p:spTree>
    <p:extLst>
      <p:ext uri="{BB962C8B-B14F-4D97-AF65-F5344CB8AC3E}">
        <p14:creationId xmlns:p14="http://schemas.microsoft.com/office/powerpoint/2010/main" val="1148346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18E3-EE60-9941-0463-085D7B53806A}"/>
              </a:ext>
            </a:extLst>
          </p:cNvPr>
          <p:cNvSpPr>
            <a:spLocks noGrp="1"/>
          </p:cNvSpPr>
          <p:nvPr>
            <p:ph type="title"/>
          </p:nvPr>
        </p:nvSpPr>
        <p:spPr/>
        <p:txBody>
          <a:bodyPr/>
          <a:lstStyle/>
          <a:p>
            <a:r>
              <a:rPr lang="en-US" dirty="0"/>
              <a:t>Determining sample size</a:t>
            </a:r>
          </a:p>
        </p:txBody>
      </p:sp>
      <p:sp>
        <p:nvSpPr>
          <p:cNvPr id="3" name="Content Placeholder 2">
            <a:extLst>
              <a:ext uri="{FF2B5EF4-FFF2-40B4-BE49-F238E27FC236}">
                <a16:creationId xmlns:a16="http://schemas.microsoft.com/office/drawing/2014/main" id="{2F908990-8627-E680-8FF5-009FE76AC83E}"/>
              </a:ext>
            </a:extLst>
          </p:cNvPr>
          <p:cNvSpPr>
            <a:spLocks noGrp="1"/>
          </p:cNvSpPr>
          <p:nvPr>
            <p:ph idx="1"/>
          </p:nvPr>
        </p:nvSpPr>
        <p:spPr/>
        <p:txBody>
          <a:bodyPr/>
          <a:lstStyle/>
          <a:p>
            <a:r>
              <a:rPr lang="en-US" dirty="0"/>
              <a:t>For many surveys of people in which a proportion is measured, the margin of error is set at </a:t>
            </a:r>
            <a:r>
              <a:rPr lang="en-US" i="1" dirty="0"/>
              <a:t>e</a:t>
            </a:r>
            <a:r>
              <a:rPr lang="en-US" dirty="0"/>
              <a:t> = 0.03 and α = 0.05 (</a:t>
            </a:r>
            <a:r>
              <a:rPr lang="en-US" dirty="0" err="1"/>
              <a:t>Lohr</a:t>
            </a:r>
            <a:r>
              <a:rPr lang="en-US" dirty="0"/>
              <a:t>, 2022)</a:t>
            </a:r>
          </a:p>
          <a:p>
            <a:r>
              <a:rPr lang="en-US" dirty="0"/>
              <a:t>When interested in a proportion, we can use 1/4 as an upper bound for </a:t>
            </a:r>
            <a:r>
              <a:rPr lang="en-US" i="1" dirty="0"/>
              <a:t>S</a:t>
            </a:r>
            <a:r>
              <a:rPr lang="en-US" baseline="30000" dirty="0"/>
              <a:t>2</a:t>
            </a:r>
            <a:r>
              <a:rPr lang="en-US" dirty="0"/>
              <a:t>. </a:t>
            </a:r>
          </a:p>
          <a:p>
            <a:r>
              <a:rPr lang="en-US" dirty="0"/>
              <a:t>For other quantities, </a:t>
            </a:r>
            <a:r>
              <a:rPr lang="en-US" i="1" dirty="0"/>
              <a:t>S</a:t>
            </a:r>
            <a:r>
              <a:rPr lang="en-US" baseline="30000" dirty="0"/>
              <a:t>2</a:t>
            </a:r>
            <a:r>
              <a:rPr lang="en-US" dirty="0"/>
              <a:t> must be estimated or guessed at. </a:t>
            </a:r>
          </a:p>
        </p:txBody>
      </p:sp>
    </p:spTree>
    <p:extLst>
      <p:ext uri="{BB962C8B-B14F-4D97-AF65-F5344CB8AC3E}">
        <p14:creationId xmlns:p14="http://schemas.microsoft.com/office/powerpoint/2010/main" val="2970075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Random Samples</a:t>
            </a:r>
          </a:p>
        </p:txBody>
      </p:sp>
      <p:sp>
        <p:nvSpPr>
          <p:cNvPr id="3" name="Content Placeholder 2"/>
          <p:cNvSpPr>
            <a:spLocks noGrp="1"/>
          </p:cNvSpPr>
          <p:nvPr>
            <p:ph idx="1"/>
          </p:nvPr>
        </p:nvSpPr>
        <p:spPr/>
        <p:txBody>
          <a:bodyPr/>
          <a:lstStyle/>
          <a:p>
            <a:r>
              <a:rPr lang="en-US" dirty="0"/>
              <a:t>Major benefit of simple random samples:</a:t>
            </a:r>
          </a:p>
          <a:p>
            <a:pPr lvl="1"/>
            <a:r>
              <a:rPr lang="en-US" dirty="0"/>
              <a:t>Elements are selected with the same probability</a:t>
            </a:r>
          </a:p>
          <a:p>
            <a:pPr lvl="1"/>
            <a:r>
              <a:rPr lang="en-US" dirty="0"/>
              <a:t>No weighting required to represent the target population</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43</a:t>
            </a:fld>
            <a:endParaRPr lang="en-US" dirty="0"/>
          </a:p>
        </p:txBody>
      </p:sp>
    </p:spTree>
    <p:extLst>
      <p:ext uri="{BB962C8B-B14F-4D97-AF65-F5344CB8AC3E}">
        <p14:creationId xmlns:p14="http://schemas.microsoft.com/office/powerpoint/2010/main" val="1731892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8BD17-7F09-761E-BD25-766C5694368E}"/>
              </a:ext>
            </a:extLst>
          </p:cNvPr>
          <p:cNvSpPr>
            <a:spLocks noGrp="1"/>
          </p:cNvSpPr>
          <p:nvPr>
            <p:ph type="title"/>
          </p:nvPr>
        </p:nvSpPr>
        <p:spPr/>
        <p:txBody>
          <a:bodyPr/>
          <a:lstStyle/>
          <a:p>
            <a:r>
              <a:rPr lang="en-US" dirty="0"/>
              <a:t>Exercise I</a:t>
            </a:r>
          </a:p>
        </p:txBody>
      </p:sp>
      <p:sp>
        <p:nvSpPr>
          <p:cNvPr id="3" name="Content Placeholder 2">
            <a:extLst>
              <a:ext uri="{FF2B5EF4-FFF2-40B4-BE49-F238E27FC236}">
                <a16:creationId xmlns:a16="http://schemas.microsoft.com/office/drawing/2014/main" id="{66815E9A-C0E3-0E57-E2BC-1F131EF0126F}"/>
              </a:ext>
            </a:extLst>
          </p:cNvPr>
          <p:cNvSpPr>
            <a:spLocks noGrp="1"/>
          </p:cNvSpPr>
          <p:nvPr>
            <p:ph idx="1"/>
          </p:nvPr>
        </p:nvSpPr>
        <p:spPr/>
        <p:txBody>
          <a:bodyPr/>
          <a:lstStyle/>
          <a:p>
            <a:r>
              <a:rPr lang="en-US" dirty="0"/>
              <a:t>Suppose we want to conduct a survey to estimate the proportion of current U of M students who support the use of AI, like ChatGPT, for classroom learning. We plan to take an SRS and want to use a 95% CI with margin of error 0.03.</a:t>
            </a:r>
          </a:p>
          <a:p>
            <a:endParaRPr lang="en-US" dirty="0"/>
          </a:p>
          <a:p>
            <a:r>
              <a:rPr lang="en-US" dirty="0"/>
              <a:t>Let’s first ignore the </a:t>
            </a:r>
            <a:r>
              <a:rPr lang="en-US" dirty="0" err="1"/>
              <a:t>fpc</a:t>
            </a:r>
            <a:r>
              <a:rPr lang="en-US" dirty="0"/>
              <a:t>, the sample size required is _____.</a:t>
            </a:r>
          </a:p>
          <a:p>
            <a:r>
              <a:rPr lang="en-US" dirty="0"/>
              <a:t>If we assume U of M has 50,000 students, the sample size required is _____. </a:t>
            </a:r>
          </a:p>
        </p:txBody>
      </p:sp>
    </p:spTree>
    <p:extLst>
      <p:ext uri="{BB962C8B-B14F-4D97-AF65-F5344CB8AC3E}">
        <p14:creationId xmlns:p14="http://schemas.microsoft.com/office/powerpoint/2010/main" val="1168646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1CB5-7DA5-7E58-7BB8-A86F15483DFB}"/>
              </a:ext>
            </a:extLst>
          </p:cNvPr>
          <p:cNvSpPr>
            <a:spLocks noGrp="1"/>
          </p:cNvSpPr>
          <p:nvPr>
            <p:ph type="title"/>
          </p:nvPr>
        </p:nvSpPr>
        <p:spPr/>
        <p:txBody>
          <a:bodyPr/>
          <a:lstStyle/>
          <a:p>
            <a:r>
              <a:rPr lang="en-US" dirty="0"/>
              <a:t>Exercise II</a:t>
            </a:r>
          </a:p>
        </p:txBody>
      </p:sp>
      <p:sp>
        <p:nvSpPr>
          <p:cNvPr id="3" name="Content Placeholder 2">
            <a:extLst>
              <a:ext uri="{FF2B5EF4-FFF2-40B4-BE49-F238E27FC236}">
                <a16:creationId xmlns:a16="http://schemas.microsoft.com/office/drawing/2014/main" id="{5C39A6A6-1DAE-D2D0-C14F-6AC94B34063C}"/>
              </a:ext>
            </a:extLst>
          </p:cNvPr>
          <p:cNvSpPr>
            <a:spLocks noGrp="1"/>
          </p:cNvSpPr>
          <p:nvPr>
            <p:ph idx="1"/>
          </p:nvPr>
        </p:nvSpPr>
        <p:spPr/>
        <p:txBody>
          <a:bodyPr/>
          <a:lstStyle/>
          <a:p>
            <a:pPr algn="l"/>
            <a:r>
              <a:rPr lang="en-US" b="0" i="0" u="none" strike="noStrike" dirty="0">
                <a:solidFill>
                  <a:srgbClr val="3C4858"/>
                </a:solidFill>
                <a:effectLst/>
                <a:latin typeface="Nunito" pitchFamily="2" charset="77"/>
              </a:rPr>
              <a:t>A data set with 2044 observations on 5 variables.</a:t>
            </a:r>
          </a:p>
          <a:p>
            <a:pPr lvl="1"/>
            <a:r>
              <a:rPr lang="en-US" dirty="0" err="1"/>
              <a:t>Hrsrelax</a:t>
            </a:r>
            <a:r>
              <a:rPr lang="en-US" dirty="0"/>
              <a:t>: </a:t>
            </a:r>
            <a:r>
              <a:rPr lang="en-US" dirty="0">
                <a:effectLst/>
              </a:rPr>
              <a:t>After an average work day, about how many hours do you have to relax or pursue activities that you enjoy</a:t>
            </a:r>
          </a:p>
          <a:p>
            <a:pPr lvl="1"/>
            <a:r>
              <a:rPr lang="en-US" dirty="0" err="1"/>
              <a:t>Mntlhlth</a:t>
            </a:r>
            <a:r>
              <a:rPr lang="en-US" dirty="0"/>
              <a:t>: </a:t>
            </a:r>
            <a:r>
              <a:rPr lang="en-US" dirty="0">
                <a:effectLst/>
              </a:rPr>
              <a:t>For how many days during the past 30 days was your mental health, which includes stress, depression, and problems with emotions, not good?</a:t>
            </a:r>
          </a:p>
          <a:p>
            <a:pPr lvl="1"/>
            <a:r>
              <a:rPr lang="en-US" dirty="0"/>
              <a:t>Hrs1: </a:t>
            </a:r>
            <a:r>
              <a:rPr lang="en-US" dirty="0">
                <a:effectLst/>
              </a:rPr>
              <a:t>Hours worked each week.</a:t>
            </a:r>
          </a:p>
          <a:p>
            <a:pPr lvl="1"/>
            <a:r>
              <a:rPr lang="en-US" dirty="0"/>
              <a:t>Degree: </a:t>
            </a:r>
            <a:r>
              <a:rPr lang="en-US" dirty="0">
                <a:effectLst/>
              </a:rPr>
              <a:t>Educational attainment or degree.</a:t>
            </a:r>
          </a:p>
          <a:p>
            <a:pPr lvl="1"/>
            <a:r>
              <a:rPr lang="en-US" dirty="0"/>
              <a:t>Grass: </a:t>
            </a:r>
            <a:r>
              <a:rPr lang="en-US" dirty="0">
                <a:effectLst/>
              </a:rPr>
              <a:t>Do you think the use of marijuana should be made legal, or not?</a:t>
            </a:r>
          </a:p>
          <a:p>
            <a:endParaRPr lang="en-US" dirty="0"/>
          </a:p>
        </p:txBody>
      </p:sp>
    </p:spTree>
    <p:extLst>
      <p:ext uri="{BB962C8B-B14F-4D97-AF65-F5344CB8AC3E}">
        <p14:creationId xmlns:p14="http://schemas.microsoft.com/office/powerpoint/2010/main" val="3556752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DFEC-B8C0-9B40-950F-A8DE117033A0}"/>
              </a:ext>
            </a:extLst>
          </p:cNvPr>
          <p:cNvSpPr>
            <a:spLocks noGrp="1"/>
          </p:cNvSpPr>
          <p:nvPr>
            <p:ph type="title"/>
          </p:nvPr>
        </p:nvSpPr>
        <p:spPr/>
        <p:txBody>
          <a:bodyPr/>
          <a:lstStyle/>
          <a:p>
            <a:r>
              <a:rPr lang="en-US" dirty="0"/>
              <a:t>Exercise II</a:t>
            </a:r>
          </a:p>
        </p:txBody>
      </p:sp>
      <p:sp>
        <p:nvSpPr>
          <p:cNvPr id="3" name="Content Placeholder 2">
            <a:extLst>
              <a:ext uri="{FF2B5EF4-FFF2-40B4-BE49-F238E27FC236}">
                <a16:creationId xmlns:a16="http://schemas.microsoft.com/office/drawing/2014/main" id="{25131518-98FF-A0B7-BFA5-649FD480841F}"/>
              </a:ext>
            </a:extLst>
          </p:cNvPr>
          <p:cNvSpPr>
            <a:spLocks noGrp="1"/>
          </p:cNvSpPr>
          <p:nvPr>
            <p:ph idx="1"/>
          </p:nvPr>
        </p:nvSpPr>
        <p:spPr/>
        <p:txBody>
          <a:bodyPr/>
          <a:lstStyle/>
          <a:p>
            <a:r>
              <a:rPr lang="en-US" dirty="0"/>
              <a:t>Open gss2010.xlsx file on Canvas using Excel</a:t>
            </a:r>
          </a:p>
          <a:p>
            <a:r>
              <a:rPr lang="en-US" dirty="0"/>
              <a:t>Assume the 2044 cases are all units in the sampling frame</a:t>
            </a:r>
          </a:p>
          <a:p>
            <a:r>
              <a:rPr lang="en-US" dirty="0"/>
              <a:t>Estimate the proportion of individuals who </a:t>
            </a:r>
            <a:r>
              <a:rPr lang="en-US" dirty="0">
                <a:effectLst/>
              </a:rPr>
              <a:t>think the use of marijuana should be made legal with an SRS of size 10, 50 and 100</a:t>
            </a:r>
          </a:p>
          <a:p>
            <a:endParaRPr lang="en-US" dirty="0"/>
          </a:p>
          <a:p>
            <a:endParaRPr lang="en-US" dirty="0"/>
          </a:p>
          <a:p>
            <a:endParaRPr lang="en-US" dirty="0"/>
          </a:p>
        </p:txBody>
      </p:sp>
    </p:spTree>
    <p:extLst>
      <p:ext uri="{BB962C8B-B14F-4D97-AF65-F5344CB8AC3E}">
        <p14:creationId xmlns:p14="http://schemas.microsoft.com/office/powerpoint/2010/main" val="35165813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C238-15F9-4CDB-8CC6-ED087CBBF415}"/>
              </a:ext>
            </a:extLst>
          </p:cNvPr>
          <p:cNvSpPr>
            <a:spLocks noGrp="1"/>
          </p:cNvSpPr>
          <p:nvPr>
            <p:ph type="title"/>
          </p:nvPr>
        </p:nvSpPr>
        <p:spPr/>
        <p:txBody>
          <a:bodyPr/>
          <a:lstStyle/>
          <a:p>
            <a:r>
              <a:rPr lang="en-US" dirty="0"/>
              <a:t>Exercise II</a:t>
            </a:r>
          </a:p>
        </p:txBody>
      </p:sp>
      <p:sp>
        <p:nvSpPr>
          <p:cNvPr id="3" name="Content Placeholder 2">
            <a:extLst>
              <a:ext uri="{FF2B5EF4-FFF2-40B4-BE49-F238E27FC236}">
                <a16:creationId xmlns:a16="http://schemas.microsoft.com/office/drawing/2014/main" id="{31B50629-8162-3120-5F7E-51A046DDC987}"/>
              </a:ext>
            </a:extLst>
          </p:cNvPr>
          <p:cNvSpPr>
            <a:spLocks noGrp="1"/>
          </p:cNvSpPr>
          <p:nvPr>
            <p:ph idx="1"/>
          </p:nvPr>
        </p:nvSpPr>
        <p:spPr/>
        <p:txBody>
          <a:bodyPr/>
          <a:lstStyle/>
          <a:p>
            <a:r>
              <a:rPr lang="en-US" dirty="0"/>
              <a:t>Now calculate the sample size required to achieve a margin of error 0.03 for 95% CI and draw a sample accordingly</a:t>
            </a:r>
          </a:p>
          <a:p>
            <a:r>
              <a:rPr lang="en-US" dirty="0"/>
              <a:t>What is the sampling weight of each individual in the sample?</a:t>
            </a:r>
          </a:p>
          <a:p>
            <a:r>
              <a:rPr lang="en-US" dirty="0"/>
              <a:t>What is the inclusion probability of each individual in the sampling frame?</a:t>
            </a:r>
          </a:p>
          <a:p>
            <a:r>
              <a:rPr lang="en-US" dirty="0"/>
              <a:t>Calculate the proportion based on the sample.</a:t>
            </a:r>
          </a:p>
          <a:p>
            <a:r>
              <a:rPr lang="en-US" dirty="0"/>
              <a:t>Construct a 95% CI</a:t>
            </a:r>
          </a:p>
          <a:p>
            <a:endParaRPr lang="en-US" dirty="0"/>
          </a:p>
          <a:p>
            <a:endParaRPr lang="en-US" dirty="0"/>
          </a:p>
        </p:txBody>
      </p:sp>
    </p:spTree>
    <p:extLst>
      <p:ext uri="{BB962C8B-B14F-4D97-AF65-F5344CB8AC3E}">
        <p14:creationId xmlns:p14="http://schemas.microsoft.com/office/powerpoint/2010/main" val="36138248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Stratified Random Samples</a:t>
            </a:r>
          </a:p>
        </p:txBody>
      </p:sp>
      <p:sp>
        <p:nvSpPr>
          <p:cNvPr id="3" name="Content Placeholder 2"/>
          <p:cNvSpPr>
            <a:spLocks noGrp="1"/>
          </p:cNvSpPr>
          <p:nvPr>
            <p:ph idx="1"/>
          </p:nvPr>
        </p:nvSpPr>
        <p:spPr>
          <a:xfrm>
            <a:off x="938758" y="2083348"/>
            <a:ext cx="7633742" cy="2695193"/>
          </a:xfrm>
        </p:spPr>
        <p:txBody>
          <a:bodyPr/>
          <a:lstStyle/>
          <a:p>
            <a:r>
              <a:rPr lang="en-US" dirty="0"/>
              <a:t>Target population is divided into </a:t>
            </a:r>
            <a:r>
              <a:rPr lang="en-US" b="1" i="1" dirty="0"/>
              <a:t>strata</a:t>
            </a:r>
            <a:r>
              <a:rPr lang="en-US" b="1" dirty="0"/>
              <a:t> </a:t>
            </a:r>
            <a:r>
              <a:rPr lang="en-US" dirty="0"/>
              <a:t>(groups)</a:t>
            </a:r>
          </a:p>
          <a:p>
            <a:pPr lvl="1"/>
            <a:r>
              <a:rPr lang="en-US" dirty="0"/>
              <a:t>Groups that don’t overlap, but together they represent the target population</a:t>
            </a:r>
          </a:p>
          <a:p>
            <a:pPr lvl="1"/>
            <a:r>
              <a:rPr lang="en-US" dirty="0"/>
              <a:t>Simple Random Samples are drawn from each strata separately</a:t>
            </a:r>
          </a:p>
        </p:txBody>
      </p:sp>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48</a:t>
            </a:fld>
            <a:endParaRPr lang="en-US" dirty="0"/>
          </a:p>
        </p:txBody>
      </p:sp>
      <p:pic>
        <p:nvPicPr>
          <p:cNvPr id="6" name="Picture 5"/>
          <p:cNvPicPr>
            <a:picLocks noChangeAspect="1"/>
          </p:cNvPicPr>
          <p:nvPr/>
        </p:nvPicPr>
        <p:blipFill>
          <a:blip r:embed="rId3"/>
          <a:stretch>
            <a:fillRect/>
          </a:stretch>
        </p:blipFill>
        <p:spPr>
          <a:xfrm>
            <a:off x="2613444" y="4116928"/>
            <a:ext cx="4313680" cy="1883822"/>
          </a:xfrm>
          <a:prstGeom prst="rect">
            <a:avLst/>
          </a:prstGeom>
        </p:spPr>
      </p:pic>
    </p:spTree>
    <p:extLst>
      <p:ext uri="{BB962C8B-B14F-4D97-AF65-F5344CB8AC3E}">
        <p14:creationId xmlns:p14="http://schemas.microsoft.com/office/powerpoint/2010/main" val="774626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49</a:t>
            </a:fld>
            <a:endParaRPr lang="en-US" dirty="0"/>
          </a:p>
        </p:txBody>
      </p:sp>
      <p:pic>
        <p:nvPicPr>
          <p:cNvPr id="8" name="Picture 7"/>
          <p:cNvPicPr>
            <a:picLocks noChangeAspect="1"/>
          </p:cNvPicPr>
          <p:nvPr/>
        </p:nvPicPr>
        <p:blipFill>
          <a:blip r:embed="rId2"/>
          <a:stretch>
            <a:fillRect/>
          </a:stretch>
        </p:blipFill>
        <p:spPr>
          <a:xfrm>
            <a:off x="769378" y="1521282"/>
            <a:ext cx="7898327" cy="3694970"/>
          </a:xfrm>
          <a:prstGeom prst="rect">
            <a:avLst/>
          </a:prstGeom>
        </p:spPr>
      </p:pic>
    </p:spTree>
    <p:extLst>
      <p:ext uri="{BB962C8B-B14F-4D97-AF65-F5344CB8AC3E}">
        <p14:creationId xmlns:p14="http://schemas.microsoft.com/office/powerpoint/2010/main" val="3234907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2"/>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50</a:t>
            </a:fld>
            <a:endParaRPr lang="en-US" dirty="0"/>
          </a:p>
        </p:txBody>
      </p:sp>
      <p:pic>
        <p:nvPicPr>
          <p:cNvPr id="4" name="Picture 3"/>
          <p:cNvPicPr>
            <a:picLocks noChangeAspect="1"/>
          </p:cNvPicPr>
          <p:nvPr/>
        </p:nvPicPr>
        <p:blipFill>
          <a:blip r:embed="rId2"/>
          <a:stretch>
            <a:fillRect/>
          </a:stretch>
        </p:blipFill>
        <p:spPr>
          <a:xfrm>
            <a:off x="1209675" y="1466850"/>
            <a:ext cx="6724650" cy="3914775"/>
          </a:xfrm>
          <a:prstGeom prst="rect">
            <a:avLst/>
          </a:prstGeom>
        </p:spPr>
      </p:pic>
    </p:spTree>
    <p:extLst>
      <p:ext uri="{BB962C8B-B14F-4D97-AF65-F5344CB8AC3E}">
        <p14:creationId xmlns:p14="http://schemas.microsoft.com/office/powerpoint/2010/main" val="40339881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BF2B-EEB1-5781-DEF9-333802EB9455}"/>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EBAF5051-5545-3430-D847-9824279E140B}"/>
              </a:ext>
            </a:extLst>
          </p:cNvPr>
          <p:cNvSpPr>
            <a:spLocks noGrp="1"/>
          </p:cNvSpPr>
          <p:nvPr>
            <p:ph idx="1"/>
          </p:nvPr>
        </p:nvSpPr>
        <p:spPr>
          <a:xfrm>
            <a:off x="685800" y="1447800"/>
            <a:ext cx="7772400" cy="4267200"/>
          </a:xfrm>
        </p:spPr>
        <p:txBody>
          <a:bodyPr/>
          <a:lstStyle/>
          <a:p>
            <a:pPr marL="0" indent="0">
              <a:buNone/>
            </a:pPr>
            <a:r>
              <a:rPr lang="en-US" dirty="0"/>
              <a:t>The University Health Center is considering the adoption of a new program to help young adults lose weight. Before changing programs, the administration commissioned a survey to find out, among other things, how their new program compared with the current one and how male and female students of different ages performed. </a:t>
            </a:r>
          </a:p>
          <a:p>
            <a:pPr marL="0" indent="0">
              <a:buNone/>
            </a:pPr>
            <a:r>
              <a:rPr lang="en-US" dirty="0"/>
              <a:t>Previous experience had suggested that older students appeared to do better in weight reduction programs. Therefore, the surveyors planned to get a sample of men and women in two age groups—17 to 22 years and 23 to 28 years—and compare their performance in each of the programs.</a:t>
            </a:r>
          </a:p>
          <a:p>
            <a:endParaRPr lang="en-US" dirty="0"/>
          </a:p>
        </p:txBody>
      </p:sp>
    </p:spTree>
    <p:extLst>
      <p:ext uri="{BB962C8B-B14F-4D97-AF65-F5344CB8AC3E}">
        <p14:creationId xmlns:p14="http://schemas.microsoft.com/office/powerpoint/2010/main" val="13511572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7FE7C-9744-3D8E-4C69-44EBCD7B69BA}"/>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75BFCEDD-F06B-49DC-542C-7F2B031FEC85}"/>
              </a:ext>
            </a:extLst>
          </p:cNvPr>
          <p:cNvSpPr>
            <a:spLocks noGrp="1"/>
          </p:cNvSpPr>
          <p:nvPr>
            <p:ph idx="1"/>
          </p:nvPr>
        </p:nvSpPr>
        <p:spPr/>
        <p:txBody>
          <a:bodyPr/>
          <a:lstStyle/>
          <a:p>
            <a:r>
              <a:rPr lang="en-US" dirty="0"/>
              <a:t>About 310 undergraduates signed up for the health center’s regular weight reduction program for the winter seminar. </a:t>
            </a:r>
          </a:p>
          <a:p>
            <a:r>
              <a:rPr lang="en-US" dirty="0"/>
              <a:t>Of the 310 participants, 140 were between 17 and 22 years old, and 62 of these were men. Also 170 students were between 23 and 28 years, and 80 of these were men. </a:t>
            </a:r>
          </a:p>
          <a:p>
            <a:r>
              <a:rPr lang="en-US" dirty="0"/>
              <a:t>The surveyors randomly selected 40 persons from each of the four subgroups (male, female, ages 17–22, and ages 23–28) and randomly assigned every other student to the new program. The sample looked like this:</a:t>
            </a:r>
          </a:p>
        </p:txBody>
      </p:sp>
    </p:spTree>
    <p:extLst>
      <p:ext uri="{BB962C8B-B14F-4D97-AF65-F5344CB8AC3E}">
        <p14:creationId xmlns:p14="http://schemas.microsoft.com/office/powerpoint/2010/main" val="307504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50518A1-813F-9B92-069C-CE6ED56BBCE2}"/>
              </a:ext>
            </a:extLst>
          </p:cNvPr>
          <p:cNvSpPr>
            <a:spLocks noGrp="1"/>
          </p:cNvSpPr>
          <p:nvPr>
            <p:ph type="title"/>
          </p:nvPr>
        </p:nvSpPr>
        <p:spPr>
          <a:xfrm>
            <a:off x="685800" y="304800"/>
            <a:ext cx="7772400" cy="1143000"/>
          </a:xfrm>
        </p:spPr>
        <p:txBody>
          <a:bodyPr/>
          <a:lstStyle/>
          <a:p>
            <a:r>
              <a:rPr lang="en-US" dirty="0"/>
              <a:t>An example</a:t>
            </a:r>
          </a:p>
        </p:txBody>
      </p:sp>
      <p:pic>
        <p:nvPicPr>
          <p:cNvPr id="7" name="Picture 6">
            <a:extLst>
              <a:ext uri="{FF2B5EF4-FFF2-40B4-BE49-F238E27FC236}">
                <a16:creationId xmlns:a16="http://schemas.microsoft.com/office/drawing/2014/main" id="{ECCB377B-C5F4-4B09-A64C-22923A17E788}"/>
              </a:ext>
            </a:extLst>
          </p:cNvPr>
          <p:cNvPicPr>
            <a:picLocks noChangeAspect="1"/>
          </p:cNvPicPr>
          <p:nvPr/>
        </p:nvPicPr>
        <p:blipFill>
          <a:blip r:embed="rId2"/>
          <a:stretch>
            <a:fillRect/>
          </a:stretch>
        </p:blipFill>
        <p:spPr>
          <a:xfrm>
            <a:off x="685800" y="2499931"/>
            <a:ext cx="7772400" cy="2467737"/>
          </a:xfrm>
          <a:prstGeom prst="rect">
            <a:avLst/>
          </a:prstGeom>
          <a:noFill/>
        </p:spPr>
      </p:pic>
      <p:sp>
        <p:nvSpPr>
          <p:cNvPr id="9" name="TextBox 8">
            <a:extLst>
              <a:ext uri="{FF2B5EF4-FFF2-40B4-BE49-F238E27FC236}">
                <a16:creationId xmlns:a16="http://schemas.microsoft.com/office/drawing/2014/main" id="{C441B27F-53E6-12B8-422F-3EA73C6112E3}"/>
              </a:ext>
            </a:extLst>
          </p:cNvPr>
          <p:cNvSpPr txBox="1"/>
          <p:nvPr/>
        </p:nvSpPr>
        <p:spPr>
          <a:xfrm>
            <a:off x="4288971" y="5696633"/>
            <a:ext cx="4572000" cy="646331"/>
          </a:xfrm>
          <a:prstGeom prst="rect">
            <a:avLst/>
          </a:prstGeom>
          <a:noFill/>
        </p:spPr>
        <p:txBody>
          <a:bodyPr wrap="square">
            <a:spAutoFit/>
          </a:bodyPr>
          <a:lstStyle/>
          <a:p>
            <a:r>
              <a:rPr lang="en-US" b="0" i="0" dirty="0">
                <a:solidFill>
                  <a:srgbClr val="222222"/>
                </a:solidFill>
                <a:effectLst/>
                <a:highlight>
                  <a:srgbClr val="FFFFFF"/>
                </a:highlight>
                <a:latin typeface="Arial" panose="020B0604020202020204" pitchFamily="34" charset="0"/>
              </a:rPr>
              <a:t>Fink, A. (2015). </a:t>
            </a:r>
            <a:r>
              <a:rPr lang="en-US" b="0" i="1" dirty="0">
                <a:solidFill>
                  <a:srgbClr val="222222"/>
                </a:solidFill>
                <a:effectLst/>
                <a:highlight>
                  <a:srgbClr val="FFFFFF"/>
                </a:highlight>
                <a:latin typeface="Arial" panose="020B0604020202020204" pitchFamily="34" charset="0"/>
              </a:rPr>
              <a:t>How to conduct surveys: A step-by-step guide</a:t>
            </a:r>
            <a:r>
              <a:rPr lang="en-US" b="0" i="0" dirty="0">
                <a:solidFill>
                  <a:srgbClr val="222222"/>
                </a:solidFill>
                <a:effectLst/>
                <a:highlight>
                  <a:srgbClr val="FFFFFF"/>
                </a:highlight>
                <a:latin typeface="Arial" panose="020B0604020202020204" pitchFamily="34" charset="0"/>
              </a:rPr>
              <a:t>. SAGE publications.</a:t>
            </a:r>
            <a:endParaRPr lang="en-US" dirty="0"/>
          </a:p>
        </p:txBody>
      </p:sp>
    </p:spTree>
    <p:extLst>
      <p:ext uri="{BB962C8B-B14F-4D97-AF65-F5344CB8AC3E}">
        <p14:creationId xmlns:p14="http://schemas.microsoft.com/office/powerpoint/2010/main" val="42329366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B7EA-EBD9-8675-C5AD-20DD025707BD}"/>
              </a:ext>
            </a:extLst>
          </p:cNvPr>
          <p:cNvSpPr>
            <a:spLocks noGrp="1"/>
          </p:cNvSpPr>
          <p:nvPr>
            <p:ph type="title"/>
          </p:nvPr>
        </p:nvSpPr>
        <p:spPr/>
        <p:txBody>
          <a:bodyPr/>
          <a:lstStyle/>
          <a:p>
            <a:r>
              <a:rPr lang="en-US" b="1" dirty="0"/>
              <a:t>Why Stratified Random Samples?</a:t>
            </a:r>
            <a:endParaRPr lang="en-US" dirty="0"/>
          </a:p>
        </p:txBody>
      </p:sp>
      <p:sp>
        <p:nvSpPr>
          <p:cNvPr id="3" name="Content Placeholder 2">
            <a:extLst>
              <a:ext uri="{FF2B5EF4-FFF2-40B4-BE49-F238E27FC236}">
                <a16:creationId xmlns:a16="http://schemas.microsoft.com/office/drawing/2014/main" id="{E413F00E-6FEC-1933-A777-549602CD8C4E}"/>
              </a:ext>
            </a:extLst>
          </p:cNvPr>
          <p:cNvSpPr>
            <a:spLocks noGrp="1"/>
          </p:cNvSpPr>
          <p:nvPr>
            <p:ph idx="1"/>
          </p:nvPr>
        </p:nvSpPr>
        <p:spPr/>
        <p:txBody>
          <a:bodyPr/>
          <a:lstStyle/>
          <a:p>
            <a:r>
              <a:rPr lang="en-US" dirty="0"/>
              <a:t>We want to be protected from the possibility of obtaining a really bad sample.</a:t>
            </a:r>
          </a:p>
          <a:p>
            <a:r>
              <a:rPr lang="en-US" dirty="0"/>
              <a:t>We may want data of known precision for subgroups of the population.</a:t>
            </a:r>
          </a:p>
          <a:p>
            <a:r>
              <a:rPr lang="en-US" dirty="0"/>
              <a:t>Stratified sampling can be a way to guarantee an exact proportionate representation of the population</a:t>
            </a:r>
          </a:p>
          <a:p>
            <a:r>
              <a:rPr lang="en-US" dirty="0"/>
              <a:t>Stratified sampling often gives more precise (having lower variance) estimates for population means and totals. </a:t>
            </a:r>
          </a:p>
        </p:txBody>
      </p:sp>
    </p:spTree>
    <p:extLst>
      <p:ext uri="{BB962C8B-B14F-4D97-AF65-F5344CB8AC3E}">
        <p14:creationId xmlns:p14="http://schemas.microsoft.com/office/powerpoint/2010/main" val="14521154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Example</a:t>
            </a:r>
          </a:p>
        </p:txBody>
      </p:sp>
      <p:sp>
        <p:nvSpPr>
          <p:cNvPr id="3" name="Content Placeholder 2"/>
          <p:cNvSpPr>
            <a:spLocks noGrp="1"/>
          </p:cNvSpPr>
          <p:nvPr>
            <p:ph idx="1"/>
          </p:nvPr>
        </p:nvSpPr>
        <p:spPr>
          <a:xfrm>
            <a:off x="938758" y="1596571"/>
            <a:ext cx="7633742" cy="4042439"/>
          </a:xfrm>
        </p:spPr>
        <p:txBody>
          <a:bodyPr>
            <a:normAutofit/>
          </a:bodyPr>
          <a:lstStyle/>
          <a:p>
            <a:r>
              <a:rPr lang="en-US" dirty="0"/>
              <a:t>Study of high school principals’ leadership styles</a:t>
            </a:r>
          </a:p>
          <a:p>
            <a:r>
              <a:rPr lang="en-US" dirty="0"/>
              <a:t>Target population includes 80% public schools and 20% private schools</a:t>
            </a:r>
          </a:p>
          <a:p>
            <a:pPr lvl="1"/>
            <a:r>
              <a:rPr lang="en-US" dirty="0"/>
              <a:t>Simple Random Sample may not accurately reflect these proportions</a:t>
            </a:r>
          </a:p>
          <a:p>
            <a:r>
              <a:rPr lang="en-US" dirty="0"/>
              <a:t>Stratified sample:</a:t>
            </a:r>
          </a:p>
          <a:p>
            <a:pPr lvl="1"/>
            <a:r>
              <a:rPr lang="en-US" dirty="0"/>
              <a:t>Select SRSs from public schools &amp; private schools</a:t>
            </a:r>
          </a:p>
          <a:p>
            <a:pPr lvl="1"/>
            <a:r>
              <a:rPr lang="en-US" dirty="0"/>
              <a:t>Need to decide if proportional allocation is important</a:t>
            </a:r>
          </a:p>
        </p:txBody>
      </p:sp>
      <p:sp>
        <p:nvSpPr>
          <p:cNvPr id="5" name="Slide Number Placeholder 4"/>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55</a:t>
            </a:fld>
            <a:endParaRPr lang="en-US" dirty="0"/>
          </a:p>
        </p:txBody>
      </p:sp>
    </p:spTree>
    <p:extLst>
      <p:ext uri="{BB962C8B-B14F-4D97-AF65-F5344CB8AC3E}">
        <p14:creationId xmlns:p14="http://schemas.microsoft.com/office/powerpoint/2010/main" val="9878526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0D601-1C06-AEEC-E12A-46E9EA8D9606}"/>
              </a:ext>
            </a:extLst>
          </p:cNvPr>
          <p:cNvSpPr>
            <a:spLocks noGrp="1"/>
          </p:cNvSpPr>
          <p:nvPr>
            <p:ph type="title"/>
          </p:nvPr>
        </p:nvSpPr>
        <p:spPr/>
        <p:txBody>
          <a:bodyPr/>
          <a:lstStyle/>
          <a:p>
            <a:r>
              <a:rPr lang="en-US" dirty="0"/>
              <a:t>Sampling weight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26824D-CC06-E775-5655-CA66EADDD9BE}"/>
                  </a:ext>
                </a:extLst>
              </p:cNvPr>
              <p:cNvSpPr>
                <a:spLocks noGrp="1"/>
              </p:cNvSpPr>
              <p:nvPr>
                <p:ph idx="1"/>
              </p:nvPr>
            </p:nvSpPr>
            <p:spPr/>
            <p:txBody>
              <a:bodyPr/>
              <a:lstStyle/>
              <a:p>
                <a:r>
                  <a:rPr lang="en-US" dirty="0"/>
                  <a:t>Sampling weight of sampled unit </a:t>
                </a:r>
                <a:r>
                  <a:rPr lang="en-US" i="1" dirty="0" err="1"/>
                  <a:t>i</a:t>
                </a:r>
                <a:r>
                  <a:rPr lang="en-US" dirty="0"/>
                  <a:t> of stratum </a:t>
                </a:r>
                <a:r>
                  <a:rPr lang="en-US" i="1" dirty="0"/>
                  <a:t>h</a:t>
                </a:r>
                <a:r>
                  <a:rPr lang="en-US" dirty="0"/>
                  <a:t> can be interpreted as the number of units in stratum </a:t>
                </a:r>
                <a:r>
                  <a:rPr lang="en-US" i="1" dirty="0"/>
                  <a:t>h </a:t>
                </a:r>
                <a:r>
                  <a:rPr lang="en-US" dirty="0"/>
                  <a:t>represented by unit </a:t>
                </a:r>
                <a:r>
                  <a:rPr lang="en-US" i="1" dirty="0" err="1"/>
                  <a:t>i</a:t>
                </a:r>
                <a:endParaRPr lang="en-US" dirty="0"/>
              </a:p>
              <a:p>
                <a:endParaRPr lang="en-US" dirty="0"/>
              </a:p>
              <a:p>
                <a:endParaRPr lang="en-US" dirty="0"/>
              </a:p>
              <a:p>
                <a:endParaRPr lang="en-US" dirty="0"/>
              </a:p>
              <a:p>
                <a:endParaRPr lang="en-US" dirty="0"/>
              </a:p>
              <a:p>
                <a:pPr marL="0" indent="0">
                  <a:buNone/>
                </a:pPr>
                <a:r>
                  <a:rPr lang="en-US" dirty="0"/>
                  <a:t>where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rPr>
                          <m:t>𝑖h</m:t>
                        </m:r>
                      </m:sub>
                    </m:sSub>
                  </m:oMath>
                </a14:m>
                <a:r>
                  <a:rPr lang="en-US" dirty="0"/>
                  <a:t> is the inclusion probability for unit </a:t>
                </a:r>
                <a:r>
                  <a:rPr lang="en-US" i="1" dirty="0" err="1"/>
                  <a:t>i</a:t>
                </a:r>
                <a:r>
                  <a:rPr lang="en-US" dirty="0"/>
                  <a:t>.</a:t>
                </a:r>
              </a:p>
            </p:txBody>
          </p:sp>
        </mc:Choice>
        <mc:Fallback xmlns="">
          <p:sp>
            <p:nvSpPr>
              <p:cNvPr id="3" name="Content Placeholder 2">
                <a:extLst>
                  <a:ext uri="{FF2B5EF4-FFF2-40B4-BE49-F238E27FC236}">
                    <a16:creationId xmlns:a16="http://schemas.microsoft.com/office/drawing/2014/main" id="{2226824D-CC06-E775-5655-CA66EADDD9BE}"/>
                  </a:ext>
                </a:extLst>
              </p:cNvPr>
              <p:cNvSpPr>
                <a:spLocks noGrp="1" noRot="1" noChangeAspect="1" noMove="1" noResize="1" noEditPoints="1" noAdjustHandles="1" noChangeArrowheads="1" noChangeShapeType="1" noTextEdit="1"/>
              </p:cNvSpPr>
              <p:nvPr>
                <p:ph idx="1"/>
              </p:nvPr>
            </p:nvSpPr>
            <p:spPr>
              <a:blipFill>
                <a:blip r:embed="rId2"/>
                <a:stretch>
                  <a:fillRect l="-1569" t="-1385" r="-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50F735-8B5D-1A36-DF81-EC11C9B85C55}"/>
                  </a:ext>
                </a:extLst>
              </p:cNvPr>
              <p:cNvSpPr txBox="1"/>
              <p:nvPr/>
            </p:nvSpPr>
            <p:spPr>
              <a:xfrm>
                <a:off x="2924628" y="3418745"/>
                <a:ext cx="2663372" cy="7562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𝑖h</m:t>
                          </m:r>
                        </m:sub>
                      </m:sSub>
                      <m:r>
                        <a:rPr lang="en-US" sz="2400" i="1">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rPr>
                                <m:t>𝑖h</m:t>
                              </m:r>
                            </m:sub>
                          </m:sSub>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h</m:t>
                              </m:r>
                            </m:sub>
                          </m:sSub>
                        </m:num>
                        <m:den>
                          <m:sSub>
                            <m:sSubPr>
                              <m:ctrlPr>
                                <a:rPr lang="en-US" sz="2400" i="1">
                                  <a:latin typeface="Cambria Math" panose="02040503050406030204" pitchFamily="18" charset="0"/>
                                </a:rPr>
                              </m:ctrlPr>
                            </m:sSubPr>
                            <m:e>
                              <m:r>
                                <a:rPr lang="en-US" sz="2400" b="0" i="1" smtClean="0">
                                  <a:latin typeface="Cambria Math" panose="02040503050406030204" pitchFamily="18" charset="0"/>
                                </a:rPr>
                                <m:t>𝑛</m:t>
                              </m:r>
                            </m:e>
                            <m:sub>
                              <m:r>
                                <a:rPr lang="en-US" sz="2400" i="1">
                                  <a:latin typeface="Cambria Math" panose="02040503050406030204" pitchFamily="18" charset="0"/>
                                </a:rPr>
                                <m:t>h</m:t>
                              </m:r>
                            </m:sub>
                          </m:sSub>
                        </m:den>
                      </m:f>
                    </m:oMath>
                  </m:oMathPara>
                </a14:m>
                <a:endParaRPr lang="en-US" sz="2400" dirty="0"/>
              </a:p>
            </p:txBody>
          </p:sp>
        </mc:Choice>
        <mc:Fallback xmlns="">
          <p:sp>
            <p:nvSpPr>
              <p:cNvPr id="4" name="TextBox 3">
                <a:extLst>
                  <a:ext uri="{FF2B5EF4-FFF2-40B4-BE49-F238E27FC236}">
                    <a16:creationId xmlns:a16="http://schemas.microsoft.com/office/drawing/2014/main" id="{A850F735-8B5D-1A36-DF81-EC11C9B85C55}"/>
                  </a:ext>
                </a:extLst>
              </p:cNvPr>
              <p:cNvSpPr txBox="1">
                <a:spLocks noRot="1" noChangeAspect="1" noMove="1" noResize="1" noEditPoints="1" noAdjustHandles="1" noChangeArrowheads="1" noChangeShapeType="1" noTextEdit="1"/>
              </p:cNvSpPr>
              <p:nvPr/>
            </p:nvSpPr>
            <p:spPr>
              <a:xfrm>
                <a:off x="2924628" y="3418745"/>
                <a:ext cx="2663372" cy="75629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377274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0EF8D-B283-291A-235C-35F4AD138CD8}"/>
              </a:ext>
            </a:extLst>
          </p:cNvPr>
          <p:cNvSpPr>
            <a:spLocks noGrp="1"/>
          </p:cNvSpPr>
          <p:nvPr>
            <p:ph type="title"/>
          </p:nvPr>
        </p:nvSpPr>
        <p:spPr/>
        <p:txBody>
          <a:bodyPr/>
          <a:lstStyle/>
          <a:p>
            <a:r>
              <a:rPr lang="en-US" dirty="0"/>
              <a:t>Sampling weight</a:t>
            </a:r>
          </a:p>
        </p:txBody>
      </p:sp>
      <p:sp>
        <p:nvSpPr>
          <p:cNvPr id="3" name="Content Placeholder 2">
            <a:extLst>
              <a:ext uri="{FF2B5EF4-FFF2-40B4-BE49-F238E27FC236}">
                <a16:creationId xmlns:a16="http://schemas.microsoft.com/office/drawing/2014/main" id="{C986ECA8-DC44-C570-5313-9900B9E0AB4A}"/>
              </a:ext>
            </a:extLst>
          </p:cNvPr>
          <p:cNvSpPr>
            <a:spLocks noGrp="1"/>
          </p:cNvSpPr>
          <p:nvPr>
            <p:ph idx="1"/>
          </p:nvPr>
        </p:nvSpPr>
        <p:spPr/>
        <p:txBody>
          <a:bodyPr/>
          <a:lstStyle/>
          <a:p>
            <a:r>
              <a:rPr lang="en-US" dirty="0"/>
              <a:t>If the population has 1600 men and 400 women, and the stratified sample design specifies sampling 200 men and 200 women, then </a:t>
            </a:r>
          </a:p>
          <a:p>
            <a:r>
              <a:rPr lang="en-US" dirty="0"/>
              <a:t>each man in the sample has a weight of ____ and each woman has a weight of ____. </a:t>
            </a:r>
          </a:p>
        </p:txBody>
      </p:sp>
    </p:spTree>
    <p:extLst>
      <p:ext uri="{BB962C8B-B14F-4D97-AF65-F5344CB8AC3E}">
        <p14:creationId xmlns:p14="http://schemas.microsoft.com/office/powerpoint/2010/main" val="7281984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F4F-82F1-0C60-BFC6-2DC1BD6875E8}"/>
              </a:ext>
            </a:extLst>
          </p:cNvPr>
          <p:cNvSpPr>
            <a:spLocks noGrp="1"/>
          </p:cNvSpPr>
          <p:nvPr>
            <p:ph type="title"/>
          </p:nvPr>
        </p:nvSpPr>
        <p:spPr/>
        <p:txBody>
          <a:bodyPr/>
          <a:lstStyle/>
          <a:p>
            <a:r>
              <a:rPr lang="en-US" dirty="0"/>
              <a:t>Sampling weight</a:t>
            </a:r>
          </a:p>
        </p:txBody>
      </p:sp>
      <p:sp>
        <p:nvSpPr>
          <p:cNvPr id="3" name="Content Placeholder 2">
            <a:extLst>
              <a:ext uri="{FF2B5EF4-FFF2-40B4-BE49-F238E27FC236}">
                <a16:creationId xmlns:a16="http://schemas.microsoft.com/office/drawing/2014/main" id="{B3C81BB1-0AD6-0139-7019-78E8D9B30874}"/>
              </a:ext>
            </a:extLst>
          </p:cNvPr>
          <p:cNvSpPr>
            <a:spLocks noGrp="1"/>
          </p:cNvSpPr>
          <p:nvPr>
            <p:ph idx="1"/>
          </p:nvPr>
        </p:nvSpPr>
        <p:spPr/>
        <p:txBody>
          <a:bodyPr/>
          <a:lstStyle/>
          <a:p>
            <a:r>
              <a:rPr lang="en-US" dirty="0"/>
              <a:t>The population size is estimated by the sum of the weights for the sample:</a:t>
            </a:r>
          </a:p>
          <a:p>
            <a:endParaRPr lang="en-US" dirty="0"/>
          </a:p>
          <a:p>
            <a:endParaRPr lang="en-US" dirty="0"/>
          </a:p>
          <a:p>
            <a:endParaRPr lang="en-US" dirty="0"/>
          </a:p>
          <a:p>
            <a:r>
              <a:rPr lang="en-US" dirty="0"/>
              <a:t>the population mean is estimated by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0F9268E-04BD-94A2-E3DB-54451E3F0467}"/>
                  </a:ext>
                </a:extLst>
              </p:cNvPr>
              <p:cNvSpPr txBox="1"/>
              <p:nvPr/>
            </p:nvSpPr>
            <p:spPr>
              <a:xfrm>
                <a:off x="3004457" y="2672703"/>
                <a:ext cx="2663372" cy="9026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h</m:t>
                          </m:r>
                        </m:sub>
                        <m:sup/>
                        <m:e>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𝑖h</m:t>
                                  </m:r>
                                </m:sub>
                              </m:sSub>
                            </m:e>
                          </m:nary>
                        </m:e>
                      </m:nary>
                    </m:oMath>
                  </m:oMathPara>
                </a14:m>
                <a:endParaRPr lang="en-US" sz="2400" dirty="0">
                  <a:latin typeface="+mn-lt"/>
                </a:endParaRPr>
              </a:p>
            </p:txBody>
          </p:sp>
        </mc:Choice>
        <mc:Fallback xmlns="">
          <p:sp>
            <p:nvSpPr>
              <p:cNvPr id="4" name="TextBox 3">
                <a:extLst>
                  <a:ext uri="{FF2B5EF4-FFF2-40B4-BE49-F238E27FC236}">
                    <a16:creationId xmlns:a16="http://schemas.microsoft.com/office/drawing/2014/main" id="{70F9268E-04BD-94A2-E3DB-54451E3F0467}"/>
                  </a:ext>
                </a:extLst>
              </p:cNvPr>
              <p:cNvSpPr txBox="1">
                <a:spLocks noRot="1" noChangeAspect="1" noMove="1" noResize="1" noEditPoints="1" noAdjustHandles="1" noChangeArrowheads="1" noChangeShapeType="1" noTextEdit="1"/>
              </p:cNvSpPr>
              <p:nvPr/>
            </p:nvSpPr>
            <p:spPr>
              <a:xfrm>
                <a:off x="3004457" y="2672703"/>
                <a:ext cx="2663372" cy="90268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A43D8A-2921-4892-C4E8-52BA27E570AD}"/>
                  </a:ext>
                </a:extLst>
              </p:cNvPr>
              <p:cNvSpPr txBox="1"/>
              <p:nvPr/>
            </p:nvSpPr>
            <p:spPr>
              <a:xfrm>
                <a:off x="3004457" y="4973217"/>
                <a:ext cx="3570514" cy="7990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h</m:t>
                              </m:r>
                            </m:sub>
                            <m:sup/>
                            <m:e>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𝑖h</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𝑖h</m:t>
                                      </m:r>
                                    </m:sub>
                                  </m:sSub>
                                </m:e>
                              </m:nary>
                            </m:e>
                          </m:nary>
                        </m:num>
                        <m:den>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h</m:t>
                              </m:r>
                            </m:sub>
                            <m:sup/>
                            <m:e>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𝑖h</m:t>
                                      </m:r>
                                    </m:sub>
                                  </m:sSub>
                                </m:e>
                              </m:nary>
                            </m:e>
                          </m:nary>
                        </m:den>
                      </m:f>
                    </m:oMath>
                  </m:oMathPara>
                </a14:m>
                <a:endParaRPr lang="en-US" sz="2400" dirty="0">
                  <a:latin typeface="+mn-lt"/>
                </a:endParaRPr>
              </a:p>
            </p:txBody>
          </p:sp>
        </mc:Choice>
        <mc:Fallback xmlns="">
          <p:sp>
            <p:nvSpPr>
              <p:cNvPr id="5" name="TextBox 4">
                <a:extLst>
                  <a:ext uri="{FF2B5EF4-FFF2-40B4-BE49-F238E27FC236}">
                    <a16:creationId xmlns:a16="http://schemas.microsoft.com/office/drawing/2014/main" id="{E3A43D8A-2921-4892-C4E8-52BA27E570AD}"/>
                  </a:ext>
                </a:extLst>
              </p:cNvPr>
              <p:cNvSpPr txBox="1">
                <a:spLocks noRot="1" noChangeAspect="1" noMove="1" noResize="1" noEditPoints="1" noAdjustHandles="1" noChangeArrowheads="1" noChangeShapeType="1" noTextEdit="1"/>
              </p:cNvSpPr>
              <p:nvPr/>
            </p:nvSpPr>
            <p:spPr>
              <a:xfrm>
                <a:off x="3004457" y="4973217"/>
                <a:ext cx="3570514" cy="79906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08817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131-6FD2-842C-A71D-8AE486B2B601}"/>
              </a:ext>
            </a:extLst>
          </p:cNvPr>
          <p:cNvSpPr>
            <a:spLocks noGrp="1"/>
          </p:cNvSpPr>
          <p:nvPr>
            <p:ph type="title"/>
          </p:nvPr>
        </p:nvSpPr>
        <p:spPr/>
        <p:txBody>
          <a:bodyPr/>
          <a:lstStyle/>
          <a:p>
            <a:r>
              <a:rPr lang="en-US" dirty="0"/>
              <a:t>Proportional Allocation</a:t>
            </a:r>
          </a:p>
        </p:txBody>
      </p:sp>
      <p:sp>
        <p:nvSpPr>
          <p:cNvPr id="3" name="Content Placeholder 2">
            <a:extLst>
              <a:ext uri="{FF2B5EF4-FFF2-40B4-BE49-F238E27FC236}">
                <a16:creationId xmlns:a16="http://schemas.microsoft.com/office/drawing/2014/main" id="{5E69360B-1CC1-FFB2-2B74-0E27E8119EF8}"/>
              </a:ext>
            </a:extLst>
          </p:cNvPr>
          <p:cNvSpPr>
            <a:spLocks noGrp="1"/>
          </p:cNvSpPr>
          <p:nvPr>
            <p:ph idx="1"/>
          </p:nvPr>
        </p:nvSpPr>
        <p:spPr>
          <a:xfrm>
            <a:off x="685800" y="1752600"/>
            <a:ext cx="7772400" cy="4546600"/>
          </a:xfrm>
        </p:spPr>
        <p:txBody>
          <a:bodyPr/>
          <a:lstStyle/>
          <a:p>
            <a:r>
              <a:rPr lang="en-US" dirty="0"/>
              <a:t>Proportional allocation means the same proportion of units was sampled in each stratum</a:t>
            </a:r>
          </a:p>
          <a:p>
            <a:r>
              <a:rPr lang="en-US" dirty="0"/>
              <a:t>The number of sampled units in each stratum is proportional to the size of the stratum</a:t>
            </a:r>
          </a:p>
          <a:p>
            <a:r>
              <a:rPr lang="en-US" dirty="0"/>
              <a:t>The inclusion probability for unit </a:t>
            </a:r>
            <a:r>
              <a:rPr lang="en-US" i="1" dirty="0" err="1"/>
              <a:t>i</a:t>
            </a:r>
            <a:r>
              <a:rPr lang="en-US" dirty="0"/>
              <a:t> in stratum h is the same for all strata.</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2D1070-947B-765E-F4F6-B1F0FF9B1DC5}"/>
                  </a:ext>
                </a:extLst>
              </p:cNvPr>
              <p:cNvSpPr txBox="1"/>
              <p:nvPr/>
            </p:nvSpPr>
            <p:spPr>
              <a:xfrm>
                <a:off x="2895599" y="4449259"/>
                <a:ext cx="2663372" cy="7562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rPr>
                            <m:t>𝑖h</m:t>
                          </m:r>
                        </m:sub>
                      </m:sSub>
                      <m:r>
                        <a:rPr lang="en-US" sz="2400" i="1">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𝑁</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h</m:t>
                              </m:r>
                            </m:sub>
                          </m:sSub>
                        </m:num>
                        <m:den>
                          <m:sSub>
                            <m:sSubPr>
                              <m:ctrlPr>
                                <a:rPr lang="en-US" sz="2400" i="1">
                                  <a:latin typeface="Cambria Math" panose="02040503050406030204" pitchFamily="18" charset="0"/>
                                </a:rPr>
                              </m:ctrlPr>
                            </m:sSubPr>
                            <m:e>
                              <m:r>
                                <a:rPr lang="en-US" sz="2400" b="0" i="1" smtClean="0">
                                  <a:latin typeface="Cambria Math" panose="02040503050406030204" pitchFamily="18" charset="0"/>
                                </a:rPr>
                                <m:t>𝑛</m:t>
                              </m:r>
                            </m:e>
                            <m:sub>
                              <m:r>
                                <a:rPr lang="en-US" sz="2400" i="1">
                                  <a:latin typeface="Cambria Math" panose="02040503050406030204" pitchFamily="18" charset="0"/>
                                </a:rPr>
                                <m:t>h</m:t>
                              </m:r>
                            </m:sub>
                          </m:sSub>
                        </m:den>
                      </m:f>
                    </m:oMath>
                  </m:oMathPara>
                </a14:m>
                <a:endParaRPr lang="en-US" sz="2400" dirty="0"/>
              </a:p>
            </p:txBody>
          </p:sp>
        </mc:Choice>
        <mc:Fallback xmlns="">
          <p:sp>
            <p:nvSpPr>
              <p:cNvPr id="4" name="TextBox 3">
                <a:extLst>
                  <a:ext uri="{FF2B5EF4-FFF2-40B4-BE49-F238E27FC236}">
                    <a16:creationId xmlns:a16="http://schemas.microsoft.com/office/drawing/2014/main" id="{1E2D1070-947B-765E-F4F6-B1F0FF9B1DC5}"/>
                  </a:ext>
                </a:extLst>
              </p:cNvPr>
              <p:cNvSpPr txBox="1">
                <a:spLocks noRot="1" noChangeAspect="1" noMove="1" noResize="1" noEditPoints="1" noAdjustHandles="1" noChangeArrowheads="1" noChangeShapeType="1" noTextEdit="1"/>
              </p:cNvSpPr>
              <p:nvPr/>
            </p:nvSpPr>
            <p:spPr>
              <a:xfrm>
                <a:off x="2895599" y="4449259"/>
                <a:ext cx="2663372" cy="7562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04385E-22F6-C8A0-FDFC-5C16FBB2D975}"/>
                  </a:ext>
                </a:extLst>
              </p:cNvPr>
              <p:cNvSpPr txBox="1"/>
              <p:nvPr/>
            </p:nvSpPr>
            <p:spPr>
              <a:xfrm>
                <a:off x="1941285" y="5389939"/>
                <a:ext cx="4572000" cy="7248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𝜋</m:t>
                          </m:r>
                        </m:e>
                        <m:sub>
                          <m:r>
                            <a:rPr lang="en-US" sz="2400" i="1">
                              <a:latin typeface="Cambria Math" panose="02040503050406030204" pitchFamily="18" charset="0"/>
                            </a:rPr>
                            <m:t>𝑖h</m:t>
                          </m:r>
                        </m:sub>
                      </m:sSub>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𝑁</m:t>
                          </m:r>
                        </m:den>
                      </m:f>
                    </m:oMath>
                  </m:oMathPara>
                </a14:m>
                <a:endParaRPr lang="en-US" sz="2400" dirty="0"/>
              </a:p>
            </p:txBody>
          </p:sp>
        </mc:Choice>
        <mc:Fallback xmlns="">
          <p:sp>
            <p:nvSpPr>
              <p:cNvPr id="6" name="TextBox 5">
                <a:extLst>
                  <a:ext uri="{FF2B5EF4-FFF2-40B4-BE49-F238E27FC236}">
                    <a16:creationId xmlns:a16="http://schemas.microsoft.com/office/drawing/2014/main" id="{4504385E-22F6-C8A0-FDFC-5C16FBB2D975}"/>
                  </a:ext>
                </a:extLst>
              </p:cNvPr>
              <p:cNvSpPr txBox="1">
                <a:spLocks noRot="1" noChangeAspect="1" noMove="1" noResize="1" noEditPoints="1" noAdjustHandles="1" noChangeArrowheads="1" noChangeShapeType="1" noTextEdit="1"/>
              </p:cNvSpPr>
              <p:nvPr/>
            </p:nvSpPr>
            <p:spPr>
              <a:xfrm>
                <a:off x="1941285" y="5389939"/>
                <a:ext cx="4572000" cy="72487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93023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5E46-B501-594D-DCCF-10CF34E2200A}"/>
              </a:ext>
            </a:extLst>
          </p:cNvPr>
          <p:cNvSpPr>
            <a:spLocks noGrp="1"/>
          </p:cNvSpPr>
          <p:nvPr>
            <p:ph type="title"/>
          </p:nvPr>
        </p:nvSpPr>
        <p:spPr/>
        <p:txBody>
          <a:bodyPr/>
          <a:lstStyle/>
          <a:p>
            <a:r>
              <a:rPr lang="en-US" dirty="0"/>
              <a:t>Proportional Allocation</a:t>
            </a:r>
          </a:p>
        </p:txBody>
      </p:sp>
      <p:sp>
        <p:nvSpPr>
          <p:cNvPr id="3" name="Content Placeholder 2">
            <a:extLst>
              <a:ext uri="{FF2B5EF4-FFF2-40B4-BE49-F238E27FC236}">
                <a16:creationId xmlns:a16="http://schemas.microsoft.com/office/drawing/2014/main" id="{E566BDD0-B7F5-54C0-5B9F-9FAC17C79E62}"/>
              </a:ext>
            </a:extLst>
          </p:cNvPr>
          <p:cNvSpPr>
            <a:spLocks noGrp="1"/>
          </p:cNvSpPr>
          <p:nvPr>
            <p:ph idx="1"/>
          </p:nvPr>
        </p:nvSpPr>
        <p:spPr/>
        <p:txBody>
          <a:bodyPr/>
          <a:lstStyle/>
          <a:p>
            <a:r>
              <a:rPr lang="en-US" dirty="0"/>
              <a:t>The probability that an individual will be selected to be in the sample, n/N, is the same as in an SRS</a:t>
            </a:r>
          </a:p>
          <a:p>
            <a:r>
              <a:rPr lang="en-US" dirty="0"/>
              <a:t>With proportional allocation, each unit in the sample represents the same number of units in the population.</a:t>
            </a:r>
          </a:p>
          <a:p>
            <a:endParaRPr lang="en-US" dirty="0"/>
          </a:p>
        </p:txBody>
      </p:sp>
    </p:spTree>
    <p:extLst>
      <p:ext uri="{BB962C8B-B14F-4D97-AF65-F5344CB8AC3E}">
        <p14:creationId xmlns:p14="http://schemas.microsoft.com/office/powerpoint/2010/main" val="8492570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978C-17BA-C337-6CED-733E8689F1FA}"/>
              </a:ext>
            </a:extLst>
          </p:cNvPr>
          <p:cNvSpPr>
            <a:spLocks noGrp="1"/>
          </p:cNvSpPr>
          <p:nvPr>
            <p:ph type="title"/>
          </p:nvPr>
        </p:nvSpPr>
        <p:spPr/>
        <p:txBody>
          <a:bodyPr/>
          <a:lstStyle/>
          <a:p>
            <a:r>
              <a:rPr lang="en-US" dirty="0"/>
              <a:t>Proportional Allocation</a:t>
            </a:r>
          </a:p>
        </p:txBody>
      </p:sp>
      <p:sp>
        <p:nvSpPr>
          <p:cNvPr id="3" name="Content Placeholder 2">
            <a:extLst>
              <a:ext uri="{FF2B5EF4-FFF2-40B4-BE49-F238E27FC236}">
                <a16:creationId xmlns:a16="http://schemas.microsoft.com/office/drawing/2014/main" id="{EAF51EB3-6876-3F25-AD98-C52A188735B1}"/>
              </a:ext>
            </a:extLst>
          </p:cNvPr>
          <p:cNvSpPr>
            <a:spLocks noGrp="1"/>
          </p:cNvSpPr>
          <p:nvPr>
            <p:ph idx="1"/>
          </p:nvPr>
        </p:nvSpPr>
        <p:spPr/>
        <p:txBody>
          <a:bodyPr/>
          <a:lstStyle/>
          <a:p>
            <a:r>
              <a:rPr lang="en-US" dirty="0"/>
              <a:t>If the population has 1600 men and 400 women, and the stratified sample design specifies sampling 400 individuals with proportional allocation, then </a:t>
            </a:r>
          </a:p>
          <a:p>
            <a:r>
              <a:rPr lang="en-US" dirty="0"/>
              <a:t>The sample will have ____ men and ____ women</a:t>
            </a:r>
          </a:p>
          <a:p>
            <a:r>
              <a:rPr lang="en-US" dirty="0"/>
              <a:t>The probability of being selected for each individual is _____</a:t>
            </a:r>
          </a:p>
          <a:p>
            <a:r>
              <a:rPr lang="en-US" dirty="0"/>
              <a:t>The sampling weight for men is _____ and for women is _______</a:t>
            </a:r>
          </a:p>
          <a:p>
            <a:endParaRPr lang="en-US" dirty="0"/>
          </a:p>
        </p:txBody>
      </p:sp>
    </p:spTree>
    <p:extLst>
      <p:ext uri="{BB962C8B-B14F-4D97-AF65-F5344CB8AC3E}">
        <p14:creationId xmlns:p14="http://schemas.microsoft.com/office/powerpoint/2010/main" val="33347027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960C6-3039-8741-4E00-5940FEE6C0D7}"/>
              </a:ext>
            </a:extLst>
          </p:cNvPr>
          <p:cNvSpPr>
            <a:spLocks noGrp="1"/>
          </p:cNvSpPr>
          <p:nvPr>
            <p:ph type="title"/>
          </p:nvPr>
        </p:nvSpPr>
        <p:spPr/>
        <p:txBody>
          <a:bodyPr/>
          <a:lstStyle/>
          <a:p>
            <a:r>
              <a:rPr lang="en-US" dirty="0"/>
              <a:t>Disproportional allocation</a:t>
            </a:r>
          </a:p>
        </p:txBody>
      </p:sp>
      <p:sp>
        <p:nvSpPr>
          <p:cNvPr id="3" name="Content Placeholder 2">
            <a:extLst>
              <a:ext uri="{FF2B5EF4-FFF2-40B4-BE49-F238E27FC236}">
                <a16:creationId xmlns:a16="http://schemas.microsoft.com/office/drawing/2014/main" id="{4593F84A-F325-89D3-6238-662173D6EE05}"/>
              </a:ext>
            </a:extLst>
          </p:cNvPr>
          <p:cNvSpPr>
            <a:spLocks noGrp="1"/>
          </p:cNvSpPr>
          <p:nvPr>
            <p:ph idx="1"/>
          </p:nvPr>
        </p:nvSpPr>
        <p:spPr/>
        <p:txBody>
          <a:bodyPr/>
          <a:lstStyle/>
          <a:p>
            <a:r>
              <a:rPr lang="en-US" dirty="0"/>
              <a:t>The U.S. Postal Service has conducted surveys asking postal customers about their perceptions of the quality of mail service. </a:t>
            </a:r>
          </a:p>
          <a:p>
            <a:r>
              <a:rPr lang="en-US" dirty="0"/>
              <a:t>The population of residential postal service customers is stratified by geographic area, and it is desired that the precision be ±3 percentage points, at a 95% confidence level, within each area.</a:t>
            </a:r>
          </a:p>
          <a:p>
            <a:r>
              <a:rPr lang="en-US" dirty="0"/>
              <a:t>The USPS may choose to sample 1,100 customers in each area.</a:t>
            </a:r>
          </a:p>
          <a:p>
            <a:r>
              <a:rPr lang="en-US" dirty="0"/>
              <a:t>This is disproportional but provide desired precision.</a:t>
            </a:r>
          </a:p>
        </p:txBody>
      </p:sp>
    </p:spTree>
    <p:extLst>
      <p:ext uri="{BB962C8B-B14F-4D97-AF65-F5344CB8AC3E}">
        <p14:creationId xmlns:p14="http://schemas.microsoft.com/office/powerpoint/2010/main" val="36833295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B294-E864-30A1-87D4-13597A2883DB}"/>
              </a:ext>
            </a:extLst>
          </p:cNvPr>
          <p:cNvSpPr>
            <a:spLocks noGrp="1"/>
          </p:cNvSpPr>
          <p:nvPr>
            <p:ph type="title"/>
          </p:nvPr>
        </p:nvSpPr>
        <p:spPr/>
        <p:txBody>
          <a:bodyPr/>
          <a:lstStyle/>
          <a:p>
            <a:r>
              <a:rPr lang="en-US" dirty="0"/>
              <a:t>Which to use?</a:t>
            </a:r>
          </a:p>
        </p:txBody>
      </p:sp>
      <p:sp>
        <p:nvSpPr>
          <p:cNvPr id="3" name="Content Placeholder 2">
            <a:extLst>
              <a:ext uri="{FF2B5EF4-FFF2-40B4-BE49-F238E27FC236}">
                <a16:creationId xmlns:a16="http://schemas.microsoft.com/office/drawing/2014/main" id="{97DA3D3A-E870-96A6-BC2D-8F9D265096BE}"/>
              </a:ext>
            </a:extLst>
          </p:cNvPr>
          <p:cNvSpPr>
            <a:spLocks noGrp="1"/>
          </p:cNvSpPr>
          <p:nvPr>
            <p:ph idx="1"/>
          </p:nvPr>
        </p:nvSpPr>
        <p:spPr/>
        <p:txBody>
          <a:bodyPr/>
          <a:lstStyle/>
          <a:p>
            <a:r>
              <a:rPr lang="en-US" dirty="0"/>
              <a:t>If you are taking a stratified sample in order to ensure that the sample reflects the population with respect to the stratification variable and you would like your sample to be a miniature version of the population, you should use </a:t>
            </a:r>
            <a:r>
              <a:rPr lang="en-US" b="1" dirty="0"/>
              <a:t>proportional allocation</a:t>
            </a:r>
            <a:r>
              <a:rPr lang="en-US" dirty="0"/>
              <a:t>.</a:t>
            </a:r>
          </a:p>
          <a:p>
            <a:r>
              <a:rPr lang="en-US" b="1" dirty="0"/>
              <a:t>Disproportional allocations </a:t>
            </a:r>
            <a:r>
              <a:rPr lang="en-US" dirty="0"/>
              <a:t>specify oversampling one or more of the strata. It may be needed if you want to guarantee that estimates calculated from individual strata will achieve a specified degree of precision.</a:t>
            </a:r>
          </a:p>
          <a:p>
            <a:endParaRPr lang="en-US" dirty="0"/>
          </a:p>
        </p:txBody>
      </p:sp>
    </p:spTree>
    <p:extLst>
      <p:ext uri="{BB962C8B-B14F-4D97-AF65-F5344CB8AC3E}">
        <p14:creationId xmlns:p14="http://schemas.microsoft.com/office/powerpoint/2010/main" val="4401236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3A0B-8682-8F1F-7BE1-0C3E526713DC}"/>
              </a:ext>
            </a:extLst>
          </p:cNvPr>
          <p:cNvSpPr>
            <a:spLocks noGrp="1"/>
          </p:cNvSpPr>
          <p:nvPr>
            <p:ph type="title"/>
          </p:nvPr>
        </p:nvSpPr>
        <p:spPr/>
        <p:txBody>
          <a:bodyPr/>
          <a:lstStyle/>
          <a:p>
            <a:r>
              <a:rPr lang="en-US" dirty="0"/>
              <a:t>Which to use?</a:t>
            </a:r>
          </a:p>
        </p:txBody>
      </p:sp>
      <p:sp>
        <p:nvSpPr>
          <p:cNvPr id="3" name="Content Placeholder 2">
            <a:extLst>
              <a:ext uri="{FF2B5EF4-FFF2-40B4-BE49-F238E27FC236}">
                <a16:creationId xmlns:a16="http://schemas.microsoft.com/office/drawing/2014/main" id="{12FEE76F-8685-C6FE-B97A-0992CC409538}"/>
              </a:ext>
            </a:extLst>
          </p:cNvPr>
          <p:cNvSpPr>
            <a:spLocks noGrp="1"/>
          </p:cNvSpPr>
          <p:nvPr>
            <p:ph idx="1"/>
          </p:nvPr>
        </p:nvSpPr>
        <p:spPr/>
        <p:txBody>
          <a:bodyPr/>
          <a:lstStyle/>
          <a:p>
            <a:r>
              <a:rPr lang="en-US" dirty="0"/>
              <a:t>A stratified sample with disproportional allocation is </a:t>
            </a:r>
            <a:r>
              <a:rPr lang="en-US" b="1" dirty="0"/>
              <a:t>representative</a:t>
            </a:r>
            <a:r>
              <a:rPr lang="en-US" dirty="0"/>
              <a:t>, in the sense that it can be used to estimate any numerical quantity that could be calculated from the population, but it is </a:t>
            </a:r>
            <a:r>
              <a:rPr lang="en-US" b="1" dirty="0"/>
              <a:t>not</a:t>
            </a:r>
            <a:r>
              <a:rPr lang="en-US" dirty="0"/>
              <a:t> a small-scale replica of the population. </a:t>
            </a:r>
          </a:p>
          <a:p>
            <a:r>
              <a:rPr lang="en-US" dirty="0"/>
              <a:t>You must use the sampling weights when graphing data and computing estimates; otherwise, your estimates will be biased.</a:t>
            </a:r>
          </a:p>
        </p:txBody>
      </p:sp>
    </p:spTree>
    <p:extLst>
      <p:ext uri="{BB962C8B-B14F-4D97-AF65-F5344CB8AC3E}">
        <p14:creationId xmlns:p14="http://schemas.microsoft.com/office/powerpoint/2010/main" val="7344892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23A77-59F1-1379-8B08-5E28031C970E}"/>
              </a:ext>
            </a:extLst>
          </p:cNvPr>
          <p:cNvSpPr>
            <a:spLocks noGrp="1"/>
          </p:cNvSpPr>
          <p:nvPr>
            <p:ph type="title"/>
          </p:nvPr>
        </p:nvSpPr>
        <p:spPr/>
        <p:txBody>
          <a:bodyPr/>
          <a:lstStyle/>
          <a:p>
            <a:r>
              <a:rPr lang="en-US" dirty="0"/>
              <a:t>Determining the Total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1813DD-8EDE-856C-13C8-ADDAD747AD35}"/>
                  </a:ext>
                </a:extLst>
              </p:cNvPr>
              <p:cNvSpPr>
                <a:spLocks noGrp="1"/>
              </p:cNvSpPr>
              <p:nvPr>
                <p:ph idx="1"/>
              </p:nvPr>
            </p:nvSpPr>
            <p:spPr/>
            <p:txBody>
              <a:bodyPr/>
              <a:lstStyle/>
              <a:p>
                <a:r>
                  <a:rPr lang="en-US" dirty="0"/>
                  <a:t>For proportional allocation, the sample size needed is</a:t>
                </a:r>
              </a:p>
              <a:p>
                <a:endParaRPr lang="en-US" dirty="0"/>
              </a:p>
              <a:p>
                <a:endParaRPr lang="en-US" dirty="0"/>
              </a:p>
              <a:p>
                <a:endParaRPr lang="en-US" dirty="0"/>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𝑆𝑅𝑆</m:t>
                        </m:r>
                      </m:sub>
                    </m:sSub>
                    <m:r>
                      <a:rPr lang="en-US" sz="2400" b="0" i="1" smtClean="0">
                        <a:latin typeface="Cambria Math" panose="02040503050406030204" pitchFamily="18" charset="0"/>
                      </a:rPr>
                      <m:t> </m:t>
                    </m:r>
                  </m:oMath>
                </a14:m>
                <a:r>
                  <a:rPr lang="en-US" dirty="0"/>
                  <a:t>is the sample size calculated for an SRS.</a:t>
                </a:r>
              </a:p>
              <a:p>
                <a14:m>
                  <m:oMath xmlns:m="http://schemas.openxmlformats.org/officeDocument/2006/math">
                    <m:nary>
                      <m:naryPr>
                        <m:chr m:val="∑"/>
                        <m:supHide m:val="on"/>
                        <m:ctrlPr>
                          <a:rPr lang="en-US" sz="2400" i="1" smtClean="0">
                            <a:latin typeface="Cambria Math" panose="02040503050406030204" pitchFamily="18" charset="0"/>
                            <a:ea typeface="Cambria Math" panose="02040503050406030204" pitchFamily="18" charset="0"/>
                          </a:rPr>
                        </m:ctrlPr>
                      </m:naryPr>
                      <m:sub>
                        <m:r>
                          <m:rPr>
                            <m:brk m:alnAt="7"/>
                          </m:rPr>
                          <a:rPr lang="en-US" sz="2400" b="0" i="1" smtClean="0">
                            <a:latin typeface="Cambria Math" panose="02040503050406030204" pitchFamily="18" charset="0"/>
                            <a:ea typeface="Cambria Math" panose="02040503050406030204" pitchFamily="18" charset="0"/>
                          </a:rPr>
                          <m:t>h</m:t>
                        </m:r>
                      </m:sub>
                      <m:sup/>
                      <m:e>
                        <m:f>
                          <m:fPr>
                            <m:ctrlPr>
                              <a:rPr lang="en-US" sz="2400" i="1" smtClean="0">
                                <a:latin typeface="Cambria Math" panose="02040503050406030204" pitchFamily="18" charset="0"/>
                                <a:ea typeface="Cambria Math" panose="02040503050406030204" pitchFamily="18" charset="0"/>
                              </a:rPr>
                            </m:ctrlPr>
                          </m:fPr>
                          <m:num>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h</m:t>
                                </m:r>
                              </m:sub>
                            </m:sSub>
                          </m:num>
                          <m:den>
                            <m:r>
                              <a:rPr lang="en-US" sz="2400" b="0" i="1" smtClean="0">
                                <a:latin typeface="Cambria Math" panose="02040503050406030204" pitchFamily="18" charset="0"/>
                                <a:ea typeface="Cambria Math" panose="02040503050406030204" pitchFamily="18" charset="0"/>
                              </a:rPr>
                              <m:t>𝑁</m:t>
                            </m:r>
                          </m:den>
                        </m:f>
                        <m:sSubSup>
                          <m:sSubSupPr>
                            <m:ctrlPr>
                              <a:rPr lang="en-US" sz="240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𝑆</m:t>
                            </m:r>
                          </m:e>
                          <m:sub>
                            <m:r>
                              <a:rPr lang="en-US" sz="2400" b="0" i="1" smtClean="0">
                                <a:latin typeface="Cambria Math" panose="02040503050406030204" pitchFamily="18" charset="0"/>
                                <a:ea typeface="Cambria Math" panose="02040503050406030204" pitchFamily="18" charset="0"/>
                              </a:rPr>
                              <m:t>h</m:t>
                            </m:r>
                          </m:sub>
                          <m:sup>
                            <m:r>
                              <a:rPr lang="en-US" sz="2400" b="0" i="1" smtClean="0">
                                <a:latin typeface="Cambria Math" panose="02040503050406030204" pitchFamily="18" charset="0"/>
                                <a:ea typeface="Cambria Math" panose="02040503050406030204" pitchFamily="18" charset="0"/>
                              </a:rPr>
                              <m:t>2</m:t>
                            </m:r>
                          </m:sup>
                        </m:sSubSup>
                      </m:e>
                    </m:nary>
                    <m:r>
                      <a:rPr lang="en-US" sz="2400" b="0" i="1" smtClean="0">
                        <a:latin typeface="Cambria Math" panose="02040503050406030204" pitchFamily="18" charset="0"/>
                        <a:ea typeface="Cambria Math" panose="02040503050406030204" pitchFamily="18" charset="0"/>
                      </a:rPr>
                      <m:t> </m:t>
                    </m:r>
                  </m:oMath>
                </a14:m>
                <a:r>
                  <a:rPr lang="en-US" dirty="0"/>
                  <a:t> is a weighted average of the within-stratum variances and thus will usually be smaller than the overall population variance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𝑆</m:t>
                        </m:r>
                      </m:e>
                      <m:sup>
                        <m:r>
                          <a:rPr lang="en-US" i="1">
                            <a:latin typeface="Cambria Math" panose="02040503050406030204" pitchFamily="18" charset="0"/>
                            <a:ea typeface="Cambria Math" panose="02040503050406030204" pitchFamily="18" charset="0"/>
                          </a:rPr>
                          <m:t>2</m:t>
                        </m:r>
                      </m:sup>
                    </m:sSup>
                  </m:oMath>
                </a14:m>
                <a:endParaRPr lang="en-US" dirty="0"/>
              </a:p>
              <a:p>
                <a:r>
                  <a:rPr lang="en-US" dirty="0"/>
                  <a:t>The stratified sampling allows you to achieve a desired precision with a smaller sample size</a:t>
                </a:r>
              </a:p>
            </p:txBody>
          </p:sp>
        </mc:Choice>
        <mc:Fallback xmlns="">
          <p:sp>
            <p:nvSpPr>
              <p:cNvPr id="3" name="Content Placeholder 2">
                <a:extLst>
                  <a:ext uri="{FF2B5EF4-FFF2-40B4-BE49-F238E27FC236}">
                    <a16:creationId xmlns:a16="http://schemas.microsoft.com/office/drawing/2014/main" id="{5F1813DD-8EDE-856C-13C8-ADDAD747AD35}"/>
                  </a:ext>
                </a:extLst>
              </p:cNvPr>
              <p:cNvSpPr>
                <a:spLocks noGrp="1" noRot="1" noChangeAspect="1" noMove="1" noResize="1" noEditPoints="1" noAdjustHandles="1" noChangeArrowheads="1" noChangeShapeType="1" noTextEdit="1"/>
              </p:cNvSpPr>
              <p:nvPr>
                <p:ph idx="1"/>
              </p:nvPr>
            </p:nvSpPr>
            <p:spPr>
              <a:blipFill>
                <a:blip r:embed="rId2"/>
                <a:stretch>
                  <a:fillRect l="-1490" t="-1385" b="-13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C8A471-73CC-DD24-D2CF-B0B646281931}"/>
                  </a:ext>
                </a:extLst>
              </p:cNvPr>
              <p:cNvSpPr txBox="1"/>
              <p:nvPr/>
            </p:nvSpPr>
            <p:spPr>
              <a:xfrm>
                <a:off x="3312885" y="2321688"/>
                <a:ext cx="2518229" cy="9331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𝑆𝑅𝑆</m:t>
                          </m:r>
                        </m:sub>
                      </m:sSub>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nary>
                            <m:naryPr>
                              <m:chr m:val="∑"/>
                              <m:supHide m:val="on"/>
                              <m:ctrlPr>
                                <a:rPr lang="en-US" sz="2400" i="1" smtClean="0">
                                  <a:latin typeface="Cambria Math" panose="02040503050406030204" pitchFamily="18" charset="0"/>
                                  <a:ea typeface="Cambria Math" panose="02040503050406030204" pitchFamily="18" charset="0"/>
                                </a:rPr>
                              </m:ctrlPr>
                            </m:naryPr>
                            <m:sub>
                              <m:r>
                                <m:rPr>
                                  <m:brk m:alnAt="7"/>
                                </m:rPr>
                                <a:rPr lang="en-US" sz="2400" b="0" i="1" smtClean="0">
                                  <a:latin typeface="Cambria Math" panose="02040503050406030204" pitchFamily="18" charset="0"/>
                                  <a:ea typeface="Cambria Math" panose="02040503050406030204" pitchFamily="18" charset="0"/>
                                </a:rPr>
                                <m:t>h</m:t>
                              </m:r>
                            </m:sub>
                            <m:sup/>
                            <m:e>
                              <m:f>
                                <m:fPr>
                                  <m:ctrlPr>
                                    <a:rPr lang="en-US" sz="2400" i="1" smtClean="0">
                                      <a:latin typeface="Cambria Math" panose="02040503050406030204" pitchFamily="18" charset="0"/>
                                      <a:ea typeface="Cambria Math" panose="02040503050406030204" pitchFamily="18" charset="0"/>
                                    </a:rPr>
                                  </m:ctrlPr>
                                </m:fPr>
                                <m:num>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𝑁</m:t>
                                      </m:r>
                                    </m:e>
                                    <m:sub>
                                      <m:r>
                                        <a:rPr lang="en-US" sz="2400" b="0" i="1" smtClean="0">
                                          <a:latin typeface="Cambria Math" panose="02040503050406030204" pitchFamily="18" charset="0"/>
                                          <a:ea typeface="Cambria Math" panose="02040503050406030204" pitchFamily="18" charset="0"/>
                                        </a:rPr>
                                        <m:t>h</m:t>
                                      </m:r>
                                    </m:sub>
                                  </m:sSub>
                                </m:num>
                                <m:den>
                                  <m:r>
                                    <a:rPr lang="en-US" sz="2400" b="0" i="1" smtClean="0">
                                      <a:latin typeface="Cambria Math" panose="02040503050406030204" pitchFamily="18" charset="0"/>
                                      <a:ea typeface="Cambria Math" panose="02040503050406030204" pitchFamily="18" charset="0"/>
                                    </a:rPr>
                                    <m:t>𝑁</m:t>
                                  </m:r>
                                </m:den>
                              </m:f>
                              <m:sSubSup>
                                <m:sSubSupPr>
                                  <m:ctrlPr>
                                    <a:rPr lang="en-US" sz="2400" i="1" smtClean="0">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𝑆</m:t>
                                  </m:r>
                                </m:e>
                                <m:sub>
                                  <m:r>
                                    <a:rPr lang="en-US" sz="2400" b="0" i="1" smtClean="0">
                                      <a:latin typeface="Cambria Math" panose="02040503050406030204" pitchFamily="18" charset="0"/>
                                      <a:ea typeface="Cambria Math" panose="02040503050406030204" pitchFamily="18" charset="0"/>
                                    </a:rPr>
                                    <m:t>h</m:t>
                                  </m:r>
                                </m:sub>
                                <m:sup>
                                  <m:r>
                                    <a:rPr lang="en-US" sz="2400" b="0" i="1" smtClean="0">
                                      <a:latin typeface="Cambria Math" panose="02040503050406030204" pitchFamily="18" charset="0"/>
                                      <a:ea typeface="Cambria Math" panose="02040503050406030204" pitchFamily="18" charset="0"/>
                                    </a:rPr>
                                    <m:t>2</m:t>
                                  </m:r>
                                </m:sup>
                              </m:sSubSup>
                            </m:e>
                          </m:nary>
                        </m:num>
                        <m:den>
                          <m:sSup>
                            <m:sSupPr>
                              <m:ctrlPr>
                                <a:rPr lang="en-US" sz="240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𝑆</m:t>
                              </m:r>
                            </m:e>
                            <m:sup>
                              <m:r>
                                <a:rPr lang="en-US" sz="2400" b="0" i="1" smtClean="0">
                                  <a:latin typeface="Cambria Math" panose="02040503050406030204" pitchFamily="18" charset="0"/>
                                  <a:ea typeface="Cambria Math" panose="02040503050406030204" pitchFamily="18" charset="0"/>
                                </a:rPr>
                                <m:t>2</m:t>
                              </m:r>
                            </m:sup>
                          </m:sSup>
                        </m:den>
                      </m:f>
                    </m:oMath>
                  </m:oMathPara>
                </a14:m>
                <a:endParaRPr lang="en-US" sz="2400" dirty="0">
                  <a:latin typeface="+mj-lt"/>
                </a:endParaRPr>
              </a:p>
            </p:txBody>
          </p:sp>
        </mc:Choice>
        <mc:Fallback xmlns="">
          <p:sp>
            <p:nvSpPr>
              <p:cNvPr id="4" name="TextBox 3">
                <a:extLst>
                  <a:ext uri="{FF2B5EF4-FFF2-40B4-BE49-F238E27FC236}">
                    <a16:creationId xmlns:a16="http://schemas.microsoft.com/office/drawing/2014/main" id="{84C8A471-73CC-DD24-D2CF-B0B646281931}"/>
                  </a:ext>
                </a:extLst>
              </p:cNvPr>
              <p:cNvSpPr txBox="1">
                <a:spLocks noRot="1" noChangeAspect="1" noMove="1" noResize="1" noEditPoints="1" noAdjustHandles="1" noChangeArrowheads="1" noChangeShapeType="1" noTextEdit="1"/>
              </p:cNvSpPr>
              <p:nvPr/>
            </p:nvSpPr>
            <p:spPr>
              <a:xfrm>
                <a:off x="3312885" y="2321688"/>
                <a:ext cx="2518229" cy="93314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494228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5E705-D354-F9FD-688A-FE7B697A3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678A6-B353-322D-C84D-3478EDF4F2E2}"/>
              </a:ext>
            </a:extLst>
          </p:cNvPr>
          <p:cNvSpPr>
            <a:spLocks noGrp="1"/>
          </p:cNvSpPr>
          <p:nvPr>
            <p:ph type="title"/>
          </p:nvPr>
        </p:nvSpPr>
        <p:spPr/>
        <p:txBody>
          <a:bodyPr/>
          <a:lstStyle/>
          <a:p>
            <a:r>
              <a:rPr lang="en-US" dirty="0"/>
              <a:t>Determining the Total Sample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55F4C6-4224-8A97-3E07-84191D07B20C}"/>
                  </a:ext>
                </a:extLst>
              </p:cNvPr>
              <p:cNvSpPr>
                <a:spLocks noGrp="1"/>
              </p:cNvSpPr>
              <p:nvPr>
                <p:ph idx="1"/>
              </p:nvPr>
            </p:nvSpPr>
            <p:spPr/>
            <p:txBody>
              <a:bodyPr/>
              <a:lstStyle/>
              <a:p>
                <a:r>
                  <a:rPr lang="en-US" dirty="0">
                    <a:ea typeface="Cambria Math" panose="02040503050406030204" pitchFamily="18" charset="0"/>
                  </a:rPr>
                  <a:t>If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h</m:t>
                        </m:r>
                      </m:sub>
                      <m:sup>
                        <m:r>
                          <a:rPr lang="en-US" i="1">
                            <a:latin typeface="Cambria Math" panose="02040503050406030204" pitchFamily="18" charset="0"/>
                            <a:ea typeface="Cambria Math" panose="02040503050406030204" pitchFamily="18" charset="0"/>
                          </a:rPr>
                          <m:t>2</m:t>
                        </m:r>
                      </m:sup>
                    </m:sSubSup>
                  </m:oMath>
                </a14:m>
                <a:r>
                  <a:rPr lang="en-US" dirty="0"/>
                  <a:t> is assumed to be equal to the overall population variance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𝑆</m:t>
                        </m:r>
                      </m:e>
                      <m:sup>
                        <m:r>
                          <a:rPr lang="en-US" i="1">
                            <a:latin typeface="Cambria Math" panose="02040503050406030204" pitchFamily="18" charset="0"/>
                            <a:ea typeface="Cambria Math" panose="02040503050406030204" pitchFamily="18" charset="0"/>
                          </a:rPr>
                          <m:t>2</m:t>
                        </m:r>
                      </m:sup>
                    </m:sSup>
                  </m:oMath>
                </a14:m>
                <a:r>
                  <a:rPr lang="en-US" dirty="0"/>
                  <a:t>, for proportional allocation, the sample size for stratum h needed is</a:t>
                </a:r>
              </a:p>
              <a:p>
                <a:endParaRPr lang="en-US" dirty="0"/>
              </a:p>
              <a:p>
                <a:endParaRPr lang="en-US" dirty="0"/>
              </a:p>
              <a:p>
                <a:endParaRPr lang="en-US" dirty="0"/>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𝑆𝑅𝑆</m:t>
                        </m:r>
                      </m:sub>
                    </m:sSub>
                    <m:r>
                      <a:rPr lang="en-US" sz="2400" b="0" i="1" smtClean="0">
                        <a:latin typeface="Cambria Math" panose="02040503050406030204" pitchFamily="18" charset="0"/>
                      </a:rPr>
                      <m:t> </m:t>
                    </m:r>
                  </m:oMath>
                </a14:m>
                <a:r>
                  <a:rPr lang="en-US" dirty="0"/>
                  <a:t>is the sample size calculated for an SRS.</a:t>
                </a:r>
              </a:p>
              <a:p>
                <a:r>
                  <a:rPr lang="en-US" dirty="0"/>
                  <a:t>In this case, the stratified sampling has the same sample size as SRS</a:t>
                </a:r>
              </a:p>
            </p:txBody>
          </p:sp>
        </mc:Choice>
        <mc:Fallback xmlns="">
          <p:sp>
            <p:nvSpPr>
              <p:cNvPr id="3" name="Content Placeholder 2">
                <a:extLst>
                  <a:ext uri="{FF2B5EF4-FFF2-40B4-BE49-F238E27FC236}">
                    <a16:creationId xmlns:a16="http://schemas.microsoft.com/office/drawing/2014/main" id="{BE55F4C6-4224-8A97-3E07-84191D07B20C}"/>
                  </a:ext>
                </a:extLst>
              </p:cNvPr>
              <p:cNvSpPr>
                <a:spLocks noGrp="1" noRot="1" noChangeAspect="1" noMove="1" noResize="1" noEditPoints="1" noAdjustHandles="1" noChangeArrowheads="1" noChangeShapeType="1" noTextEdit="1"/>
              </p:cNvSpPr>
              <p:nvPr>
                <p:ph idx="1"/>
              </p:nvPr>
            </p:nvSpPr>
            <p:spPr>
              <a:blipFill>
                <a:blip r:embed="rId2"/>
                <a:stretch>
                  <a:fillRect l="-1468" t="-12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8BFC3C4-110D-43FE-25E4-E9A533B79B93}"/>
                  </a:ext>
                </a:extLst>
              </p:cNvPr>
              <p:cNvSpPr txBox="1"/>
              <p:nvPr/>
            </p:nvSpPr>
            <p:spPr>
              <a:xfrm>
                <a:off x="2712384" y="3193664"/>
                <a:ext cx="2518229" cy="6890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𝑆𝑅𝑆</m:t>
                          </m:r>
                        </m:sub>
                      </m:sSub>
                      <m:r>
                        <a:rPr lang="en-US" sz="240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𝑁</m:t>
                              </m:r>
                            </m:e>
                            <m:sub>
                              <m:r>
                                <a:rPr lang="en-US" sz="2400" i="1">
                                  <a:latin typeface="Cambria Math" panose="02040503050406030204" pitchFamily="18" charset="0"/>
                                  <a:ea typeface="Cambria Math" panose="02040503050406030204" pitchFamily="18" charset="0"/>
                                </a:rPr>
                                <m:t>h</m:t>
                              </m:r>
                            </m:sub>
                          </m:sSub>
                        </m:num>
                        <m:den>
                          <m:r>
                            <a:rPr lang="en-US" sz="2400" i="1">
                              <a:latin typeface="Cambria Math" panose="02040503050406030204" pitchFamily="18" charset="0"/>
                              <a:ea typeface="Cambria Math" panose="02040503050406030204" pitchFamily="18" charset="0"/>
                            </a:rPr>
                            <m:t>𝑁</m:t>
                          </m:r>
                        </m:den>
                      </m:f>
                    </m:oMath>
                  </m:oMathPara>
                </a14:m>
                <a:endParaRPr lang="en-US" sz="2400" dirty="0">
                  <a:latin typeface="+mj-lt"/>
                </a:endParaRPr>
              </a:p>
            </p:txBody>
          </p:sp>
        </mc:Choice>
        <mc:Fallback xmlns="">
          <p:sp>
            <p:nvSpPr>
              <p:cNvPr id="4" name="TextBox 3">
                <a:extLst>
                  <a:ext uri="{FF2B5EF4-FFF2-40B4-BE49-F238E27FC236}">
                    <a16:creationId xmlns:a16="http://schemas.microsoft.com/office/drawing/2014/main" id="{68BFC3C4-110D-43FE-25E4-E9A533B79B93}"/>
                  </a:ext>
                </a:extLst>
              </p:cNvPr>
              <p:cNvSpPr txBox="1">
                <a:spLocks noRot="1" noChangeAspect="1" noMove="1" noResize="1" noEditPoints="1" noAdjustHandles="1" noChangeArrowheads="1" noChangeShapeType="1" noTextEdit="1"/>
              </p:cNvSpPr>
              <p:nvPr/>
            </p:nvSpPr>
            <p:spPr>
              <a:xfrm>
                <a:off x="2712384" y="3193664"/>
                <a:ext cx="2518229" cy="689035"/>
              </a:xfrm>
              <a:prstGeom prst="rect">
                <a:avLst/>
              </a:prstGeom>
              <a:blipFill>
                <a:blip r:embed="rId3"/>
                <a:stretch>
                  <a:fillRect b="-14545"/>
                </a:stretch>
              </a:blipFill>
            </p:spPr>
            <p:txBody>
              <a:bodyPr/>
              <a:lstStyle/>
              <a:p>
                <a:r>
                  <a:rPr lang="en-US">
                    <a:noFill/>
                  </a:rPr>
                  <a:t> </a:t>
                </a:r>
              </a:p>
            </p:txBody>
          </p:sp>
        </mc:Fallback>
      </mc:AlternateContent>
    </p:spTree>
    <p:extLst>
      <p:ext uri="{BB962C8B-B14F-4D97-AF65-F5344CB8AC3E}">
        <p14:creationId xmlns:p14="http://schemas.microsoft.com/office/powerpoint/2010/main" val="2686745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9831-BFE5-FCCC-55D6-DEF057063346}"/>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2A2F84F0-F254-C6F6-18F3-F2FA35DB0714}"/>
              </a:ext>
            </a:extLst>
          </p:cNvPr>
          <p:cNvSpPr>
            <a:spLocks noGrp="1"/>
          </p:cNvSpPr>
          <p:nvPr>
            <p:ph idx="1"/>
          </p:nvPr>
        </p:nvSpPr>
        <p:spPr>
          <a:xfrm>
            <a:off x="685800" y="1447800"/>
            <a:ext cx="7772400" cy="4267200"/>
          </a:xfrm>
        </p:spPr>
        <p:txBody>
          <a:bodyPr/>
          <a:lstStyle/>
          <a:p>
            <a:r>
              <a:rPr lang="en-US" dirty="0"/>
              <a:t>Men make up a small minority of early childhood education (ECE) teachers, with an estimate of 3%.</a:t>
            </a:r>
          </a:p>
          <a:p>
            <a:r>
              <a:rPr lang="en-US" dirty="0"/>
              <a:t>Now assume that you want to do a survey for ECE teachers in Minnesota to see the proportion of them who are certified. </a:t>
            </a:r>
          </a:p>
          <a:p>
            <a:r>
              <a:rPr lang="en-US" dirty="0"/>
              <a:t>Suppose there are about 1,000 ECE teachers in Minnesota and you want to use a 95% CI with margin of error 0.06. </a:t>
            </a:r>
          </a:p>
          <a:p>
            <a:r>
              <a:rPr lang="en-US" dirty="0"/>
              <a:t>If you take an SRS, the same size needs to be _____. </a:t>
            </a:r>
          </a:p>
          <a:p>
            <a:r>
              <a:rPr lang="en-US" dirty="0"/>
              <a:t>If we do a proportional stratified sample for male and female, the number of male teachers sampled will be _______.</a:t>
            </a:r>
          </a:p>
        </p:txBody>
      </p:sp>
    </p:spTree>
    <p:extLst>
      <p:ext uri="{BB962C8B-B14F-4D97-AF65-F5344CB8AC3E}">
        <p14:creationId xmlns:p14="http://schemas.microsoft.com/office/powerpoint/2010/main" val="554084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AF8A-E247-AB91-206A-96638E2329DA}"/>
              </a:ext>
            </a:extLst>
          </p:cNvPr>
          <p:cNvSpPr>
            <a:spLocks noGrp="1"/>
          </p:cNvSpPr>
          <p:nvPr>
            <p:ph type="title"/>
          </p:nvPr>
        </p:nvSpPr>
        <p:spPr/>
        <p:txBody>
          <a:bodyPr/>
          <a:lstStyle/>
          <a:p>
            <a:r>
              <a:rPr lang="en-US" dirty="0"/>
              <a:t>Defining Strata</a:t>
            </a:r>
          </a:p>
        </p:txBody>
      </p:sp>
      <p:sp>
        <p:nvSpPr>
          <p:cNvPr id="3" name="Content Placeholder 2">
            <a:extLst>
              <a:ext uri="{FF2B5EF4-FFF2-40B4-BE49-F238E27FC236}">
                <a16:creationId xmlns:a16="http://schemas.microsoft.com/office/drawing/2014/main" id="{FDFC7EA7-3383-E76E-21F0-4DF671D58AEC}"/>
              </a:ext>
            </a:extLst>
          </p:cNvPr>
          <p:cNvSpPr>
            <a:spLocks noGrp="1"/>
          </p:cNvSpPr>
          <p:nvPr>
            <p:ph idx="1"/>
          </p:nvPr>
        </p:nvSpPr>
        <p:spPr/>
        <p:txBody>
          <a:bodyPr/>
          <a:lstStyle/>
          <a:p>
            <a:r>
              <a:rPr lang="en-US" dirty="0"/>
              <a:t>Stratified sampling with proportional allocation improves (or does not harm) the precision for every variable y measured in the survey.</a:t>
            </a:r>
          </a:p>
          <a:p>
            <a:r>
              <a:rPr lang="en-US" dirty="0"/>
              <a:t>Stratification is most efficient when the stratum means differ widely</a:t>
            </a:r>
          </a:p>
          <a:p>
            <a:r>
              <a:rPr lang="en-US" dirty="0"/>
              <a:t>When constructing strata, we want the stratum means  for y to be as different as possible. </a:t>
            </a:r>
          </a:p>
        </p:txBody>
      </p:sp>
    </p:spTree>
    <p:extLst>
      <p:ext uri="{BB962C8B-B14F-4D97-AF65-F5344CB8AC3E}">
        <p14:creationId xmlns:p14="http://schemas.microsoft.com/office/powerpoint/2010/main" val="230949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806A-6998-3605-F593-CCF1EB9F93DB}"/>
              </a:ext>
            </a:extLst>
          </p:cNvPr>
          <p:cNvSpPr>
            <a:spLocks noGrp="1"/>
          </p:cNvSpPr>
          <p:nvPr>
            <p:ph type="title"/>
          </p:nvPr>
        </p:nvSpPr>
        <p:spPr/>
        <p:txBody>
          <a:bodyPr/>
          <a:lstStyle/>
          <a:p>
            <a:r>
              <a:rPr lang="en-US" dirty="0"/>
              <a:t>Defining Strata</a:t>
            </a:r>
          </a:p>
        </p:txBody>
      </p:sp>
      <p:sp>
        <p:nvSpPr>
          <p:cNvPr id="3" name="Content Placeholder 2">
            <a:extLst>
              <a:ext uri="{FF2B5EF4-FFF2-40B4-BE49-F238E27FC236}">
                <a16:creationId xmlns:a16="http://schemas.microsoft.com/office/drawing/2014/main" id="{E17F812A-A27A-80FB-AE1C-86F9708FEF5D}"/>
              </a:ext>
            </a:extLst>
          </p:cNvPr>
          <p:cNvSpPr>
            <a:spLocks noGrp="1"/>
          </p:cNvSpPr>
          <p:nvPr>
            <p:ph idx="1"/>
          </p:nvPr>
        </p:nvSpPr>
        <p:spPr/>
        <p:txBody>
          <a:bodyPr/>
          <a:lstStyle/>
          <a:p>
            <a:r>
              <a:rPr lang="en-US" dirty="0"/>
              <a:t>If we want to do a survey to know the salary of early education teachers</a:t>
            </a:r>
          </a:p>
          <a:p>
            <a:r>
              <a:rPr lang="en-US" dirty="0"/>
              <a:t>Ideally, H strata with high salary group, …, low salary group</a:t>
            </a:r>
          </a:p>
          <a:p>
            <a:r>
              <a:rPr lang="en-US" dirty="0"/>
              <a:t>What variables may be associated with salary?</a:t>
            </a:r>
          </a:p>
          <a:p>
            <a:pPr lvl="1"/>
            <a:r>
              <a:rPr lang="en-US" dirty="0"/>
              <a:t>Experience</a:t>
            </a:r>
          </a:p>
          <a:p>
            <a:pPr lvl="1"/>
            <a:r>
              <a:rPr lang="en-US" dirty="0"/>
              <a:t>Race</a:t>
            </a:r>
          </a:p>
          <a:p>
            <a:pPr lvl="1"/>
            <a:r>
              <a:rPr lang="en-US" dirty="0"/>
              <a:t>Sex</a:t>
            </a:r>
          </a:p>
          <a:p>
            <a:endParaRPr lang="en-US" dirty="0"/>
          </a:p>
        </p:txBody>
      </p:sp>
    </p:spTree>
    <p:extLst>
      <p:ext uri="{BB962C8B-B14F-4D97-AF65-F5344CB8AC3E}">
        <p14:creationId xmlns:p14="http://schemas.microsoft.com/office/powerpoint/2010/main" val="27159909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01F78-1F76-2D49-B8E6-76937EA17216}"/>
              </a:ext>
            </a:extLst>
          </p:cNvPr>
          <p:cNvSpPr>
            <a:spLocks noGrp="1"/>
          </p:cNvSpPr>
          <p:nvPr>
            <p:ph type="title"/>
          </p:nvPr>
        </p:nvSpPr>
        <p:spPr/>
        <p:txBody>
          <a:bodyPr/>
          <a:lstStyle/>
          <a:p>
            <a:r>
              <a:rPr lang="en-US" dirty="0"/>
              <a:t>Oversampling &amp; </a:t>
            </a:r>
            <a:r>
              <a:rPr lang="en-US" dirty="0" err="1"/>
              <a:t>Undersampling</a:t>
            </a:r>
            <a:endParaRPr lang="en-US" dirty="0"/>
          </a:p>
        </p:txBody>
      </p:sp>
      <p:sp>
        <p:nvSpPr>
          <p:cNvPr id="3" name="Content Placeholder 2">
            <a:extLst>
              <a:ext uri="{FF2B5EF4-FFF2-40B4-BE49-F238E27FC236}">
                <a16:creationId xmlns:a16="http://schemas.microsoft.com/office/drawing/2014/main" id="{227DA1B6-E493-E442-917E-DD1507C41C9E}"/>
              </a:ext>
            </a:extLst>
          </p:cNvPr>
          <p:cNvSpPr>
            <a:spLocks noGrp="1"/>
          </p:cNvSpPr>
          <p:nvPr>
            <p:ph idx="1"/>
          </p:nvPr>
        </p:nvSpPr>
        <p:spPr/>
        <p:txBody>
          <a:bodyPr/>
          <a:lstStyle/>
          <a:p>
            <a:r>
              <a:rPr lang="en-US" dirty="0"/>
              <a:t>Tools for dealing with uneven proportions of relevant subgroups in a target population</a:t>
            </a:r>
          </a:p>
          <a:p>
            <a:pPr lvl="1"/>
            <a:r>
              <a:rPr lang="en-US" dirty="0"/>
              <a:t>In our example, there were more public school principals than private school principals</a:t>
            </a:r>
          </a:p>
          <a:p>
            <a:pPr lvl="1"/>
            <a:endParaRPr lang="en-US" dirty="0"/>
          </a:p>
        </p:txBody>
      </p:sp>
      <p:sp>
        <p:nvSpPr>
          <p:cNvPr id="4" name="Footer Placeholder 3">
            <a:extLst>
              <a:ext uri="{FF2B5EF4-FFF2-40B4-BE49-F238E27FC236}">
                <a16:creationId xmlns:a16="http://schemas.microsoft.com/office/drawing/2014/main" id="{2086FD18-DBAD-0140-9005-D342403E686D}"/>
              </a:ext>
            </a:extLst>
          </p:cNvPr>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AD3F522F-92F1-4049-9BE6-21185BEB74C3}"/>
              </a:ext>
            </a:extLst>
          </p:cNvPr>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70</a:t>
            </a:fld>
            <a:endParaRPr lang="en-US" dirty="0"/>
          </a:p>
        </p:txBody>
      </p:sp>
    </p:spTree>
    <p:extLst>
      <p:ext uri="{BB962C8B-B14F-4D97-AF65-F5344CB8AC3E}">
        <p14:creationId xmlns:p14="http://schemas.microsoft.com/office/powerpoint/2010/main" val="41195028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35AE-9484-ACF2-EAAB-8AB6FFAE9FD4}"/>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0748C58-D9E6-6DFC-85AA-F19F80B18D31}"/>
              </a:ext>
            </a:extLst>
          </p:cNvPr>
          <p:cNvSpPr>
            <a:spLocks noGrp="1"/>
          </p:cNvSpPr>
          <p:nvPr>
            <p:ph idx="1"/>
          </p:nvPr>
        </p:nvSpPr>
        <p:spPr/>
        <p:txBody>
          <a:bodyPr/>
          <a:lstStyle/>
          <a:p>
            <a:r>
              <a:rPr lang="en-US" dirty="0"/>
              <a:t>Stratified sampling has three major design issues: defining the strata, choosing the total sample size, and allocating the observations to the defined strata. </a:t>
            </a:r>
          </a:p>
          <a:p>
            <a:r>
              <a:rPr lang="en-US" dirty="0"/>
              <a:t>proportional allocation yields the same sampling fraction in each stratum.</a:t>
            </a:r>
          </a:p>
          <a:p>
            <a:r>
              <a:rPr lang="en-US" dirty="0"/>
              <a:t>Proportional allocation almost always results in smaller variances for estimated means and totals than simple random sampling</a:t>
            </a:r>
          </a:p>
          <a:p>
            <a:r>
              <a:rPr lang="en-US" dirty="0"/>
              <a:t>Disproportional allocation may be preferred if some strata should have higher sampling fractions than others, for example, if it is desired to have larger sample sizes for strata with minority populations. </a:t>
            </a:r>
          </a:p>
        </p:txBody>
      </p:sp>
    </p:spTree>
    <p:extLst>
      <p:ext uri="{BB962C8B-B14F-4D97-AF65-F5344CB8AC3E}">
        <p14:creationId xmlns:p14="http://schemas.microsoft.com/office/powerpoint/2010/main" val="2188846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8DA27-729E-81CF-7B3E-98410EC42A5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88F88546-E686-21DA-C6A2-AF18A8C9A75C}"/>
              </a:ext>
            </a:extLst>
          </p:cNvPr>
          <p:cNvSpPr>
            <a:spLocks noGrp="1"/>
          </p:cNvSpPr>
          <p:nvPr>
            <p:ph idx="1"/>
          </p:nvPr>
        </p:nvSpPr>
        <p:spPr/>
        <p:txBody>
          <a:bodyPr/>
          <a:lstStyle/>
          <a:p>
            <a:r>
              <a:rPr lang="en-US" dirty="0"/>
              <a:t>Stratified sampling can guarantee a better proportionate representation of the population than SRS</a:t>
            </a:r>
          </a:p>
          <a:p>
            <a:r>
              <a:rPr lang="en-US" dirty="0"/>
              <a:t>Stratified sampling often gives more precise (having lower variance) estimates for population means and totals than SRS with the same sample size</a:t>
            </a:r>
          </a:p>
          <a:p>
            <a:r>
              <a:rPr lang="en-US" dirty="0"/>
              <a:t>To achieve the same precision, stratified sampling requires smaller sample size than SRS (when each stratum has similar observations, </a:t>
            </a:r>
            <a:r>
              <a:rPr lang="en-US" dirty="0" err="1"/>
              <a:t>a.k.a</a:t>
            </a:r>
            <a:r>
              <a:rPr lang="en-US" dirty="0"/>
              <a:t> smaller within group variances)</a:t>
            </a:r>
          </a:p>
          <a:p>
            <a:endParaRPr lang="en-US" dirty="0"/>
          </a:p>
        </p:txBody>
      </p:sp>
    </p:spTree>
    <p:extLst>
      <p:ext uri="{BB962C8B-B14F-4D97-AF65-F5344CB8AC3E}">
        <p14:creationId xmlns:p14="http://schemas.microsoft.com/office/powerpoint/2010/main" val="37271174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D2163-15CA-8E4F-819F-7E550EB937D1}"/>
              </a:ext>
            </a:extLst>
          </p:cNvPr>
          <p:cNvSpPr>
            <a:spLocks noGrp="1"/>
          </p:cNvSpPr>
          <p:nvPr>
            <p:ph type="title"/>
          </p:nvPr>
        </p:nvSpPr>
        <p:spPr/>
        <p:txBody>
          <a:bodyPr/>
          <a:lstStyle/>
          <a:p>
            <a:r>
              <a:rPr lang="en-US" b="1" dirty="0"/>
              <a:t>Cluster Samples</a:t>
            </a:r>
          </a:p>
        </p:txBody>
      </p:sp>
      <p:sp>
        <p:nvSpPr>
          <p:cNvPr id="3" name="Content Placeholder 2">
            <a:extLst>
              <a:ext uri="{FF2B5EF4-FFF2-40B4-BE49-F238E27FC236}">
                <a16:creationId xmlns:a16="http://schemas.microsoft.com/office/drawing/2014/main" id="{788B6A0E-CE10-7D42-B573-1108A3244684}"/>
              </a:ext>
            </a:extLst>
          </p:cNvPr>
          <p:cNvSpPr>
            <a:spLocks noGrp="1"/>
          </p:cNvSpPr>
          <p:nvPr>
            <p:ph idx="1"/>
          </p:nvPr>
        </p:nvSpPr>
        <p:spPr/>
        <p:txBody>
          <a:bodyPr/>
          <a:lstStyle/>
          <a:p>
            <a:r>
              <a:rPr lang="en-US" dirty="0"/>
              <a:t>First, what is a </a:t>
            </a:r>
            <a:r>
              <a:rPr lang="en-US" b="1" i="1" dirty="0"/>
              <a:t>cluster</a:t>
            </a:r>
            <a:r>
              <a:rPr lang="en-US" dirty="0"/>
              <a:t>?</a:t>
            </a:r>
          </a:p>
          <a:p>
            <a:pPr lvl="1"/>
            <a:r>
              <a:rPr lang="en-US" dirty="0"/>
              <a:t>Naturally occurring group of population elements</a:t>
            </a:r>
          </a:p>
          <a:p>
            <a:pPr lvl="1"/>
            <a:r>
              <a:rPr lang="en-US" dirty="0"/>
              <a:t>Examples:</a:t>
            </a:r>
          </a:p>
          <a:p>
            <a:pPr lvl="2"/>
            <a:r>
              <a:rPr lang="en-US" dirty="0"/>
              <a:t>Households made up of individuals</a:t>
            </a:r>
          </a:p>
          <a:p>
            <a:pPr lvl="2"/>
            <a:r>
              <a:rPr lang="en-US" dirty="0"/>
              <a:t>Schools made up of students</a:t>
            </a:r>
          </a:p>
          <a:p>
            <a:pPr lvl="2"/>
            <a:r>
              <a:rPr lang="en-US" dirty="0"/>
              <a:t>Workers within companies</a:t>
            </a:r>
          </a:p>
        </p:txBody>
      </p:sp>
      <p:sp>
        <p:nvSpPr>
          <p:cNvPr id="4" name="Footer Placeholder 3">
            <a:extLst>
              <a:ext uri="{FF2B5EF4-FFF2-40B4-BE49-F238E27FC236}">
                <a16:creationId xmlns:a16="http://schemas.microsoft.com/office/drawing/2014/main" id="{2BB3B60F-9F66-A24B-827A-E7183A89DDAF}"/>
              </a:ext>
            </a:extLst>
          </p:cNvPr>
          <p:cNvSpPr>
            <a:spLocks noGrp="1"/>
          </p:cNvSpPr>
          <p:nvPr>
            <p:ph type="ftr" sz="quarter" idx="11"/>
          </p:nvPr>
        </p:nvSpPr>
        <p:spPr>
          <a:xfrm>
            <a:off x="4038600" y="6375679"/>
            <a:ext cx="411480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63D8AB9B-5A30-BF4B-8787-E5F15951F1D8}"/>
              </a:ext>
            </a:extLst>
          </p:cNvPr>
          <p:cNvSpPr>
            <a:spLocks noGrp="1"/>
          </p:cNvSpPr>
          <p:nvPr>
            <p:ph type="sldNum" sz="quarter" idx="12"/>
          </p:nvPr>
        </p:nvSpPr>
        <p:spPr>
          <a:xfrm>
            <a:off x="8610601" y="6375679"/>
            <a:ext cx="2819399" cy="345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73</a:t>
            </a:fld>
            <a:endParaRPr lang="en-US" dirty="0"/>
          </a:p>
        </p:txBody>
      </p:sp>
    </p:spTree>
    <p:extLst>
      <p:ext uri="{BB962C8B-B14F-4D97-AF65-F5344CB8AC3E}">
        <p14:creationId xmlns:p14="http://schemas.microsoft.com/office/powerpoint/2010/main" val="42361650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0F17-F37C-D024-98B5-DF4B266C4C9B}"/>
              </a:ext>
            </a:extLst>
          </p:cNvPr>
          <p:cNvSpPr>
            <a:spLocks noGrp="1"/>
          </p:cNvSpPr>
          <p:nvPr>
            <p:ph type="title"/>
          </p:nvPr>
        </p:nvSpPr>
        <p:spPr/>
        <p:txBody>
          <a:bodyPr/>
          <a:lstStyle/>
          <a:p>
            <a:r>
              <a:rPr lang="en-US" b="1" dirty="0"/>
              <a:t>Cluster Samples</a:t>
            </a:r>
            <a:endParaRPr lang="en-US" dirty="0"/>
          </a:p>
        </p:txBody>
      </p:sp>
      <p:sp>
        <p:nvSpPr>
          <p:cNvPr id="3" name="Content Placeholder 2">
            <a:extLst>
              <a:ext uri="{FF2B5EF4-FFF2-40B4-BE49-F238E27FC236}">
                <a16:creationId xmlns:a16="http://schemas.microsoft.com/office/drawing/2014/main" id="{3E9D84F1-78A4-FAA4-0E45-4F5D6A520449}"/>
              </a:ext>
            </a:extLst>
          </p:cNvPr>
          <p:cNvSpPr>
            <a:spLocks noGrp="1"/>
          </p:cNvSpPr>
          <p:nvPr>
            <p:ph idx="1"/>
          </p:nvPr>
        </p:nvSpPr>
        <p:spPr/>
        <p:txBody>
          <a:bodyPr/>
          <a:lstStyle/>
          <a:p>
            <a:r>
              <a:rPr lang="en-US" dirty="0"/>
              <a:t>Suppose we want to find out how many bicycles are owned by residents in a community of 10,000 households. </a:t>
            </a:r>
          </a:p>
          <a:p>
            <a:r>
              <a:rPr lang="en-US" dirty="0"/>
              <a:t>We could take a simple random sample (SRS) of 400 households</a:t>
            </a:r>
          </a:p>
          <a:p>
            <a:r>
              <a:rPr lang="en-US" dirty="0"/>
              <a:t>we could divide the community into 500 blocks of about 20 households each and sample every household in randomly selected 20 blocks  --- cluster sampling </a:t>
            </a:r>
          </a:p>
        </p:txBody>
      </p:sp>
    </p:spTree>
    <p:extLst>
      <p:ext uri="{BB962C8B-B14F-4D97-AF65-F5344CB8AC3E}">
        <p14:creationId xmlns:p14="http://schemas.microsoft.com/office/powerpoint/2010/main" val="41559434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CCBC-CB9D-44EF-9B33-7A3B333ED8C8}"/>
              </a:ext>
            </a:extLst>
          </p:cNvPr>
          <p:cNvSpPr>
            <a:spLocks noGrp="1"/>
          </p:cNvSpPr>
          <p:nvPr>
            <p:ph type="title"/>
          </p:nvPr>
        </p:nvSpPr>
        <p:spPr/>
        <p:txBody>
          <a:bodyPr/>
          <a:lstStyle/>
          <a:p>
            <a:r>
              <a:rPr lang="en-US" dirty="0"/>
              <a:t>Some terms</a:t>
            </a:r>
          </a:p>
        </p:txBody>
      </p:sp>
      <p:sp>
        <p:nvSpPr>
          <p:cNvPr id="3" name="Content Placeholder 2">
            <a:extLst>
              <a:ext uri="{FF2B5EF4-FFF2-40B4-BE49-F238E27FC236}">
                <a16:creationId xmlns:a16="http://schemas.microsoft.com/office/drawing/2014/main" id="{903E47F1-EC25-B897-2EA7-F1504CA5D4BA}"/>
              </a:ext>
            </a:extLst>
          </p:cNvPr>
          <p:cNvSpPr>
            <a:spLocks noGrp="1"/>
          </p:cNvSpPr>
          <p:nvPr>
            <p:ph idx="1"/>
          </p:nvPr>
        </p:nvSpPr>
        <p:spPr/>
        <p:txBody>
          <a:bodyPr/>
          <a:lstStyle/>
          <a:p>
            <a:r>
              <a:rPr lang="en-US" dirty="0"/>
              <a:t>The blocks are the </a:t>
            </a:r>
            <a:r>
              <a:rPr lang="en-US" b="1" dirty="0"/>
              <a:t>primary sampling units </a:t>
            </a:r>
            <a:r>
              <a:rPr lang="en-US" dirty="0"/>
              <a:t>(</a:t>
            </a:r>
            <a:r>
              <a:rPr lang="en-US" dirty="0" err="1"/>
              <a:t>psus</a:t>
            </a:r>
            <a:r>
              <a:rPr lang="en-US" dirty="0"/>
              <a:t>), or clusters. </a:t>
            </a:r>
          </a:p>
          <a:p>
            <a:r>
              <a:rPr lang="en-US" dirty="0"/>
              <a:t>The households are the </a:t>
            </a:r>
            <a:r>
              <a:rPr lang="en-US" b="1" dirty="0"/>
              <a:t>secondary sampling units </a:t>
            </a:r>
            <a:r>
              <a:rPr lang="en-US" dirty="0"/>
              <a:t>(</a:t>
            </a:r>
            <a:r>
              <a:rPr lang="en-US" dirty="0" err="1"/>
              <a:t>ssus</a:t>
            </a:r>
            <a:r>
              <a:rPr lang="en-US" dirty="0"/>
              <a:t>)</a:t>
            </a:r>
          </a:p>
          <a:p>
            <a:r>
              <a:rPr lang="en-US" dirty="0"/>
              <a:t>Often, the </a:t>
            </a:r>
            <a:r>
              <a:rPr lang="en-US" dirty="0" err="1"/>
              <a:t>ssus</a:t>
            </a:r>
            <a:r>
              <a:rPr lang="en-US" dirty="0"/>
              <a:t> are the elements in the population.</a:t>
            </a:r>
          </a:p>
        </p:txBody>
      </p:sp>
    </p:spTree>
    <p:extLst>
      <p:ext uri="{BB962C8B-B14F-4D97-AF65-F5344CB8AC3E}">
        <p14:creationId xmlns:p14="http://schemas.microsoft.com/office/powerpoint/2010/main" val="5182531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BA414-84C7-C9B5-D69C-999586C8A332}"/>
              </a:ext>
            </a:extLst>
          </p:cNvPr>
          <p:cNvSpPr>
            <a:spLocks noGrp="1"/>
          </p:cNvSpPr>
          <p:nvPr>
            <p:ph type="title"/>
          </p:nvPr>
        </p:nvSpPr>
        <p:spPr/>
        <p:txBody>
          <a:bodyPr/>
          <a:lstStyle/>
          <a:p>
            <a:r>
              <a:rPr lang="en-US" dirty="0"/>
              <a:t>Why use cluster samples?</a:t>
            </a:r>
          </a:p>
        </p:txBody>
      </p:sp>
      <p:sp>
        <p:nvSpPr>
          <p:cNvPr id="3" name="Content Placeholder 2">
            <a:extLst>
              <a:ext uri="{FF2B5EF4-FFF2-40B4-BE49-F238E27FC236}">
                <a16:creationId xmlns:a16="http://schemas.microsoft.com/office/drawing/2014/main" id="{D95EC1FB-AB56-8522-5483-41F9A580E262}"/>
              </a:ext>
            </a:extLst>
          </p:cNvPr>
          <p:cNvSpPr>
            <a:spLocks noGrp="1"/>
          </p:cNvSpPr>
          <p:nvPr>
            <p:ph idx="1"/>
          </p:nvPr>
        </p:nvSpPr>
        <p:spPr/>
        <p:txBody>
          <a:bodyPr/>
          <a:lstStyle/>
          <a:p>
            <a:r>
              <a:rPr lang="en-US" dirty="0"/>
              <a:t>Constructing a sampling frame list of observation units may be difficult, expensive, or impossible. </a:t>
            </a:r>
          </a:p>
          <a:p>
            <a:r>
              <a:rPr lang="en-US" dirty="0"/>
              <a:t>The population may be widely distributed geographically or may occur in natural clusters such as households or school s, and it is less expensive to take a sample of clusters rather than an SRS of individuals.</a:t>
            </a:r>
          </a:p>
          <a:p>
            <a:endParaRPr lang="en-US" dirty="0"/>
          </a:p>
        </p:txBody>
      </p:sp>
    </p:spTree>
    <p:extLst>
      <p:ext uri="{BB962C8B-B14F-4D97-AF65-F5344CB8AC3E}">
        <p14:creationId xmlns:p14="http://schemas.microsoft.com/office/powerpoint/2010/main" val="34404992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41AE7-A5AA-2F52-F4F9-F3F4DA4B2763}"/>
              </a:ext>
            </a:extLst>
          </p:cNvPr>
          <p:cNvSpPr>
            <a:spLocks noGrp="1"/>
          </p:cNvSpPr>
          <p:nvPr>
            <p:ph type="title"/>
          </p:nvPr>
        </p:nvSpPr>
        <p:spPr/>
        <p:txBody>
          <a:bodyPr/>
          <a:lstStyle/>
          <a:p>
            <a:r>
              <a:rPr lang="en-US" dirty="0"/>
              <a:t>Cluster sampling vs stratified sampling</a:t>
            </a:r>
          </a:p>
        </p:txBody>
      </p:sp>
      <p:sp>
        <p:nvSpPr>
          <p:cNvPr id="3" name="Content Placeholder 2">
            <a:extLst>
              <a:ext uri="{FF2B5EF4-FFF2-40B4-BE49-F238E27FC236}">
                <a16:creationId xmlns:a16="http://schemas.microsoft.com/office/drawing/2014/main" id="{55272429-4734-33C7-DC11-90199115AA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B20EDDE-7206-BD75-7C85-93093B95CE2E}"/>
              </a:ext>
            </a:extLst>
          </p:cNvPr>
          <p:cNvPicPr>
            <a:picLocks noChangeAspect="1"/>
          </p:cNvPicPr>
          <p:nvPr/>
        </p:nvPicPr>
        <p:blipFill>
          <a:blip r:embed="rId2"/>
          <a:stretch>
            <a:fillRect/>
          </a:stretch>
        </p:blipFill>
        <p:spPr>
          <a:xfrm>
            <a:off x="737652" y="1871402"/>
            <a:ext cx="7668695" cy="3724795"/>
          </a:xfrm>
          <a:prstGeom prst="rect">
            <a:avLst/>
          </a:prstGeom>
        </p:spPr>
      </p:pic>
    </p:spTree>
    <p:extLst>
      <p:ext uri="{BB962C8B-B14F-4D97-AF65-F5344CB8AC3E}">
        <p14:creationId xmlns:p14="http://schemas.microsoft.com/office/powerpoint/2010/main" val="304423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41AE7-A5AA-2F52-F4F9-F3F4DA4B2763}"/>
              </a:ext>
            </a:extLst>
          </p:cNvPr>
          <p:cNvSpPr>
            <a:spLocks noGrp="1"/>
          </p:cNvSpPr>
          <p:nvPr>
            <p:ph type="title"/>
          </p:nvPr>
        </p:nvSpPr>
        <p:spPr/>
        <p:txBody>
          <a:bodyPr/>
          <a:lstStyle/>
          <a:p>
            <a:r>
              <a:rPr lang="en-US" dirty="0"/>
              <a:t>Cluster sampling vs stratified sampling</a:t>
            </a:r>
          </a:p>
        </p:txBody>
      </p:sp>
      <p:sp>
        <p:nvSpPr>
          <p:cNvPr id="3" name="Content Placeholder 2">
            <a:extLst>
              <a:ext uri="{FF2B5EF4-FFF2-40B4-BE49-F238E27FC236}">
                <a16:creationId xmlns:a16="http://schemas.microsoft.com/office/drawing/2014/main" id="{55272429-4734-33C7-DC11-90199115AA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B20EDDE-7206-BD75-7C85-93093B95CE2E}"/>
              </a:ext>
            </a:extLst>
          </p:cNvPr>
          <p:cNvPicPr>
            <a:picLocks noChangeAspect="1"/>
          </p:cNvPicPr>
          <p:nvPr/>
        </p:nvPicPr>
        <p:blipFill>
          <a:blip r:embed="rId3"/>
          <a:stretch>
            <a:fillRect/>
          </a:stretch>
        </p:blipFill>
        <p:spPr>
          <a:xfrm>
            <a:off x="737652" y="1871402"/>
            <a:ext cx="7668695" cy="3724795"/>
          </a:xfrm>
          <a:prstGeom prst="rect">
            <a:avLst/>
          </a:prstGeom>
        </p:spPr>
      </p:pic>
      <p:pic>
        <p:nvPicPr>
          <p:cNvPr id="6" name="Picture 5">
            <a:extLst>
              <a:ext uri="{FF2B5EF4-FFF2-40B4-BE49-F238E27FC236}">
                <a16:creationId xmlns:a16="http://schemas.microsoft.com/office/drawing/2014/main" id="{FD554951-C8F3-E5ED-917A-A842E017C14D}"/>
              </a:ext>
            </a:extLst>
          </p:cNvPr>
          <p:cNvPicPr>
            <a:picLocks noChangeAspect="1"/>
          </p:cNvPicPr>
          <p:nvPr/>
        </p:nvPicPr>
        <p:blipFill>
          <a:blip r:embed="rId4"/>
          <a:stretch>
            <a:fillRect/>
          </a:stretch>
        </p:blipFill>
        <p:spPr>
          <a:xfrm>
            <a:off x="852192" y="2283283"/>
            <a:ext cx="7468642" cy="3191320"/>
          </a:xfrm>
          <a:prstGeom prst="rect">
            <a:avLst/>
          </a:prstGeom>
        </p:spPr>
      </p:pic>
    </p:spTree>
    <p:extLst>
      <p:ext uri="{BB962C8B-B14F-4D97-AF65-F5344CB8AC3E}">
        <p14:creationId xmlns:p14="http://schemas.microsoft.com/office/powerpoint/2010/main" val="40532179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41AE7-A5AA-2F52-F4F9-F3F4DA4B2763}"/>
              </a:ext>
            </a:extLst>
          </p:cNvPr>
          <p:cNvSpPr>
            <a:spLocks noGrp="1"/>
          </p:cNvSpPr>
          <p:nvPr>
            <p:ph type="title"/>
          </p:nvPr>
        </p:nvSpPr>
        <p:spPr/>
        <p:txBody>
          <a:bodyPr/>
          <a:lstStyle/>
          <a:p>
            <a:r>
              <a:rPr lang="en-US" dirty="0"/>
              <a:t>Cluster sampling vs stratified sampling</a:t>
            </a:r>
          </a:p>
        </p:txBody>
      </p:sp>
      <p:sp>
        <p:nvSpPr>
          <p:cNvPr id="3" name="Content Placeholder 2">
            <a:extLst>
              <a:ext uri="{FF2B5EF4-FFF2-40B4-BE49-F238E27FC236}">
                <a16:creationId xmlns:a16="http://schemas.microsoft.com/office/drawing/2014/main" id="{55272429-4734-33C7-DC11-90199115AA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B20EDDE-7206-BD75-7C85-93093B95CE2E}"/>
              </a:ext>
            </a:extLst>
          </p:cNvPr>
          <p:cNvPicPr>
            <a:picLocks noChangeAspect="1"/>
          </p:cNvPicPr>
          <p:nvPr/>
        </p:nvPicPr>
        <p:blipFill rotWithShape="1">
          <a:blip r:embed="rId2"/>
          <a:srcRect r="249" b="76595"/>
          <a:stretch/>
        </p:blipFill>
        <p:spPr>
          <a:xfrm>
            <a:off x="737653" y="1871403"/>
            <a:ext cx="7649642" cy="871798"/>
          </a:xfrm>
          <a:prstGeom prst="rect">
            <a:avLst/>
          </a:prstGeom>
        </p:spPr>
      </p:pic>
      <p:pic>
        <p:nvPicPr>
          <p:cNvPr id="6" name="Picture 5">
            <a:extLst>
              <a:ext uri="{FF2B5EF4-FFF2-40B4-BE49-F238E27FC236}">
                <a16:creationId xmlns:a16="http://schemas.microsoft.com/office/drawing/2014/main" id="{A5B67125-56F8-BDC0-1EA8-18E7C848A518}"/>
              </a:ext>
            </a:extLst>
          </p:cNvPr>
          <p:cNvPicPr>
            <a:picLocks noChangeAspect="1"/>
          </p:cNvPicPr>
          <p:nvPr/>
        </p:nvPicPr>
        <p:blipFill>
          <a:blip r:embed="rId3"/>
          <a:stretch>
            <a:fillRect/>
          </a:stretch>
        </p:blipFill>
        <p:spPr>
          <a:xfrm>
            <a:off x="756704" y="2202126"/>
            <a:ext cx="7630590" cy="2715004"/>
          </a:xfrm>
          <a:prstGeom prst="rect">
            <a:avLst/>
          </a:prstGeom>
        </p:spPr>
      </p:pic>
    </p:spTree>
    <p:extLst>
      <p:ext uri="{BB962C8B-B14F-4D97-AF65-F5344CB8AC3E}">
        <p14:creationId xmlns:p14="http://schemas.microsoft.com/office/powerpoint/2010/main" val="23468972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C94D-0D97-78FA-C288-70854E144DB7}"/>
              </a:ext>
            </a:extLst>
          </p:cNvPr>
          <p:cNvSpPr>
            <a:spLocks noGrp="1"/>
          </p:cNvSpPr>
          <p:nvPr>
            <p:ph type="title"/>
          </p:nvPr>
        </p:nvSpPr>
        <p:spPr/>
        <p:txBody>
          <a:bodyPr/>
          <a:lstStyle/>
          <a:p>
            <a:r>
              <a:rPr lang="en-US" dirty="0"/>
              <a:t>Cluster sampling vs stratified sampling</a:t>
            </a:r>
          </a:p>
        </p:txBody>
      </p:sp>
      <p:sp>
        <p:nvSpPr>
          <p:cNvPr id="3" name="Content Placeholder 2">
            <a:extLst>
              <a:ext uri="{FF2B5EF4-FFF2-40B4-BE49-F238E27FC236}">
                <a16:creationId xmlns:a16="http://schemas.microsoft.com/office/drawing/2014/main" id="{087A3A14-9E38-671D-9C8A-582874A90D15}"/>
              </a:ext>
            </a:extLst>
          </p:cNvPr>
          <p:cNvSpPr>
            <a:spLocks noGrp="1"/>
          </p:cNvSpPr>
          <p:nvPr>
            <p:ph idx="1"/>
          </p:nvPr>
        </p:nvSpPr>
        <p:spPr/>
        <p:txBody>
          <a:bodyPr/>
          <a:lstStyle/>
          <a:p>
            <a:r>
              <a:rPr lang="en-US" dirty="0"/>
              <a:t>Stratification generally increases precision when compared with simple random sampling, cluster sampling generally decreases it.</a:t>
            </a:r>
          </a:p>
          <a:p>
            <a:r>
              <a:rPr lang="en-US" dirty="0"/>
              <a:t>Members of the same cluster tend to be more similar than elements selected at random</a:t>
            </a:r>
          </a:p>
          <a:p>
            <a:r>
              <a:rPr lang="en-US" dirty="0"/>
              <a:t>By sampling everyone in the cluster, we partially repeat the same information instead of obtaining new information, and that gives us less precision for estimates of population quantities.</a:t>
            </a:r>
          </a:p>
          <a:p>
            <a:pPr lvl="1"/>
            <a:r>
              <a:rPr lang="en-US" dirty="0"/>
              <a:t>E.g., 100 individuals from a cluster may not provide the same amount of information as 100 independent individuals</a:t>
            </a:r>
          </a:p>
        </p:txBody>
      </p:sp>
    </p:spTree>
    <p:extLst>
      <p:ext uri="{BB962C8B-B14F-4D97-AF65-F5344CB8AC3E}">
        <p14:creationId xmlns:p14="http://schemas.microsoft.com/office/powerpoint/2010/main" val="10082629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1575-78A2-80A6-DC66-1615CEDEC663}"/>
              </a:ext>
            </a:extLst>
          </p:cNvPr>
          <p:cNvSpPr>
            <a:spLocks noGrp="1"/>
          </p:cNvSpPr>
          <p:nvPr>
            <p:ph type="title"/>
          </p:nvPr>
        </p:nvSpPr>
        <p:spPr/>
        <p:txBody>
          <a:bodyPr/>
          <a:lstStyle/>
          <a:p>
            <a:r>
              <a:rPr lang="en-US" dirty="0"/>
              <a:t>When clustering is ignored</a:t>
            </a:r>
          </a:p>
        </p:txBody>
      </p:sp>
      <p:sp>
        <p:nvSpPr>
          <p:cNvPr id="3" name="Content Placeholder 2">
            <a:extLst>
              <a:ext uri="{FF2B5EF4-FFF2-40B4-BE49-F238E27FC236}">
                <a16:creationId xmlns:a16="http://schemas.microsoft.com/office/drawing/2014/main" id="{CC28950E-FA95-09EF-851F-42595A299B5A}"/>
              </a:ext>
            </a:extLst>
          </p:cNvPr>
          <p:cNvSpPr>
            <a:spLocks noGrp="1"/>
          </p:cNvSpPr>
          <p:nvPr>
            <p:ph idx="1"/>
          </p:nvPr>
        </p:nvSpPr>
        <p:spPr/>
        <p:txBody>
          <a:bodyPr/>
          <a:lstStyle/>
          <a:p>
            <a:r>
              <a:rPr lang="en-US" dirty="0"/>
              <a:t>Individuals in a cluster are more similar so their responses are not independent</a:t>
            </a:r>
          </a:p>
          <a:p>
            <a:r>
              <a:rPr lang="en-US" dirty="0"/>
              <a:t>If ignoring clusters and using traditional statistical methods, standard errors would be underestimated</a:t>
            </a:r>
          </a:p>
          <a:p>
            <a:r>
              <a:rPr lang="en-US" dirty="0"/>
              <a:t>Results appear more accurate than they are</a:t>
            </a:r>
          </a:p>
          <a:p>
            <a:endParaRPr lang="en-US" dirty="0"/>
          </a:p>
        </p:txBody>
      </p:sp>
    </p:spTree>
    <p:extLst>
      <p:ext uri="{BB962C8B-B14F-4D97-AF65-F5344CB8AC3E}">
        <p14:creationId xmlns:p14="http://schemas.microsoft.com/office/powerpoint/2010/main" val="24343504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7A6-703E-D30C-6647-95515B1F0AEC}"/>
              </a:ext>
            </a:extLst>
          </p:cNvPr>
          <p:cNvSpPr>
            <a:spLocks noGrp="1"/>
          </p:cNvSpPr>
          <p:nvPr>
            <p:ph type="title"/>
          </p:nvPr>
        </p:nvSpPr>
        <p:spPr>
          <a:xfrm>
            <a:off x="685800" y="304800"/>
            <a:ext cx="7772400" cy="1143000"/>
          </a:xfrm>
        </p:spPr>
        <p:txBody>
          <a:bodyPr wrap="square" anchor="ctr">
            <a:normAutofit/>
          </a:bodyPr>
          <a:lstStyle/>
          <a:p>
            <a:r>
              <a:rPr lang="en-US" dirty="0"/>
              <a:t>One-stage and two-stage cluster sampling</a:t>
            </a:r>
          </a:p>
        </p:txBody>
      </p:sp>
      <p:pic>
        <p:nvPicPr>
          <p:cNvPr id="5" name="Picture 4" descr="A table of graph with a number of squares&#10;&#10;Description automatically generated with medium confidence">
            <a:extLst>
              <a:ext uri="{FF2B5EF4-FFF2-40B4-BE49-F238E27FC236}">
                <a16:creationId xmlns:a16="http://schemas.microsoft.com/office/drawing/2014/main" id="{15F97419-8301-D8CA-3B69-6417E8EE9CEA}"/>
              </a:ext>
            </a:extLst>
          </p:cNvPr>
          <p:cNvPicPr>
            <a:picLocks noChangeAspect="1"/>
          </p:cNvPicPr>
          <p:nvPr/>
        </p:nvPicPr>
        <p:blipFill>
          <a:blip r:embed="rId2"/>
          <a:stretch>
            <a:fillRect/>
          </a:stretch>
        </p:blipFill>
        <p:spPr>
          <a:xfrm>
            <a:off x="685800" y="2023872"/>
            <a:ext cx="7772400" cy="3419855"/>
          </a:xfrm>
          <a:prstGeom prst="rect">
            <a:avLst/>
          </a:prstGeom>
          <a:noFill/>
        </p:spPr>
      </p:pic>
    </p:spTree>
    <p:extLst>
      <p:ext uri="{BB962C8B-B14F-4D97-AF65-F5344CB8AC3E}">
        <p14:creationId xmlns:p14="http://schemas.microsoft.com/office/powerpoint/2010/main" val="27000171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7A6-703E-D30C-6647-95515B1F0AEC}"/>
              </a:ext>
            </a:extLst>
          </p:cNvPr>
          <p:cNvSpPr>
            <a:spLocks noGrp="1"/>
          </p:cNvSpPr>
          <p:nvPr>
            <p:ph type="title"/>
          </p:nvPr>
        </p:nvSpPr>
        <p:spPr>
          <a:xfrm>
            <a:off x="685800" y="304800"/>
            <a:ext cx="7772400" cy="1143000"/>
          </a:xfrm>
        </p:spPr>
        <p:txBody>
          <a:bodyPr wrap="square" anchor="ctr">
            <a:normAutofit/>
          </a:bodyPr>
          <a:lstStyle/>
          <a:p>
            <a:r>
              <a:rPr lang="en-US" dirty="0"/>
              <a:t>One-stage and two-stage cluster sampling</a:t>
            </a:r>
          </a:p>
        </p:txBody>
      </p:sp>
      <p:pic>
        <p:nvPicPr>
          <p:cNvPr id="5" name="Picture 4">
            <a:extLst>
              <a:ext uri="{FF2B5EF4-FFF2-40B4-BE49-F238E27FC236}">
                <a16:creationId xmlns:a16="http://schemas.microsoft.com/office/drawing/2014/main" id="{15F97419-8301-D8CA-3B69-6417E8EE9CEA}"/>
              </a:ext>
            </a:extLst>
          </p:cNvPr>
          <p:cNvPicPr>
            <a:picLocks noChangeAspect="1"/>
          </p:cNvPicPr>
          <p:nvPr/>
        </p:nvPicPr>
        <p:blipFill>
          <a:blip r:embed="rId2"/>
          <a:stretch>
            <a:fillRect/>
          </a:stretch>
        </p:blipFill>
        <p:spPr>
          <a:xfrm>
            <a:off x="685800" y="2023872"/>
            <a:ext cx="7772400" cy="3419855"/>
          </a:xfrm>
          <a:prstGeom prst="rect">
            <a:avLst/>
          </a:prstGeom>
          <a:noFill/>
        </p:spPr>
      </p:pic>
      <p:pic>
        <p:nvPicPr>
          <p:cNvPr id="4" name="Picture 3">
            <a:extLst>
              <a:ext uri="{FF2B5EF4-FFF2-40B4-BE49-F238E27FC236}">
                <a16:creationId xmlns:a16="http://schemas.microsoft.com/office/drawing/2014/main" id="{959B19F8-2E33-589E-39D5-454B10B266C5}"/>
              </a:ext>
            </a:extLst>
          </p:cNvPr>
          <p:cNvPicPr>
            <a:picLocks noChangeAspect="1"/>
          </p:cNvPicPr>
          <p:nvPr/>
        </p:nvPicPr>
        <p:blipFill>
          <a:blip r:embed="rId3"/>
          <a:stretch>
            <a:fillRect/>
          </a:stretch>
        </p:blipFill>
        <p:spPr>
          <a:xfrm>
            <a:off x="685799" y="2376401"/>
            <a:ext cx="7821723" cy="3153545"/>
          </a:xfrm>
          <a:prstGeom prst="rect">
            <a:avLst/>
          </a:prstGeom>
        </p:spPr>
      </p:pic>
    </p:spTree>
    <p:extLst>
      <p:ext uri="{BB962C8B-B14F-4D97-AF65-F5344CB8AC3E}">
        <p14:creationId xmlns:p14="http://schemas.microsoft.com/office/powerpoint/2010/main" val="32544998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7A6-703E-D30C-6647-95515B1F0AEC}"/>
              </a:ext>
            </a:extLst>
          </p:cNvPr>
          <p:cNvSpPr>
            <a:spLocks noGrp="1"/>
          </p:cNvSpPr>
          <p:nvPr>
            <p:ph type="title"/>
          </p:nvPr>
        </p:nvSpPr>
        <p:spPr>
          <a:xfrm>
            <a:off x="685800" y="304800"/>
            <a:ext cx="7772400" cy="1143000"/>
          </a:xfrm>
        </p:spPr>
        <p:txBody>
          <a:bodyPr wrap="square" anchor="ctr">
            <a:normAutofit/>
          </a:bodyPr>
          <a:lstStyle/>
          <a:p>
            <a:r>
              <a:rPr lang="en-US" dirty="0"/>
              <a:t>One-stage and two-stage cluster sampling</a:t>
            </a:r>
          </a:p>
        </p:txBody>
      </p:sp>
      <p:pic>
        <p:nvPicPr>
          <p:cNvPr id="5" name="Picture 4">
            <a:extLst>
              <a:ext uri="{FF2B5EF4-FFF2-40B4-BE49-F238E27FC236}">
                <a16:creationId xmlns:a16="http://schemas.microsoft.com/office/drawing/2014/main" id="{15F97419-8301-D8CA-3B69-6417E8EE9CEA}"/>
              </a:ext>
            </a:extLst>
          </p:cNvPr>
          <p:cNvPicPr>
            <a:picLocks noChangeAspect="1"/>
          </p:cNvPicPr>
          <p:nvPr/>
        </p:nvPicPr>
        <p:blipFill>
          <a:blip r:embed="rId2"/>
          <a:stretch>
            <a:fillRect/>
          </a:stretch>
        </p:blipFill>
        <p:spPr>
          <a:xfrm>
            <a:off x="685800" y="2023872"/>
            <a:ext cx="7772400" cy="3419855"/>
          </a:xfrm>
          <a:prstGeom prst="rect">
            <a:avLst/>
          </a:prstGeom>
          <a:noFill/>
        </p:spPr>
      </p:pic>
      <p:pic>
        <p:nvPicPr>
          <p:cNvPr id="4" name="Picture 3">
            <a:extLst>
              <a:ext uri="{FF2B5EF4-FFF2-40B4-BE49-F238E27FC236}">
                <a16:creationId xmlns:a16="http://schemas.microsoft.com/office/drawing/2014/main" id="{64AF7FA7-F439-C098-02A1-A0AC678329D1}"/>
              </a:ext>
            </a:extLst>
          </p:cNvPr>
          <p:cNvPicPr>
            <a:picLocks noChangeAspect="1"/>
          </p:cNvPicPr>
          <p:nvPr/>
        </p:nvPicPr>
        <p:blipFill>
          <a:blip r:embed="rId3"/>
          <a:stretch>
            <a:fillRect/>
          </a:stretch>
        </p:blipFill>
        <p:spPr>
          <a:xfrm>
            <a:off x="700314" y="2364630"/>
            <a:ext cx="7825974" cy="3223371"/>
          </a:xfrm>
          <a:prstGeom prst="rect">
            <a:avLst/>
          </a:prstGeom>
        </p:spPr>
      </p:pic>
    </p:spTree>
    <p:extLst>
      <p:ext uri="{BB962C8B-B14F-4D97-AF65-F5344CB8AC3E}">
        <p14:creationId xmlns:p14="http://schemas.microsoft.com/office/powerpoint/2010/main" val="3758966830"/>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19579</TotalTime>
  <Words>4493</Words>
  <Application>Microsoft Macintosh PowerPoint</Application>
  <PresentationFormat>On-screen Show (4:3)</PresentationFormat>
  <Paragraphs>494</Paragraphs>
  <Slides>84</Slides>
  <Notes>18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5" baseType="lpstr">
      <vt:lpstr>ＭＳ Ｐゴシック</vt:lpstr>
      <vt:lpstr>Aptos</vt:lpstr>
      <vt:lpstr>Arial</vt:lpstr>
      <vt:lpstr>Cambria Math</vt:lpstr>
      <vt:lpstr>Corbel</vt:lpstr>
      <vt:lpstr>Nunito</vt:lpstr>
      <vt:lpstr>Palatino</vt:lpstr>
      <vt:lpstr>Times New Roman</vt:lpstr>
      <vt:lpstr>Wingdings</vt:lpstr>
      <vt:lpstr>UMN-yellow</vt:lpstr>
      <vt:lpstr>Equation</vt:lpstr>
      <vt:lpstr>Sampling I</vt:lpstr>
      <vt:lpstr>Outline</vt:lpstr>
      <vt:lpstr>Key Sampling Vocabulary</vt:lpstr>
      <vt:lpstr>Target Population</vt:lpstr>
      <vt:lpstr>Element</vt:lpstr>
      <vt:lpstr>List Sample</vt:lpstr>
      <vt:lpstr>Sampling Frame</vt:lpstr>
      <vt:lpstr>Sampling unit</vt:lpstr>
      <vt:lpstr>Observation/Case/Subject</vt:lpstr>
      <vt:lpstr>Coverage</vt:lpstr>
      <vt:lpstr>Defects in Coverage</vt:lpstr>
      <vt:lpstr>Problems arising from Undercoverage</vt:lpstr>
      <vt:lpstr>Probability Samples</vt:lpstr>
      <vt:lpstr>PowerPoint Presentation</vt:lpstr>
      <vt:lpstr>An example</vt:lpstr>
      <vt:lpstr>An example</vt:lpstr>
      <vt:lpstr>An example</vt:lpstr>
      <vt:lpstr>Sampling Variability</vt:lpstr>
      <vt:lpstr>Sampling Distributions</vt:lpstr>
      <vt:lpstr>PowerPoint Presentation</vt:lpstr>
      <vt:lpstr>PowerPoint Presentation</vt:lpstr>
      <vt:lpstr>Factors That Decrease Standard Error</vt:lpstr>
      <vt:lpstr>PowerPoint Presentation</vt:lpstr>
      <vt:lpstr>Simple Random Samples</vt:lpstr>
      <vt:lpstr>Simple Random Samples</vt:lpstr>
      <vt:lpstr>Simple Random Samples</vt:lpstr>
      <vt:lpstr>Simple Random Samples</vt:lpstr>
      <vt:lpstr>Simple Random Samples</vt:lpstr>
      <vt:lpstr>Sampling weight</vt:lpstr>
      <vt:lpstr>Sampling weight</vt:lpstr>
      <vt:lpstr>Sampling distribution under SRS</vt:lpstr>
      <vt:lpstr>Sampling distribution under SRS</vt:lpstr>
      <vt:lpstr>PowerPoint Presentation</vt:lpstr>
      <vt:lpstr>The Sampling Distribution of a Sample Mean </vt:lpstr>
      <vt:lpstr>PowerPoint Presentation</vt:lpstr>
      <vt:lpstr>PowerPoint Presentation</vt:lpstr>
      <vt:lpstr>PowerPoint Presentation</vt:lpstr>
      <vt:lpstr>Confidence Intervals</vt:lpstr>
      <vt:lpstr>Example</vt:lpstr>
      <vt:lpstr>Determining sample size</vt:lpstr>
      <vt:lpstr>Determining sample size</vt:lpstr>
      <vt:lpstr>Determining sample size</vt:lpstr>
      <vt:lpstr>Simple Random Samples</vt:lpstr>
      <vt:lpstr>Exercise I</vt:lpstr>
      <vt:lpstr>Exercise II</vt:lpstr>
      <vt:lpstr>Exercise II</vt:lpstr>
      <vt:lpstr>Exercise II</vt:lpstr>
      <vt:lpstr>Stratified Random Samples</vt:lpstr>
      <vt:lpstr>PowerPoint Presentation</vt:lpstr>
      <vt:lpstr>PowerPoint Presentation</vt:lpstr>
      <vt:lpstr>An example</vt:lpstr>
      <vt:lpstr>An example</vt:lpstr>
      <vt:lpstr>An example</vt:lpstr>
      <vt:lpstr>Why Stratified Random Samples?</vt:lpstr>
      <vt:lpstr>Practical Example</vt:lpstr>
      <vt:lpstr>Sampling weight</vt:lpstr>
      <vt:lpstr>Sampling weight</vt:lpstr>
      <vt:lpstr>Sampling weight</vt:lpstr>
      <vt:lpstr>Proportional Allocation</vt:lpstr>
      <vt:lpstr>Proportional Allocation</vt:lpstr>
      <vt:lpstr>Proportional Allocation</vt:lpstr>
      <vt:lpstr>Disproportional allocation</vt:lpstr>
      <vt:lpstr>Which to use?</vt:lpstr>
      <vt:lpstr>Which to use?</vt:lpstr>
      <vt:lpstr>Determining the Total Sample Size</vt:lpstr>
      <vt:lpstr>Determining the Total Sample Size</vt:lpstr>
      <vt:lpstr>An example</vt:lpstr>
      <vt:lpstr>Defining Strata</vt:lpstr>
      <vt:lpstr>Defining Strata</vt:lpstr>
      <vt:lpstr>Oversampling &amp; Undersampling</vt:lpstr>
      <vt:lpstr>Summary</vt:lpstr>
      <vt:lpstr>Summary</vt:lpstr>
      <vt:lpstr>Cluster Samples</vt:lpstr>
      <vt:lpstr>Cluster Samples</vt:lpstr>
      <vt:lpstr>Some terms</vt:lpstr>
      <vt:lpstr>Why use cluster samples?</vt:lpstr>
      <vt:lpstr>Cluster sampling vs stratified sampling</vt:lpstr>
      <vt:lpstr>Cluster sampling vs stratified sampling</vt:lpstr>
      <vt:lpstr>Cluster sampling vs stratified sampling</vt:lpstr>
      <vt:lpstr>Cluster sampling vs stratified sampling</vt:lpstr>
      <vt:lpstr>When clustering is ignored</vt:lpstr>
      <vt:lpstr>One-stage and two-stage cluster sampling</vt:lpstr>
      <vt:lpstr>One-stage and two-stage cluster sampling</vt:lpstr>
      <vt:lpstr>One-stage and two-stage cluster sampling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177</cp:revision>
  <dcterms:created xsi:type="dcterms:W3CDTF">2024-07-16T02:19:12Z</dcterms:created>
  <dcterms:modified xsi:type="dcterms:W3CDTF">2024-10-01T01:28:05Z</dcterms:modified>
</cp:coreProperties>
</file>