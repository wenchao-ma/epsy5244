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Lst>
  <p:notesMasterIdLst>
    <p:notesMasterId r:id="rId21"/>
  </p:notesMasterIdLst>
  <p:sldIdLst>
    <p:sldId id="256" r:id="rId2"/>
    <p:sldId id="258" r:id="rId3"/>
    <p:sldId id="260" r:id="rId4"/>
    <p:sldId id="262" r:id="rId5"/>
    <p:sldId id="259" r:id="rId6"/>
    <p:sldId id="261" r:id="rId7"/>
    <p:sldId id="263" r:id="rId8"/>
    <p:sldId id="264" r:id="rId9"/>
    <p:sldId id="265" r:id="rId10"/>
    <p:sldId id="266" r:id="rId11"/>
    <p:sldId id="267" r:id="rId12"/>
    <p:sldId id="268" r:id="rId13"/>
    <p:sldId id="274" r:id="rId14"/>
    <p:sldId id="269" r:id="rId15"/>
    <p:sldId id="273" r:id="rId16"/>
    <p:sldId id="271" r:id="rId17"/>
    <p:sldId id="272" r:id="rId18"/>
    <p:sldId id="270" r:id="rId19"/>
    <p:sldId id="275" r:id="rId20"/>
  </p:sldIdLst>
  <p:sldSz cx="9144000" cy="6858000" type="screen4x3"/>
  <p:notesSz cx="6858000" cy="9144000"/>
  <p:defaultTextStyle>
    <a:defPPr>
      <a:defRPr lang="en-US"/>
    </a:defPPr>
    <a:lvl1pPr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1pPr>
    <a:lvl2pPr marL="342946"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2pPr>
    <a:lvl3pPr marL="685891"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3pPr>
    <a:lvl4pPr marL="1028837"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4pPr>
    <a:lvl5pPr marL="1371783"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5pPr>
    <a:lvl6pPr marL="1714729" algn="l" defTabSz="342946" rtl="0" eaLnBrk="1" latinLnBrk="0" hangingPunct="1">
      <a:defRPr sz="1800" kern="1200">
        <a:solidFill>
          <a:schemeClr val="tx1"/>
        </a:solidFill>
        <a:latin typeface="Arial" charset="0"/>
        <a:ea typeface="ＭＳ Ｐゴシック" charset="0"/>
        <a:cs typeface="ＭＳ Ｐゴシック" charset="0"/>
      </a:defRPr>
    </a:lvl6pPr>
    <a:lvl7pPr marL="2057674" algn="l" defTabSz="342946" rtl="0" eaLnBrk="1" latinLnBrk="0" hangingPunct="1">
      <a:defRPr sz="1800" kern="1200">
        <a:solidFill>
          <a:schemeClr val="tx1"/>
        </a:solidFill>
        <a:latin typeface="Arial" charset="0"/>
        <a:ea typeface="ＭＳ Ｐゴシック" charset="0"/>
        <a:cs typeface="ＭＳ Ｐゴシック" charset="0"/>
      </a:defRPr>
    </a:lvl7pPr>
    <a:lvl8pPr marL="2400620" algn="l" defTabSz="342946" rtl="0" eaLnBrk="1" latinLnBrk="0" hangingPunct="1">
      <a:defRPr sz="1800" kern="1200">
        <a:solidFill>
          <a:schemeClr val="tx1"/>
        </a:solidFill>
        <a:latin typeface="Arial" charset="0"/>
        <a:ea typeface="ＭＳ Ｐゴシック" charset="0"/>
        <a:cs typeface="ＭＳ Ｐゴシック" charset="0"/>
      </a:defRPr>
    </a:lvl8pPr>
    <a:lvl9pPr marL="2743566" algn="l" defTabSz="342946" rtl="0" eaLnBrk="1" latinLnBrk="0" hangingPunct="1">
      <a:defRPr sz="18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63083" autoAdjust="0"/>
  </p:normalViewPr>
  <p:slideViewPr>
    <p:cSldViewPr snapToGrid="0">
      <p:cViewPr varScale="1">
        <p:scale>
          <a:sx n="75" d="100"/>
          <a:sy n="75" d="100"/>
        </p:scale>
        <p:origin x="2960" y="1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E8312B-1A20-409D-8875-E72FC49F0C16}"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US"/>
        </a:p>
      </dgm:t>
    </dgm:pt>
    <dgm:pt modelId="{6385E55A-E752-48CE-A653-A8007366A09D}">
      <dgm:prSet phldrT="[Text]"/>
      <dgm:spPr/>
      <dgm:t>
        <a:bodyPr/>
        <a:lstStyle/>
        <a:p>
          <a:r>
            <a:rPr lang="en-US" dirty="0"/>
            <a:t>“For us to help solve the school problems in your community, it is necessary for you to complete this questionnaire.”</a:t>
          </a:r>
        </a:p>
      </dgm:t>
    </dgm:pt>
    <dgm:pt modelId="{98226111-D937-4BB0-AF3F-2A456091C586}" type="parTrans" cxnId="{C0A9AC32-1FD2-4BBF-B62A-A01EA6EE4EED}">
      <dgm:prSet/>
      <dgm:spPr/>
      <dgm:t>
        <a:bodyPr/>
        <a:lstStyle/>
        <a:p>
          <a:endParaRPr lang="en-US"/>
        </a:p>
      </dgm:t>
    </dgm:pt>
    <dgm:pt modelId="{E5B85E75-A35A-4ABC-B643-BB04B2D980FE}" type="sibTrans" cxnId="{C0A9AC32-1FD2-4BBF-B62A-A01EA6EE4EED}">
      <dgm:prSet/>
      <dgm:spPr/>
      <dgm:t>
        <a:bodyPr/>
        <a:lstStyle/>
        <a:p>
          <a:endParaRPr lang="en-US"/>
        </a:p>
      </dgm:t>
    </dgm:pt>
    <dgm:pt modelId="{BDEC3737-0375-4E54-9F3A-298FB6A256EB}">
      <dgm:prSet phldrT="[Text]"/>
      <dgm:spPr/>
      <dgm:t>
        <a:bodyPr/>
        <a:lstStyle/>
        <a:p>
          <a:r>
            <a:rPr lang="en-US" dirty="0"/>
            <a:t>Will you please be a part of helping to solve the school problems in your community? Your responses can assist this community in fully understanding the issues facing schools here.</a:t>
          </a:r>
        </a:p>
      </dgm:t>
    </dgm:pt>
    <dgm:pt modelId="{AA92B992-5538-4DF1-96E0-754B24B72BC0}" type="parTrans" cxnId="{CE8E9C61-FBBA-4DBA-AFD0-2AFEB5F96BC3}">
      <dgm:prSet/>
      <dgm:spPr/>
      <dgm:t>
        <a:bodyPr/>
        <a:lstStyle/>
        <a:p>
          <a:endParaRPr lang="en-US"/>
        </a:p>
      </dgm:t>
    </dgm:pt>
    <dgm:pt modelId="{55F84076-5FF7-4197-87D2-F1B5CC39F094}" type="sibTrans" cxnId="{CE8E9C61-FBBA-4DBA-AFD0-2AFEB5F96BC3}">
      <dgm:prSet/>
      <dgm:spPr/>
      <dgm:t>
        <a:bodyPr/>
        <a:lstStyle/>
        <a:p>
          <a:endParaRPr lang="en-US"/>
        </a:p>
      </dgm:t>
    </dgm:pt>
    <dgm:pt modelId="{21B6347A-552D-4CC9-ADCC-617649BAAD63}" type="pres">
      <dgm:prSet presAssocID="{99E8312B-1A20-409D-8875-E72FC49F0C16}" presName="compositeShape" presStyleCnt="0">
        <dgm:presLayoutVars>
          <dgm:chMax val="2"/>
          <dgm:dir/>
          <dgm:resizeHandles val="exact"/>
        </dgm:presLayoutVars>
      </dgm:prSet>
      <dgm:spPr/>
    </dgm:pt>
    <dgm:pt modelId="{CCC4239A-5A67-4D42-BCF0-3CCFCD4E8017}" type="pres">
      <dgm:prSet presAssocID="{99E8312B-1A20-409D-8875-E72FC49F0C16}" presName="ribbon" presStyleLbl="node1" presStyleIdx="0" presStyleCnt="1"/>
      <dgm:spPr/>
    </dgm:pt>
    <dgm:pt modelId="{0C02DE96-4048-4582-B5DE-1C313312FE3F}" type="pres">
      <dgm:prSet presAssocID="{99E8312B-1A20-409D-8875-E72FC49F0C16}" presName="leftArrowText" presStyleLbl="node1" presStyleIdx="0" presStyleCnt="1">
        <dgm:presLayoutVars>
          <dgm:chMax val="0"/>
          <dgm:bulletEnabled val="1"/>
        </dgm:presLayoutVars>
      </dgm:prSet>
      <dgm:spPr/>
    </dgm:pt>
    <dgm:pt modelId="{B0645F98-4B55-46D5-A04E-DE583861BD70}" type="pres">
      <dgm:prSet presAssocID="{99E8312B-1A20-409D-8875-E72FC49F0C16}" presName="rightArrowText" presStyleLbl="node1" presStyleIdx="0" presStyleCnt="1">
        <dgm:presLayoutVars>
          <dgm:chMax val="0"/>
          <dgm:bulletEnabled val="1"/>
        </dgm:presLayoutVars>
      </dgm:prSet>
      <dgm:spPr/>
    </dgm:pt>
  </dgm:ptLst>
  <dgm:cxnLst>
    <dgm:cxn modelId="{6904D40C-B308-4D04-AA0E-DB492DE51A00}" type="presOf" srcId="{BDEC3737-0375-4E54-9F3A-298FB6A256EB}" destId="{B0645F98-4B55-46D5-A04E-DE583861BD70}" srcOrd="0" destOrd="0" presId="urn:microsoft.com/office/officeart/2005/8/layout/arrow6"/>
    <dgm:cxn modelId="{C0A9AC32-1FD2-4BBF-B62A-A01EA6EE4EED}" srcId="{99E8312B-1A20-409D-8875-E72FC49F0C16}" destId="{6385E55A-E752-48CE-A653-A8007366A09D}" srcOrd="0" destOrd="0" parTransId="{98226111-D937-4BB0-AF3F-2A456091C586}" sibTransId="{E5B85E75-A35A-4ABC-B643-BB04B2D980FE}"/>
    <dgm:cxn modelId="{CE8E9C61-FBBA-4DBA-AFD0-2AFEB5F96BC3}" srcId="{99E8312B-1A20-409D-8875-E72FC49F0C16}" destId="{BDEC3737-0375-4E54-9F3A-298FB6A256EB}" srcOrd="1" destOrd="0" parTransId="{AA92B992-5538-4DF1-96E0-754B24B72BC0}" sibTransId="{55F84076-5FF7-4197-87D2-F1B5CC39F094}"/>
    <dgm:cxn modelId="{AF418D65-8F9A-4CEF-8AC8-AD79542BC862}" type="presOf" srcId="{6385E55A-E752-48CE-A653-A8007366A09D}" destId="{0C02DE96-4048-4582-B5DE-1C313312FE3F}" srcOrd="0" destOrd="0" presId="urn:microsoft.com/office/officeart/2005/8/layout/arrow6"/>
    <dgm:cxn modelId="{570222E0-4C95-432F-9FB9-A4093D376875}" type="presOf" srcId="{99E8312B-1A20-409D-8875-E72FC49F0C16}" destId="{21B6347A-552D-4CC9-ADCC-617649BAAD63}" srcOrd="0" destOrd="0" presId="urn:microsoft.com/office/officeart/2005/8/layout/arrow6"/>
    <dgm:cxn modelId="{582E8BEB-9DBE-4CB2-867B-92A2553A1C20}" type="presParOf" srcId="{21B6347A-552D-4CC9-ADCC-617649BAAD63}" destId="{CCC4239A-5A67-4D42-BCF0-3CCFCD4E8017}" srcOrd="0" destOrd="0" presId="urn:microsoft.com/office/officeart/2005/8/layout/arrow6"/>
    <dgm:cxn modelId="{3255F8B5-FDD9-422B-878E-86FEB1A69547}" type="presParOf" srcId="{21B6347A-552D-4CC9-ADCC-617649BAAD63}" destId="{0C02DE96-4048-4582-B5DE-1C313312FE3F}" srcOrd="1" destOrd="0" presId="urn:microsoft.com/office/officeart/2005/8/layout/arrow6"/>
    <dgm:cxn modelId="{4B6285EB-3114-4B33-A873-E35A24890BFB}" type="presParOf" srcId="{21B6347A-552D-4CC9-ADCC-617649BAAD63}" destId="{B0645F98-4B55-46D5-A04E-DE583861BD70}" srcOrd="2" destOrd="0" presId="urn:microsoft.com/office/officeart/2005/8/layout/arrow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C4239A-5A67-4D42-BCF0-3CCFCD4E8017}">
      <dsp:nvSpPr>
        <dsp:cNvPr id="0" name=""/>
        <dsp:cNvSpPr/>
      </dsp:nvSpPr>
      <dsp:spPr>
        <a:xfrm>
          <a:off x="0" y="409302"/>
          <a:ext cx="8766629" cy="3506651"/>
        </a:xfrm>
        <a:prstGeom prst="leftRightRibb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02DE96-4048-4582-B5DE-1C313312FE3F}">
      <dsp:nvSpPr>
        <dsp:cNvPr id="0" name=""/>
        <dsp:cNvSpPr/>
      </dsp:nvSpPr>
      <dsp:spPr>
        <a:xfrm>
          <a:off x="1051995" y="1022966"/>
          <a:ext cx="2892987" cy="171825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4008" rIns="0" bIns="68580" numCol="1" spcCol="1270" anchor="ctr" anchorCtr="0">
          <a:noAutofit/>
        </a:bodyPr>
        <a:lstStyle/>
        <a:p>
          <a:pPr marL="0" lvl="0" indent="0" algn="ctr" defTabSz="800100">
            <a:lnSpc>
              <a:spcPct val="90000"/>
            </a:lnSpc>
            <a:spcBef>
              <a:spcPct val="0"/>
            </a:spcBef>
            <a:spcAft>
              <a:spcPct val="35000"/>
            </a:spcAft>
            <a:buNone/>
          </a:pPr>
          <a:r>
            <a:rPr lang="en-US" sz="1800" kern="1200" dirty="0"/>
            <a:t>“For us to help solve the school problems in your community, it is necessary for you to complete this questionnaire.”</a:t>
          </a:r>
        </a:p>
      </dsp:txBody>
      <dsp:txXfrm>
        <a:off x="1051995" y="1022966"/>
        <a:ext cx="2892987" cy="1718259"/>
      </dsp:txXfrm>
    </dsp:sp>
    <dsp:sp modelId="{B0645F98-4B55-46D5-A04E-DE583861BD70}">
      <dsp:nvSpPr>
        <dsp:cNvPr id="0" name=""/>
        <dsp:cNvSpPr/>
      </dsp:nvSpPr>
      <dsp:spPr>
        <a:xfrm>
          <a:off x="4383314" y="1584030"/>
          <a:ext cx="3418985" cy="171825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4008" rIns="0" bIns="68580" numCol="1" spcCol="1270" anchor="ctr" anchorCtr="0">
          <a:noAutofit/>
        </a:bodyPr>
        <a:lstStyle/>
        <a:p>
          <a:pPr marL="0" lvl="0" indent="0" algn="ctr" defTabSz="800100">
            <a:lnSpc>
              <a:spcPct val="90000"/>
            </a:lnSpc>
            <a:spcBef>
              <a:spcPct val="0"/>
            </a:spcBef>
            <a:spcAft>
              <a:spcPct val="35000"/>
            </a:spcAft>
            <a:buNone/>
          </a:pPr>
          <a:r>
            <a:rPr lang="en-US" sz="1800" kern="1200" dirty="0"/>
            <a:t>Will you please be a part of helping to solve the school problems in your community? Your responses can assist this community in fully understanding the issues facing schools here.</a:t>
          </a:r>
        </a:p>
      </dsp:txBody>
      <dsp:txXfrm>
        <a:off x="4383314" y="1584030"/>
        <a:ext cx="3418985" cy="1718259"/>
      </dsp:txXfrm>
    </dsp:sp>
  </dsp:spTree>
</dsp:drawing>
</file>

<file path=ppt/diagrams/layout1.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22EE1A-1E57-4A26-BEAD-BA0F11D4AB95}" type="datetimeFigureOut">
              <a:rPr lang="en-US" smtClean="0"/>
              <a:t>9/24/24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925CEA-CE71-402A-A3BD-05AB42F89E39}" type="slidenum">
              <a:rPr lang="en-US" smtClean="0"/>
              <a:t>‹#›</a:t>
            </a:fld>
            <a:endParaRPr lang="en-US"/>
          </a:p>
        </p:txBody>
      </p:sp>
    </p:spTree>
    <p:extLst>
      <p:ext uri="{BB962C8B-B14F-4D97-AF65-F5344CB8AC3E}">
        <p14:creationId xmlns:p14="http://schemas.microsoft.com/office/powerpoint/2010/main" val="179559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1</a:t>
            </a:fld>
            <a:endParaRPr lang="en-US"/>
          </a:p>
        </p:txBody>
      </p:sp>
    </p:spTree>
    <p:extLst>
      <p:ext uri="{BB962C8B-B14F-4D97-AF65-F5344CB8AC3E}">
        <p14:creationId xmlns:p14="http://schemas.microsoft.com/office/powerpoint/2010/main" val="3314954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people feel a significant benefit when contributing to something that benefits others, even if they do not believe they will personally benefit directly. </a:t>
            </a:r>
            <a:r>
              <a:rPr lang="en-US" b="0" i="0" dirty="0">
                <a:solidFill>
                  <a:srgbClr val="353432"/>
                </a:solidFill>
                <a:effectLst/>
                <a:highlight>
                  <a:srgbClr val="FFFFFF"/>
                </a:highlight>
                <a:latin typeface="-apple-system"/>
              </a:rPr>
              <a:t>for example “Your feedback will help our reference librarians know how to provide better service to users like you.”</a:t>
            </a:r>
          </a:p>
          <a:p>
            <a:endParaRPr lang="en-US" b="0" i="0" dirty="0">
              <a:solidFill>
                <a:srgbClr val="353432"/>
              </a:solidFill>
              <a:effectLst/>
              <a:highlight>
                <a:srgbClr val="FFFFFF"/>
              </a:highlight>
              <a:latin typeface="-apple-system"/>
            </a:endParaRPr>
          </a:p>
          <a:p>
            <a:endParaRPr lang="en-US" b="0" i="0" dirty="0">
              <a:solidFill>
                <a:srgbClr val="353432"/>
              </a:solidFill>
              <a:effectLst/>
              <a:highlight>
                <a:srgbClr val="FFFFFF"/>
              </a:highlight>
              <a:latin typeface="-apple-system"/>
            </a:endParaRPr>
          </a:p>
          <a:p>
            <a:r>
              <a:rPr lang="en-US" dirty="0"/>
              <a:t>people often feel good when others ask them for advice or assistance that only they can provide.</a:t>
            </a:r>
          </a:p>
        </p:txBody>
      </p:sp>
      <p:sp>
        <p:nvSpPr>
          <p:cNvPr id="4" name="Slide Number Placeholder 3"/>
          <p:cNvSpPr>
            <a:spLocks noGrp="1"/>
          </p:cNvSpPr>
          <p:nvPr>
            <p:ph type="sldNum" sz="quarter" idx="5"/>
          </p:nvPr>
        </p:nvSpPr>
        <p:spPr/>
        <p:txBody>
          <a:bodyPr/>
          <a:lstStyle/>
          <a:p>
            <a:fld id="{E0925CEA-CE71-402A-A3BD-05AB42F89E39}" type="slidenum">
              <a:rPr lang="en-US" smtClean="0"/>
              <a:t>4</a:t>
            </a:fld>
            <a:endParaRPr lang="en-US"/>
          </a:p>
        </p:txBody>
      </p:sp>
    </p:spTree>
    <p:extLst>
      <p:ext uri="{BB962C8B-B14F-4D97-AF65-F5344CB8AC3E}">
        <p14:creationId xmlns:p14="http://schemas.microsoft.com/office/powerpoint/2010/main" val="2788501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j-lt"/>
              </a:rPr>
              <a:t>However, what is interesting to one person may be of little interest to another.</a:t>
            </a:r>
          </a:p>
          <a:p>
            <a:endParaRPr lang="en-US" dirty="0">
              <a:latin typeface="+mj-lt"/>
            </a:endParaRPr>
          </a:p>
          <a:p>
            <a:endParaRPr lang="en-US" dirty="0">
              <a:latin typeface="+mj-lt"/>
            </a:endParaRPr>
          </a:p>
          <a:p>
            <a:r>
              <a:rPr lang="en-US" dirty="0">
                <a:latin typeface="+mj-lt"/>
              </a:rPr>
              <a:t>One of the reasons that token cash incentives sent with a survey request have been shown consistently to be one of the most effective ways of improving survey response is that the surveyor has given something to the recipient, and he in turn sees it as appropriate to return the favor by completing the questionnaire, even though it is not required or mandatory.</a:t>
            </a:r>
          </a:p>
          <a:p>
            <a:endParaRPr lang="en-US" dirty="0">
              <a:latin typeface="+mj-lt"/>
            </a:endParaRPr>
          </a:p>
          <a:p>
            <a:r>
              <a:rPr lang="en-US" dirty="0">
                <a:latin typeface="+mj-lt"/>
              </a:rPr>
              <a:t>monetary incentives sent in advance have larger effects than either gifts sent with the request or promised incentives and lotteries that are contingent upon completion of the survey.</a:t>
            </a:r>
          </a:p>
        </p:txBody>
      </p:sp>
      <p:sp>
        <p:nvSpPr>
          <p:cNvPr id="4" name="Slide Number Placeholder 3"/>
          <p:cNvSpPr>
            <a:spLocks noGrp="1"/>
          </p:cNvSpPr>
          <p:nvPr>
            <p:ph type="sldNum" sz="quarter" idx="5"/>
          </p:nvPr>
        </p:nvSpPr>
        <p:spPr/>
        <p:txBody>
          <a:bodyPr/>
          <a:lstStyle/>
          <a:p>
            <a:fld id="{E0925CEA-CE71-402A-A3BD-05AB42F89E39}" type="slidenum">
              <a:rPr lang="en-US" smtClean="0"/>
              <a:t>5</a:t>
            </a:fld>
            <a:endParaRPr lang="en-US"/>
          </a:p>
        </p:txBody>
      </p:sp>
    </p:spTree>
    <p:extLst>
      <p:ext uri="{BB962C8B-B14F-4D97-AF65-F5344CB8AC3E}">
        <p14:creationId xmlns:p14="http://schemas.microsoft.com/office/powerpoint/2010/main" val="161409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often see surveyors trying to include as many questions as possible, often with each asking for extensive detail, into their surveys. Sometimes the additional questions and detail are included just in case, with no clear plan to use them. This is typically done because the surveyor does not know when or if he will get another opportunity to conduct a survey and wants to get as much information out of the current one as possible.</a:t>
            </a:r>
          </a:p>
        </p:txBody>
      </p:sp>
      <p:sp>
        <p:nvSpPr>
          <p:cNvPr id="4" name="Slide Number Placeholder 3"/>
          <p:cNvSpPr>
            <a:spLocks noGrp="1"/>
          </p:cNvSpPr>
          <p:nvPr>
            <p:ph type="sldNum" sz="quarter" idx="5"/>
          </p:nvPr>
        </p:nvSpPr>
        <p:spPr/>
        <p:txBody>
          <a:bodyPr/>
          <a:lstStyle/>
          <a:p>
            <a:fld id="{E0925CEA-CE71-402A-A3BD-05AB42F89E39}" type="slidenum">
              <a:rPr lang="en-US" smtClean="0"/>
              <a:t>6</a:t>
            </a:fld>
            <a:endParaRPr lang="en-US"/>
          </a:p>
        </p:txBody>
      </p:sp>
    </p:spTree>
    <p:extLst>
      <p:ext uri="{BB962C8B-B14F-4D97-AF65-F5344CB8AC3E}">
        <p14:creationId xmlns:p14="http://schemas.microsoft.com/office/powerpoint/2010/main" val="2899256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statement subordinates the respondent to the surveyor using what might consider an adult-to-child style, whereas the second statement makes the respondent feel that the surveyor is dependent on him or her. Sensitivity to this issue may be especially important when surveying hard-to-reach populations and those who are disadvantaged or experience discrimination.</a:t>
            </a:r>
          </a:p>
        </p:txBody>
      </p:sp>
      <p:sp>
        <p:nvSpPr>
          <p:cNvPr id="4" name="Slide Number Placeholder 3"/>
          <p:cNvSpPr>
            <a:spLocks noGrp="1"/>
          </p:cNvSpPr>
          <p:nvPr>
            <p:ph type="sldNum" sz="quarter" idx="5"/>
          </p:nvPr>
        </p:nvSpPr>
        <p:spPr/>
        <p:txBody>
          <a:bodyPr/>
          <a:lstStyle/>
          <a:p>
            <a:fld id="{E0925CEA-CE71-402A-A3BD-05AB42F89E39}" type="slidenum">
              <a:rPr lang="en-US" smtClean="0"/>
              <a:t>7</a:t>
            </a:fld>
            <a:endParaRPr lang="en-US"/>
          </a:p>
        </p:txBody>
      </p:sp>
    </p:spTree>
    <p:extLst>
      <p:ext uri="{BB962C8B-B14F-4D97-AF65-F5344CB8AC3E}">
        <p14:creationId xmlns:p14="http://schemas.microsoft.com/office/powerpoint/2010/main" val="2656543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offering people the choice of response modes simply does not improve response, and in some instances can even lower response rates. This is because offering a choice complicates the decision-making process, making it likely that some people will take no action at all.</a:t>
            </a:r>
          </a:p>
          <a:p>
            <a:endParaRPr lang="en-US" dirty="0"/>
          </a:p>
          <a:p>
            <a:endParaRPr lang="en-US" dirty="0"/>
          </a:p>
          <a:p>
            <a:r>
              <a:rPr lang="en-US" dirty="0"/>
              <a:t>Surveys often ask for information that some people do not want to reveal such as their income and other financial information, their health and medical history, and their past sexual behavior or drug use. Asking for sensitive information like this should be avoided whenever possible because it increases costs for respondents, but when obtaining sensitive information is absolutely necessary, there are several things that can be done to reduce the costs to respondents of providing it.</a:t>
            </a:r>
          </a:p>
        </p:txBody>
      </p:sp>
      <p:sp>
        <p:nvSpPr>
          <p:cNvPr id="4" name="Slide Number Placeholder 3"/>
          <p:cNvSpPr>
            <a:spLocks noGrp="1"/>
          </p:cNvSpPr>
          <p:nvPr>
            <p:ph type="sldNum" sz="quarter" idx="5"/>
          </p:nvPr>
        </p:nvSpPr>
        <p:spPr/>
        <p:txBody>
          <a:bodyPr/>
          <a:lstStyle/>
          <a:p>
            <a:fld id="{E0925CEA-CE71-402A-A3BD-05AB42F89E39}" type="slidenum">
              <a:rPr lang="en-US" smtClean="0"/>
              <a:t>8</a:t>
            </a:fld>
            <a:endParaRPr lang="en-US"/>
          </a:p>
        </p:txBody>
      </p:sp>
    </p:spTree>
    <p:extLst>
      <p:ext uri="{BB962C8B-B14F-4D97-AF65-F5344CB8AC3E}">
        <p14:creationId xmlns:p14="http://schemas.microsoft.com/office/powerpoint/2010/main" val="785114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are more likely to comply with a request if it comes from an authoritative source. it is not surprising that for some time, government-sponsored surveys have achieved higher response rates than those sponsored by marketing research firms. Universities are also authoritative sources. However, there is some evidence that the effect of university sponsorship may be more localized than that of government sponsorship. Some researchers found that university sponsorship increased response rates in areas near the university, but decreased response rates in areas near a competing university.</a:t>
            </a:r>
          </a:p>
          <a:p>
            <a:endParaRPr lang="en-US" dirty="0"/>
          </a:p>
          <a:p>
            <a:endParaRPr lang="en-US" dirty="0"/>
          </a:p>
          <a:p>
            <a:r>
              <a:rPr lang="en-US" dirty="0"/>
              <a:t>one way surveyors can establish trust is by explaining the efforts that will be taken to ensure the confidentiality and security of people’s survey responses. going to great lengths and detail to explain how confidentiality will be assured when the survey is not terribly sensitive is more likely to raise concerns about the data being collected than to resolve such concerns. strong confidentiality assurances can be beneficial, increasing response, when the survey topic is sensitive. Much like the use of incentives, when assuring confidentiality and data protection, there is a need to achieve optimal levels, but not make respondents suspicious by offering excessive amounts of money or </a:t>
            </a:r>
            <a:r>
              <a:rPr lang="en-US" dirty="0" err="1"/>
              <a:t>overexplanations</a:t>
            </a:r>
            <a:r>
              <a:rPr lang="en-US" dirty="0"/>
              <a:t> of confidentiality and protection.</a:t>
            </a:r>
          </a:p>
        </p:txBody>
      </p:sp>
      <p:sp>
        <p:nvSpPr>
          <p:cNvPr id="4" name="Slide Number Placeholder 3"/>
          <p:cNvSpPr>
            <a:spLocks noGrp="1"/>
          </p:cNvSpPr>
          <p:nvPr>
            <p:ph type="sldNum" sz="quarter" idx="5"/>
          </p:nvPr>
        </p:nvSpPr>
        <p:spPr/>
        <p:txBody>
          <a:bodyPr/>
          <a:lstStyle/>
          <a:p>
            <a:fld id="{E0925CEA-CE71-402A-A3BD-05AB42F89E39}" type="slidenum">
              <a:rPr lang="en-US" smtClean="0"/>
              <a:t>9</a:t>
            </a:fld>
            <a:endParaRPr lang="en-US"/>
          </a:p>
        </p:txBody>
      </p:sp>
    </p:spTree>
    <p:extLst>
      <p:ext uri="{BB962C8B-B14F-4D97-AF65-F5344CB8AC3E}">
        <p14:creationId xmlns:p14="http://schemas.microsoft.com/office/powerpoint/2010/main" val="3517474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survey was sponsored by a research center at Washington State University, providing a certain amount of legitimacy (increase benefits and trust), especially since the population of interest was students completing a doctorate degree at that university. The invitation letter asking recipients to respond over the Internet was printed on official university stationery and also provided names and contact information for the study director and office from which the study was being implemented, providing further legitimacy (increase trust). An additional aim was to create trust that something useful to future graduate students would result from the study (a potential benefit because of the identity some students were developing with their department). The inclusion of the $2 bill with the request and referring to it as a “token of appreciation” was aimed at communicating the importance of each response (a benefit) and providing a direct and unconditional benefit to the recipient (increase trust), although this was less of a concern in this survey situation than it might have been in others because the survey originated from within the university.</a:t>
            </a:r>
          </a:p>
        </p:txBody>
      </p:sp>
      <p:sp>
        <p:nvSpPr>
          <p:cNvPr id="4" name="Slide Number Placeholder 3"/>
          <p:cNvSpPr>
            <a:spLocks noGrp="1"/>
          </p:cNvSpPr>
          <p:nvPr>
            <p:ph type="sldNum" sz="quarter" idx="5"/>
          </p:nvPr>
        </p:nvSpPr>
        <p:spPr/>
        <p:txBody>
          <a:bodyPr/>
          <a:lstStyle/>
          <a:p>
            <a:fld id="{E0925CEA-CE71-402A-A3BD-05AB42F89E39}" type="slidenum">
              <a:rPr lang="en-US" smtClean="0"/>
              <a:t>15</a:t>
            </a:fld>
            <a:endParaRPr lang="en-US"/>
          </a:p>
        </p:txBody>
      </p:sp>
    </p:spTree>
    <p:extLst>
      <p:ext uri="{BB962C8B-B14F-4D97-AF65-F5344CB8AC3E}">
        <p14:creationId xmlns:p14="http://schemas.microsoft.com/office/powerpoint/2010/main" val="278517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immediate e-mail follow-up, that can be thought of as e-mail augmentation of the paper contact in order to provide an electronic link was designed to reduce the effort needed for sample members to transfer the URL and password from the paper letter to the computer (reduce costs). The wording in this e-mail emphasized this attempt to reduce the cost of time and effort by providing an electronic survey link and explaining that it was included to make it easier to respond, as illustrated in Figure 2.4. The additional follow-ups each conveyed new information and discussed the usefulness of the study with different words to spread the appeal (cf. Millar, 2013).</a:t>
            </a:r>
          </a:p>
        </p:txBody>
      </p:sp>
      <p:sp>
        <p:nvSpPr>
          <p:cNvPr id="4" name="Slide Number Placeholder 3"/>
          <p:cNvSpPr>
            <a:spLocks noGrp="1"/>
          </p:cNvSpPr>
          <p:nvPr>
            <p:ph type="sldNum" sz="quarter" idx="5"/>
          </p:nvPr>
        </p:nvSpPr>
        <p:spPr/>
        <p:txBody>
          <a:bodyPr/>
          <a:lstStyle/>
          <a:p>
            <a:fld id="{E0925CEA-CE71-402A-A3BD-05AB42F89E39}" type="slidenum">
              <a:rPr lang="en-US" smtClean="0"/>
              <a:t>16</a:t>
            </a:fld>
            <a:endParaRPr lang="en-US"/>
          </a:p>
        </p:txBody>
      </p:sp>
    </p:spTree>
    <p:extLst>
      <p:ext uri="{BB962C8B-B14F-4D97-AF65-F5344CB8AC3E}">
        <p14:creationId xmlns:p14="http://schemas.microsoft.com/office/powerpoint/2010/main" val="349487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appealing but vague title, “Understanding the Doctoral Experience at WSU,” which gave the questionnaire a localized identity (increase benefits)</a:t>
            </a:r>
          </a:p>
          <a:p>
            <a:endParaRPr lang="en-US" dirty="0"/>
          </a:p>
          <a:p>
            <a:r>
              <a:rPr lang="en-US" dirty="0"/>
              <a:t>the questionnaire was kept reasonably short (reduce costs) and limited to 44 questions</a:t>
            </a:r>
          </a:p>
        </p:txBody>
      </p:sp>
      <p:sp>
        <p:nvSpPr>
          <p:cNvPr id="4" name="Slide Number Placeholder 3"/>
          <p:cNvSpPr>
            <a:spLocks noGrp="1"/>
          </p:cNvSpPr>
          <p:nvPr>
            <p:ph type="sldNum" sz="quarter" idx="5"/>
          </p:nvPr>
        </p:nvSpPr>
        <p:spPr/>
        <p:txBody>
          <a:bodyPr/>
          <a:lstStyle/>
          <a:p>
            <a:fld id="{E0925CEA-CE71-402A-A3BD-05AB42F89E39}" type="slidenum">
              <a:rPr lang="en-US" smtClean="0"/>
              <a:t>17</a:t>
            </a:fld>
            <a:endParaRPr lang="en-US"/>
          </a:p>
        </p:txBody>
      </p:sp>
    </p:spTree>
    <p:extLst>
      <p:ext uri="{BB962C8B-B14F-4D97-AF65-F5344CB8AC3E}">
        <p14:creationId xmlns:p14="http://schemas.microsoft.com/office/powerpoint/2010/main" val="10900173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localhost/Users/ranja/Documents/5-resources/ppt/2018%20ppt-with%20R/new/working%20files/graphics_4x3-M-gold.png"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787400"/>
            <a:ext cx="8001000" cy="1143000"/>
          </a:xfrm>
        </p:spPr>
        <p:txBody>
          <a:bodyPr/>
          <a:lstStyle>
            <a:lvl1pPr algn="l">
              <a:defRPr>
                <a:solidFill>
                  <a:srgbClr val="7A0019"/>
                </a:solidFill>
              </a:defRPr>
            </a:lvl1pPr>
          </a:lstStyle>
          <a:p>
            <a:pPr lvl="0"/>
            <a:r>
              <a:rPr lang="en-US" noProof="0"/>
              <a:t>Click to edit Master title style</a:t>
            </a:r>
            <a:endParaRPr lang="en-US" noProof="0" dirty="0"/>
          </a:p>
        </p:txBody>
      </p:sp>
      <p:sp>
        <p:nvSpPr>
          <p:cNvPr id="6" name="Text Placeholder 5"/>
          <p:cNvSpPr>
            <a:spLocks noGrp="1"/>
          </p:cNvSpPr>
          <p:nvPr>
            <p:ph type="body" sz="quarter" idx="10" hasCustomPrompt="1"/>
          </p:nvPr>
        </p:nvSpPr>
        <p:spPr>
          <a:xfrm>
            <a:off x="685800" y="2921000"/>
            <a:ext cx="8001000" cy="609600"/>
          </a:xfrm>
        </p:spPr>
        <p:txBody>
          <a:bodyPr/>
          <a:lstStyle>
            <a:lvl1pPr marL="0" indent="0">
              <a:buNone/>
              <a:defRPr sz="1800">
                <a:solidFill>
                  <a:schemeClr val="tx1">
                    <a:lumMod val="65000"/>
                    <a:lumOff val="35000"/>
                  </a:schemeClr>
                </a:solidFill>
              </a:defRPr>
            </a:lvl1pPr>
            <a:lvl2pPr marL="342946" indent="0">
              <a:buNone/>
              <a:defRPr sz="1800">
                <a:solidFill>
                  <a:srgbClr val="FFFFFF"/>
                </a:solidFill>
              </a:defRPr>
            </a:lvl2pPr>
            <a:lvl3pPr marL="685891" indent="0">
              <a:buNone/>
              <a:defRPr sz="1800">
                <a:solidFill>
                  <a:srgbClr val="FFFFFF"/>
                </a:solidFill>
              </a:defRPr>
            </a:lvl3pPr>
            <a:lvl4pPr marL="1028837" indent="0">
              <a:buNone/>
              <a:defRPr sz="1800">
                <a:solidFill>
                  <a:srgbClr val="FFFFFF"/>
                </a:solidFill>
              </a:defRPr>
            </a:lvl4pPr>
            <a:lvl5pPr marL="1371783" indent="0">
              <a:buNone/>
              <a:defRPr sz="1800">
                <a:solidFill>
                  <a:srgbClr val="FFFFFF"/>
                </a:solidFill>
              </a:defRPr>
            </a:lvl5pPr>
          </a:lstStyle>
          <a:p>
            <a:pPr lvl="0"/>
            <a:r>
              <a:rPr lang="en-US" dirty="0"/>
              <a:t>Presenter/unit/department name</a:t>
            </a:r>
          </a:p>
        </p:txBody>
      </p:sp>
      <p:sp>
        <p:nvSpPr>
          <p:cNvPr id="10" name="Text Placeholder 9"/>
          <p:cNvSpPr>
            <a:spLocks noGrp="1"/>
          </p:cNvSpPr>
          <p:nvPr>
            <p:ph type="body" sz="quarter" idx="12" hasCustomPrompt="1"/>
          </p:nvPr>
        </p:nvSpPr>
        <p:spPr>
          <a:xfrm>
            <a:off x="685800" y="3530600"/>
            <a:ext cx="8001000" cy="508000"/>
          </a:xfrm>
        </p:spPr>
        <p:txBody>
          <a:bodyPr/>
          <a:lstStyle>
            <a:lvl1pPr marL="0" indent="0">
              <a:buNone/>
              <a:defRPr sz="1200">
                <a:solidFill>
                  <a:schemeClr val="tx1">
                    <a:lumMod val="65000"/>
                    <a:lumOff val="35000"/>
                  </a:schemeClr>
                </a:solidFill>
              </a:defRPr>
            </a:lvl1pPr>
            <a:lvl2pPr marL="342946" indent="0">
              <a:buNone/>
              <a:defRPr sz="1200">
                <a:solidFill>
                  <a:srgbClr val="FFFFFF"/>
                </a:solidFill>
              </a:defRPr>
            </a:lvl2pPr>
            <a:lvl3pPr marL="685891" indent="0">
              <a:buNone/>
              <a:defRPr sz="1200">
                <a:solidFill>
                  <a:srgbClr val="FFFFFF"/>
                </a:solidFill>
              </a:defRPr>
            </a:lvl3pPr>
            <a:lvl4pPr marL="1028837" indent="0">
              <a:buNone/>
              <a:defRPr sz="1200">
                <a:solidFill>
                  <a:srgbClr val="FFFFFF"/>
                </a:solidFill>
              </a:defRPr>
            </a:lvl4pPr>
            <a:lvl5pPr marL="1371783" indent="0">
              <a:buNone/>
              <a:defRPr sz="1200">
                <a:solidFill>
                  <a:srgbClr val="FFFFFF"/>
                </a:solidFill>
              </a:defRPr>
            </a:lvl5pPr>
          </a:lstStyle>
          <a:p>
            <a:pPr lvl="0"/>
            <a:r>
              <a:rPr lang="en-US" dirty="0"/>
              <a:t>Date</a:t>
            </a:r>
          </a:p>
        </p:txBody>
      </p:sp>
      <p:pic>
        <p:nvPicPr>
          <p:cNvPr id="8" name="graphics_4x3-M-gold.png" descr="/Users/ranja/Documents/5-resources/ppt/2018 ppt-with R/new/working files/graphics_4x3-M-gold.png">
            <a:extLst>
              <a:ext uri="{FF2B5EF4-FFF2-40B4-BE49-F238E27FC236}">
                <a16:creationId xmlns:a16="http://schemas.microsoft.com/office/drawing/2014/main" id="{BD85783E-02E7-AD5B-1B73-2B1DBD3BD5B1}"/>
              </a:ext>
            </a:extLst>
          </p:cNvPr>
          <p:cNvPicPr>
            <a:picLocks noChangeAspect="1"/>
          </p:cNvPicPr>
          <p:nvPr/>
        </p:nvPicPr>
        <p:blipFill rotWithShape="1">
          <a:blip r:embed="rId2" r:link="rId3" cstate="print">
            <a:extLst>
              <a:ext uri="{28A0092B-C50C-407E-A947-70E740481C1C}">
                <a14:useLocalDpi xmlns:a14="http://schemas.microsoft.com/office/drawing/2010/main"/>
              </a:ext>
            </a:extLst>
          </a:blip>
          <a:srcRect r="10000"/>
          <a:stretch>
            <a:fillRect/>
          </a:stretch>
        </p:blipFill>
        <p:spPr>
          <a:xfrm>
            <a:off x="0" y="6387041"/>
            <a:ext cx="9144000" cy="466344"/>
          </a:xfrm>
          <a:prstGeom prst="rect">
            <a:avLst/>
          </a:prstGeom>
        </p:spPr>
      </p:pic>
      <p:pic>
        <p:nvPicPr>
          <p:cNvPr id="5" name="Picture 4" descr="A cartoon of a beaver with a large letter&#10;&#10;Description automatically generated">
            <a:extLst>
              <a:ext uri="{FF2B5EF4-FFF2-40B4-BE49-F238E27FC236}">
                <a16:creationId xmlns:a16="http://schemas.microsoft.com/office/drawing/2014/main" id="{2A03D404-5F99-3C9D-E8C4-48EF1EA452C9}"/>
              </a:ext>
            </a:extLst>
          </p:cNvPr>
          <p:cNvPicPr>
            <a:picLocks noChangeAspect="1"/>
          </p:cNvPicPr>
          <p:nvPr/>
        </p:nvPicPr>
        <p:blipFill>
          <a:blip r:embed="rId4"/>
          <a:stretch>
            <a:fillRect/>
          </a:stretch>
        </p:blipFill>
        <p:spPr>
          <a:xfrm>
            <a:off x="6400794" y="4956044"/>
            <a:ext cx="2743206" cy="1901956"/>
          </a:xfrm>
          <a:prstGeom prst="rect">
            <a:avLst/>
          </a:prstGeom>
        </p:spPr>
      </p:pic>
    </p:spTree>
    <p:extLst>
      <p:ext uri="{BB962C8B-B14F-4D97-AF65-F5344CB8AC3E}">
        <p14:creationId xmlns:p14="http://schemas.microsoft.com/office/powerpoint/2010/main" val="1946727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9130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5"/>
            <a:ext cx="7772400" cy="1362075"/>
          </a:xfrm>
        </p:spPr>
        <p:txBody>
          <a:bodyPr anchor="t"/>
          <a:lstStyle>
            <a:lvl1pPr algn="l">
              <a:defRPr sz="3000" b="0" i="0" cap="none"/>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46" indent="0">
              <a:buNone/>
              <a:defRPr sz="1400"/>
            </a:lvl2pPr>
            <a:lvl3pPr marL="685891" indent="0">
              <a:buNone/>
              <a:defRPr sz="1200"/>
            </a:lvl3pPr>
            <a:lvl4pPr marL="1028837" indent="0">
              <a:buNone/>
              <a:defRPr sz="1100"/>
            </a:lvl4pPr>
            <a:lvl5pPr marL="1371783" indent="0">
              <a:buNone/>
              <a:defRPr sz="1100"/>
            </a:lvl5pPr>
            <a:lvl6pPr marL="1714729" indent="0">
              <a:buNone/>
              <a:defRPr sz="1100"/>
            </a:lvl6pPr>
            <a:lvl7pPr marL="2057674" indent="0">
              <a:buNone/>
              <a:defRPr sz="1100"/>
            </a:lvl7pPr>
            <a:lvl8pPr marL="2400620" indent="0">
              <a:buNone/>
              <a:defRPr sz="1100"/>
            </a:lvl8pPr>
            <a:lvl9pPr marL="2743566" indent="0">
              <a:buNone/>
              <a:defRPr sz="1100"/>
            </a:lvl9pPr>
          </a:lstStyle>
          <a:p>
            <a:pPr lvl="0"/>
            <a:r>
              <a:rPr lang="en-US"/>
              <a:t>Click to edit Master text styles</a:t>
            </a:r>
          </a:p>
        </p:txBody>
      </p:sp>
    </p:spTree>
    <p:extLst>
      <p:ext uri="{BB962C8B-B14F-4D97-AF65-F5344CB8AC3E}">
        <p14:creationId xmlns:p14="http://schemas.microsoft.com/office/powerpoint/2010/main" val="450051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1675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7"/>
            <a:ext cx="4040188"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7"/>
            <a:ext cx="4041775"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8015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1678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1011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73053"/>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7"/>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435104"/>
            <a:ext cx="3008313" cy="46910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1649624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46" indent="0">
              <a:buNone/>
              <a:defRPr sz="2100"/>
            </a:lvl2pPr>
            <a:lvl3pPr marL="685891" indent="0">
              <a:buNone/>
              <a:defRPr sz="1800"/>
            </a:lvl3pPr>
            <a:lvl4pPr marL="1028837" indent="0">
              <a:buNone/>
              <a:defRPr sz="1500"/>
            </a:lvl4pPr>
            <a:lvl5pPr marL="1371783" indent="0">
              <a:buNone/>
              <a:defRPr sz="1500"/>
            </a:lvl5pPr>
            <a:lvl6pPr marL="1714729" indent="0">
              <a:buNone/>
              <a:defRPr sz="1500"/>
            </a:lvl6pPr>
            <a:lvl7pPr marL="2057674" indent="0">
              <a:buNone/>
              <a:defRPr sz="1500"/>
            </a:lvl7pPr>
            <a:lvl8pPr marL="2400620" indent="0">
              <a:buNone/>
              <a:defRPr sz="1500"/>
            </a:lvl8pPr>
            <a:lvl9pPr marL="2743566"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42"/>
            <a:ext cx="5486400" cy="8048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4034953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189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1" y="304800"/>
            <a:ext cx="5676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2025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file://localhost/Users/ranja/Documents/5-resources/ppt/2018%20ppt-with%20R/new/working%20files/graphics_4x3-M-gold.pn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68589" tIns="34295" rIns="68589" bIns="34295"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685800" y="1752600"/>
            <a:ext cx="7772400" cy="39624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68589" tIns="34295" rIns="68589" bIns="3429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s_4x3-M-gold.png" descr="/Users/ranja/Documents/5-resources/ppt/2018 ppt-with R/new/working files/graphics_4x3-M-gold.png"/>
          <p:cNvPicPr>
            <a:picLocks noChangeAspect="1"/>
          </p:cNvPicPr>
          <p:nvPr/>
        </p:nvPicPr>
        <p:blipFill>
          <a:blip r:embed="rId13" r:link="rId14" cstate="print">
            <a:extLst>
              <a:ext uri="{28A0092B-C50C-407E-A947-70E740481C1C}">
                <a14:useLocalDpi xmlns:a14="http://schemas.microsoft.com/office/drawing/2010/main"/>
              </a:ext>
            </a:extLst>
          </a:blip>
          <a:stretch>
            <a:fillRect/>
          </a:stretch>
        </p:blipFill>
        <p:spPr>
          <a:xfrm>
            <a:off x="0" y="6387041"/>
            <a:ext cx="9144000" cy="466344"/>
          </a:xfrm>
          <a:prstGeom prst="rect">
            <a:avLst/>
          </a:prstGeom>
        </p:spPr>
      </p:pic>
    </p:spTree>
    <p:extLst>
      <p:ext uri="{BB962C8B-B14F-4D97-AF65-F5344CB8AC3E}">
        <p14:creationId xmlns:p14="http://schemas.microsoft.com/office/powerpoint/2010/main" val="18778612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fontAlgn="base" hangingPunct="1">
        <a:spcBef>
          <a:spcPct val="0"/>
        </a:spcBef>
        <a:spcAft>
          <a:spcPct val="0"/>
        </a:spcAft>
        <a:defRPr sz="3300" b="0">
          <a:solidFill>
            <a:srgbClr val="7A0019"/>
          </a:solidFill>
          <a:latin typeface="+mj-lt"/>
          <a:ea typeface="ＭＳ Ｐゴシック" charset="0"/>
          <a:cs typeface="ＭＳ Ｐゴシック" charset="0"/>
        </a:defRPr>
      </a:lvl1pPr>
      <a:lvl2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2pPr>
      <a:lvl3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3pPr>
      <a:lvl4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4pPr>
      <a:lvl5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5pPr>
      <a:lvl6pPr marL="342946"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6pPr>
      <a:lvl7pPr marL="685891"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7pPr>
      <a:lvl8pPr marL="1028837"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8pPr>
      <a:lvl9pPr marL="1371783"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9pPr>
    </p:titleStyle>
    <p:bodyStyle>
      <a:lvl1pPr marL="257209" indent="-257209" algn="l" rtl="0" eaLnBrk="1" fontAlgn="base" hangingPunct="1">
        <a:spcBef>
          <a:spcPct val="20000"/>
        </a:spcBef>
        <a:spcAft>
          <a:spcPct val="0"/>
        </a:spcAft>
        <a:buClr>
          <a:srgbClr val="7A0019"/>
        </a:buClr>
        <a:buChar char="•"/>
        <a:defRPr sz="2400">
          <a:solidFill>
            <a:srgbClr val="595959"/>
          </a:solidFill>
          <a:latin typeface="+mn-lt"/>
          <a:ea typeface="ＭＳ Ｐゴシック" charset="0"/>
          <a:cs typeface="ＭＳ Ｐゴシック" charset="0"/>
        </a:defRPr>
      </a:lvl1pPr>
      <a:lvl2pPr marL="557287" indent="-214341" algn="l" rtl="0" eaLnBrk="1" fontAlgn="base" hangingPunct="1">
        <a:spcBef>
          <a:spcPct val="20000"/>
        </a:spcBef>
        <a:spcAft>
          <a:spcPct val="0"/>
        </a:spcAft>
        <a:buClr>
          <a:srgbClr val="7A0019"/>
        </a:buClr>
        <a:buChar char="–"/>
        <a:defRPr sz="2100">
          <a:solidFill>
            <a:srgbClr val="595959"/>
          </a:solidFill>
          <a:latin typeface="+mn-lt"/>
          <a:ea typeface="ＭＳ Ｐゴシック" charset="0"/>
        </a:defRPr>
      </a:lvl2pPr>
      <a:lvl3pPr marL="857364" indent="-171473" algn="l" rtl="0" eaLnBrk="1" fontAlgn="base" hangingPunct="1">
        <a:spcBef>
          <a:spcPct val="20000"/>
        </a:spcBef>
        <a:spcAft>
          <a:spcPct val="0"/>
        </a:spcAft>
        <a:buClr>
          <a:srgbClr val="7A0019"/>
        </a:buClr>
        <a:buChar char="•"/>
        <a:defRPr sz="1800">
          <a:solidFill>
            <a:srgbClr val="595959"/>
          </a:solidFill>
          <a:latin typeface="+mn-lt"/>
          <a:ea typeface="ＭＳ Ｐゴシック" charset="0"/>
        </a:defRPr>
      </a:lvl3pPr>
      <a:lvl4pPr marL="1200310"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4pPr>
      <a:lvl5pPr marL="1543256"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5pPr>
      <a:lvl6pPr marL="1886201" indent="-171473"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9147" indent="-171473"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2093" indent="-171473"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5039" indent="-171473" algn="l" rtl="0" eaLnBrk="1" fontAlgn="base" hangingPunct="1">
        <a:spcBef>
          <a:spcPct val="20000"/>
        </a:spcBef>
        <a:spcAft>
          <a:spcPct val="0"/>
        </a:spcAft>
        <a:buClr>
          <a:srgbClr val="7A0019"/>
        </a:buClr>
        <a:buChar char="»"/>
        <a:defRPr sz="1500">
          <a:solidFill>
            <a:schemeClr val="tx1"/>
          </a:solidFill>
          <a:latin typeface="+mn-lt"/>
          <a:ea typeface="+mn-ea"/>
        </a:defRPr>
      </a:lvl9pPr>
    </p:bodyStyle>
    <p:otherStyle>
      <a:defPPr>
        <a:defRPr lang="en-US"/>
      </a:defPPr>
      <a:lvl1pPr marL="0" algn="l" defTabSz="342946" rtl="0" eaLnBrk="1" latinLnBrk="0" hangingPunct="1">
        <a:defRPr sz="1400" kern="1200">
          <a:solidFill>
            <a:schemeClr val="tx1"/>
          </a:solidFill>
          <a:latin typeface="+mn-lt"/>
          <a:ea typeface="+mn-ea"/>
          <a:cs typeface="+mn-cs"/>
        </a:defRPr>
      </a:lvl1pPr>
      <a:lvl2pPr marL="342946" algn="l" defTabSz="342946" rtl="0" eaLnBrk="1" latinLnBrk="0" hangingPunct="1">
        <a:defRPr sz="1400" kern="1200">
          <a:solidFill>
            <a:schemeClr val="tx1"/>
          </a:solidFill>
          <a:latin typeface="+mn-lt"/>
          <a:ea typeface="+mn-ea"/>
          <a:cs typeface="+mn-cs"/>
        </a:defRPr>
      </a:lvl2pPr>
      <a:lvl3pPr marL="685891" algn="l" defTabSz="342946" rtl="0" eaLnBrk="1" latinLnBrk="0" hangingPunct="1">
        <a:defRPr sz="1400" kern="1200">
          <a:solidFill>
            <a:schemeClr val="tx1"/>
          </a:solidFill>
          <a:latin typeface="+mn-lt"/>
          <a:ea typeface="+mn-ea"/>
          <a:cs typeface="+mn-cs"/>
        </a:defRPr>
      </a:lvl3pPr>
      <a:lvl4pPr marL="1028837" algn="l" defTabSz="342946" rtl="0" eaLnBrk="1" latinLnBrk="0" hangingPunct="1">
        <a:defRPr sz="1400" kern="1200">
          <a:solidFill>
            <a:schemeClr val="tx1"/>
          </a:solidFill>
          <a:latin typeface="+mn-lt"/>
          <a:ea typeface="+mn-ea"/>
          <a:cs typeface="+mn-cs"/>
        </a:defRPr>
      </a:lvl4pPr>
      <a:lvl5pPr marL="1371783" algn="l" defTabSz="342946" rtl="0" eaLnBrk="1" latinLnBrk="0" hangingPunct="1">
        <a:defRPr sz="1400" kern="1200">
          <a:solidFill>
            <a:schemeClr val="tx1"/>
          </a:solidFill>
          <a:latin typeface="+mn-lt"/>
          <a:ea typeface="+mn-ea"/>
          <a:cs typeface="+mn-cs"/>
        </a:defRPr>
      </a:lvl5pPr>
      <a:lvl6pPr marL="1714729" algn="l" defTabSz="342946" rtl="0" eaLnBrk="1" latinLnBrk="0" hangingPunct="1">
        <a:defRPr sz="1400" kern="1200">
          <a:solidFill>
            <a:schemeClr val="tx1"/>
          </a:solidFill>
          <a:latin typeface="+mn-lt"/>
          <a:ea typeface="+mn-ea"/>
          <a:cs typeface="+mn-cs"/>
        </a:defRPr>
      </a:lvl6pPr>
      <a:lvl7pPr marL="2057674" algn="l" defTabSz="342946" rtl="0" eaLnBrk="1" latinLnBrk="0" hangingPunct="1">
        <a:defRPr sz="1400" kern="1200">
          <a:solidFill>
            <a:schemeClr val="tx1"/>
          </a:solidFill>
          <a:latin typeface="+mn-lt"/>
          <a:ea typeface="+mn-ea"/>
          <a:cs typeface="+mn-cs"/>
        </a:defRPr>
      </a:lvl7pPr>
      <a:lvl8pPr marL="2400620" algn="l" defTabSz="342946" rtl="0" eaLnBrk="1" latinLnBrk="0" hangingPunct="1">
        <a:defRPr sz="1400" kern="1200">
          <a:solidFill>
            <a:schemeClr val="tx1"/>
          </a:solidFill>
          <a:latin typeface="+mn-lt"/>
          <a:ea typeface="+mn-ea"/>
          <a:cs typeface="+mn-cs"/>
        </a:defRPr>
      </a:lvl8pPr>
      <a:lvl9pPr marL="2743566" algn="l" defTabSz="342946"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65C8C-CF70-CF3F-9392-E243431AEC0B}"/>
              </a:ext>
            </a:extLst>
          </p:cNvPr>
          <p:cNvSpPr>
            <a:spLocks noGrp="1"/>
          </p:cNvSpPr>
          <p:nvPr>
            <p:ph type="ctrTitle"/>
          </p:nvPr>
        </p:nvSpPr>
        <p:spPr/>
        <p:txBody>
          <a:bodyPr/>
          <a:lstStyle/>
          <a:p>
            <a:r>
              <a:rPr lang="en-US" dirty="0"/>
              <a:t>Social Exchange Theory: Why People Respond</a:t>
            </a:r>
          </a:p>
        </p:txBody>
      </p:sp>
      <p:sp>
        <p:nvSpPr>
          <p:cNvPr id="3" name="Text Placeholder 2">
            <a:extLst>
              <a:ext uri="{FF2B5EF4-FFF2-40B4-BE49-F238E27FC236}">
                <a16:creationId xmlns:a16="http://schemas.microsoft.com/office/drawing/2014/main" id="{54B6C380-3DF9-E998-2C27-3E061F31EA79}"/>
              </a:ext>
            </a:extLst>
          </p:cNvPr>
          <p:cNvSpPr>
            <a:spLocks noGrp="1"/>
          </p:cNvSpPr>
          <p:nvPr>
            <p:ph type="body" sz="quarter" idx="10"/>
          </p:nvPr>
        </p:nvSpPr>
        <p:spPr/>
        <p:txBody>
          <a:bodyPr/>
          <a:lstStyle/>
          <a:p>
            <a:r>
              <a:rPr lang="en-US" dirty="0"/>
              <a:t>Wenchao Ma</a:t>
            </a:r>
          </a:p>
          <a:p>
            <a:r>
              <a:rPr lang="en-US" dirty="0"/>
              <a:t>University of Minnesota</a:t>
            </a:r>
          </a:p>
          <a:p>
            <a:endParaRPr lang="en-US" dirty="0"/>
          </a:p>
        </p:txBody>
      </p:sp>
      <p:sp>
        <p:nvSpPr>
          <p:cNvPr id="4" name="Text Placeholder 3">
            <a:extLst>
              <a:ext uri="{FF2B5EF4-FFF2-40B4-BE49-F238E27FC236}">
                <a16:creationId xmlns:a16="http://schemas.microsoft.com/office/drawing/2014/main" id="{9D768A85-7F52-262F-2784-53D0D2E9D002}"/>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668113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59520-54B4-4596-CAC6-B33892CA8F27}"/>
              </a:ext>
            </a:extLst>
          </p:cNvPr>
          <p:cNvSpPr>
            <a:spLocks noGrp="1"/>
          </p:cNvSpPr>
          <p:nvPr>
            <p:ph type="title"/>
          </p:nvPr>
        </p:nvSpPr>
        <p:spPr/>
        <p:txBody>
          <a:bodyPr/>
          <a:lstStyle/>
          <a:p>
            <a:r>
              <a:rPr lang="en-US" dirty="0"/>
              <a:t>Social Exchange Theory (Homans, 1961; </a:t>
            </a:r>
            <a:r>
              <a:rPr lang="en-US" dirty="0" err="1"/>
              <a:t>Blau</a:t>
            </a:r>
            <a:r>
              <a:rPr lang="en-US" dirty="0"/>
              <a:t>, 1964; </a:t>
            </a:r>
            <a:r>
              <a:rPr lang="en-US" dirty="0" err="1"/>
              <a:t>Dillman</a:t>
            </a:r>
            <a:r>
              <a:rPr lang="en-US" dirty="0"/>
              <a:t>, 1978)</a:t>
            </a:r>
          </a:p>
        </p:txBody>
      </p:sp>
      <p:sp>
        <p:nvSpPr>
          <p:cNvPr id="3" name="Content Placeholder 2">
            <a:extLst>
              <a:ext uri="{FF2B5EF4-FFF2-40B4-BE49-F238E27FC236}">
                <a16:creationId xmlns:a16="http://schemas.microsoft.com/office/drawing/2014/main" id="{6E885D8A-C397-E552-45DC-89E725A62A06}"/>
              </a:ext>
            </a:extLst>
          </p:cNvPr>
          <p:cNvSpPr>
            <a:spLocks noGrp="1"/>
          </p:cNvSpPr>
          <p:nvPr>
            <p:ph idx="1"/>
          </p:nvPr>
        </p:nvSpPr>
        <p:spPr/>
        <p:txBody>
          <a:bodyPr/>
          <a:lstStyle/>
          <a:p>
            <a:r>
              <a:rPr lang="en-US" dirty="0"/>
              <a:t>People are more likely to comply with a request from someone else if they believe and </a:t>
            </a:r>
            <a:r>
              <a:rPr lang="en-US" b="1" dirty="0"/>
              <a:t>trust</a:t>
            </a:r>
            <a:r>
              <a:rPr lang="en-US" dirty="0"/>
              <a:t> that the </a:t>
            </a:r>
            <a:r>
              <a:rPr lang="en-US" b="1" dirty="0"/>
              <a:t>rewards</a:t>
            </a:r>
            <a:r>
              <a:rPr lang="en-US" dirty="0"/>
              <a:t> for complying with that request will eventually exceed the </a:t>
            </a:r>
            <a:r>
              <a:rPr lang="en-US" b="1" dirty="0"/>
              <a:t>costs</a:t>
            </a:r>
            <a:r>
              <a:rPr lang="en-US" dirty="0"/>
              <a:t> of complying (</a:t>
            </a:r>
            <a:r>
              <a:rPr lang="en-US" dirty="0" err="1"/>
              <a:t>Dillman</a:t>
            </a:r>
            <a:r>
              <a:rPr lang="en-US" dirty="0"/>
              <a:t>, et al., 2014)</a:t>
            </a:r>
          </a:p>
          <a:p>
            <a:endParaRPr lang="en-US" dirty="0"/>
          </a:p>
        </p:txBody>
      </p:sp>
    </p:spTree>
    <p:extLst>
      <p:ext uri="{BB962C8B-B14F-4D97-AF65-F5344CB8AC3E}">
        <p14:creationId xmlns:p14="http://schemas.microsoft.com/office/powerpoint/2010/main" val="1449115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36685-0813-3BEE-9851-5148E960827E}"/>
              </a:ext>
            </a:extLst>
          </p:cNvPr>
          <p:cNvSpPr>
            <a:spLocks noGrp="1"/>
          </p:cNvSpPr>
          <p:nvPr>
            <p:ph type="title"/>
          </p:nvPr>
        </p:nvSpPr>
        <p:spPr/>
        <p:txBody>
          <a:bodyPr/>
          <a:lstStyle/>
          <a:p>
            <a:r>
              <a:rPr lang="en-US" dirty="0"/>
              <a:t>Social Exchange Theory</a:t>
            </a:r>
          </a:p>
        </p:txBody>
      </p:sp>
      <p:sp>
        <p:nvSpPr>
          <p:cNvPr id="3" name="Content Placeholder 2">
            <a:extLst>
              <a:ext uri="{FF2B5EF4-FFF2-40B4-BE49-F238E27FC236}">
                <a16:creationId xmlns:a16="http://schemas.microsoft.com/office/drawing/2014/main" id="{FEEF87E7-8906-685E-1150-1381B4039AAF}"/>
              </a:ext>
            </a:extLst>
          </p:cNvPr>
          <p:cNvSpPr>
            <a:spLocks noGrp="1"/>
          </p:cNvSpPr>
          <p:nvPr>
            <p:ph idx="1"/>
          </p:nvPr>
        </p:nvSpPr>
        <p:spPr/>
        <p:txBody>
          <a:bodyPr/>
          <a:lstStyle/>
          <a:p>
            <a:r>
              <a:rPr lang="en-US" dirty="0"/>
              <a:t>The exchange in survey research is information provided by the respondent to the researcher as the researcher provides the respondent with the opportunity </a:t>
            </a:r>
          </a:p>
          <a:p>
            <a:pPr lvl="1"/>
            <a:r>
              <a:rPr lang="en-US" dirty="0"/>
              <a:t>(1) to personally and visibly promote the social good, </a:t>
            </a:r>
          </a:p>
          <a:p>
            <a:pPr lvl="1"/>
            <a:r>
              <a:rPr lang="en-US" dirty="0"/>
              <a:t>(2) to be recognized and included, </a:t>
            </a:r>
          </a:p>
          <a:p>
            <a:pPr lvl="1"/>
            <a:r>
              <a:rPr lang="en-US" dirty="0"/>
              <a:t>(3) to express an opinion that will be valued and counted, </a:t>
            </a:r>
          </a:p>
          <a:p>
            <a:pPr lvl="1"/>
            <a:r>
              <a:rPr lang="en-US" dirty="0"/>
              <a:t>(4) to learn about a topic, </a:t>
            </a:r>
          </a:p>
          <a:p>
            <a:pPr lvl="1"/>
            <a:r>
              <a:rPr lang="en-US" dirty="0"/>
              <a:t>(5) to reflect on and come to decisions about aspects of a topic, and </a:t>
            </a:r>
          </a:p>
          <a:p>
            <a:pPr lvl="1"/>
            <a:r>
              <a:rPr lang="en-US" dirty="0"/>
              <a:t>(6) to satisfy his or her curiosity.</a:t>
            </a:r>
          </a:p>
        </p:txBody>
      </p:sp>
    </p:spTree>
    <p:extLst>
      <p:ext uri="{BB962C8B-B14F-4D97-AF65-F5344CB8AC3E}">
        <p14:creationId xmlns:p14="http://schemas.microsoft.com/office/powerpoint/2010/main" val="4029428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CECE-41CF-B7BA-8CAA-1E99C91A551D}"/>
              </a:ext>
            </a:extLst>
          </p:cNvPr>
          <p:cNvSpPr>
            <a:spLocks noGrp="1"/>
          </p:cNvSpPr>
          <p:nvPr>
            <p:ph type="title"/>
          </p:nvPr>
        </p:nvSpPr>
        <p:spPr/>
        <p:txBody>
          <a:bodyPr/>
          <a:lstStyle/>
          <a:p>
            <a:r>
              <a:rPr lang="en-US" dirty="0"/>
              <a:t>Social Exchange Theory - Rewards</a:t>
            </a:r>
          </a:p>
        </p:txBody>
      </p:sp>
      <p:sp>
        <p:nvSpPr>
          <p:cNvPr id="3" name="Content Placeholder 2">
            <a:extLst>
              <a:ext uri="{FF2B5EF4-FFF2-40B4-BE49-F238E27FC236}">
                <a16:creationId xmlns:a16="http://schemas.microsoft.com/office/drawing/2014/main" id="{34C1C5B9-385A-0FF8-BB69-D85409D83314}"/>
              </a:ext>
            </a:extLst>
          </p:cNvPr>
          <p:cNvSpPr>
            <a:spLocks noGrp="1"/>
          </p:cNvSpPr>
          <p:nvPr>
            <p:ph idx="1"/>
          </p:nvPr>
        </p:nvSpPr>
        <p:spPr/>
        <p:txBody>
          <a:bodyPr/>
          <a:lstStyle/>
          <a:p>
            <a:r>
              <a:rPr lang="en-US" dirty="0">
                <a:latin typeface="+mj-lt"/>
              </a:rPr>
              <a:t>Specify How the Survey Results Will Be Useful </a:t>
            </a:r>
          </a:p>
          <a:p>
            <a:pPr lvl="1"/>
            <a:r>
              <a:rPr lang="en-US" dirty="0">
                <a:latin typeface="+mj-lt"/>
              </a:rPr>
              <a:t>Is it possible or likely that survey results will influence a community or organization decision? </a:t>
            </a:r>
          </a:p>
          <a:p>
            <a:pPr lvl="1"/>
            <a:r>
              <a:rPr lang="en-US" dirty="0">
                <a:latin typeface="+mj-lt"/>
              </a:rPr>
              <a:t>Is public policy a likely beneficiary?</a:t>
            </a:r>
          </a:p>
          <a:p>
            <a:r>
              <a:rPr lang="en-US" dirty="0">
                <a:latin typeface="+mj-lt"/>
              </a:rPr>
              <a:t>Ask for Help or Advice </a:t>
            </a:r>
          </a:p>
          <a:p>
            <a:pPr lvl="1"/>
            <a:r>
              <a:rPr lang="en-US" dirty="0">
                <a:latin typeface="+mj-lt"/>
              </a:rPr>
              <a:t>This may help your respondents’ understand that they are uniquely able to answer the questions and feel like they are contributing to something. For many people, this is a reward.</a:t>
            </a:r>
          </a:p>
        </p:txBody>
      </p:sp>
    </p:spTree>
    <p:extLst>
      <p:ext uri="{BB962C8B-B14F-4D97-AF65-F5344CB8AC3E}">
        <p14:creationId xmlns:p14="http://schemas.microsoft.com/office/powerpoint/2010/main" val="1956212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CECE-41CF-B7BA-8CAA-1E99C91A551D}"/>
              </a:ext>
            </a:extLst>
          </p:cNvPr>
          <p:cNvSpPr>
            <a:spLocks noGrp="1"/>
          </p:cNvSpPr>
          <p:nvPr>
            <p:ph type="title"/>
          </p:nvPr>
        </p:nvSpPr>
        <p:spPr/>
        <p:txBody>
          <a:bodyPr/>
          <a:lstStyle/>
          <a:p>
            <a:r>
              <a:rPr lang="en-US" dirty="0"/>
              <a:t>Social Exchange Theory - Rewards</a:t>
            </a:r>
          </a:p>
        </p:txBody>
      </p:sp>
      <p:sp>
        <p:nvSpPr>
          <p:cNvPr id="3" name="Content Placeholder 2">
            <a:extLst>
              <a:ext uri="{FF2B5EF4-FFF2-40B4-BE49-F238E27FC236}">
                <a16:creationId xmlns:a16="http://schemas.microsoft.com/office/drawing/2014/main" id="{34C1C5B9-385A-0FF8-BB69-D85409D83314}"/>
              </a:ext>
            </a:extLst>
          </p:cNvPr>
          <p:cNvSpPr>
            <a:spLocks noGrp="1"/>
          </p:cNvSpPr>
          <p:nvPr>
            <p:ph idx="1"/>
          </p:nvPr>
        </p:nvSpPr>
        <p:spPr/>
        <p:txBody>
          <a:bodyPr/>
          <a:lstStyle/>
          <a:p>
            <a:r>
              <a:rPr lang="en-US" dirty="0">
                <a:latin typeface="+mj-lt"/>
              </a:rPr>
              <a:t>Ask Interesting Questions</a:t>
            </a:r>
          </a:p>
          <a:p>
            <a:pPr lvl="1"/>
            <a:r>
              <a:rPr lang="en-US" dirty="0">
                <a:latin typeface="+mj-lt"/>
              </a:rPr>
              <a:t>When questions are interesting, and it can be explained in communications that the questionnaire will be interesting, people are more likely to feel they benefit from answering them. </a:t>
            </a:r>
          </a:p>
          <a:p>
            <a:r>
              <a:rPr lang="en-US" dirty="0">
                <a:latin typeface="+mj-lt"/>
              </a:rPr>
              <a:t>Use Cash and Material Incentives to Encourage (but Not Require) Reciprocity </a:t>
            </a:r>
          </a:p>
          <a:p>
            <a:pPr lvl="1"/>
            <a:r>
              <a:rPr lang="en-US" dirty="0">
                <a:latin typeface="+mj-lt"/>
              </a:rPr>
              <a:t>prepaid monetary incentives are the best</a:t>
            </a:r>
          </a:p>
          <a:p>
            <a:pPr lvl="1"/>
            <a:endParaRPr lang="en-US" dirty="0">
              <a:latin typeface="+mj-lt"/>
            </a:endParaRPr>
          </a:p>
        </p:txBody>
      </p:sp>
    </p:spTree>
    <p:extLst>
      <p:ext uri="{BB962C8B-B14F-4D97-AF65-F5344CB8AC3E}">
        <p14:creationId xmlns:p14="http://schemas.microsoft.com/office/powerpoint/2010/main" val="1852373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87AB5-7941-3794-8240-E0CAA2ED0AA6}"/>
              </a:ext>
            </a:extLst>
          </p:cNvPr>
          <p:cNvSpPr>
            <a:spLocks noGrp="1"/>
          </p:cNvSpPr>
          <p:nvPr>
            <p:ph type="title"/>
          </p:nvPr>
        </p:nvSpPr>
        <p:spPr/>
        <p:txBody>
          <a:bodyPr/>
          <a:lstStyle/>
          <a:p>
            <a:r>
              <a:rPr lang="en-US" dirty="0"/>
              <a:t>Social Exchange Theory - Costs</a:t>
            </a:r>
          </a:p>
        </p:txBody>
      </p:sp>
      <p:sp>
        <p:nvSpPr>
          <p:cNvPr id="3" name="Content Placeholder 2">
            <a:extLst>
              <a:ext uri="{FF2B5EF4-FFF2-40B4-BE49-F238E27FC236}">
                <a16:creationId xmlns:a16="http://schemas.microsoft.com/office/drawing/2014/main" id="{E55559D4-6098-F927-CF31-928AE7B4D201}"/>
              </a:ext>
            </a:extLst>
          </p:cNvPr>
          <p:cNvSpPr>
            <a:spLocks noGrp="1"/>
          </p:cNvSpPr>
          <p:nvPr>
            <p:ph idx="1"/>
          </p:nvPr>
        </p:nvSpPr>
        <p:spPr/>
        <p:txBody>
          <a:bodyPr/>
          <a:lstStyle/>
          <a:p>
            <a:r>
              <a:rPr lang="en-US" dirty="0"/>
              <a:t>Reduce the Burden of Length and Complexity</a:t>
            </a:r>
          </a:p>
          <a:p>
            <a:pPr lvl="1"/>
            <a:r>
              <a:rPr lang="en-US" dirty="0"/>
              <a:t>Only collect information that you know you will analyze</a:t>
            </a:r>
          </a:p>
          <a:p>
            <a:pPr lvl="1"/>
            <a:r>
              <a:rPr lang="en-US" dirty="0"/>
              <a:t>Have a data analysis plan in advance</a:t>
            </a:r>
          </a:p>
          <a:p>
            <a:r>
              <a:rPr lang="en-US" dirty="0"/>
              <a:t>Use Visual Design Principles to Make Questionnaires Easier to Complete</a:t>
            </a:r>
          </a:p>
          <a:p>
            <a:r>
              <a:rPr lang="en-US" dirty="0"/>
              <a:t>Make It Convenient to Respond</a:t>
            </a:r>
          </a:p>
          <a:p>
            <a:pPr lvl="1"/>
            <a:r>
              <a:rPr lang="en-US" dirty="0"/>
              <a:t>In mail surveys, this involves sending a business reply or stamped return envelope</a:t>
            </a:r>
          </a:p>
          <a:p>
            <a:pPr lvl="1"/>
            <a:r>
              <a:rPr lang="en-US" dirty="0"/>
              <a:t>In internet surveys, send email with link</a:t>
            </a:r>
          </a:p>
        </p:txBody>
      </p:sp>
    </p:spTree>
    <p:extLst>
      <p:ext uri="{BB962C8B-B14F-4D97-AF65-F5344CB8AC3E}">
        <p14:creationId xmlns:p14="http://schemas.microsoft.com/office/powerpoint/2010/main" val="2040495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87AB5-7941-3794-8240-E0CAA2ED0AA6}"/>
              </a:ext>
            </a:extLst>
          </p:cNvPr>
          <p:cNvSpPr>
            <a:spLocks noGrp="1"/>
          </p:cNvSpPr>
          <p:nvPr>
            <p:ph type="title"/>
          </p:nvPr>
        </p:nvSpPr>
        <p:spPr/>
        <p:txBody>
          <a:bodyPr/>
          <a:lstStyle/>
          <a:p>
            <a:r>
              <a:rPr lang="en-US" dirty="0"/>
              <a:t>Social Exchange Theory - Costs</a:t>
            </a:r>
          </a:p>
        </p:txBody>
      </p:sp>
      <p:sp>
        <p:nvSpPr>
          <p:cNvPr id="3" name="Content Placeholder 2">
            <a:extLst>
              <a:ext uri="{FF2B5EF4-FFF2-40B4-BE49-F238E27FC236}">
                <a16:creationId xmlns:a16="http://schemas.microsoft.com/office/drawing/2014/main" id="{E55559D4-6098-F927-CF31-928AE7B4D201}"/>
              </a:ext>
            </a:extLst>
          </p:cNvPr>
          <p:cNvSpPr>
            <a:spLocks noGrp="1"/>
          </p:cNvSpPr>
          <p:nvPr>
            <p:ph idx="1"/>
          </p:nvPr>
        </p:nvSpPr>
        <p:spPr/>
        <p:txBody>
          <a:bodyPr/>
          <a:lstStyle/>
          <a:p>
            <a:r>
              <a:rPr lang="en-US" dirty="0"/>
              <a:t>Avoid Subordinating Language</a:t>
            </a:r>
          </a:p>
        </p:txBody>
      </p:sp>
      <p:graphicFrame>
        <p:nvGraphicFramePr>
          <p:cNvPr id="4" name="Diagram 3">
            <a:extLst>
              <a:ext uri="{FF2B5EF4-FFF2-40B4-BE49-F238E27FC236}">
                <a16:creationId xmlns:a16="http://schemas.microsoft.com/office/drawing/2014/main" id="{7EF03C7E-8BED-368E-3CDC-674769D08DEE}"/>
              </a:ext>
            </a:extLst>
          </p:cNvPr>
          <p:cNvGraphicFramePr/>
          <p:nvPr>
            <p:extLst>
              <p:ext uri="{D42A27DB-BD31-4B8C-83A1-F6EECF244321}">
                <p14:modId xmlns:p14="http://schemas.microsoft.com/office/powerpoint/2010/main" val="134251687"/>
              </p:ext>
            </p:extLst>
          </p:nvPr>
        </p:nvGraphicFramePr>
        <p:xfrm>
          <a:off x="203199" y="2032000"/>
          <a:ext cx="8766629" cy="43252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583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A2E16-947C-441E-643C-A96C2D04BC9B}"/>
              </a:ext>
            </a:extLst>
          </p:cNvPr>
          <p:cNvSpPr>
            <a:spLocks noGrp="1"/>
          </p:cNvSpPr>
          <p:nvPr>
            <p:ph type="title"/>
          </p:nvPr>
        </p:nvSpPr>
        <p:spPr/>
        <p:txBody>
          <a:bodyPr/>
          <a:lstStyle/>
          <a:p>
            <a:r>
              <a:rPr lang="en-US" dirty="0"/>
              <a:t>Social Exchange Theory - Costs</a:t>
            </a:r>
          </a:p>
        </p:txBody>
      </p:sp>
      <p:sp>
        <p:nvSpPr>
          <p:cNvPr id="3" name="Content Placeholder 2">
            <a:extLst>
              <a:ext uri="{FF2B5EF4-FFF2-40B4-BE49-F238E27FC236}">
                <a16:creationId xmlns:a16="http://schemas.microsoft.com/office/drawing/2014/main" id="{801B1CB6-DAB8-B256-257F-90DF87FD39AF}"/>
              </a:ext>
            </a:extLst>
          </p:cNvPr>
          <p:cNvSpPr>
            <a:spLocks noGrp="1"/>
          </p:cNvSpPr>
          <p:nvPr>
            <p:ph idx="1"/>
          </p:nvPr>
        </p:nvSpPr>
        <p:spPr/>
        <p:txBody>
          <a:bodyPr/>
          <a:lstStyle/>
          <a:p>
            <a:r>
              <a:rPr lang="en-US" dirty="0"/>
              <a:t>Recognize That Offering a Choice of Response Modes May Lower Response Rates</a:t>
            </a:r>
          </a:p>
          <a:p>
            <a:r>
              <a:rPr lang="en-US" dirty="0"/>
              <a:t>Minimize Requests to Obtain Personal or Sensitive Information</a:t>
            </a:r>
          </a:p>
          <a:p>
            <a:r>
              <a:rPr lang="en-US" dirty="0"/>
              <a:t>If sensitive information is needed, one should</a:t>
            </a:r>
          </a:p>
          <a:p>
            <a:pPr lvl="1"/>
            <a:r>
              <a:rPr lang="en-US" dirty="0"/>
              <a:t>ask the questions in a self-administered mode that provides more privacy for responding</a:t>
            </a:r>
          </a:p>
          <a:p>
            <a:pPr lvl="1"/>
            <a:r>
              <a:rPr lang="en-US" dirty="0"/>
              <a:t>ask them later in the survey to allow time for trust to develop</a:t>
            </a:r>
          </a:p>
          <a:p>
            <a:pPr lvl="1"/>
            <a:r>
              <a:rPr lang="en-US" dirty="0"/>
              <a:t>provide simple explanations for why responses to these questions are important and how the information will be protected</a:t>
            </a:r>
          </a:p>
        </p:txBody>
      </p:sp>
    </p:spTree>
    <p:extLst>
      <p:ext uri="{BB962C8B-B14F-4D97-AF65-F5344CB8AC3E}">
        <p14:creationId xmlns:p14="http://schemas.microsoft.com/office/powerpoint/2010/main" val="689001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A2E16-947C-441E-643C-A96C2D04BC9B}"/>
              </a:ext>
            </a:extLst>
          </p:cNvPr>
          <p:cNvSpPr>
            <a:spLocks noGrp="1"/>
          </p:cNvSpPr>
          <p:nvPr>
            <p:ph type="title"/>
          </p:nvPr>
        </p:nvSpPr>
        <p:spPr/>
        <p:txBody>
          <a:bodyPr/>
          <a:lstStyle/>
          <a:p>
            <a:r>
              <a:rPr lang="en-US" dirty="0"/>
              <a:t>Social Exchange Theory - Trust</a:t>
            </a:r>
          </a:p>
        </p:txBody>
      </p:sp>
      <p:sp>
        <p:nvSpPr>
          <p:cNvPr id="3" name="Content Placeholder 2">
            <a:extLst>
              <a:ext uri="{FF2B5EF4-FFF2-40B4-BE49-F238E27FC236}">
                <a16:creationId xmlns:a16="http://schemas.microsoft.com/office/drawing/2014/main" id="{801B1CB6-DAB8-B256-257F-90DF87FD39AF}"/>
              </a:ext>
            </a:extLst>
          </p:cNvPr>
          <p:cNvSpPr>
            <a:spLocks noGrp="1"/>
          </p:cNvSpPr>
          <p:nvPr>
            <p:ph idx="1"/>
          </p:nvPr>
        </p:nvSpPr>
        <p:spPr/>
        <p:txBody>
          <a:bodyPr/>
          <a:lstStyle/>
          <a:p>
            <a:r>
              <a:rPr lang="en-US" dirty="0"/>
              <a:t>Emphasize Sponsorship by a Legitimate Authority</a:t>
            </a:r>
          </a:p>
          <a:p>
            <a:pPr lvl="1"/>
            <a:r>
              <a:rPr lang="en-US" dirty="0"/>
              <a:t>Government agency</a:t>
            </a:r>
          </a:p>
          <a:p>
            <a:pPr lvl="1"/>
            <a:r>
              <a:rPr lang="en-US" dirty="0"/>
              <a:t>University</a:t>
            </a:r>
          </a:p>
          <a:p>
            <a:r>
              <a:rPr lang="en-US" dirty="0"/>
              <a:t>Assure Confidentiality and Protection of Data</a:t>
            </a:r>
          </a:p>
          <a:p>
            <a:pPr lvl="1"/>
            <a:r>
              <a:rPr lang="en-US" dirty="0"/>
              <a:t>Explain the efforts that will be taken to ensure the confidentiality and security of people’s survey responses</a:t>
            </a:r>
          </a:p>
          <a:p>
            <a:pPr lvl="1"/>
            <a:r>
              <a:rPr lang="en-US" dirty="0"/>
              <a:t>Be careful not to overdo it</a:t>
            </a:r>
          </a:p>
        </p:txBody>
      </p:sp>
    </p:spTree>
    <p:extLst>
      <p:ext uri="{BB962C8B-B14F-4D97-AF65-F5344CB8AC3E}">
        <p14:creationId xmlns:p14="http://schemas.microsoft.com/office/powerpoint/2010/main" val="2444793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8B87-B15D-FDB3-1B8F-D0C9EFE67E45}"/>
              </a:ext>
            </a:extLst>
          </p:cNvPr>
          <p:cNvSpPr>
            <a:spLocks noGrp="1"/>
          </p:cNvSpPr>
          <p:nvPr>
            <p:ph type="title"/>
          </p:nvPr>
        </p:nvSpPr>
        <p:spPr/>
        <p:txBody>
          <a:bodyPr/>
          <a:lstStyle/>
          <a:p>
            <a:r>
              <a:rPr lang="en-US" dirty="0"/>
              <a:t>Social Exchange Theory - Trust</a:t>
            </a:r>
          </a:p>
        </p:txBody>
      </p:sp>
      <p:sp>
        <p:nvSpPr>
          <p:cNvPr id="3" name="Content Placeholder 2">
            <a:extLst>
              <a:ext uri="{FF2B5EF4-FFF2-40B4-BE49-F238E27FC236}">
                <a16:creationId xmlns:a16="http://schemas.microsoft.com/office/drawing/2014/main" id="{3E336B77-0416-9567-84F7-8426015CF010}"/>
              </a:ext>
            </a:extLst>
          </p:cNvPr>
          <p:cNvSpPr>
            <a:spLocks noGrp="1"/>
          </p:cNvSpPr>
          <p:nvPr>
            <p:ph idx="1"/>
          </p:nvPr>
        </p:nvSpPr>
        <p:spPr/>
        <p:txBody>
          <a:bodyPr/>
          <a:lstStyle/>
          <a:p>
            <a:r>
              <a:rPr lang="en-US" dirty="0"/>
              <a:t>Provide Ways for Sample Members to Assess the Authenticity of a Survey Request and Ask Questions About It</a:t>
            </a:r>
          </a:p>
          <a:p>
            <a:pPr lvl="1"/>
            <a:r>
              <a:rPr lang="en-US" dirty="0"/>
              <a:t>providing a physical address where the sponsor is located</a:t>
            </a:r>
          </a:p>
          <a:p>
            <a:pPr lvl="1"/>
            <a:r>
              <a:rPr lang="en-US" dirty="0"/>
              <a:t>listing a toll-free number that sample members can call to talk to a real person</a:t>
            </a:r>
          </a:p>
          <a:p>
            <a:pPr lvl="1"/>
            <a:r>
              <a:rPr lang="en-US" dirty="0"/>
              <a:t>include a web address where sample members can find additional information about the sponsor, background on the survey, and even results from previous surveys</a:t>
            </a:r>
          </a:p>
          <a:p>
            <a:pPr lvl="1"/>
            <a:r>
              <a:rPr lang="en-US" dirty="0"/>
              <a:t>a specific e-mail address for asking questions should be made available</a:t>
            </a:r>
          </a:p>
        </p:txBody>
      </p:sp>
    </p:spTree>
    <p:extLst>
      <p:ext uri="{BB962C8B-B14F-4D97-AF65-F5344CB8AC3E}">
        <p14:creationId xmlns:p14="http://schemas.microsoft.com/office/powerpoint/2010/main" val="11961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balance&#10;&#10;Description automatically generated">
            <a:extLst>
              <a:ext uri="{FF2B5EF4-FFF2-40B4-BE49-F238E27FC236}">
                <a16:creationId xmlns:a16="http://schemas.microsoft.com/office/drawing/2014/main" id="{FC4405F2-8D2D-C161-6EAB-3E231D1DE120}"/>
              </a:ext>
            </a:extLst>
          </p:cNvPr>
          <p:cNvPicPr>
            <a:picLocks noChangeAspect="1"/>
          </p:cNvPicPr>
          <p:nvPr/>
        </p:nvPicPr>
        <p:blipFill>
          <a:blip r:embed="rId2"/>
          <a:stretch>
            <a:fillRect/>
          </a:stretch>
        </p:blipFill>
        <p:spPr>
          <a:xfrm>
            <a:off x="246749" y="68263"/>
            <a:ext cx="8650502" cy="6249987"/>
          </a:xfrm>
          <a:prstGeom prst="rect">
            <a:avLst/>
          </a:prstGeom>
          <a:noFill/>
        </p:spPr>
      </p:pic>
    </p:spTree>
    <p:extLst>
      <p:ext uri="{BB962C8B-B14F-4D97-AF65-F5344CB8AC3E}">
        <p14:creationId xmlns:p14="http://schemas.microsoft.com/office/powerpoint/2010/main" val="1262817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F2C1A-3A99-921A-D2E8-C8642BBA2125}"/>
              </a:ext>
            </a:extLst>
          </p:cNvPr>
          <p:cNvSpPr>
            <a:spLocks noGrp="1"/>
          </p:cNvSpPr>
          <p:nvPr>
            <p:ph type="title"/>
          </p:nvPr>
        </p:nvSpPr>
        <p:spPr/>
        <p:txBody>
          <a:bodyPr/>
          <a:lstStyle/>
          <a:p>
            <a:r>
              <a:rPr lang="en-US" dirty="0"/>
              <a:t>Example: WSU Doctoral Student Experience Survey</a:t>
            </a:r>
          </a:p>
        </p:txBody>
      </p:sp>
      <p:sp>
        <p:nvSpPr>
          <p:cNvPr id="3" name="Content Placeholder 2">
            <a:extLst>
              <a:ext uri="{FF2B5EF4-FFF2-40B4-BE49-F238E27FC236}">
                <a16:creationId xmlns:a16="http://schemas.microsoft.com/office/drawing/2014/main" id="{4C6C2825-E8A8-C9F1-6BDB-A56F066B7B14}"/>
              </a:ext>
            </a:extLst>
          </p:cNvPr>
          <p:cNvSpPr>
            <a:spLocks noGrp="1"/>
          </p:cNvSpPr>
          <p:nvPr>
            <p:ph idx="1"/>
          </p:nvPr>
        </p:nvSpPr>
        <p:spPr/>
        <p:txBody>
          <a:bodyPr/>
          <a:lstStyle/>
          <a:p>
            <a:r>
              <a:rPr lang="en-US" dirty="0"/>
              <a:t>The study was targeted toward students who had successfully completed their required preliminary examinations and had only to finish the dissertation in order to meet their degree requirements.</a:t>
            </a:r>
          </a:p>
          <a:p>
            <a:r>
              <a:rPr lang="en-US" dirty="0"/>
              <a:t>Data collection needed to be completed within about a month.</a:t>
            </a:r>
          </a:p>
        </p:txBody>
      </p:sp>
    </p:spTree>
    <p:extLst>
      <p:ext uri="{BB962C8B-B14F-4D97-AF65-F5344CB8AC3E}">
        <p14:creationId xmlns:p14="http://schemas.microsoft.com/office/powerpoint/2010/main" val="3971088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BB412-AF50-FCCA-530C-A425CA4F3757}"/>
              </a:ext>
            </a:extLst>
          </p:cNvPr>
          <p:cNvSpPr>
            <a:spLocks noGrp="1"/>
          </p:cNvSpPr>
          <p:nvPr>
            <p:ph type="title"/>
          </p:nvPr>
        </p:nvSpPr>
        <p:spPr/>
        <p:txBody>
          <a:bodyPr/>
          <a:lstStyle/>
          <a:p>
            <a:r>
              <a:rPr lang="en-US" dirty="0"/>
              <a:t>Example: WSU Doctoral Student Experience Survey</a:t>
            </a:r>
          </a:p>
        </p:txBody>
      </p:sp>
      <p:sp>
        <p:nvSpPr>
          <p:cNvPr id="3" name="Content Placeholder 2">
            <a:extLst>
              <a:ext uri="{FF2B5EF4-FFF2-40B4-BE49-F238E27FC236}">
                <a16:creationId xmlns:a16="http://schemas.microsoft.com/office/drawing/2014/main" id="{4D570CD3-9AF5-E680-3BB6-07B92161F3A9}"/>
              </a:ext>
            </a:extLst>
          </p:cNvPr>
          <p:cNvSpPr>
            <a:spLocks noGrp="1"/>
          </p:cNvSpPr>
          <p:nvPr>
            <p:ph idx="1"/>
          </p:nvPr>
        </p:nvSpPr>
        <p:spPr/>
        <p:txBody>
          <a:bodyPr/>
          <a:lstStyle/>
          <a:p>
            <a:r>
              <a:rPr lang="en-US" dirty="0"/>
              <a:t>Target Population</a:t>
            </a:r>
          </a:p>
          <a:p>
            <a:pPr lvl="1"/>
            <a:r>
              <a:rPr lang="en-US" dirty="0"/>
              <a:t>WSU Graduate Students working on their dissertations</a:t>
            </a:r>
          </a:p>
          <a:p>
            <a:r>
              <a:rPr lang="en-US" dirty="0"/>
              <a:t>Topic</a:t>
            </a:r>
          </a:p>
          <a:p>
            <a:pPr lvl="1"/>
            <a:r>
              <a:rPr lang="en-US" dirty="0"/>
              <a:t>Experience with Doctoral Program and Dissertation Process.</a:t>
            </a:r>
          </a:p>
          <a:p>
            <a:r>
              <a:rPr lang="en-US" dirty="0"/>
              <a:t>Sample Frame</a:t>
            </a:r>
          </a:p>
          <a:p>
            <a:pPr lvl="1"/>
            <a:r>
              <a:rPr lang="en-US" dirty="0"/>
              <a:t>Contact Information: Names, addresses, and emails provided by the university registrar</a:t>
            </a:r>
          </a:p>
          <a:p>
            <a:r>
              <a:rPr lang="en-US" dirty="0"/>
              <a:t>Timeline</a:t>
            </a:r>
          </a:p>
          <a:p>
            <a:pPr lvl="1"/>
            <a:r>
              <a:rPr lang="en-US" dirty="0"/>
              <a:t>One Month</a:t>
            </a:r>
          </a:p>
          <a:p>
            <a:r>
              <a:rPr lang="en-US" dirty="0"/>
              <a:t>Budget</a:t>
            </a:r>
          </a:p>
          <a:p>
            <a:pPr lvl="1"/>
            <a:r>
              <a:rPr lang="en-US" dirty="0"/>
              <a:t>Interviewers were unaffordable</a:t>
            </a:r>
          </a:p>
        </p:txBody>
      </p:sp>
    </p:spTree>
    <p:extLst>
      <p:ext uri="{BB962C8B-B14F-4D97-AF65-F5344CB8AC3E}">
        <p14:creationId xmlns:p14="http://schemas.microsoft.com/office/powerpoint/2010/main" val="2726158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BBF1F-C9C5-423E-6E7C-B553BA4AD1BD}"/>
              </a:ext>
            </a:extLst>
          </p:cNvPr>
          <p:cNvSpPr>
            <a:spLocks noGrp="1"/>
          </p:cNvSpPr>
          <p:nvPr>
            <p:ph type="title"/>
          </p:nvPr>
        </p:nvSpPr>
        <p:spPr/>
        <p:txBody>
          <a:bodyPr/>
          <a:lstStyle/>
          <a:p>
            <a:r>
              <a:rPr lang="en-US" dirty="0"/>
              <a:t>Example: WSU Doctoral Student Experience Survey</a:t>
            </a:r>
          </a:p>
        </p:txBody>
      </p:sp>
      <p:sp>
        <p:nvSpPr>
          <p:cNvPr id="3" name="Content Placeholder 2">
            <a:extLst>
              <a:ext uri="{FF2B5EF4-FFF2-40B4-BE49-F238E27FC236}">
                <a16:creationId xmlns:a16="http://schemas.microsoft.com/office/drawing/2014/main" id="{C7750CB9-DE60-EEF9-47D9-9910D4191F09}"/>
              </a:ext>
            </a:extLst>
          </p:cNvPr>
          <p:cNvSpPr>
            <a:spLocks noGrp="1"/>
          </p:cNvSpPr>
          <p:nvPr>
            <p:ph idx="1"/>
          </p:nvPr>
        </p:nvSpPr>
        <p:spPr/>
        <p:txBody>
          <a:bodyPr/>
          <a:lstStyle/>
          <a:p>
            <a:r>
              <a:rPr lang="en-US" dirty="0"/>
              <a:t>Day 1: Send a postal letter asking students to respond over the web. Enclose a $2 incentive with this request.</a:t>
            </a:r>
          </a:p>
          <a:p>
            <a:r>
              <a:rPr lang="en-US" dirty="0"/>
              <a:t>Day 4: Send an e-mail that builds upon the information contained in the invitation letter, while emphasizing that the sender is following up by e-mail to provide an electronic link to the survey with the hope that this will make responding easier.</a:t>
            </a:r>
          </a:p>
          <a:p>
            <a:r>
              <a:rPr lang="en-US" dirty="0"/>
              <a:t>Day 10: Send a second e-mail request.</a:t>
            </a:r>
          </a:p>
          <a:p>
            <a:r>
              <a:rPr lang="en-US" dirty="0"/>
              <a:t>Day 18: Send a postal letter offering the option of responding via mail. Include a paper questionnaire and an addressed and stamped return envelope.</a:t>
            </a:r>
          </a:p>
          <a:p>
            <a:r>
              <a:rPr lang="en-US" dirty="0"/>
              <a:t>Day 22: Send a final e-mail follow-up.</a:t>
            </a:r>
          </a:p>
        </p:txBody>
      </p:sp>
    </p:spTree>
    <p:extLst>
      <p:ext uri="{BB962C8B-B14F-4D97-AF65-F5344CB8AC3E}">
        <p14:creationId xmlns:p14="http://schemas.microsoft.com/office/powerpoint/2010/main" val="267481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8921AE6-F7B2-24BF-ACCF-0824BF4ED634}"/>
              </a:ext>
            </a:extLst>
          </p:cNvPr>
          <p:cNvSpPr>
            <a:spLocks noGrp="1"/>
          </p:cNvSpPr>
          <p:nvPr>
            <p:ph type="title"/>
          </p:nvPr>
        </p:nvSpPr>
        <p:spPr>
          <a:xfrm>
            <a:off x="457205" y="273053"/>
            <a:ext cx="3008313" cy="1162051"/>
          </a:xfrm>
        </p:spPr>
        <p:txBody>
          <a:bodyPr/>
          <a:lstStyle/>
          <a:p>
            <a:r>
              <a:rPr lang="en-US" sz="2800" dirty="0"/>
              <a:t>Initial communications</a:t>
            </a:r>
          </a:p>
        </p:txBody>
      </p:sp>
      <p:pic>
        <p:nvPicPr>
          <p:cNvPr id="5" name="Picture 4" descr="A letter to a student&#10;&#10;Description automatically generated">
            <a:extLst>
              <a:ext uri="{FF2B5EF4-FFF2-40B4-BE49-F238E27FC236}">
                <a16:creationId xmlns:a16="http://schemas.microsoft.com/office/drawing/2014/main" id="{2435C1F9-5F18-8D3A-0AF1-0FD7F197F78E}"/>
              </a:ext>
            </a:extLst>
          </p:cNvPr>
          <p:cNvPicPr>
            <a:picLocks noChangeAspect="1"/>
          </p:cNvPicPr>
          <p:nvPr/>
        </p:nvPicPr>
        <p:blipFill>
          <a:blip r:embed="rId3"/>
          <a:stretch>
            <a:fillRect/>
          </a:stretch>
        </p:blipFill>
        <p:spPr>
          <a:xfrm>
            <a:off x="3657985" y="273057"/>
            <a:ext cx="4945879" cy="5853113"/>
          </a:xfrm>
          <a:prstGeom prst="rect">
            <a:avLst/>
          </a:prstGeom>
          <a:noFill/>
        </p:spPr>
      </p:pic>
      <p:sp>
        <p:nvSpPr>
          <p:cNvPr id="12" name="Text Placeholder 3">
            <a:extLst>
              <a:ext uri="{FF2B5EF4-FFF2-40B4-BE49-F238E27FC236}">
                <a16:creationId xmlns:a16="http://schemas.microsoft.com/office/drawing/2014/main" id="{764ADED3-1EDC-9C3D-56D4-2E1F1C3D2237}"/>
              </a:ext>
            </a:extLst>
          </p:cNvPr>
          <p:cNvSpPr>
            <a:spLocks noGrp="1"/>
          </p:cNvSpPr>
          <p:nvPr>
            <p:ph type="body" sz="half" idx="2"/>
          </p:nvPr>
        </p:nvSpPr>
        <p:spPr>
          <a:xfrm>
            <a:off x="457205" y="1435104"/>
            <a:ext cx="3008313" cy="4691063"/>
          </a:xfrm>
        </p:spPr>
        <p:txBody>
          <a:bodyPr/>
          <a:lstStyle/>
          <a:p>
            <a:r>
              <a:rPr lang="en-US" sz="2000" dirty="0"/>
              <a:t>Initial communications sent to students asked to complete the WSU Doctoral Student Experience Survey (inside addresses have been altered)</a:t>
            </a:r>
          </a:p>
        </p:txBody>
      </p:sp>
    </p:spTree>
    <p:extLst>
      <p:ext uri="{BB962C8B-B14F-4D97-AF65-F5344CB8AC3E}">
        <p14:creationId xmlns:p14="http://schemas.microsoft.com/office/powerpoint/2010/main" val="1372758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836AFA7-6C95-0259-8BD0-EB0C14DEA813}"/>
              </a:ext>
            </a:extLst>
          </p:cNvPr>
          <p:cNvSpPr>
            <a:spLocks noGrp="1"/>
          </p:cNvSpPr>
          <p:nvPr>
            <p:ph type="title"/>
          </p:nvPr>
        </p:nvSpPr>
        <p:spPr>
          <a:xfrm>
            <a:off x="457205" y="273053"/>
            <a:ext cx="3008313" cy="1162051"/>
          </a:xfrm>
        </p:spPr>
        <p:txBody>
          <a:bodyPr/>
          <a:lstStyle/>
          <a:p>
            <a:r>
              <a:rPr lang="en-US" sz="2800" dirty="0"/>
              <a:t>Second contact: E-mail</a:t>
            </a:r>
          </a:p>
        </p:txBody>
      </p:sp>
      <p:pic>
        <p:nvPicPr>
          <p:cNvPr id="5" name="Picture 4" descr="A email with a message&#10;&#10;Description automatically generated with medium confidence">
            <a:extLst>
              <a:ext uri="{FF2B5EF4-FFF2-40B4-BE49-F238E27FC236}">
                <a16:creationId xmlns:a16="http://schemas.microsoft.com/office/drawing/2014/main" id="{D4671507-9823-E3E5-46AB-DB15FBD81B2D}"/>
              </a:ext>
            </a:extLst>
          </p:cNvPr>
          <p:cNvPicPr>
            <a:picLocks noChangeAspect="1"/>
          </p:cNvPicPr>
          <p:nvPr/>
        </p:nvPicPr>
        <p:blipFill>
          <a:blip r:embed="rId3"/>
          <a:stretch>
            <a:fillRect/>
          </a:stretch>
        </p:blipFill>
        <p:spPr>
          <a:xfrm>
            <a:off x="3575050" y="656518"/>
            <a:ext cx="5111750" cy="5086190"/>
          </a:xfrm>
          <a:prstGeom prst="rect">
            <a:avLst/>
          </a:prstGeom>
          <a:noFill/>
        </p:spPr>
      </p:pic>
      <p:sp>
        <p:nvSpPr>
          <p:cNvPr id="12" name="Text Placeholder 3">
            <a:extLst>
              <a:ext uri="{FF2B5EF4-FFF2-40B4-BE49-F238E27FC236}">
                <a16:creationId xmlns:a16="http://schemas.microsoft.com/office/drawing/2014/main" id="{DDEFDE79-233D-5429-5B34-BE8D05A16954}"/>
              </a:ext>
            </a:extLst>
          </p:cNvPr>
          <p:cNvSpPr>
            <a:spLocks noGrp="1"/>
          </p:cNvSpPr>
          <p:nvPr>
            <p:ph type="body" sz="half" idx="2"/>
          </p:nvPr>
        </p:nvSpPr>
        <p:spPr>
          <a:xfrm>
            <a:off x="457205" y="1435104"/>
            <a:ext cx="3008313" cy="4691063"/>
          </a:xfrm>
        </p:spPr>
        <p:txBody>
          <a:bodyPr/>
          <a:lstStyle/>
          <a:p>
            <a:endParaRPr lang="en-US"/>
          </a:p>
        </p:txBody>
      </p:sp>
    </p:spTree>
    <p:extLst>
      <p:ext uri="{BB962C8B-B14F-4D97-AF65-F5344CB8AC3E}">
        <p14:creationId xmlns:p14="http://schemas.microsoft.com/office/powerpoint/2010/main" val="1843442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F9CAE19-9951-22D9-0F61-B3ECFEDB0892}"/>
              </a:ext>
            </a:extLst>
          </p:cNvPr>
          <p:cNvSpPr>
            <a:spLocks noGrp="1"/>
          </p:cNvSpPr>
          <p:nvPr>
            <p:ph type="title"/>
          </p:nvPr>
        </p:nvSpPr>
        <p:spPr>
          <a:xfrm>
            <a:off x="457205" y="273053"/>
            <a:ext cx="3008313" cy="1162051"/>
          </a:xfrm>
        </p:spPr>
        <p:txBody>
          <a:bodyPr/>
          <a:lstStyle/>
          <a:p>
            <a:r>
              <a:rPr lang="en-US" sz="2400" dirty="0"/>
              <a:t>The initial page of the paper questionnaire</a:t>
            </a:r>
          </a:p>
        </p:txBody>
      </p:sp>
      <p:pic>
        <p:nvPicPr>
          <p:cNvPr id="5" name="Picture 4" descr="A screenshot of a questionnaire&#10;&#10;Description automatically generated">
            <a:extLst>
              <a:ext uri="{FF2B5EF4-FFF2-40B4-BE49-F238E27FC236}">
                <a16:creationId xmlns:a16="http://schemas.microsoft.com/office/drawing/2014/main" id="{88F64279-341A-DE57-9F94-7DA84E546DD6}"/>
              </a:ext>
            </a:extLst>
          </p:cNvPr>
          <p:cNvPicPr>
            <a:picLocks noChangeAspect="1"/>
          </p:cNvPicPr>
          <p:nvPr/>
        </p:nvPicPr>
        <p:blipFill>
          <a:blip r:embed="rId3"/>
          <a:stretch>
            <a:fillRect/>
          </a:stretch>
        </p:blipFill>
        <p:spPr>
          <a:xfrm>
            <a:off x="3921375" y="273057"/>
            <a:ext cx="4419099" cy="5853113"/>
          </a:xfrm>
          <a:prstGeom prst="rect">
            <a:avLst/>
          </a:prstGeom>
          <a:noFill/>
        </p:spPr>
      </p:pic>
      <p:sp>
        <p:nvSpPr>
          <p:cNvPr id="12" name="Text Placeholder 3">
            <a:extLst>
              <a:ext uri="{FF2B5EF4-FFF2-40B4-BE49-F238E27FC236}">
                <a16:creationId xmlns:a16="http://schemas.microsoft.com/office/drawing/2014/main" id="{42B26898-2985-B9DD-B85F-5D9D2977BA2A}"/>
              </a:ext>
            </a:extLst>
          </p:cNvPr>
          <p:cNvSpPr>
            <a:spLocks noGrp="1"/>
          </p:cNvSpPr>
          <p:nvPr>
            <p:ph type="body" sz="half" idx="2"/>
          </p:nvPr>
        </p:nvSpPr>
        <p:spPr>
          <a:xfrm>
            <a:off x="457205" y="1435104"/>
            <a:ext cx="3008313" cy="4691063"/>
          </a:xfrm>
        </p:spPr>
        <p:txBody>
          <a:bodyPr/>
          <a:lstStyle/>
          <a:p>
            <a:pPr marL="171450" indent="-171450">
              <a:buFont typeface="Arial" panose="020B0604020202020204" pitchFamily="34" charset="0"/>
              <a:buChar char="•"/>
            </a:pPr>
            <a:endParaRPr lang="en-US" sz="2000" dirty="0"/>
          </a:p>
          <a:p>
            <a:pPr marL="171450" indent="-171450">
              <a:buFont typeface="Arial" panose="020B0604020202020204" pitchFamily="34" charset="0"/>
              <a:buChar char="•"/>
            </a:pPr>
            <a:r>
              <a:rPr lang="en-US" sz="2000" dirty="0"/>
              <a:t>localized identity </a:t>
            </a:r>
          </a:p>
          <a:p>
            <a:pPr marL="171450" indent="-171450">
              <a:buFont typeface="Arial" panose="020B0604020202020204" pitchFamily="34" charset="0"/>
              <a:buChar char="•"/>
            </a:pPr>
            <a:endParaRPr lang="en-US" sz="2000" dirty="0"/>
          </a:p>
          <a:p>
            <a:pPr marL="171450" indent="-171450">
              <a:buFont typeface="Arial" panose="020B0604020202020204" pitchFamily="34" charset="0"/>
              <a:buChar char="•"/>
            </a:pPr>
            <a:r>
              <a:rPr lang="en-US" sz="2000" dirty="0"/>
              <a:t>Short questionnaire</a:t>
            </a:r>
          </a:p>
        </p:txBody>
      </p:sp>
    </p:spTree>
    <p:extLst>
      <p:ext uri="{BB962C8B-B14F-4D97-AF65-F5344CB8AC3E}">
        <p14:creationId xmlns:p14="http://schemas.microsoft.com/office/powerpoint/2010/main" val="4211671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0ACA585-1D52-3BFB-2322-477737D7F9DF}"/>
              </a:ext>
            </a:extLst>
          </p:cNvPr>
          <p:cNvSpPr>
            <a:spLocks noGrp="1"/>
          </p:cNvSpPr>
          <p:nvPr>
            <p:ph type="title"/>
          </p:nvPr>
        </p:nvSpPr>
        <p:spPr>
          <a:xfrm>
            <a:off x="685800" y="304800"/>
            <a:ext cx="7772400" cy="1143000"/>
          </a:xfrm>
        </p:spPr>
        <p:txBody>
          <a:bodyPr/>
          <a:lstStyle/>
          <a:p>
            <a:r>
              <a:rPr lang="en-US" dirty="0"/>
              <a:t>Example: WSU Doctoral Student Experience Survey</a:t>
            </a:r>
          </a:p>
        </p:txBody>
      </p:sp>
      <p:pic>
        <p:nvPicPr>
          <p:cNvPr id="5" name="Picture 4">
            <a:extLst>
              <a:ext uri="{FF2B5EF4-FFF2-40B4-BE49-F238E27FC236}">
                <a16:creationId xmlns:a16="http://schemas.microsoft.com/office/drawing/2014/main" id="{4E6E4837-19AC-60BE-BCAA-30DE337139E6}"/>
              </a:ext>
            </a:extLst>
          </p:cNvPr>
          <p:cNvPicPr>
            <a:picLocks noChangeAspect="1"/>
          </p:cNvPicPr>
          <p:nvPr/>
        </p:nvPicPr>
        <p:blipFill>
          <a:blip r:embed="rId2"/>
          <a:stretch>
            <a:fillRect/>
          </a:stretch>
        </p:blipFill>
        <p:spPr>
          <a:xfrm>
            <a:off x="1810746" y="1752600"/>
            <a:ext cx="5522508" cy="3962400"/>
          </a:xfrm>
          <a:prstGeom prst="rect">
            <a:avLst/>
          </a:prstGeom>
          <a:noFill/>
        </p:spPr>
      </p:pic>
    </p:spTree>
    <p:extLst>
      <p:ext uri="{BB962C8B-B14F-4D97-AF65-F5344CB8AC3E}">
        <p14:creationId xmlns:p14="http://schemas.microsoft.com/office/powerpoint/2010/main" val="152080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method used to exchange costs&#10;&#10;Description automatically generated with medium confidence">
            <a:extLst>
              <a:ext uri="{FF2B5EF4-FFF2-40B4-BE49-F238E27FC236}">
                <a16:creationId xmlns:a16="http://schemas.microsoft.com/office/drawing/2014/main" id="{42850885-335C-EE58-72E2-F0D223D3F9FD}"/>
              </a:ext>
            </a:extLst>
          </p:cNvPr>
          <p:cNvPicPr>
            <a:picLocks noChangeAspect="1"/>
          </p:cNvPicPr>
          <p:nvPr/>
        </p:nvPicPr>
        <p:blipFill>
          <a:blip r:embed="rId2"/>
          <a:stretch>
            <a:fillRect/>
          </a:stretch>
        </p:blipFill>
        <p:spPr>
          <a:xfrm>
            <a:off x="851770" y="68263"/>
            <a:ext cx="7440460" cy="6249987"/>
          </a:xfrm>
          <a:prstGeom prst="rect">
            <a:avLst/>
          </a:prstGeom>
          <a:noFill/>
        </p:spPr>
      </p:pic>
    </p:spTree>
    <p:extLst>
      <p:ext uri="{BB962C8B-B14F-4D97-AF65-F5344CB8AC3E}">
        <p14:creationId xmlns:p14="http://schemas.microsoft.com/office/powerpoint/2010/main" val="3405522238"/>
      </p:ext>
    </p:extLst>
  </p:cSld>
  <p:clrMapOvr>
    <a:masterClrMapping/>
  </p:clrMapOvr>
</p:sld>
</file>

<file path=ppt/theme/theme1.xml><?xml version="1.0" encoding="utf-8"?>
<a:theme xmlns:a="http://schemas.openxmlformats.org/drawingml/2006/main" name="UMN-yellow">
  <a:themeElements>
    <a:clrScheme name="Custom 1">
      <a:dk1>
        <a:sysClr val="windowText" lastClr="000000"/>
      </a:dk1>
      <a:lt1>
        <a:sysClr val="window" lastClr="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UMN-yellow" id="{DB2F7133-BA05-44A6-B8AE-F4ACBE427C16}" vid="{EB79D255-8E2F-4960-9A30-A0E24C4AC9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UMN-yellow</Template>
  <TotalTime>12622</TotalTime>
  <Words>1915</Words>
  <Application>Microsoft Macintosh PowerPoint</Application>
  <PresentationFormat>On-screen Show (4:3)</PresentationFormat>
  <Paragraphs>120</Paragraphs>
  <Slides>19</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-apple-system</vt:lpstr>
      <vt:lpstr>Aptos</vt:lpstr>
      <vt:lpstr>Arial</vt:lpstr>
      <vt:lpstr>Corbel</vt:lpstr>
      <vt:lpstr>UMN-yellow</vt:lpstr>
      <vt:lpstr>Social Exchange Theory: Why People Respond</vt:lpstr>
      <vt:lpstr>Social Exchange Theory (Homans, 1961; Blau, 1964; Dillman, 1978)</vt:lpstr>
      <vt:lpstr>Social Exchange Theory</vt:lpstr>
      <vt:lpstr>Social Exchange Theory - Rewards</vt:lpstr>
      <vt:lpstr>Social Exchange Theory - Rewards</vt:lpstr>
      <vt:lpstr>Social Exchange Theory - Costs</vt:lpstr>
      <vt:lpstr>Social Exchange Theory - Costs</vt:lpstr>
      <vt:lpstr>Social Exchange Theory - Costs</vt:lpstr>
      <vt:lpstr>Social Exchange Theory - Trust</vt:lpstr>
      <vt:lpstr>Social Exchange Theory - Trust</vt:lpstr>
      <vt:lpstr>PowerPoint Presentation</vt:lpstr>
      <vt:lpstr>Example: WSU Doctoral Student Experience Survey</vt:lpstr>
      <vt:lpstr>Example: WSU Doctoral Student Experience Survey</vt:lpstr>
      <vt:lpstr>Example: WSU Doctoral Student Experience Survey</vt:lpstr>
      <vt:lpstr>Initial communications</vt:lpstr>
      <vt:lpstr>Second contact: E-mail</vt:lpstr>
      <vt:lpstr>The initial page of the paper questionnaire</vt:lpstr>
      <vt:lpstr>Example: WSU Doctoral Student Experience Survey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Wenchao Ma</dc:creator>
  <cp:lastModifiedBy>Wenchao Ma</cp:lastModifiedBy>
  <cp:revision>74</cp:revision>
  <dcterms:created xsi:type="dcterms:W3CDTF">2024-07-16T02:19:12Z</dcterms:created>
  <dcterms:modified xsi:type="dcterms:W3CDTF">2024-09-24T20:48:44Z</dcterms:modified>
</cp:coreProperties>
</file>