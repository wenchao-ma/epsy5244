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Lst>
  <p:notesMasterIdLst>
    <p:notesMasterId r:id="rId38"/>
  </p:notesMasterIdLst>
  <p:sldIdLst>
    <p:sldId id="256" r:id="rId2"/>
    <p:sldId id="341" r:id="rId3"/>
    <p:sldId id="257" r:id="rId4"/>
    <p:sldId id="258" r:id="rId5"/>
    <p:sldId id="342" r:id="rId6"/>
    <p:sldId id="259" r:id="rId7"/>
    <p:sldId id="266" r:id="rId8"/>
    <p:sldId id="340" r:id="rId9"/>
    <p:sldId id="270" r:id="rId10"/>
    <p:sldId id="260" r:id="rId11"/>
    <p:sldId id="261" r:id="rId12"/>
    <p:sldId id="345" r:id="rId13"/>
    <p:sldId id="346" r:id="rId14"/>
    <p:sldId id="355" r:id="rId15"/>
    <p:sldId id="356" r:id="rId16"/>
    <p:sldId id="357" r:id="rId17"/>
    <p:sldId id="263" r:id="rId18"/>
    <p:sldId id="347" r:id="rId19"/>
    <p:sldId id="264" r:id="rId20"/>
    <p:sldId id="348" r:id="rId21"/>
    <p:sldId id="265" r:id="rId22"/>
    <p:sldId id="349" r:id="rId23"/>
    <p:sldId id="350" r:id="rId24"/>
    <p:sldId id="351" r:id="rId25"/>
    <p:sldId id="352" r:id="rId26"/>
    <p:sldId id="353" r:id="rId27"/>
    <p:sldId id="280" r:id="rId28"/>
    <p:sldId id="354" r:id="rId29"/>
    <p:sldId id="358" r:id="rId30"/>
    <p:sldId id="360" r:id="rId31"/>
    <p:sldId id="359" r:id="rId32"/>
    <p:sldId id="362" r:id="rId33"/>
    <p:sldId id="363" r:id="rId34"/>
    <p:sldId id="364" r:id="rId35"/>
    <p:sldId id="365" r:id="rId36"/>
    <p:sldId id="366" r:id="rId37"/>
  </p:sldIdLst>
  <p:sldSz cx="9144000" cy="6858000" type="screen4x3"/>
  <p:notesSz cx="6858000" cy="9144000"/>
  <p:defaultTextStyle>
    <a:defPPr>
      <a:defRPr lang="en-US"/>
    </a:defPPr>
    <a:lvl1pPr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1pPr>
    <a:lvl2pPr marL="342946"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2pPr>
    <a:lvl3pPr marL="685891"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3pPr>
    <a:lvl4pPr marL="1028837"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4pPr>
    <a:lvl5pPr marL="1371783"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5pPr>
    <a:lvl6pPr marL="1714729" algn="l" defTabSz="342946" rtl="0" eaLnBrk="1" latinLnBrk="0" hangingPunct="1">
      <a:defRPr sz="1800" kern="1200">
        <a:solidFill>
          <a:schemeClr val="tx1"/>
        </a:solidFill>
        <a:latin typeface="Arial" charset="0"/>
        <a:ea typeface="ＭＳ Ｐゴシック" charset="0"/>
        <a:cs typeface="ＭＳ Ｐゴシック" charset="0"/>
      </a:defRPr>
    </a:lvl6pPr>
    <a:lvl7pPr marL="2057674" algn="l" defTabSz="342946" rtl="0" eaLnBrk="1" latinLnBrk="0" hangingPunct="1">
      <a:defRPr sz="1800" kern="1200">
        <a:solidFill>
          <a:schemeClr val="tx1"/>
        </a:solidFill>
        <a:latin typeface="Arial" charset="0"/>
        <a:ea typeface="ＭＳ Ｐゴシック" charset="0"/>
        <a:cs typeface="ＭＳ Ｐゴシック" charset="0"/>
      </a:defRPr>
    </a:lvl7pPr>
    <a:lvl8pPr marL="2400620" algn="l" defTabSz="342946" rtl="0" eaLnBrk="1" latinLnBrk="0" hangingPunct="1">
      <a:defRPr sz="1800" kern="1200">
        <a:solidFill>
          <a:schemeClr val="tx1"/>
        </a:solidFill>
        <a:latin typeface="Arial" charset="0"/>
        <a:ea typeface="ＭＳ Ｐゴシック" charset="0"/>
        <a:cs typeface="ＭＳ Ｐゴシック" charset="0"/>
      </a:defRPr>
    </a:lvl8pPr>
    <a:lvl9pPr marL="2743566" algn="l" defTabSz="342946" rtl="0" eaLnBrk="1" latinLnBrk="0" hangingPunct="1">
      <a:defRPr sz="18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1301" autoAdjust="0"/>
  </p:normalViewPr>
  <p:slideViewPr>
    <p:cSldViewPr snapToGrid="0">
      <p:cViewPr varScale="1">
        <p:scale>
          <a:sx n="112" d="100"/>
          <a:sy n="112" d="100"/>
        </p:scale>
        <p:origin x="1920"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2EE1A-1E57-4A26-BEAD-BA0F11D4AB95}" type="datetimeFigureOut">
              <a:rPr lang="en-US" smtClean="0"/>
              <a:t>9/24/24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925CEA-CE71-402A-A3BD-05AB42F89E39}" type="slidenum">
              <a:rPr lang="en-US" smtClean="0"/>
              <a:t>‹#›</a:t>
            </a:fld>
            <a:endParaRPr lang="en-US"/>
          </a:p>
        </p:txBody>
      </p:sp>
    </p:spTree>
    <p:extLst>
      <p:ext uri="{BB962C8B-B14F-4D97-AF65-F5344CB8AC3E}">
        <p14:creationId xmlns:p14="http://schemas.microsoft.com/office/powerpoint/2010/main" val="179559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a:t>
            </a:fld>
            <a:endParaRPr lang="en-US"/>
          </a:p>
        </p:txBody>
      </p:sp>
    </p:spTree>
    <p:extLst>
      <p:ext uri="{BB962C8B-B14F-4D97-AF65-F5344CB8AC3E}">
        <p14:creationId xmlns:p14="http://schemas.microsoft.com/office/powerpoint/2010/main" val="331495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sz="1200" i="1" dirty="0"/>
              <a:t>Nominal closed-ended:</a:t>
            </a:r>
            <a:r>
              <a:rPr lang="en-US" altLang="en-US" sz="1200" dirty="0"/>
              <a:t> provide a set of categories that have no underlying, natural order; respondents must process and compare each</a:t>
            </a:r>
          </a:p>
          <a:p>
            <a:pPr eaLnBrk="1" hangingPunct="1"/>
            <a:r>
              <a:rPr lang="en-US" altLang="en-US" sz="1200" i="1" dirty="0"/>
              <a:t>Ordinal closed-ended:</a:t>
            </a:r>
            <a:r>
              <a:rPr lang="en-US" altLang="en-US" sz="1200" dirty="0"/>
              <a:t> provide a set of ordered answer categories, and respondents decide where they fit along a continuum</a:t>
            </a:r>
          </a:p>
          <a:p>
            <a:pPr eaLnBrk="1" hangingPunct="1"/>
            <a:r>
              <a:rPr lang="en-US" altLang="en-US" sz="1200" i="1" dirty="0"/>
              <a:t>Partially closed-ended:</a:t>
            </a:r>
            <a:r>
              <a:rPr lang="en-US" altLang="en-US" sz="1200" dirty="0"/>
              <a:t> hybrid of open- and closed-ended formats that includes a set of response categories and an </a:t>
            </a:r>
            <a:r>
              <a:rPr lang="ja-JP" altLang="en-US" sz="1200" dirty="0"/>
              <a:t>“</a:t>
            </a:r>
            <a:r>
              <a:rPr lang="en-US" altLang="ja-JP" sz="1200" dirty="0"/>
              <a:t>other</a:t>
            </a:r>
            <a:r>
              <a:rPr lang="ja-JP" altLang="en-US" sz="1200" dirty="0"/>
              <a:t>”</a:t>
            </a:r>
            <a:r>
              <a:rPr lang="en-US" altLang="ja-JP" sz="1200" dirty="0"/>
              <a:t> response that allows respondents to specify a different, unlisted category</a:t>
            </a:r>
            <a:endParaRPr lang="en-US" altLang="en-US" sz="1200" dirty="0"/>
          </a:p>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12</a:t>
            </a:fld>
            <a:endParaRPr lang="en-US"/>
          </a:p>
        </p:txBody>
      </p:sp>
    </p:spTree>
    <p:extLst>
      <p:ext uri="{BB962C8B-B14F-4D97-AF65-F5344CB8AC3E}">
        <p14:creationId xmlns:p14="http://schemas.microsoft.com/office/powerpoint/2010/main" val="1483963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sz="1200" i="1" dirty="0"/>
              <a:t>Nominal closed-ended:</a:t>
            </a:r>
            <a:r>
              <a:rPr lang="en-US" altLang="en-US" sz="1200" dirty="0"/>
              <a:t> provide a set of categories that have no underlying, natural order; respondents must process and compare each</a:t>
            </a:r>
          </a:p>
          <a:p>
            <a:pPr eaLnBrk="1" hangingPunct="1"/>
            <a:r>
              <a:rPr lang="en-US" altLang="en-US" sz="1200" i="1" dirty="0"/>
              <a:t>Ordinal closed-ended:</a:t>
            </a:r>
            <a:r>
              <a:rPr lang="en-US" altLang="en-US" sz="1200" dirty="0"/>
              <a:t> provide a set of ordered answer categories, and respondents decide where they fit along a continuum</a:t>
            </a:r>
          </a:p>
          <a:p>
            <a:pPr eaLnBrk="1" hangingPunct="1"/>
            <a:r>
              <a:rPr lang="en-US" altLang="en-US" sz="1200" i="1" dirty="0"/>
              <a:t>Partially closed-ended:</a:t>
            </a:r>
            <a:r>
              <a:rPr lang="en-US" altLang="en-US" sz="1200" dirty="0"/>
              <a:t> hybrid of open- and closed-ended formats that includes a set of response categories and an </a:t>
            </a:r>
            <a:r>
              <a:rPr lang="ja-JP" altLang="en-US" sz="1200" dirty="0"/>
              <a:t>“</a:t>
            </a:r>
            <a:r>
              <a:rPr lang="en-US" altLang="ja-JP" sz="1200" dirty="0"/>
              <a:t>other</a:t>
            </a:r>
            <a:r>
              <a:rPr lang="ja-JP" altLang="en-US" sz="1200" dirty="0"/>
              <a:t>”</a:t>
            </a:r>
            <a:r>
              <a:rPr lang="en-US" altLang="ja-JP" sz="1200" dirty="0"/>
              <a:t> response that allows respondents to specify a different, unlisted category</a:t>
            </a:r>
            <a:endParaRPr lang="en-US" altLang="en-US" sz="1200" dirty="0"/>
          </a:p>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13</a:t>
            </a:fld>
            <a:endParaRPr lang="en-US"/>
          </a:p>
        </p:txBody>
      </p:sp>
    </p:spTree>
    <p:extLst>
      <p:ext uri="{BB962C8B-B14F-4D97-AF65-F5344CB8AC3E}">
        <p14:creationId xmlns:p14="http://schemas.microsoft.com/office/powerpoint/2010/main" val="72029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check-all format is prone to satisficing response strategies. They answered relatively quickly and were more likely to select the items appearing in the top half of the list than the bottom, regardless of what those items were (i.e., primacy). In contrast, respondents to the forced-choice format, even those who responded quite quickly, appeared to have processed all of the response options. Forced choice version is recommended.</a:t>
            </a:r>
          </a:p>
        </p:txBody>
      </p:sp>
      <p:sp>
        <p:nvSpPr>
          <p:cNvPr id="4" name="Slide Number Placeholder 3"/>
          <p:cNvSpPr>
            <a:spLocks noGrp="1"/>
          </p:cNvSpPr>
          <p:nvPr>
            <p:ph type="sldNum" sz="quarter" idx="5"/>
          </p:nvPr>
        </p:nvSpPr>
        <p:spPr/>
        <p:txBody>
          <a:bodyPr/>
          <a:lstStyle/>
          <a:p>
            <a:fld id="{E0925CEA-CE71-402A-A3BD-05AB42F89E39}" type="slidenum">
              <a:rPr lang="en-US" smtClean="0"/>
              <a:t>25</a:t>
            </a:fld>
            <a:endParaRPr lang="en-US"/>
          </a:p>
        </p:txBody>
      </p:sp>
    </p:spTree>
    <p:extLst>
      <p:ext uri="{BB962C8B-B14F-4D97-AF65-F5344CB8AC3E}">
        <p14:creationId xmlns:p14="http://schemas.microsoft.com/office/powerpoint/2010/main" val="1750215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ranja/Documents/5-resources/ppt/2018%20ppt-with%20R/new/working%20files/graphics_4x3-M-gold.png"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787400"/>
            <a:ext cx="8001000" cy="1143000"/>
          </a:xfrm>
        </p:spPr>
        <p:txBody>
          <a:bodyPr/>
          <a:lstStyle>
            <a:lvl1pPr algn="l">
              <a:defRPr>
                <a:solidFill>
                  <a:srgbClr val="7A0019"/>
                </a:solidFill>
              </a:defRPr>
            </a:lvl1pPr>
          </a:lstStyle>
          <a:p>
            <a:pPr lvl="0"/>
            <a:r>
              <a:rPr lang="en-US" noProof="0"/>
              <a:t>Click to edit Master title style</a:t>
            </a:r>
            <a:endParaRPr lang="en-US" noProof="0" dirty="0"/>
          </a:p>
        </p:txBody>
      </p:sp>
      <p:sp>
        <p:nvSpPr>
          <p:cNvPr id="6" name="Text Placeholder 5"/>
          <p:cNvSpPr>
            <a:spLocks noGrp="1"/>
          </p:cNvSpPr>
          <p:nvPr>
            <p:ph type="body" sz="quarter" idx="10" hasCustomPrompt="1"/>
          </p:nvPr>
        </p:nvSpPr>
        <p:spPr>
          <a:xfrm>
            <a:off x="685800" y="2921000"/>
            <a:ext cx="8001000" cy="609600"/>
          </a:xfrm>
        </p:spPr>
        <p:txBody>
          <a:bodyPr/>
          <a:lstStyle>
            <a:lvl1pPr marL="0" indent="0">
              <a:buNone/>
              <a:defRPr sz="1800">
                <a:solidFill>
                  <a:schemeClr val="tx1">
                    <a:lumMod val="65000"/>
                    <a:lumOff val="35000"/>
                  </a:schemeClr>
                </a:solidFill>
              </a:defRPr>
            </a:lvl1pPr>
            <a:lvl2pPr marL="342946" indent="0">
              <a:buNone/>
              <a:defRPr sz="1800">
                <a:solidFill>
                  <a:srgbClr val="FFFFFF"/>
                </a:solidFill>
              </a:defRPr>
            </a:lvl2pPr>
            <a:lvl3pPr marL="685891" indent="0">
              <a:buNone/>
              <a:defRPr sz="1800">
                <a:solidFill>
                  <a:srgbClr val="FFFFFF"/>
                </a:solidFill>
              </a:defRPr>
            </a:lvl3pPr>
            <a:lvl4pPr marL="1028837" indent="0">
              <a:buNone/>
              <a:defRPr sz="1800">
                <a:solidFill>
                  <a:srgbClr val="FFFFFF"/>
                </a:solidFill>
              </a:defRPr>
            </a:lvl4pPr>
            <a:lvl5pPr marL="1371783" indent="0">
              <a:buNone/>
              <a:defRPr sz="1800">
                <a:solidFill>
                  <a:srgbClr val="FFFFFF"/>
                </a:solidFill>
              </a:defRPr>
            </a:lvl5pPr>
          </a:lstStyle>
          <a:p>
            <a:pPr lvl="0"/>
            <a:r>
              <a:rPr lang="en-US" dirty="0"/>
              <a:t>Presenter/unit/department name</a:t>
            </a:r>
          </a:p>
        </p:txBody>
      </p:sp>
      <p:sp>
        <p:nvSpPr>
          <p:cNvPr id="10" name="Text Placeholder 9"/>
          <p:cNvSpPr>
            <a:spLocks noGrp="1"/>
          </p:cNvSpPr>
          <p:nvPr>
            <p:ph type="body" sz="quarter" idx="12" hasCustomPrompt="1"/>
          </p:nvPr>
        </p:nvSpPr>
        <p:spPr>
          <a:xfrm>
            <a:off x="685800" y="3530600"/>
            <a:ext cx="8001000" cy="508000"/>
          </a:xfrm>
        </p:spPr>
        <p:txBody>
          <a:bodyPr/>
          <a:lstStyle>
            <a:lvl1pPr marL="0" indent="0">
              <a:buNone/>
              <a:defRPr sz="1200">
                <a:solidFill>
                  <a:schemeClr val="tx1">
                    <a:lumMod val="65000"/>
                    <a:lumOff val="35000"/>
                  </a:schemeClr>
                </a:solidFill>
              </a:defRPr>
            </a:lvl1pPr>
            <a:lvl2pPr marL="342946" indent="0">
              <a:buNone/>
              <a:defRPr sz="1200">
                <a:solidFill>
                  <a:srgbClr val="FFFFFF"/>
                </a:solidFill>
              </a:defRPr>
            </a:lvl2pPr>
            <a:lvl3pPr marL="685891" indent="0">
              <a:buNone/>
              <a:defRPr sz="1200">
                <a:solidFill>
                  <a:srgbClr val="FFFFFF"/>
                </a:solidFill>
              </a:defRPr>
            </a:lvl3pPr>
            <a:lvl4pPr marL="1028837" indent="0">
              <a:buNone/>
              <a:defRPr sz="1200">
                <a:solidFill>
                  <a:srgbClr val="FFFFFF"/>
                </a:solidFill>
              </a:defRPr>
            </a:lvl4pPr>
            <a:lvl5pPr marL="1371783" indent="0">
              <a:buNone/>
              <a:defRPr sz="1200">
                <a:solidFill>
                  <a:srgbClr val="FFFFFF"/>
                </a:solidFill>
              </a:defRPr>
            </a:lvl5pPr>
          </a:lstStyle>
          <a:p>
            <a:pPr lvl="0"/>
            <a:r>
              <a:rPr lang="en-US" dirty="0"/>
              <a:t>Date</a:t>
            </a:r>
          </a:p>
        </p:txBody>
      </p:sp>
      <p:pic>
        <p:nvPicPr>
          <p:cNvPr id="8" name="graphics_4x3-M-gold.png" descr="/Users/ranja/Documents/5-resources/ppt/2018 ppt-with R/new/working files/graphics_4x3-M-gold.png">
            <a:extLst>
              <a:ext uri="{FF2B5EF4-FFF2-40B4-BE49-F238E27FC236}">
                <a16:creationId xmlns:a16="http://schemas.microsoft.com/office/drawing/2014/main" id="{BD85783E-02E7-AD5B-1B73-2B1DBD3BD5B1}"/>
              </a:ext>
            </a:extLst>
          </p:cNvPr>
          <p:cNvPicPr>
            <a:picLocks noChangeAspect="1"/>
          </p:cNvPicPr>
          <p:nvPr/>
        </p:nvPicPr>
        <p:blipFill rotWithShape="1">
          <a:blip r:embed="rId2" r:link="rId3" cstate="print">
            <a:extLst>
              <a:ext uri="{28A0092B-C50C-407E-A947-70E740481C1C}">
                <a14:useLocalDpi xmlns:a14="http://schemas.microsoft.com/office/drawing/2010/main"/>
              </a:ext>
            </a:extLst>
          </a:blip>
          <a:srcRect r="10000"/>
          <a:stretch>
            <a:fillRect/>
          </a:stretch>
        </p:blipFill>
        <p:spPr>
          <a:xfrm>
            <a:off x="0" y="6387041"/>
            <a:ext cx="9144000" cy="466344"/>
          </a:xfrm>
          <a:prstGeom prst="rect">
            <a:avLst/>
          </a:prstGeom>
        </p:spPr>
      </p:pic>
      <p:pic>
        <p:nvPicPr>
          <p:cNvPr id="5" name="Picture 4" descr="A cartoon of a beaver with a large letter&#10;&#10;Description automatically generated">
            <a:extLst>
              <a:ext uri="{FF2B5EF4-FFF2-40B4-BE49-F238E27FC236}">
                <a16:creationId xmlns:a16="http://schemas.microsoft.com/office/drawing/2014/main" id="{2A03D404-5F99-3C9D-E8C4-48EF1EA452C9}"/>
              </a:ext>
            </a:extLst>
          </p:cNvPr>
          <p:cNvPicPr>
            <a:picLocks noChangeAspect="1"/>
          </p:cNvPicPr>
          <p:nvPr/>
        </p:nvPicPr>
        <p:blipFill>
          <a:blip r:embed="rId4"/>
          <a:stretch>
            <a:fillRect/>
          </a:stretch>
        </p:blipFill>
        <p:spPr>
          <a:xfrm>
            <a:off x="6400794" y="4956044"/>
            <a:ext cx="2743206" cy="1901956"/>
          </a:xfrm>
          <a:prstGeom prst="rect">
            <a:avLst/>
          </a:prstGeom>
        </p:spPr>
      </p:pic>
    </p:spTree>
    <p:extLst>
      <p:ext uri="{BB962C8B-B14F-4D97-AF65-F5344CB8AC3E}">
        <p14:creationId xmlns:p14="http://schemas.microsoft.com/office/powerpoint/2010/main" val="1946727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9130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5"/>
            <a:ext cx="7772400" cy="1362075"/>
          </a:xfrm>
        </p:spPr>
        <p:txBody>
          <a:bodyPr anchor="t"/>
          <a:lstStyle>
            <a:lvl1pPr algn="l">
              <a:defRPr sz="3000" b="0" i="0" cap="none"/>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46" indent="0">
              <a:buNone/>
              <a:defRPr sz="1400"/>
            </a:lvl2pPr>
            <a:lvl3pPr marL="685891" indent="0">
              <a:buNone/>
              <a:defRPr sz="1200"/>
            </a:lvl3pPr>
            <a:lvl4pPr marL="1028837" indent="0">
              <a:buNone/>
              <a:defRPr sz="1100"/>
            </a:lvl4pPr>
            <a:lvl5pPr marL="1371783" indent="0">
              <a:buNone/>
              <a:defRPr sz="1100"/>
            </a:lvl5pPr>
            <a:lvl6pPr marL="1714729" indent="0">
              <a:buNone/>
              <a:defRPr sz="1100"/>
            </a:lvl6pPr>
            <a:lvl7pPr marL="2057674" indent="0">
              <a:buNone/>
              <a:defRPr sz="1100"/>
            </a:lvl7pPr>
            <a:lvl8pPr marL="2400620" indent="0">
              <a:buNone/>
              <a:defRPr sz="1100"/>
            </a:lvl8pPr>
            <a:lvl9pPr marL="2743566" indent="0">
              <a:buNone/>
              <a:defRPr sz="1100"/>
            </a:lvl9pPr>
          </a:lstStyle>
          <a:p>
            <a:pPr lvl="0"/>
            <a:r>
              <a:rPr lang="en-US"/>
              <a:t>Click to edit Master text styles</a:t>
            </a:r>
          </a:p>
        </p:txBody>
      </p:sp>
    </p:spTree>
    <p:extLst>
      <p:ext uri="{BB962C8B-B14F-4D97-AF65-F5344CB8AC3E}">
        <p14:creationId xmlns:p14="http://schemas.microsoft.com/office/powerpoint/2010/main" val="450051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1675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7"/>
            <a:ext cx="4040188"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7"/>
            <a:ext cx="4041775"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8015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167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1011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3"/>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7"/>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435104"/>
            <a:ext cx="3008313" cy="46910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1649624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46" indent="0">
              <a:buNone/>
              <a:defRPr sz="2100"/>
            </a:lvl2pPr>
            <a:lvl3pPr marL="685891" indent="0">
              <a:buNone/>
              <a:defRPr sz="1800"/>
            </a:lvl3pPr>
            <a:lvl4pPr marL="1028837" indent="0">
              <a:buNone/>
              <a:defRPr sz="1500"/>
            </a:lvl4pPr>
            <a:lvl5pPr marL="1371783" indent="0">
              <a:buNone/>
              <a:defRPr sz="1500"/>
            </a:lvl5pPr>
            <a:lvl6pPr marL="1714729" indent="0">
              <a:buNone/>
              <a:defRPr sz="1500"/>
            </a:lvl6pPr>
            <a:lvl7pPr marL="2057674" indent="0">
              <a:buNone/>
              <a:defRPr sz="1500"/>
            </a:lvl7pPr>
            <a:lvl8pPr marL="2400620" indent="0">
              <a:buNone/>
              <a:defRPr sz="1500"/>
            </a:lvl8pPr>
            <a:lvl9pPr marL="2743566"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42"/>
            <a:ext cx="5486400" cy="8048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4034953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18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1" y="3048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2025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file://localhost/Users/ranja/Documents/5-resources/ppt/2018%20ppt-with%20R/new/working%20files/graphics_4x3-M-gold.pn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685800" y="1752600"/>
            <a:ext cx="7772400" cy="3962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s_4x3-M-gold.png" descr="/Users/ranja/Documents/5-resources/ppt/2018 ppt-with R/new/working files/graphics_4x3-M-gold.png"/>
          <p:cNvPicPr>
            <a:picLocks noChangeAspect="1"/>
          </p:cNvPicPr>
          <p:nvPr/>
        </p:nvPicPr>
        <p:blipFill>
          <a:blip r:embed="rId13" r:link="rId14" cstate="print">
            <a:extLst>
              <a:ext uri="{28A0092B-C50C-407E-A947-70E740481C1C}">
                <a14:useLocalDpi xmlns:a14="http://schemas.microsoft.com/office/drawing/2010/main"/>
              </a:ext>
            </a:extLst>
          </a:blip>
          <a:stretch>
            <a:fillRect/>
          </a:stretch>
        </p:blipFill>
        <p:spPr>
          <a:xfrm>
            <a:off x="0" y="6387041"/>
            <a:ext cx="9144000" cy="466344"/>
          </a:xfrm>
          <a:prstGeom prst="rect">
            <a:avLst/>
          </a:prstGeom>
        </p:spPr>
      </p:pic>
    </p:spTree>
    <p:extLst>
      <p:ext uri="{BB962C8B-B14F-4D97-AF65-F5344CB8AC3E}">
        <p14:creationId xmlns:p14="http://schemas.microsoft.com/office/powerpoint/2010/main" val="18778612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fontAlgn="base" hangingPunct="1">
        <a:spcBef>
          <a:spcPct val="0"/>
        </a:spcBef>
        <a:spcAft>
          <a:spcPct val="0"/>
        </a:spcAft>
        <a:defRPr sz="3300" b="0">
          <a:solidFill>
            <a:srgbClr val="7A0019"/>
          </a:solidFill>
          <a:latin typeface="+mj-lt"/>
          <a:ea typeface="ＭＳ Ｐゴシック" charset="0"/>
          <a:cs typeface="ＭＳ Ｐゴシック" charset="0"/>
        </a:defRPr>
      </a:lvl1pPr>
      <a:lvl2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5pPr>
      <a:lvl6pPr marL="34294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891"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837"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p:titleStyle>
    <p:bodyStyle>
      <a:lvl1pPr marL="257209" indent="-257209" algn="l" rtl="0" eaLnBrk="1" fontAlgn="base" hangingPunct="1">
        <a:spcBef>
          <a:spcPct val="20000"/>
        </a:spcBef>
        <a:spcAft>
          <a:spcPct val="0"/>
        </a:spcAft>
        <a:buClr>
          <a:srgbClr val="7A0019"/>
        </a:buClr>
        <a:buChar char="•"/>
        <a:defRPr sz="2400">
          <a:solidFill>
            <a:srgbClr val="595959"/>
          </a:solidFill>
          <a:latin typeface="+mn-lt"/>
          <a:ea typeface="ＭＳ Ｐゴシック" charset="0"/>
          <a:cs typeface="ＭＳ Ｐゴシック" charset="0"/>
        </a:defRPr>
      </a:lvl1pPr>
      <a:lvl2pPr marL="557287" indent="-214341" algn="l" rtl="0" eaLnBrk="1" fontAlgn="base" hangingPunct="1">
        <a:spcBef>
          <a:spcPct val="20000"/>
        </a:spcBef>
        <a:spcAft>
          <a:spcPct val="0"/>
        </a:spcAft>
        <a:buClr>
          <a:srgbClr val="7A0019"/>
        </a:buClr>
        <a:buChar char="–"/>
        <a:defRPr sz="2100">
          <a:solidFill>
            <a:srgbClr val="595959"/>
          </a:solidFill>
          <a:latin typeface="+mn-lt"/>
          <a:ea typeface="ＭＳ Ｐゴシック" charset="0"/>
        </a:defRPr>
      </a:lvl2pPr>
      <a:lvl3pPr marL="857364" indent="-171473" algn="l" rtl="0" eaLnBrk="1" fontAlgn="base" hangingPunct="1">
        <a:spcBef>
          <a:spcPct val="20000"/>
        </a:spcBef>
        <a:spcAft>
          <a:spcPct val="0"/>
        </a:spcAft>
        <a:buClr>
          <a:srgbClr val="7A0019"/>
        </a:buClr>
        <a:buChar char="•"/>
        <a:defRPr sz="1800">
          <a:solidFill>
            <a:srgbClr val="595959"/>
          </a:solidFill>
          <a:latin typeface="+mn-lt"/>
          <a:ea typeface="ＭＳ Ｐゴシック" charset="0"/>
        </a:defRPr>
      </a:lvl3pPr>
      <a:lvl4pPr marL="1200310"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4pPr>
      <a:lvl5pPr marL="1543256"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5pPr>
      <a:lvl6pPr marL="1886201" indent="-171473"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9147" indent="-171473"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2093" indent="-171473"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5039" indent="-171473" algn="l" rtl="0" eaLnBrk="1" fontAlgn="base" hangingPunct="1">
        <a:spcBef>
          <a:spcPct val="20000"/>
        </a:spcBef>
        <a:spcAft>
          <a:spcPct val="0"/>
        </a:spcAft>
        <a:buClr>
          <a:srgbClr val="7A0019"/>
        </a:buClr>
        <a:buChar char="»"/>
        <a:defRPr sz="1500">
          <a:solidFill>
            <a:schemeClr val="tx1"/>
          </a:solidFill>
          <a:latin typeface="+mn-lt"/>
          <a:ea typeface="+mn-ea"/>
        </a:defRPr>
      </a:lvl9pPr>
    </p:bodyStyle>
    <p:otherStyle>
      <a:defPPr>
        <a:defRPr lang="en-US"/>
      </a:defPPr>
      <a:lvl1pPr marL="0" algn="l" defTabSz="342946" rtl="0" eaLnBrk="1" latinLnBrk="0" hangingPunct="1">
        <a:defRPr sz="1400" kern="1200">
          <a:solidFill>
            <a:schemeClr val="tx1"/>
          </a:solidFill>
          <a:latin typeface="+mn-lt"/>
          <a:ea typeface="+mn-ea"/>
          <a:cs typeface="+mn-cs"/>
        </a:defRPr>
      </a:lvl1pPr>
      <a:lvl2pPr marL="342946" algn="l" defTabSz="342946" rtl="0" eaLnBrk="1" latinLnBrk="0" hangingPunct="1">
        <a:defRPr sz="1400" kern="1200">
          <a:solidFill>
            <a:schemeClr val="tx1"/>
          </a:solidFill>
          <a:latin typeface="+mn-lt"/>
          <a:ea typeface="+mn-ea"/>
          <a:cs typeface="+mn-cs"/>
        </a:defRPr>
      </a:lvl2pPr>
      <a:lvl3pPr marL="685891" algn="l" defTabSz="342946" rtl="0" eaLnBrk="1" latinLnBrk="0" hangingPunct="1">
        <a:defRPr sz="1400" kern="1200">
          <a:solidFill>
            <a:schemeClr val="tx1"/>
          </a:solidFill>
          <a:latin typeface="+mn-lt"/>
          <a:ea typeface="+mn-ea"/>
          <a:cs typeface="+mn-cs"/>
        </a:defRPr>
      </a:lvl3pPr>
      <a:lvl4pPr marL="1028837" algn="l" defTabSz="342946" rtl="0" eaLnBrk="1" latinLnBrk="0" hangingPunct="1">
        <a:defRPr sz="1400" kern="1200">
          <a:solidFill>
            <a:schemeClr val="tx1"/>
          </a:solidFill>
          <a:latin typeface="+mn-lt"/>
          <a:ea typeface="+mn-ea"/>
          <a:cs typeface="+mn-cs"/>
        </a:defRPr>
      </a:lvl4pPr>
      <a:lvl5pPr marL="1371783" algn="l" defTabSz="342946" rtl="0" eaLnBrk="1" latinLnBrk="0" hangingPunct="1">
        <a:defRPr sz="1400" kern="1200">
          <a:solidFill>
            <a:schemeClr val="tx1"/>
          </a:solidFill>
          <a:latin typeface="+mn-lt"/>
          <a:ea typeface="+mn-ea"/>
          <a:cs typeface="+mn-cs"/>
        </a:defRPr>
      </a:lvl5pPr>
      <a:lvl6pPr marL="1714729" algn="l" defTabSz="342946" rtl="0" eaLnBrk="1" latinLnBrk="0" hangingPunct="1">
        <a:defRPr sz="1400" kern="1200">
          <a:solidFill>
            <a:schemeClr val="tx1"/>
          </a:solidFill>
          <a:latin typeface="+mn-lt"/>
          <a:ea typeface="+mn-ea"/>
          <a:cs typeface="+mn-cs"/>
        </a:defRPr>
      </a:lvl6pPr>
      <a:lvl7pPr marL="2057674" algn="l" defTabSz="342946" rtl="0" eaLnBrk="1" latinLnBrk="0" hangingPunct="1">
        <a:defRPr sz="1400" kern="1200">
          <a:solidFill>
            <a:schemeClr val="tx1"/>
          </a:solidFill>
          <a:latin typeface="+mn-lt"/>
          <a:ea typeface="+mn-ea"/>
          <a:cs typeface="+mn-cs"/>
        </a:defRPr>
      </a:lvl7pPr>
      <a:lvl8pPr marL="2400620" algn="l" defTabSz="342946" rtl="0" eaLnBrk="1" latinLnBrk="0" hangingPunct="1">
        <a:defRPr sz="1400" kern="1200">
          <a:solidFill>
            <a:schemeClr val="tx1"/>
          </a:solidFill>
          <a:latin typeface="+mn-lt"/>
          <a:ea typeface="+mn-ea"/>
          <a:cs typeface="+mn-cs"/>
        </a:defRPr>
      </a:lvl8pPr>
      <a:lvl9pPr marL="2743566" algn="l" defTabSz="34294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5C8C-CF70-CF3F-9392-E243431AEC0B}"/>
              </a:ext>
            </a:extLst>
          </p:cNvPr>
          <p:cNvSpPr>
            <a:spLocks noGrp="1"/>
          </p:cNvSpPr>
          <p:nvPr>
            <p:ph type="ctrTitle"/>
          </p:nvPr>
        </p:nvSpPr>
        <p:spPr/>
        <p:txBody>
          <a:bodyPr/>
          <a:lstStyle/>
          <a:p>
            <a:r>
              <a:rPr lang="en-US" b="0" i="0" dirty="0">
                <a:solidFill>
                  <a:srgbClr val="333333"/>
                </a:solidFill>
                <a:effectLst/>
                <a:highlight>
                  <a:srgbClr val="FFFFFF"/>
                </a:highlight>
                <a:latin typeface="Titillium Web" panose="020F0502020204030204" pitchFamily="2" charset="0"/>
              </a:rPr>
              <a:t>EPSY 5244: Survey Design, Sampling, and Implementation</a:t>
            </a:r>
            <a:endParaRPr lang="en-US" dirty="0"/>
          </a:p>
        </p:txBody>
      </p:sp>
      <p:sp>
        <p:nvSpPr>
          <p:cNvPr id="3" name="Text Placeholder 2">
            <a:extLst>
              <a:ext uri="{FF2B5EF4-FFF2-40B4-BE49-F238E27FC236}">
                <a16:creationId xmlns:a16="http://schemas.microsoft.com/office/drawing/2014/main" id="{54B6C380-3DF9-E998-2C27-3E061F31EA79}"/>
              </a:ext>
            </a:extLst>
          </p:cNvPr>
          <p:cNvSpPr>
            <a:spLocks noGrp="1"/>
          </p:cNvSpPr>
          <p:nvPr>
            <p:ph type="body" sz="quarter" idx="10"/>
          </p:nvPr>
        </p:nvSpPr>
        <p:spPr/>
        <p:txBody>
          <a:bodyPr/>
          <a:lstStyle/>
          <a:p>
            <a:r>
              <a:rPr lang="en-US" dirty="0"/>
              <a:t>Wenchao Ma</a:t>
            </a:r>
          </a:p>
          <a:p>
            <a:r>
              <a:rPr lang="en-US" dirty="0"/>
              <a:t>University of Minnesota</a:t>
            </a:r>
          </a:p>
          <a:p>
            <a:endParaRPr lang="en-US" dirty="0"/>
          </a:p>
        </p:txBody>
      </p:sp>
      <p:sp>
        <p:nvSpPr>
          <p:cNvPr id="4" name="Text Placeholder 3">
            <a:extLst>
              <a:ext uri="{FF2B5EF4-FFF2-40B4-BE49-F238E27FC236}">
                <a16:creationId xmlns:a16="http://schemas.microsoft.com/office/drawing/2014/main" id="{9D768A85-7F52-262F-2784-53D0D2E9D002}"/>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66811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BC6BE-B875-CD68-47BC-2E8B704063A7}"/>
              </a:ext>
            </a:extLst>
          </p:cNvPr>
          <p:cNvSpPr>
            <a:spLocks noGrp="1"/>
          </p:cNvSpPr>
          <p:nvPr>
            <p:ph type="title"/>
          </p:nvPr>
        </p:nvSpPr>
        <p:spPr/>
        <p:txBody>
          <a:bodyPr/>
          <a:lstStyle/>
          <a:p>
            <a:r>
              <a:rPr lang="en-US" dirty="0"/>
              <a:t>Reading materials</a:t>
            </a:r>
          </a:p>
        </p:txBody>
      </p:sp>
      <p:sp>
        <p:nvSpPr>
          <p:cNvPr id="3" name="Content Placeholder 2">
            <a:extLst>
              <a:ext uri="{FF2B5EF4-FFF2-40B4-BE49-F238E27FC236}">
                <a16:creationId xmlns:a16="http://schemas.microsoft.com/office/drawing/2014/main" id="{0B0EA159-6A87-8660-134B-580EA2183D73}"/>
              </a:ext>
            </a:extLst>
          </p:cNvPr>
          <p:cNvSpPr>
            <a:spLocks noGrp="1"/>
          </p:cNvSpPr>
          <p:nvPr>
            <p:ph idx="1"/>
          </p:nvPr>
        </p:nvSpPr>
        <p:spPr/>
        <p:txBody>
          <a:bodyPr/>
          <a:lstStyle/>
          <a:p>
            <a:r>
              <a:rPr lang="en-US" dirty="0" err="1">
                <a:effectLst/>
              </a:rPr>
              <a:t>Dillman</a:t>
            </a:r>
            <a:r>
              <a:rPr lang="en-US" dirty="0">
                <a:effectLst/>
              </a:rPr>
              <a:t>, D. A., Smyth, J. D., &amp; Christian, L. M. (2014). </a:t>
            </a:r>
            <a:r>
              <a:rPr lang="en-US" i="1" dirty="0">
                <a:effectLst/>
              </a:rPr>
              <a:t>Internet, Phone, Mail, and Mixed‐Mode Surveys: The Tailored Design Method.</a:t>
            </a:r>
            <a:r>
              <a:rPr lang="en-US" dirty="0">
                <a:effectLst/>
              </a:rPr>
              <a:t> Wiley. Chapters 4-7.</a:t>
            </a:r>
            <a:endParaRPr lang="en-US" dirty="0"/>
          </a:p>
        </p:txBody>
      </p:sp>
    </p:spTree>
    <p:extLst>
      <p:ext uri="{BB962C8B-B14F-4D97-AF65-F5344CB8AC3E}">
        <p14:creationId xmlns:p14="http://schemas.microsoft.com/office/powerpoint/2010/main" val="813430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4B3B3-03AC-96A1-ADFE-BC6D0F045AC6}"/>
              </a:ext>
            </a:extLst>
          </p:cNvPr>
          <p:cNvSpPr>
            <a:spLocks noGrp="1"/>
          </p:cNvSpPr>
          <p:nvPr>
            <p:ph type="title"/>
          </p:nvPr>
        </p:nvSpPr>
        <p:spPr>
          <a:xfrm>
            <a:off x="612775" y="228600"/>
            <a:ext cx="8153400" cy="990600"/>
          </a:xfrm>
        </p:spPr>
        <p:txBody>
          <a:bodyPr>
            <a:normAutofit fontScale="90000"/>
          </a:bodyPr>
          <a:lstStyle/>
          <a:p>
            <a:pPr eaLnBrk="1" hangingPunct="1"/>
            <a:r>
              <a:rPr lang="en-US" altLang="en-US" sz="3600"/>
              <a:t>Thinking About the Respondent’s Perspective</a:t>
            </a:r>
          </a:p>
        </p:txBody>
      </p:sp>
      <p:sp>
        <p:nvSpPr>
          <p:cNvPr id="16386" name="Content Placeholder 2">
            <a:extLst>
              <a:ext uri="{FF2B5EF4-FFF2-40B4-BE49-F238E27FC236}">
                <a16:creationId xmlns:a16="http://schemas.microsoft.com/office/drawing/2014/main" id="{0804F13E-C07E-D2B0-18CD-614010C92A62}"/>
              </a:ext>
            </a:extLst>
          </p:cNvPr>
          <p:cNvSpPr>
            <a:spLocks noGrp="1"/>
          </p:cNvSpPr>
          <p:nvPr>
            <p:ph sz="quarter" idx="1"/>
          </p:nvPr>
        </p:nvSpPr>
        <p:spPr>
          <a:xfrm>
            <a:off x="612775" y="1600200"/>
            <a:ext cx="8153400" cy="4495800"/>
          </a:xfrm>
        </p:spPr>
        <p:txBody>
          <a:bodyPr/>
          <a:lstStyle/>
          <a:p>
            <a:pPr eaLnBrk="1" hangingPunct="1"/>
            <a:r>
              <a:rPr lang="en-US" altLang="en-US" dirty="0"/>
              <a:t>The underlying principle behind the best practices and guidelines for successful surveys is that the surveyor must get into a </a:t>
            </a:r>
            <a:r>
              <a:rPr lang="ja-JP" altLang="en-US" dirty="0"/>
              <a:t>“</a:t>
            </a:r>
            <a:r>
              <a:rPr lang="en-US" altLang="ja-JP" dirty="0"/>
              <a:t>respondent state of mind</a:t>
            </a:r>
            <a:r>
              <a:rPr lang="ja-JP" altLang="en-US" dirty="0"/>
              <a:t>”</a:t>
            </a:r>
            <a:endParaRPr lang="en-US" altLang="ja-JP" dirty="0"/>
          </a:p>
          <a:p>
            <a:pPr eaLnBrk="1" hangingPunct="1"/>
            <a:r>
              <a:rPr lang="en-US" altLang="en-US" dirty="0"/>
              <a:t>We must consider what the questions, questionnaire, contacts, and so on will look like from the respondent’</a:t>
            </a:r>
            <a:r>
              <a:rPr lang="en-US" altLang="ja-JP" dirty="0"/>
              <a:t>s perspective</a:t>
            </a:r>
            <a:endParaRPr lang="en-US" altLang="en-US" dirty="0"/>
          </a:p>
        </p:txBody>
      </p:sp>
      <p:sp>
        <p:nvSpPr>
          <p:cNvPr id="16387" name="Slide Number Placeholder 3">
            <a:extLst>
              <a:ext uri="{FF2B5EF4-FFF2-40B4-BE49-F238E27FC236}">
                <a16:creationId xmlns:a16="http://schemas.microsoft.com/office/drawing/2014/main" id="{46E290F9-71CA-3EF1-D46F-6C9D010DC2CA}"/>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47E82277-8292-4936-AB45-404AA35EACA5}" type="slidenum">
              <a:rPr lang="en-US" altLang="en-US" smtClean="0"/>
              <a:pPr eaLnBrk="1" hangingPunct="1">
                <a:lnSpc>
                  <a:spcPct val="80000"/>
                </a:lnSpc>
              </a:pPr>
              <a:t>3</a:t>
            </a:fld>
            <a:endParaRPr lang="en-US" altLang="en-US" sz="12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6A15-05B6-0AA4-7DCE-E23023F408DA}"/>
              </a:ext>
            </a:extLst>
          </p:cNvPr>
          <p:cNvSpPr>
            <a:spLocks noGrp="1"/>
          </p:cNvSpPr>
          <p:nvPr>
            <p:ph type="title"/>
          </p:nvPr>
        </p:nvSpPr>
        <p:spPr>
          <a:xfrm>
            <a:off x="612775" y="228600"/>
            <a:ext cx="8153400" cy="990600"/>
          </a:xfrm>
        </p:spPr>
        <p:txBody>
          <a:bodyPr>
            <a:normAutofit fontScale="90000"/>
          </a:bodyPr>
          <a:lstStyle/>
          <a:p>
            <a:pPr eaLnBrk="1" fontAlgn="auto" hangingPunct="1">
              <a:spcAft>
                <a:spcPts val="0"/>
              </a:spcAft>
              <a:defRPr/>
            </a:pPr>
            <a:r>
              <a:rPr lang="en-US" dirty="0">
                <a:ea typeface="+mj-ea"/>
                <a:cs typeface="+mj-cs"/>
              </a:rPr>
              <a:t>Issues to Consider When Starting to Craft Survey Questions</a:t>
            </a:r>
          </a:p>
        </p:txBody>
      </p:sp>
      <p:sp>
        <p:nvSpPr>
          <p:cNvPr id="17410" name="Content Placeholder 2">
            <a:extLst>
              <a:ext uri="{FF2B5EF4-FFF2-40B4-BE49-F238E27FC236}">
                <a16:creationId xmlns:a16="http://schemas.microsoft.com/office/drawing/2014/main" id="{98E43478-E856-8390-F42B-F005C756E783}"/>
              </a:ext>
            </a:extLst>
          </p:cNvPr>
          <p:cNvSpPr>
            <a:spLocks noGrp="1"/>
          </p:cNvSpPr>
          <p:nvPr>
            <p:ph sz="quarter" idx="1"/>
          </p:nvPr>
        </p:nvSpPr>
        <p:spPr>
          <a:xfrm>
            <a:off x="612775" y="1600200"/>
            <a:ext cx="8153400" cy="5105400"/>
          </a:xfrm>
        </p:spPr>
        <p:txBody>
          <a:bodyPr/>
          <a:lstStyle/>
          <a:p>
            <a:pPr marL="514350" indent="-514350" eaLnBrk="1" hangingPunct="1">
              <a:buFont typeface="Wingdings" panose="05000000000000000000" pitchFamily="2" charset="2"/>
              <a:buNone/>
            </a:pPr>
            <a:r>
              <a:rPr lang="en-US" altLang="en-US" dirty="0"/>
              <a:t>1. What concepts do I need to measure?</a:t>
            </a:r>
          </a:p>
          <a:p>
            <a:pPr marL="807998" lvl="1" indent="-514350"/>
            <a:r>
              <a:rPr lang="en-US" altLang="en-US" dirty="0"/>
              <a:t>Start by writing clear research questions that identify what will be studied</a:t>
            </a:r>
          </a:p>
          <a:p>
            <a:pPr marL="514350" indent="-514350" eaLnBrk="1" hangingPunct="1">
              <a:buFont typeface="Wingdings" panose="05000000000000000000" pitchFamily="2" charset="2"/>
              <a:buNone/>
            </a:pPr>
            <a:r>
              <a:rPr lang="en-US" altLang="en-US" dirty="0"/>
              <a:t>2. What type of information is the question asking for?</a:t>
            </a:r>
          </a:p>
          <a:p>
            <a:pPr marL="807998" lvl="1" indent="-514350"/>
            <a:r>
              <a:rPr lang="en-US" altLang="en-US" dirty="0"/>
              <a:t>Some information is readily available for respondents (e.g., demographics) whereas other types require respondents to think and/or recall (e.g., attitudes or behaviors) and are influenced by the context in which the question is asked</a:t>
            </a:r>
          </a:p>
          <a:p>
            <a:pPr marL="807998" lvl="1" indent="-514350"/>
            <a:r>
              <a:rPr lang="en-US" altLang="en-US" dirty="0"/>
              <a:t>Questions need to be designed so that they are not too difficult to answer and don’</a:t>
            </a:r>
            <a:r>
              <a:rPr lang="en-US" altLang="ja-JP" dirty="0"/>
              <a:t>t require respondents to recall details that are too specific</a:t>
            </a:r>
            <a:endParaRPr lang="en-US" altLang="en-US" dirty="0"/>
          </a:p>
        </p:txBody>
      </p:sp>
      <p:sp>
        <p:nvSpPr>
          <p:cNvPr id="17411" name="Slide Number Placeholder 3">
            <a:extLst>
              <a:ext uri="{FF2B5EF4-FFF2-40B4-BE49-F238E27FC236}">
                <a16:creationId xmlns:a16="http://schemas.microsoft.com/office/drawing/2014/main" id="{F967CFC5-F37A-62AC-66DD-51F8505D625A}"/>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47E82277-8292-4936-AB45-404AA35EACA5}" type="slidenum">
              <a:rPr lang="en-US" altLang="en-US" smtClean="0"/>
              <a:pPr eaLnBrk="1" hangingPunct="1">
                <a:lnSpc>
                  <a:spcPct val="80000"/>
                </a:lnSpc>
              </a:pPr>
              <a:t>4</a:t>
            </a:fld>
            <a:endParaRPr lang="en-US" altLang="en-US" sz="12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D44E1-9454-9576-4DDA-DD6A9AA89C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2A8B14-4A10-8D28-D6B6-D97477238E39}"/>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23B061CD-15A3-1629-1F0A-5C9D8DCABDFE}"/>
              </a:ext>
            </a:extLst>
          </p:cNvPr>
          <p:cNvSpPr/>
          <p:nvPr/>
        </p:nvSpPr>
        <p:spPr>
          <a:xfrm>
            <a:off x="1255245" y="3195191"/>
            <a:ext cx="6633510" cy="1077218"/>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pPr algn="ctr"/>
            <a:r>
              <a:rPr lang="en-US" sz="3200" i="1" dirty="0"/>
              <a:t>How many times have you read a magazine in the last six months?</a:t>
            </a:r>
          </a:p>
        </p:txBody>
      </p:sp>
    </p:spTree>
    <p:extLst>
      <p:ext uri="{BB962C8B-B14F-4D97-AF65-F5344CB8AC3E}">
        <p14:creationId xmlns:p14="http://schemas.microsoft.com/office/powerpoint/2010/main" val="1373873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32A30-F290-E0C5-328F-0AF1CE6A432F}"/>
              </a:ext>
            </a:extLst>
          </p:cNvPr>
          <p:cNvSpPr>
            <a:spLocks noGrp="1"/>
          </p:cNvSpPr>
          <p:nvPr>
            <p:ph type="title"/>
          </p:nvPr>
        </p:nvSpPr>
        <p:spPr>
          <a:xfrm>
            <a:off x="612775" y="228600"/>
            <a:ext cx="8153400" cy="990600"/>
          </a:xfrm>
        </p:spPr>
        <p:txBody>
          <a:bodyPr>
            <a:normAutofit fontScale="90000"/>
          </a:bodyPr>
          <a:lstStyle/>
          <a:p>
            <a:pPr eaLnBrk="1" fontAlgn="auto" hangingPunct="1">
              <a:spcAft>
                <a:spcPts val="0"/>
              </a:spcAft>
              <a:defRPr/>
            </a:pPr>
            <a:r>
              <a:rPr lang="en-US" dirty="0">
                <a:ea typeface="+mj-ea"/>
                <a:cs typeface="+mj-cs"/>
              </a:rPr>
              <a:t>Issues to Consider When Starting to Craft Survey Questions</a:t>
            </a:r>
          </a:p>
        </p:txBody>
      </p:sp>
      <p:sp>
        <p:nvSpPr>
          <p:cNvPr id="18434" name="Content Placeholder 2">
            <a:extLst>
              <a:ext uri="{FF2B5EF4-FFF2-40B4-BE49-F238E27FC236}">
                <a16:creationId xmlns:a16="http://schemas.microsoft.com/office/drawing/2014/main" id="{5433617E-E882-DFEB-004B-5442C30CB932}"/>
              </a:ext>
            </a:extLst>
          </p:cNvPr>
          <p:cNvSpPr>
            <a:spLocks noGrp="1"/>
          </p:cNvSpPr>
          <p:nvPr>
            <p:ph sz="quarter" idx="1"/>
          </p:nvPr>
        </p:nvSpPr>
        <p:spPr>
          <a:xfrm>
            <a:off x="612775" y="1600200"/>
            <a:ext cx="8153400" cy="5029200"/>
          </a:xfrm>
        </p:spPr>
        <p:txBody>
          <a:bodyPr/>
          <a:lstStyle/>
          <a:p>
            <a:pPr eaLnBrk="1" hangingPunct="1">
              <a:buFont typeface="Wingdings" panose="05000000000000000000" pitchFamily="2" charset="2"/>
              <a:buNone/>
            </a:pPr>
            <a:r>
              <a:rPr lang="en-US" altLang="en-US" dirty="0"/>
              <a:t>3. What survey mode(s) will be used to ask the questions?</a:t>
            </a:r>
          </a:p>
          <a:p>
            <a:pPr eaLnBrk="1" hangingPunct="1"/>
            <a:r>
              <a:rPr lang="en-US" altLang="en-US" dirty="0"/>
              <a:t>Each mode has features that can enable some designs and constrain others:</a:t>
            </a:r>
          </a:p>
          <a:p>
            <a:pPr lvl="1" eaLnBrk="1" hangingPunct="1"/>
            <a:r>
              <a:rPr lang="en-US" altLang="en-US" dirty="0"/>
              <a:t>Presence versus absence of an interviewer</a:t>
            </a:r>
          </a:p>
          <a:p>
            <a:pPr lvl="2" eaLnBrk="1" hangingPunct="1"/>
            <a:r>
              <a:rPr lang="en-US" altLang="en-US" dirty="0"/>
              <a:t>Interviewer can provide extra motivation and assistance</a:t>
            </a:r>
          </a:p>
          <a:p>
            <a:pPr lvl="2" eaLnBrk="1" hangingPunct="1"/>
            <a:r>
              <a:rPr lang="en-US" altLang="en-US" dirty="0"/>
              <a:t>But also may introduce </a:t>
            </a:r>
            <a:r>
              <a:rPr lang="en-US" altLang="en-US" i="1" dirty="0"/>
              <a:t>interviewer variance </a:t>
            </a:r>
            <a:r>
              <a:rPr lang="en-US" altLang="en-US" dirty="0"/>
              <a:t>and various forms of </a:t>
            </a:r>
            <a:r>
              <a:rPr lang="en-US" altLang="en-US" i="1" dirty="0"/>
              <a:t>interviewer bias</a:t>
            </a:r>
            <a:r>
              <a:rPr lang="en-US" altLang="en-US" dirty="0"/>
              <a:t>: </a:t>
            </a:r>
            <a:r>
              <a:rPr lang="en-US" altLang="en-US" i="1" dirty="0"/>
              <a:t>social desirability</a:t>
            </a:r>
            <a:r>
              <a:rPr lang="en-US" altLang="en-US" dirty="0"/>
              <a:t>, </a:t>
            </a:r>
            <a:r>
              <a:rPr lang="en-US" altLang="en-US" i="1" dirty="0"/>
              <a:t>acquiescence</a:t>
            </a:r>
            <a:r>
              <a:rPr lang="en-US" altLang="en-US" dirty="0"/>
              <a:t>, or when interviewer characteristics affect how people respond</a:t>
            </a:r>
          </a:p>
          <a:p>
            <a:pPr eaLnBrk="1" hangingPunct="1">
              <a:buFont typeface="Wingdings" panose="05000000000000000000" pitchFamily="2" charset="2"/>
              <a:buNone/>
            </a:pPr>
            <a:endParaRPr lang="en-US" altLang="en-US" dirty="0"/>
          </a:p>
        </p:txBody>
      </p:sp>
      <p:sp>
        <p:nvSpPr>
          <p:cNvPr id="18435" name="Slide Number Placeholder 3">
            <a:extLst>
              <a:ext uri="{FF2B5EF4-FFF2-40B4-BE49-F238E27FC236}">
                <a16:creationId xmlns:a16="http://schemas.microsoft.com/office/drawing/2014/main" id="{D5E7F6D2-AA42-B96A-9592-33663954B177}"/>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47E82277-8292-4936-AB45-404AA35EACA5}" type="slidenum">
              <a:rPr lang="en-US" altLang="en-US" smtClean="0"/>
              <a:pPr eaLnBrk="1" hangingPunct="1">
                <a:lnSpc>
                  <a:spcPct val="80000"/>
                </a:lnSpc>
              </a:pPr>
              <a:t>6</a:t>
            </a:fld>
            <a:endParaRPr lang="en-US" altLang="en-US" sz="120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C856F-C2C7-6C2C-FF45-5D37B67D8814}"/>
              </a:ext>
            </a:extLst>
          </p:cNvPr>
          <p:cNvSpPr>
            <a:spLocks noGrp="1"/>
          </p:cNvSpPr>
          <p:nvPr>
            <p:ph type="title"/>
          </p:nvPr>
        </p:nvSpPr>
        <p:spPr>
          <a:xfrm>
            <a:off x="612775" y="228600"/>
            <a:ext cx="8153400" cy="990600"/>
          </a:xfrm>
        </p:spPr>
        <p:txBody>
          <a:bodyPr>
            <a:normAutofit fontScale="90000"/>
          </a:bodyPr>
          <a:lstStyle/>
          <a:p>
            <a:pPr eaLnBrk="1" fontAlgn="auto" hangingPunct="1">
              <a:spcAft>
                <a:spcPts val="0"/>
              </a:spcAft>
              <a:defRPr/>
            </a:pPr>
            <a:r>
              <a:rPr lang="en-US" dirty="0">
                <a:ea typeface="+mj-ea"/>
                <a:cs typeface="+mj-cs"/>
              </a:rPr>
              <a:t>Issues to Consider When Starting to Craft Survey Questions</a:t>
            </a:r>
          </a:p>
        </p:txBody>
      </p:sp>
      <p:sp>
        <p:nvSpPr>
          <p:cNvPr id="20482" name="Slide Number Placeholder 2">
            <a:extLst>
              <a:ext uri="{FF2B5EF4-FFF2-40B4-BE49-F238E27FC236}">
                <a16:creationId xmlns:a16="http://schemas.microsoft.com/office/drawing/2014/main" id="{9511219F-CCD5-9EE3-C8B1-707DDCA773BE}"/>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47E82277-8292-4936-AB45-404AA35EACA5}" type="slidenum">
              <a:rPr lang="en-US" altLang="en-US" smtClean="0"/>
              <a:pPr eaLnBrk="1" hangingPunct="1">
                <a:lnSpc>
                  <a:spcPct val="80000"/>
                </a:lnSpc>
              </a:pPr>
              <a:t>7</a:t>
            </a:fld>
            <a:endParaRPr lang="en-US" altLang="en-US" sz="1200">
              <a:solidFill>
                <a:srgbClr val="FFFFFF"/>
              </a:solidFill>
            </a:endParaRPr>
          </a:p>
        </p:txBody>
      </p:sp>
      <p:sp>
        <p:nvSpPr>
          <p:cNvPr id="20483" name="Content Placeholder 3">
            <a:extLst>
              <a:ext uri="{FF2B5EF4-FFF2-40B4-BE49-F238E27FC236}">
                <a16:creationId xmlns:a16="http://schemas.microsoft.com/office/drawing/2014/main" id="{30BDCD9A-E98F-4C98-8282-3B9927FD7FF3}"/>
              </a:ext>
            </a:extLst>
          </p:cNvPr>
          <p:cNvSpPr>
            <a:spLocks noGrp="1"/>
          </p:cNvSpPr>
          <p:nvPr>
            <p:ph sz="quarter" idx="1"/>
          </p:nvPr>
        </p:nvSpPr>
        <p:spPr>
          <a:xfrm>
            <a:off x="612775" y="1600200"/>
            <a:ext cx="8153400" cy="4495800"/>
          </a:xfrm>
        </p:spPr>
        <p:txBody>
          <a:bodyPr/>
          <a:lstStyle/>
          <a:p>
            <a:pPr eaLnBrk="1" hangingPunct="1">
              <a:buFont typeface="Wingdings" panose="05000000000000000000" pitchFamily="2" charset="2"/>
              <a:buNone/>
            </a:pPr>
            <a:r>
              <a:rPr lang="en-US" altLang="en-US"/>
              <a:t>4. Is the question being repeated from another survey, and/or will answers be compared to previously collected data?</a:t>
            </a:r>
          </a:p>
          <a:p>
            <a:pPr lvl="1" eaLnBrk="1" hangingPunct="1"/>
            <a:r>
              <a:rPr lang="en-US" altLang="en-US"/>
              <a:t>Consistency in how questions are asked is important for comparison</a:t>
            </a:r>
          </a:p>
          <a:p>
            <a:pPr eaLnBrk="1" hangingPunct="1">
              <a:buFont typeface="Wingdings" panose="05000000000000000000" pitchFamily="2" charset="2"/>
              <a:buNone/>
            </a:pPr>
            <a:r>
              <a:rPr lang="en-US" altLang="en-US"/>
              <a:t>5. Will respondents be willing and motivated to answer accurately?</a:t>
            </a:r>
          </a:p>
          <a:p>
            <a:pPr lvl="1" eaLnBrk="1" hangingPunct="1"/>
            <a:r>
              <a:rPr lang="en-US" altLang="en-US"/>
              <a:t>Think through the process respondents go through to help identify where things can go wrong</a:t>
            </a:r>
          </a:p>
          <a:p>
            <a:pPr eaLnBrk="1" hangingPunct="1">
              <a:buFont typeface="Wingdings" panose="05000000000000000000" pitchFamily="2" charset="2"/>
              <a:buNone/>
            </a:pP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1DDF3E7-3A01-1115-817D-7F3A919951DB}"/>
              </a:ext>
            </a:extLst>
          </p:cNvPr>
          <p:cNvSpPr>
            <a:spLocks noGrp="1"/>
          </p:cNvSpPr>
          <p:nvPr>
            <p:ph type="title"/>
          </p:nvPr>
        </p:nvSpPr>
        <p:spPr>
          <a:xfrm>
            <a:off x="457205" y="273053"/>
            <a:ext cx="3008313" cy="1162051"/>
          </a:xfrm>
        </p:spPr>
        <p:txBody>
          <a:bodyPr/>
          <a:lstStyle/>
          <a:p>
            <a:r>
              <a:rPr lang="en-US" sz="2000" dirty="0"/>
              <a:t>A common model of the survey response process</a:t>
            </a:r>
          </a:p>
        </p:txBody>
      </p:sp>
      <p:pic>
        <p:nvPicPr>
          <p:cNvPr id="5" name="Picture 4" descr="A diagram of a question&#10;&#10;Description automatically generated">
            <a:extLst>
              <a:ext uri="{FF2B5EF4-FFF2-40B4-BE49-F238E27FC236}">
                <a16:creationId xmlns:a16="http://schemas.microsoft.com/office/drawing/2014/main" id="{A0C5A6B8-4CCE-D6A0-B16C-1EA1293E13B5}"/>
              </a:ext>
            </a:extLst>
          </p:cNvPr>
          <p:cNvPicPr>
            <a:picLocks noChangeAspect="1"/>
          </p:cNvPicPr>
          <p:nvPr/>
        </p:nvPicPr>
        <p:blipFill>
          <a:blip r:embed="rId2"/>
          <a:stretch>
            <a:fillRect/>
          </a:stretch>
        </p:blipFill>
        <p:spPr>
          <a:xfrm>
            <a:off x="3870160" y="273057"/>
            <a:ext cx="4521529" cy="5853113"/>
          </a:xfrm>
          <a:prstGeom prst="rect">
            <a:avLst/>
          </a:prstGeom>
          <a:noFill/>
        </p:spPr>
      </p:pic>
      <p:sp>
        <p:nvSpPr>
          <p:cNvPr id="12" name="Text Placeholder 3">
            <a:extLst>
              <a:ext uri="{FF2B5EF4-FFF2-40B4-BE49-F238E27FC236}">
                <a16:creationId xmlns:a16="http://schemas.microsoft.com/office/drawing/2014/main" id="{69FB3CA2-5442-9551-0ED4-423DC2E01CA6}"/>
              </a:ext>
            </a:extLst>
          </p:cNvPr>
          <p:cNvSpPr>
            <a:spLocks noGrp="1"/>
          </p:cNvSpPr>
          <p:nvPr>
            <p:ph type="body" sz="half" idx="2"/>
          </p:nvPr>
        </p:nvSpPr>
        <p:spPr>
          <a:xfrm>
            <a:off x="457205" y="1435104"/>
            <a:ext cx="3008313" cy="4691063"/>
          </a:xfrm>
        </p:spPr>
        <p:txBody>
          <a:bodyPr/>
          <a:lstStyle/>
          <a:p>
            <a:r>
              <a:rPr lang="en-US" sz="1600" dirty="0">
                <a:ea typeface="+mn-ea"/>
                <a:cs typeface="+mn-cs"/>
              </a:rPr>
              <a:t>We want respondents to </a:t>
            </a:r>
            <a:r>
              <a:rPr lang="en-US" sz="1600" i="1" dirty="0">
                <a:ea typeface="+mn-ea"/>
                <a:cs typeface="+mn-cs"/>
              </a:rPr>
              <a:t>optimize</a:t>
            </a:r>
            <a:r>
              <a:rPr lang="en-US" sz="1600" dirty="0">
                <a:ea typeface="+mn-ea"/>
                <a:cs typeface="+mn-cs"/>
              </a:rPr>
              <a:t>: doing all the necessary mental work to provide quality answers, rather than </a:t>
            </a:r>
            <a:r>
              <a:rPr lang="en-US" sz="1600" i="1" dirty="0">
                <a:ea typeface="+mn-ea"/>
                <a:cs typeface="+mn-cs"/>
              </a:rPr>
              <a:t>satisfice</a:t>
            </a:r>
            <a:r>
              <a:rPr lang="en-US" sz="1600" dirty="0">
                <a:ea typeface="+mn-ea"/>
                <a:cs typeface="+mn-cs"/>
              </a:rPr>
              <a:t>: shortcut the response process</a:t>
            </a:r>
          </a:p>
          <a:p>
            <a:endParaRPr lang="en-US" sz="1600" dirty="0"/>
          </a:p>
        </p:txBody>
      </p:sp>
    </p:spTree>
    <p:extLst>
      <p:ext uri="{BB962C8B-B14F-4D97-AF65-F5344CB8AC3E}">
        <p14:creationId xmlns:p14="http://schemas.microsoft.com/office/powerpoint/2010/main" val="2675726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FDAD1-2D03-374D-83E3-10C9C67653DA}"/>
              </a:ext>
            </a:extLst>
          </p:cNvPr>
          <p:cNvSpPr>
            <a:spLocks noGrp="1"/>
          </p:cNvSpPr>
          <p:nvPr>
            <p:ph type="title"/>
          </p:nvPr>
        </p:nvSpPr>
        <p:spPr/>
        <p:txBody>
          <a:bodyPr/>
          <a:lstStyle/>
          <a:p>
            <a:r>
              <a:rPr lang="en-US" cap="none" dirty="0">
                <a:latin typeface="American Typewriter" panose="02090604020004020304" pitchFamily="18" charset="77"/>
              </a:rPr>
              <a:t>Approaches To Item Writing</a:t>
            </a:r>
          </a:p>
        </p:txBody>
      </p:sp>
      <p:sp>
        <p:nvSpPr>
          <p:cNvPr id="4" name="Rounded Rectangle 3">
            <a:extLst>
              <a:ext uri="{FF2B5EF4-FFF2-40B4-BE49-F238E27FC236}">
                <a16:creationId xmlns:a16="http://schemas.microsoft.com/office/drawing/2014/main" id="{98766911-4227-B044-859F-272BAAAE2824}"/>
              </a:ext>
            </a:extLst>
          </p:cNvPr>
          <p:cNvSpPr/>
          <p:nvPr/>
        </p:nvSpPr>
        <p:spPr>
          <a:xfrm>
            <a:off x="1135824" y="2524417"/>
            <a:ext cx="2004885" cy="11866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 from scratch - brainstorm</a:t>
            </a:r>
          </a:p>
        </p:txBody>
      </p:sp>
      <p:sp>
        <p:nvSpPr>
          <p:cNvPr id="5" name="Rounded Rectangle 4">
            <a:extLst>
              <a:ext uri="{FF2B5EF4-FFF2-40B4-BE49-F238E27FC236}">
                <a16:creationId xmlns:a16="http://schemas.microsoft.com/office/drawing/2014/main" id="{676FD8D9-4EE1-FB48-9F4F-C8DAC4DEFC31}"/>
              </a:ext>
            </a:extLst>
          </p:cNvPr>
          <p:cNvSpPr/>
          <p:nvPr/>
        </p:nvSpPr>
        <p:spPr>
          <a:xfrm>
            <a:off x="3796613" y="2531590"/>
            <a:ext cx="2004885" cy="11866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Engage w/potential respondents or experts</a:t>
            </a:r>
          </a:p>
        </p:txBody>
      </p:sp>
      <p:sp>
        <p:nvSpPr>
          <p:cNvPr id="6" name="Rounded Rectangle 5">
            <a:extLst>
              <a:ext uri="{FF2B5EF4-FFF2-40B4-BE49-F238E27FC236}">
                <a16:creationId xmlns:a16="http://schemas.microsoft.com/office/drawing/2014/main" id="{D2B64F56-FC78-3F4F-979F-5DEB7B131037}"/>
              </a:ext>
            </a:extLst>
          </p:cNvPr>
          <p:cNvSpPr/>
          <p:nvPr/>
        </p:nvSpPr>
        <p:spPr>
          <a:xfrm>
            <a:off x="6524366" y="2524417"/>
            <a:ext cx="2004885" cy="11866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 or adapt existing measures</a:t>
            </a:r>
          </a:p>
        </p:txBody>
      </p:sp>
      <p:sp>
        <p:nvSpPr>
          <p:cNvPr id="7" name="TextBox 6">
            <a:extLst>
              <a:ext uri="{FF2B5EF4-FFF2-40B4-BE49-F238E27FC236}">
                <a16:creationId xmlns:a16="http://schemas.microsoft.com/office/drawing/2014/main" id="{497FF751-B33C-F94A-AA60-D9A8F5BFDDAF}"/>
              </a:ext>
            </a:extLst>
          </p:cNvPr>
          <p:cNvSpPr txBox="1"/>
          <p:nvPr/>
        </p:nvSpPr>
        <p:spPr>
          <a:xfrm>
            <a:off x="1135825" y="3718221"/>
            <a:ext cx="2030810" cy="1477328"/>
          </a:xfrm>
          <a:prstGeom prst="rect">
            <a:avLst/>
          </a:prstGeom>
          <a:noFill/>
        </p:spPr>
        <p:txBody>
          <a:bodyPr wrap="square" rtlCol="0">
            <a:spAutoFit/>
          </a:bodyPr>
          <a:lstStyle/>
          <a:p>
            <a:pPr marL="214313" indent="-214313">
              <a:buFont typeface="Arial" panose="020B0604020202020204" pitchFamily="34" charset="0"/>
              <a:buChar char="•"/>
            </a:pPr>
            <a:r>
              <a:rPr lang="en-US" dirty="0"/>
              <a:t>Useful when no existing measures are available</a:t>
            </a:r>
          </a:p>
          <a:p>
            <a:pPr marL="214313" indent="-214313">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E8627921-3017-AC40-B8D9-78AE2F08698A}"/>
              </a:ext>
            </a:extLst>
          </p:cNvPr>
          <p:cNvSpPr txBox="1"/>
          <p:nvPr/>
        </p:nvSpPr>
        <p:spPr>
          <a:xfrm>
            <a:off x="3770688" y="3899207"/>
            <a:ext cx="2030810" cy="1200329"/>
          </a:xfrm>
          <a:prstGeom prst="rect">
            <a:avLst/>
          </a:prstGeom>
          <a:noFill/>
        </p:spPr>
        <p:txBody>
          <a:bodyPr wrap="square" rtlCol="0">
            <a:spAutoFit/>
          </a:bodyPr>
          <a:lstStyle/>
          <a:p>
            <a:pPr marL="214313" indent="-214313">
              <a:buFont typeface="Arial" panose="020B0604020202020204" pitchFamily="34" charset="0"/>
              <a:buChar char="•"/>
            </a:pPr>
            <a:r>
              <a:rPr lang="en-US" dirty="0"/>
              <a:t>Focus groups</a:t>
            </a:r>
          </a:p>
          <a:p>
            <a:pPr marL="214313" indent="-214313">
              <a:buFont typeface="Arial" panose="020B0604020202020204" pitchFamily="34" charset="0"/>
              <a:buChar char="•"/>
            </a:pPr>
            <a:r>
              <a:rPr lang="en-US" dirty="0"/>
              <a:t>Interviews</a:t>
            </a:r>
          </a:p>
          <a:p>
            <a:pPr marL="214313" indent="-214313">
              <a:buFont typeface="Arial" panose="020B0604020202020204" pitchFamily="34" charset="0"/>
              <a:buChar char="•"/>
            </a:pPr>
            <a:r>
              <a:rPr lang="en-US" dirty="0"/>
              <a:t>Literature</a:t>
            </a:r>
          </a:p>
          <a:p>
            <a:pPr marL="214313" indent="-214313">
              <a:buFont typeface="Arial" panose="020B0604020202020204" pitchFamily="34" charset="0"/>
              <a:buChar char="•"/>
            </a:pPr>
            <a:endParaRPr lang="en-US" dirty="0"/>
          </a:p>
        </p:txBody>
      </p:sp>
      <p:sp>
        <p:nvSpPr>
          <p:cNvPr id="9" name="TextBox 8">
            <a:extLst>
              <a:ext uri="{FF2B5EF4-FFF2-40B4-BE49-F238E27FC236}">
                <a16:creationId xmlns:a16="http://schemas.microsoft.com/office/drawing/2014/main" id="{8E971BD9-AA35-0046-910E-A1B5A723594F}"/>
              </a:ext>
            </a:extLst>
          </p:cNvPr>
          <p:cNvSpPr txBox="1"/>
          <p:nvPr/>
        </p:nvSpPr>
        <p:spPr>
          <a:xfrm>
            <a:off x="6595420" y="3899207"/>
            <a:ext cx="2030810" cy="1477328"/>
          </a:xfrm>
          <a:prstGeom prst="rect">
            <a:avLst/>
          </a:prstGeom>
          <a:noFill/>
        </p:spPr>
        <p:txBody>
          <a:bodyPr wrap="square" rtlCol="0">
            <a:spAutoFit/>
          </a:bodyPr>
          <a:lstStyle/>
          <a:p>
            <a:pPr marL="214313" indent="-214313">
              <a:buFont typeface="Arial" panose="020B0604020202020204" pitchFamily="34" charset="0"/>
              <a:buChar char="•"/>
            </a:pPr>
            <a:r>
              <a:rPr lang="en-US" dirty="0"/>
              <a:t>Most efficient (if possible)</a:t>
            </a:r>
          </a:p>
          <a:p>
            <a:pPr marL="214313" indent="-214313">
              <a:buFont typeface="Arial" panose="020B0604020202020204" pitchFamily="34" charset="0"/>
              <a:buChar char="•"/>
            </a:pPr>
            <a:r>
              <a:rPr lang="en-US" b="1" i="1" dirty="0"/>
              <a:t>Can not </a:t>
            </a:r>
            <a:r>
              <a:rPr lang="en-US" dirty="0"/>
              <a:t>re-use psychometric properties!</a:t>
            </a:r>
          </a:p>
        </p:txBody>
      </p:sp>
      <p:sp>
        <p:nvSpPr>
          <p:cNvPr id="3" name="Footer Placeholder 2"/>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0" name="Slide Number Placeholder 9"/>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9</a:t>
            </a:fld>
            <a:endParaRPr lang="en-US" dirty="0"/>
          </a:p>
        </p:txBody>
      </p:sp>
    </p:spTree>
    <p:extLst>
      <p:ext uri="{BB962C8B-B14F-4D97-AF65-F5344CB8AC3E}">
        <p14:creationId xmlns:p14="http://schemas.microsoft.com/office/powerpoint/2010/main" val="3789139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9C8E3917-6435-808A-6950-CCC3BCAFC545}"/>
              </a:ext>
            </a:extLst>
          </p:cNvPr>
          <p:cNvSpPr>
            <a:spLocks noGrp="1"/>
          </p:cNvSpPr>
          <p:nvPr>
            <p:ph type="title"/>
          </p:nvPr>
        </p:nvSpPr>
        <p:spPr>
          <a:xfrm>
            <a:off x="612775" y="228600"/>
            <a:ext cx="8153400" cy="990600"/>
          </a:xfrm>
        </p:spPr>
        <p:txBody>
          <a:bodyPr/>
          <a:lstStyle/>
          <a:p>
            <a:pPr eaLnBrk="1" hangingPunct="1"/>
            <a:r>
              <a:rPr lang="en-US" altLang="en-US"/>
              <a:t>Anatomy of a Survey Question</a:t>
            </a:r>
          </a:p>
        </p:txBody>
      </p:sp>
      <p:sp>
        <p:nvSpPr>
          <p:cNvPr id="22530" name="Content Placeholder 2">
            <a:extLst>
              <a:ext uri="{FF2B5EF4-FFF2-40B4-BE49-F238E27FC236}">
                <a16:creationId xmlns:a16="http://schemas.microsoft.com/office/drawing/2014/main" id="{2165C30E-ADBB-4E95-C711-4FFD3EB634FF}"/>
              </a:ext>
            </a:extLst>
          </p:cNvPr>
          <p:cNvSpPr>
            <a:spLocks noGrp="1"/>
          </p:cNvSpPr>
          <p:nvPr>
            <p:ph sz="quarter" idx="1"/>
          </p:nvPr>
        </p:nvSpPr>
        <p:spPr>
          <a:xfrm>
            <a:off x="612775" y="1600200"/>
            <a:ext cx="8153400" cy="4495800"/>
          </a:xfrm>
        </p:spPr>
        <p:txBody>
          <a:bodyPr/>
          <a:lstStyle/>
          <a:p>
            <a:r>
              <a:rPr lang="en-US" sz="2100" dirty="0"/>
              <a:t>Vocabulary note: “</a:t>
            </a:r>
            <a:r>
              <a:rPr lang="en-US" sz="2100" b="1" i="1" dirty="0"/>
              <a:t>item</a:t>
            </a:r>
            <a:r>
              <a:rPr lang="en-US" sz="2100" dirty="0"/>
              <a:t>” vs. “</a:t>
            </a:r>
            <a:r>
              <a:rPr lang="en-US" sz="2100" b="1" i="1" dirty="0"/>
              <a:t>question</a:t>
            </a:r>
            <a:r>
              <a:rPr lang="en-US" sz="2100" dirty="0"/>
              <a:t>”</a:t>
            </a:r>
          </a:p>
          <a:p>
            <a:pPr lvl="1"/>
            <a:r>
              <a:rPr lang="en-US" sz="1800" dirty="0"/>
              <a:t>Item is a more general term – we are not always asking direct questions </a:t>
            </a:r>
          </a:p>
          <a:p>
            <a:r>
              <a:rPr lang="en-US" altLang="en-US" u="sng" dirty="0"/>
              <a:t>Question stem:</a:t>
            </a:r>
            <a:r>
              <a:rPr lang="en-US" altLang="en-US" dirty="0"/>
              <a:t> the words that form the actual query itself</a:t>
            </a:r>
          </a:p>
          <a:p>
            <a:pPr eaLnBrk="1" hangingPunct="1"/>
            <a:r>
              <a:rPr lang="en-US" altLang="en-US" u="sng" dirty="0"/>
              <a:t>Additional instructions:</a:t>
            </a:r>
            <a:r>
              <a:rPr lang="en-US" altLang="en-US" dirty="0"/>
              <a:t> definitions or examples that will help respondents comprehend the meaning of the question or key concepts, or directions to further inform respondents how to respond</a:t>
            </a:r>
          </a:p>
          <a:p>
            <a:pPr eaLnBrk="1" hangingPunct="1"/>
            <a:r>
              <a:rPr lang="en-US" altLang="en-US" u="sng" dirty="0"/>
              <a:t>Answer spaces or choices:</a:t>
            </a:r>
            <a:r>
              <a:rPr lang="en-US" altLang="en-US" dirty="0"/>
              <a:t> where respondents report their response</a:t>
            </a:r>
          </a:p>
          <a:p>
            <a:pPr eaLnBrk="1" hangingPunct="1">
              <a:buFont typeface="Wingdings" panose="05000000000000000000" pitchFamily="2" charset="2"/>
              <a:buNone/>
            </a:pPr>
            <a:endParaRPr lang="en-US" altLang="en-US" dirty="0"/>
          </a:p>
        </p:txBody>
      </p:sp>
      <p:sp>
        <p:nvSpPr>
          <p:cNvPr id="22531" name="Slide Number Placeholder 3">
            <a:extLst>
              <a:ext uri="{FF2B5EF4-FFF2-40B4-BE49-F238E27FC236}">
                <a16:creationId xmlns:a16="http://schemas.microsoft.com/office/drawing/2014/main" id="{7ABCD4E0-FAF9-7218-9E43-D7C3511EA5FE}"/>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47E82277-8292-4936-AB45-404AA35EACA5}" type="slidenum">
              <a:rPr lang="en-US" altLang="en-US" smtClean="0"/>
              <a:pPr eaLnBrk="1" hangingPunct="1">
                <a:lnSpc>
                  <a:spcPct val="80000"/>
                </a:lnSpc>
              </a:pPr>
              <a:t>10</a:t>
            </a:fld>
            <a:endParaRPr lang="en-US" altLang="en-US" sz="120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5E5961AD-FA82-3DDE-5B60-41202F8196F6}"/>
              </a:ext>
            </a:extLst>
          </p:cNvPr>
          <p:cNvSpPr>
            <a:spLocks noGrp="1"/>
          </p:cNvSpPr>
          <p:nvPr>
            <p:ph type="title"/>
          </p:nvPr>
        </p:nvSpPr>
        <p:spPr>
          <a:xfrm>
            <a:off x="685800" y="304800"/>
            <a:ext cx="7772400" cy="1143000"/>
          </a:xfrm>
        </p:spPr>
        <p:txBody>
          <a:bodyPr wrap="square" anchor="ctr">
            <a:normAutofit/>
          </a:bodyPr>
          <a:lstStyle/>
          <a:p>
            <a:pPr eaLnBrk="1" hangingPunct="1"/>
            <a:r>
              <a:rPr lang="en-US" altLang="en-US"/>
              <a:t>Types of Question Formats</a:t>
            </a:r>
          </a:p>
        </p:txBody>
      </p:sp>
      <p:sp>
        <p:nvSpPr>
          <p:cNvPr id="3" name="Content Placeholder 2">
            <a:extLst>
              <a:ext uri="{FF2B5EF4-FFF2-40B4-BE49-F238E27FC236}">
                <a16:creationId xmlns:a16="http://schemas.microsoft.com/office/drawing/2014/main" id="{4DF8B08B-148C-E106-167D-4211D6F146DD}"/>
              </a:ext>
            </a:extLst>
          </p:cNvPr>
          <p:cNvSpPr>
            <a:spLocks noGrp="1"/>
          </p:cNvSpPr>
          <p:nvPr>
            <p:ph sz="half" idx="1"/>
          </p:nvPr>
        </p:nvSpPr>
        <p:spPr>
          <a:xfrm>
            <a:off x="685800" y="1752600"/>
            <a:ext cx="3810000" cy="3962400"/>
          </a:xfrm>
        </p:spPr>
        <p:txBody>
          <a:bodyPr wrap="square" anchor="t">
            <a:normAutofit/>
          </a:bodyPr>
          <a:lstStyle/>
          <a:p>
            <a:pPr eaLnBrk="1" fontAlgn="auto" hangingPunct="1">
              <a:lnSpc>
                <a:spcPct val="90000"/>
              </a:lnSpc>
              <a:spcAft>
                <a:spcPts val="0"/>
              </a:spcAft>
              <a:buFont typeface="Arial" panose="020B0604020202020204" pitchFamily="34" charset="0"/>
              <a:buChar char="•"/>
              <a:defRPr/>
            </a:pPr>
            <a:r>
              <a:rPr lang="en-US" sz="1800" i="1" dirty="0"/>
              <a:t>Open-ended:</a:t>
            </a:r>
            <a:r>
              <a:rPr lang="en-US" sz="1800" dirty="0"/>
              <a:t> allow respondents to formulate their answers how they want; offer a blank space or box where respondents write or type their own words (in self-administered surveys)</a:t>
            </a:r>
          </a:p>
          <a:p>
            <a:pPr marL="651510" lvl="1" indent="-285750" eaLnBrk="1" fontAlgn="auto" hangingPunct="1">
              <a:lnSpc>
                <a:spcPct val="90000"/>
              </a:lnSpc>
              <a:spcAft>
                <a:spcPts val="0"/>
              </a:spcAft>
              <a:buFont typeface="Arial" panose="020B0604020202020204" pitchFamily="34" charset="0"/>
              <a:buChar char="•"/>
              <a:defRPr/>
            </a:pPr>
            <a:r>
              <a:rPr lang="en-US" dirty="0"/>
              <a:t>Should be used to collect rich, detailed information, or when little is known about the topic in advance</a:t>
            </a:r>
          </a:p>
          <a:p>
            <a:pPr marL="651510" lvl="1" indent="-285750" eaLnBrk="1" fontAlgn="auto" hangingPunct="1">
              <a:lnSpc>
                <a:spcPct val="90000"/>
              </a:lnSpc>
              <a:spcAft>
                <a:spcPts val="0"/>
              </a:spcAft>
              <a:buFont typeface="Arial" panose="020B0604020202020204" pitchFamily="34" charset="0"/>
              <a:buChar char="•"/>
              <a:defRPr/>
            </a:pPr>
            <a:r>
              <a:rPr lang="en-US" dirty="0"/>
              <a:t>But require more work to analyze</a:t>
            </a:r>
          </a:p>
          <a:p>
            <a:pPr marL="651510" lvl="1" indent="-285750" eaLnBrk="1" fontAlgn="auto" hangingPunct="1">
              <a:lnSpc>
                <a:spcPct val="90000"/>
              </a:lnSpc>
              <a:spcAft>
                <a:spcPts val="0"/>
              </a:spcAft>
              <a:buFont typeface="Arial" panose="020B0604020202020204" pitchFamily="34" charset="0"/>
              <a:buChar char="•"/>
              <a:defRPr/>
            </a:pPr>
            <a:r>
              <a:rPr lang="en-US" dirty="0"/>
              <a:t>And respondents are more likely to skip them</a:t>
            </a:r>
          </a:p>
          <a:p>
            <a:pPr marL="640080" lvl="1" indent="-274320" eaLnBrk="1" fontAlgn="auto" hangingPunct="1">
              <a:lnSpc>
                <a:spcPct val="90000"/>
              </a:lnSpc>
              <a:spcAft>
                <a:spcPts val="0"/>
              </a:spcAft>
              <a:buFont typeface="Wingdings 2"/>
              <a:buNone/>
              <a:defRPr/>
            </a:pPr>
            <a:endParaRPr lang="en-US" dirty="0"/>
          </a:p>
        </p:txBody>
      </p:sp>
      <p:pic>
        <p:nvPicPr>
          <p:cNvPr id="4" name="Picture 3">
            <a:extLst>
              <a:ext uri="{FF2B5EF4-FFF2-40B4-BE49-F238E27FC236}">
                <a16:creationId xmlns:a16="http://schemas.microsoft.com/office/drawing/2014/main" id="{32571C02-5015-A36C-A0DB-D4351A8A80C9}"/>
              </a:ext>
            </a:extLst>
          </p:cNvPr>
          <p:cNvPicPr>
            <a:picLocks noChangeAspect="1"/>
          </p:cNvPicPr>
          <p:nvPr/>
        </p:nvPicPr>
        <p:blipFill>
          <a:blip r:embed="rId2"/>
          <a:stretch>
            <a:fillRect/>
          </a:stretch>
        </p:blipFill>
        <p:spPr>
          <a:xfrm>
            <a:off x="4648200" y="2416763"/>
            <a:ext cx="3810000" cy="2634074"/>
          </a:xfrm>
          <a:prstGeom prst="rect">
            <a:avLst/>
          </a:prstGeom>
          <a:noFill/>
        </p:spPr>
      </p:pic>
      <p:sp>
        <p:nvSpPr>
          <p:cNvPr id="23555" name="Slide Number Placeholder 3" hidden="1">
            <a:extLst>
              <a:ext uri="{FF2B5EF4-FFF2-40B4-BE49-F238E27FC236}">
                <a16:creationId xmlns:a16="http://schemas.microsoft.com/office/drawing/2014/main" id="{20D358B7-09A3-E722-E2F7-AB8DEA247E43}"/>
              </a:ext>
            </a:extLst>
          </p:cNvPr>
          <p:cNvSpPr>
            <a:spLocks noGrp="1"/>
          </p:cNvSpPr>
          <p:nvPr>
            <p:ph type="sldNum" sz="quarter" idx="4294967295"/>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spcAft>
                <a:spcPts val="600"/>
              </a:spcAft>
            </a:pPr>
            <a:fld id="{47E82277-8292-4936-AB45-404AA35EACA5}" type="slidenum">
              <a:rPr lang="en-US" altLang="en-US" sz="1700" smtClean="0"/>
              <a:pPr eaLnBrk="1" hangingPunct="1">
                <a:lnSpc>
                  <a:spcPct val="80000"/>
                </a:lnSpc>
                <a:spcAft>
                  <a:spcPts val="600"/>
                </a:spcAft>
              </a:pPr>
              <a:t>11</a:t>
            </a:fld>
            <a:endParaRPr lang="en-US" altLang="en-US" sz="17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5E5961AD-FA82-3DDE-5B60-41202F8196F6}"/>
              </a:ext>
            </a:extLst>
          </p:cNvPr>
          <p:cNvSpPr>
            <a:spLocks noGrp="1"/>
          </p:cNvSpPr>
          <p:nvPr>
            <p:ph type="title"/>
          </p:nvPr>
        </p:nvSpPr>
        <p:spPr>
          <a:xfrm>
            <a:off x="612775" y="228600"/>
            <a:ext cx="8153400" cy="990600"/>
          </a:xfrm>
        </p:spPr>
        <p:txBody>
          <a:bodyPr/>
          <a:lstStyle/>
          <a:p>
            <a:pPr eaLnBrk="1" hangingPunct="1"/>
            <a:r>
              <a:rPr lang="en-US" altLang="en-US"/>
              <a:t>Types of Question Formats</a:t>
            </a:r>
          </a:p>
        </p:txBody>
      </p:sp>
      <p:sp>
        <p:nvSpPr>
          <p:cNvPr id="3" name="Content Placeholder 2">
            <a:extLst>
              <a:ext uri="{FF2B5EF4-FFF2-40B4-BE49-F238E27FC236}">
                <a16:creationId xmlns:a16="http://schemas.microsoft.com/office/drawing/2014/main" id="{4DF8B08B-148C-E106-167D-4211D6F146DD}"/>
              </a:ext>
            </a:extLst>
          </p:cNvPr>
          <p:cNvSpPr>
            <a:spLocks noGrp="1"/>
          </p:cNvSpPr>
          <p:nvPr>
            <p:ph sz="quarter" idx="1"/>
          </p:nvPr>
        </p:nvSpPr>
        <p:spPr>
          <a:xfrm>
            <a:off x="612775" y="1600200"/>
            <a:ext cx="8153400" cy="4953000"/>
          </a:xfrm>
        </p:spPr>
        <p:txBody>
          <a:bodyPr>
            <a:normAutofit/>
          </a:bodyPr>
          <a:lstStyle/>
          <a:p>
            <a:pPr marL="320040" indent="-320040" eaLnBrk="1" fontAlgn="auto" hangingPunct="1">
              <a:spcAft>
                <a:spcPts val="0"/>
              </a:spcAft>
              <a:buFont typeface="Wingdings"/>
              <a:buChar char=""/>
              <a:defRPr/>
            </a:pPr>
            <a:r>
              <a:rPr lang="en-US" i="1" dirty="0">
                <a:ea typeface="+mn-ea"/>
                <a:cs typeface="+mn-cs"/>
              </a:rPr>
              <a:t>Closed-ended:</a:t>
            </a:r>
            <a:r>
              <a:rPr lang="en-US" dirty="0">
                <a:ea typeface="+mn-ea"/>
                <a:cs typeface="+mn-cs"/>
              </a:rPr>
              <a:t> respondents are provided with a list of answer choices from which they must choose a response</a:t>
            </a:r>
          </a:p>
          <a:p>
            <a:pPr marL="640080" lvl="1" indent="-274320" eaLnBrk="1" fontAlgn="auto" hangingPunct="1">
              <a:spcAft>
                <a:spcPts val="0"/>
              </a:spcAft>
              <a:buFont typeface="Wingdings 2"/>
              <a:buChar char=""/>
              <a:defRPr/>
            </a:pPr>
            <a:r>
              <a:rPr lang="en-US" dirty="0">
                <a:ea typeface="+mn-ea"/>
              </a:rPr>
              <a:t>Important to ensure that all reasonable responses are offered</a:t>
            </a:r>
          </a:p>
          <a:p>
            <a:pPr marL="640080" lvl="1" indent="-274320" eaLnBrk="1" fontAlgn="auto" hangingPunct="1">
              <a:spcAft>
                <a:spcPts val="0"/>
              </a:spcAft>
              <a:buFont typeface="Wingdings 2"/>
              <a:buNone/>
              <a:defRPr/>
            </a:pPr>
            <a:endParaRPr lang="en-US" dirty="0">
              <a:ea typeface="+mn-ea"/>
            </a:endParaRPr>
          </a:p>
        </p:txBody>
      </p:sp>
      <p:sp>
        <p:nvSpPr>
          <p:cNvPr id="23555" name="Slide Number Placeholder 3">
            <a:extLst>
              <a:ext uri="{FF2B5EF4-FFF2-40B4-BE49-F238E27FC236}">
                <a16:creationId xmlns:a16="http://schemas.microsoft.com/office/drawing/2014/main" id="{20D358B7-09A3-E722-E2F7-AB8DEA247E43}"/>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47E82277-8292-4936-AB45-404AA35EACA5}" type="slidenum">
              <a:rPr lang="en-US" altLang="en-US" smtClean="0"/>
              <a:pPr eaLnBrk="1" hangingPunct="1">
                <a:lnSpc>
                  <a:spcPct val="80000"/>
                </a:lnSpc>
              </a:pPr>
              <a:t>12</a:t>
            </a:fld>
            <a:endParaRPr lang="en-US" altLang="en-US" sz="1200">
              <a:solidFill>
                <a:srgbClr val="FFFFFF"/>
              </a:solidFill>
            </a:endParaRPr>
          </a:p>
        </p:txBody>
      </p:sp>
      <p:pic>
        <p:nvPicPr>
          <p:cNvPr id="4" name="Picture 3">
            <a:extLst>
              <a:ext uri="{FF2B5EF4-FFF2-40B4-BE49-F238E27FC236}">
                <a16:creationId xmlns:a16="http://schemas.microsoft.com/office/drawing/2014/main" id="{38045302-B69C-FF2D-4BA0-B69DDBAC5E26}"/>
              </a:ext>
            </a:extLst>
          </p:cNvPr>
          <p:cNvPicPr>
            <a:picLocks noChangeAspect="1"/>
          </p:cNvPicPr>
          <p:nvPr/>
        </p:nvPicPr>
        <p:blipFill>
          <a:blip r:embed="rId3"/>
          <a:stretch>
            <a:fillRect/>
          </a:stretch>
        </p:blipFill>
        <p:spPr>
          <a:xfrm>
            <a:off x="2082305" y="3300050"/>
            <a:ext cx="4153480" cy="2991267"/>
          </a:xfrm>
          <a:prstGeom prst="rect">
            <a:avLst/>
          </a:prstGeom>
        </p:spPr>
      </p:pic>
    </p:spTree>
    <p:extLst>
      <p:ext uri="{BB962C8B-B14F-4D97-AF65-F5344CB8AC3E}">
        <p14:creationId xmlns:p14="http://schemas.microsoft.com/office/powerpoint/2010/main" val="1131861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5E5961AD-FA82-3DDE-5B60-41202F8196F6}"/>
              </a:ext>
            </a:extLst>
          </p:cNvPr>
          <p:cNvSpPr>
            <a:spLocks noGrp="1"/>
          </p:cNvSpPr>
          <p:nvPr>
            <p:ph type="title"/>
          </p:nvPr>
        </p:nvSpPr>
        <p:spPr>
          <a:xfrm>
            <a:off x="612775" y="228600"/>
            <a:ext cx="8153400" cy="990600"/>
          </a:xfrm>
        </p:spPr>
        <p:txBody>
          <a:bodyPr/>
          <a:lstStyle/>
          <a:p>
            <a:pPr eaLnBrk="1" hangingPunct="1"/>
            <a:r>
              <a:rPr lang="en-US" altLang="en-US" dirty="0"/>
              <a:t>Types of Question Formats</a:t>
            </a:r>
          </a:p>
        </p:txBody>
      </p:sp>
      <p:sp>
        <p:nvSpPr>
          <p:cNvPr id="3" name="Content Placeholder 2">
            <a:extLst>
              <a:ext uri="{FF2B5EF4-FFF2-40B4-BE49-F238E27FC236}">
                <a16:creationId xmlns:a16="http://schemas.microsoft.com/office/drawing/2014/main" id="{4DF8B08B-148C-E106-167D-4211D6F146DD}"/>
              </a:ext>
            </a:extLst>
          </p:cNvPr>
          <p:cNvSpPr>
            <a:spLocks noGrp="1"/>
          </p:cNvSpPr>
          <p:nvPr>
            <p:ph sz="quarter" idx="1"/>
          </p:nvPr>
        </p:nvSpPr>
        <p:spPr>
          <a:xfrm>
            <a:off x="612775" y="1600200"/>
            <a:ext cx="8153400" cy="4953000"/>
          </a:xfrm>
        </p:spPr>
        <p:txBody>
          <a:bodyPr>
            <a:normAutofit/>
          </a:bodyPr>
          <a:lstStyle/>
          <a:p>
            <a:pPr marL="320040" indent="-320040" eaLnBrk="1" fontAlgn="auto" hangingPunct="1">
              <a:spcAft>
                <a:spcPts val="0"/>
              </a:spcAft>
              <a:buFont typeface="Wingdings"/>
              <a:buChar char=""/>
              <a:defRPr/>
            </a:pPr>
            <a:r>
              <a:rPr lang="en-US" i="1" dirty="0">
                <a:ea typeface="+mn-ea"/>
                <a:cs typeface="+mn-cs"/>
              </a:rPr>
              <a:t>Closed-ended:</a:t>
            </a:r>
            <a:r>
              <a:rPr lang="en-US" dirty="0">
                <a:ea typeface="+mn-ea"/>
                <a:cs typeface="+mn-cs"/>
              </a:rPr>
              <a:t> respondents are provided with a list of answer choices from which they must choose a response</a:t>
            </a:r>
          </a:p>
          <a:p>
            <a:pPr marL="640080" lvl="1" indent="-274320" eaLnBrk="1" fontAlgn="auto" hangingPunct="1">
              <a:spcAft>
                <a:spcPts val="0"/>
              </a:spcAft>
              <a:buFont typeface="Wingdings 2"/>
              <a:buChar char=""/>
              <a:defRPr/>
            </a:pPr>
            <a:r>
              <a:rPr lang="en-US" dirty="0">
                <a:ea typeface="+mn-ea"/>
              </a:rPr>
              <a:t>Important to ensure that all reasonable responses are offered</a:t>
            </a:r>
          </a:p>
          <a:p>
            <a:pPr marL="640080" lvl="1" indent="-274320" eaLnBrk="1" fontAlgn="auto" hangingPunct="1">
              <a:spcAft>
                <a:spcPts val="0"/>
              </a:spcAft>
              <a:buFont typeface="Wingdings 2"/>
              <a:buNone/>
              <a:defRPr/>
            </a:pPr>
            <a:endParaRPr lang="en-US" dirty="0">
              <a:ea typeface="+mn-ea"/>
            </a:endParaRPr>
          </a:p>
        </p:txBody>
      </p:sp>
      <p:sp>
        <p:nvSpPr>
          <p:cNvPr id="23555" name="Slide Number Placeholder 3">
            <a:extLst>
              <a:ext uri="{FF2B5EF4-FFF2-40B4-BE49-F238E27FC236}">
                <a16:creationId xmlns:a16="http://schemas.microsoft.com/office/drawing/2014/main" id="{20D358B7-09A3-E722-E2F7-AB8DEA247E43}"/>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47E82277-8292-4936-AB45-404AA35EACA5}" type="slidenum">
              <a:rPr lang="en-US" altLang="en-US" smtClean="0"/>
              <a:pPr eaLnBrk="1" hangingPunct="1">
                <a:lnSpc>
                  <a:spcPct val="80000"/>
                </a:lnSpc>
              </a:pPr>
              <a:t>13</a:t>
            </a:fld>
            <a:endParaRPr lang="en-US" altLang="en-US" sz="1200">
              <a:solidFill>
                <a:srgbClr val="FFFFFF"/>
              </a:solidFill>
            </a:endParaRPr>
          </a:p>
        </p:txBody>
      </p:sp>
      <p:pic>
        <p:nvPicPr>
          <p:cNvPr id="5" name="Picture 4">
            <a:extLst>
              <a:ext uri="{FF2B5EF4-FFF2-40B4-BE49-F238E27FC236}">
                <a16:creationId xmlns:a16="http://schemas.microsoft.com/office/drawing/2014/main" id="{190F6C60-5B94-BDEB-9D48-6ECAD7E13289}"/>
              </a:ext>
            </a:extLst>
          </p:cNvPr>
          <p:cNvPicPr>
            <a:picLocks noChangeAspect="1"/>
          </p:cNvPicPr>
          <p:nvPr/>
        </p:nvPicPr>
        <p:blipFill>
          <a:blip r:embed="rId3"/>
          <a:stretch>
            <a:fillRect/>
          </a:stretch>
        </p:blipFill>
        <p:spPr>
          <a:xfrm>
            <a:off x="1864249" y="3647628"/>
            <a:ext cx="4963218" cy="1981477"/>
          </a:xfrm>
          <a:prstGeom prst="rect">
            <a:avLst/>
          </a:prstGeom>
        </p:spPr>
      </p:pic>
    </p:spTree>
    <p:extLst>
      <p:ext uri="{BB962C8B-B14F-4D97-AF65-F5344CB8AC3E}">
        <p14:creationId xmlns:p14="http://schemas.microsoft.com/office/powerpoint/2010/main" val="3958339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0A543-7E11-7E36-7C42-A2F9A9C08046}"/>
              </a:ext>
            </a:extLst>
          </p:cNvPr>
          <p:cNvSpPr>
            <a:spLocks noGrp="1"/>
          </p:cNvSpPr>
          <p:nvPr>
            <p:ph type="title"/>
          </p:nvPr>
        </p:nvSpPr>
        <p:spPr/>
        <p:txBody>
          <a:bodyPr/>
          <a:lstStyle/>
          <a:p>
            <a:r>
              <a:rPr lang="en-US" altLang="en-US" dirty="0"/>
              <a:t>Types of Question Formats</a:t>
            </a:r>
            <a:endParaRPr lang="en-US" dirty="0"/>
          </a:p>
        </p:txBody>
      </p:sp>
      <p:sp>
        <p:nvSpPr>
          <p:cNvPr id="3" name="Content Placeholder 2">
            <a:extLst>
              <a:ext uri="{FF2B5EF4-FFF2-40B4-BE49-F238E27FC236}">
                <a16:creationId xmlns:a16="http://schemas.microsoft.com/office/drawing/2014/main" id="{23087043-C096-D747-04C6-0CE2F267DBB0}"/>
              </a:ext>
            </a:extLst>
          </p:cNvPr>
          <p:cNvSpPr>
            <a:spLocks noGrp="1"/>
          </p:cNvSpPr>
          <p:nvPr>
            <p:ph idx="1"/>
          </p:nvPr>
        </p:nvSpPr>
        <p:spPr/>
        <p:txBody>
          <a:bodyPr/>
          <a:lstStyle/>
          <a:p>
            <a:r>
              <a:rPr lang="en-US" dirty="0"/>
              <a:t>Likert scale: When a Likert scale is used, the item is presented as a declarative sentence, followed by response options that indicate varying degrees of agreement with or endorsement of the statement.</a:t>
            </a:r>
          </a:p>
        </p:txBody>
      </p:sp>
      <p:pic>
        <p:nvPicPr>
          <p:cNvPr id="5" name="Picture 4">
            <a:extLst>
              <a:ext uri="{FF2B5EF4-FFF2-40B4-BE49-F238E27FC236}">
                <a16:creationId xmlns:a16="http://schemas.microsoft.com/office/drawing/2014/main" id="{6F2EE265-8E45-8EFC-EC18-A955F08E932A}"/>
              </a:ext>
            </a:extLst>
          </p:cNvPr>
          <p:cNvPicPr>
            <a:picLocks noChangeAspect="1"/>
          </p:cNvPicPr>
          <p:nvPr/>
        </p:nvPicPr>
        <p:blipFill>
          <a:blip r:embed="rId2"/>
          <a:stretch>
            <a:fillRect/>
          </a:stretch>
        </p:blipFill>
        <p:spPr>
          <a:xfrm>
            <a:off x="1531038" y="3465538"/>
            <a:ext cx="6081924" cy="2866437"/>
          </a:xfrm>
          <a:prstGeom prst="rect">
            <a:avLst/>
          </a:prstGeom>
        </p:spPr>
      </p:pic>
    </p:spTree>
    <p:extLst>
      <p:ext uri="{BB962C8B-B14F-4D97-AF65-F5344CB8AC3E}">
        <p14:creationId xmlns:p14="http://schemas.microsoft.com/office/powerpoint/2010/main" val="52969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4467-CF46-DA11-65E2-6A053C3A1630}"/>
              </a:ext>
            </a:extLst>
          </p:cNvPr>
          <p:cNvSpPr>
            <a:spLocks noGrp="1"/>
          </p:cNvSpPr>
          <p:nvPr>
            <p:ph type="title"/>
          </p:nvPr>
        </p:nvSpPr>
        <p:spPr/>
        <p:txBody>
          <a:bodyPr/>
          <a:lstStyle/>
          <a:p>
            <a:r>
              <a:rPr lang="en-US" altLang="en-US" dirty="0"/>
              <a:t>Types of Question Formats</a:t>
            </a:r>
            <a:endParaRPr lang="en-US" dirty="0"/>
          </a:p>
        </p:txBody>
      </p:sp>
      <p:sp>
        <p:nvSpPr>
          <p:cNvPr id="3" name="Content Placeholder 2">
            <a:extLst>
              <a:ext uri="{FF2B5EF4-FFF2-40B4-BE49-F238E27FC236}">
                <a16:creationId xmlns:a16="http://schemas.microsoft.com/office/drawing/2014/main" id="{E94C9D85-34F1-817A-D0BC-9DB4DF5FDAFD}"/>
              </a:ext>
            </a:extLst>
          </p:cNvPr>
          <p:cNvSpPr>
            <a:spLocks noGrp="1"/>
          </p:cNvSpPr>
          <p:nvPr>
            <p:ph idx="1"/>
          </p:nvPr>
        </p:nvSpPr>
        <p:spPr/>
        <p:txBody>
          <a:bodyPr/>
          <a:lstStyle/>
          <a:p>
            <a:r>
              <a:rPr lang="en-US" dirty="0"/>
              <a:t>Semantic Differential scale is also called bipolar adjective rating scale. Respondents are asked to indicate their opinions or feelings toward a single statement using different pairs of adjectives framed as polar opposites (</a:t>
            </a:r>
            <a:r>
              <a:rPr lang="en-US" dirty="0" err="1"/>
              <a:t>Bhattacherjee</a:t>
            </a:r>
            <a:r>
              <a:rPr lang="en-US" dirty="0"/>
              <a:t>, 2012)</a:t>
            </a:r>
          </a:p>
        </p:txBody>
      </p:sp>
      <p:pic>
        <p:nvPicPr>
          <p:cNvPr id="5" name="Picture 4">
            <a:extLst>
              <a:ext uri="{FF2B5EF4-FFF2-40B4-BE49-F238E27FC236}">
                <a16:creationId xmlns:a16="http://schemas.microsoft.com/office/drawing/2014/main" id="{7C611BC4-6FF0-244D-F4BF-76F832683E67}"/>
              </a:ext>
            </a:extLst>
          </p:cNvPr>
          <p:cNvPicPr>
            <a:picLocks noChangeAspect="1"/>
          </p:cNvPicPr>
          <p:nvPr/>
        </p:nvPicPr>
        <p:blipFill>
          <a:blip r:embed="rId2"/>
          <a:stretch>
            <a:fillRect/>
          </a:stretch>
        </p:blipFill>
        <p:spPr>
          <a:xfrm>
            <a:off x="1423981" y="4022969"/>
            <a:ext cx="5500044" cy="1996831"/>
          </a:xfrm>
          <a:prstGeom prst="rect">
            <a:avLst/>
          </a:prstGeom>
        </p:spPr>
      </p:pic>
    </p:spTree>
    <p:extLst>
      <p:ext uri="{BB962C8B-B14F-4D97-AF65-F5344CB8AC3E}">
        <p14:creationId xmlns:p14="http://schemas.microsoft.com/office/powerpoint/2010/main" val="281689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17D2D-E5A6-CDD0-3BAD-6A922ED99768}"/>
              </a:ext>
            </a:extLst>
          </p:cNvPr>
          <p:cNvSpPr>
            <a:spLocks noGrp="1"/>
          </p:cNvSpPr>
          <p:nvPr>
            <p:ph type="title"/>
          </p:nvPr>
        </p:nvSpPr>
        <p:spPr/>
        <p:txBody>
          <a:bodyPr/>
          <a:lstStyle/>
          <a:p>
            <a:r>
              <a:rPr lang="en-US" altLang="en-US" dirty="0"/>
              <a:t>Types of Question Formats</a:t>
            </a:r>
            <a:endParaRPr lang="en-US" dirty="0"/>
          </a:p>
        </p:txBody>
      </p:sp>
      <p:sp>
        <p:nvSpPr>
          <p:cNvPr id="3" name="Content Placeholder 2">
            <a:extLst>
              <a:ext uri="{FF2B5EF4-FFF2-40B4-BE49-F238E27FC236}">
                <a16:creationId xmlns:a16="http://schemas.microsoft.com/office/drawing/2014/main" id="{F706B7B3-E1A4-4DE7-7BBF-4468AA865D45}"/>
              </a:ext>
            </a:extLst>
          </p:cNvPr>
          <p:cNvSpPr>
            <a:spLocks noGrp="1"/>
          </p:cNvSpPr>
          <p:nvPr>
            <p:ph idx="1"/>
          </p:nvPr>
        </p:nvSpPr>
        <p:spPr/>
        <p:txBody>
          <a:bodyPr/>
          <a:lstStyle/>
          <a:p>
            <a:r>
              <a:rPr lang="en-US" dirty="0"/>
              <a:t>Visual Analog scale presents the respondent with a continuous line between a pair of descriptors representing opposite ends of a continuum.</a:t>
            </a:r>
          </a:p>
          <a:p>
            <a:r>
              <a:rPr lang="en-US" dirty="0"/>
              <a:t>If descriptive terms like ‘mild’, ‘moderate’, ‘severe’ or a numerical scale is added, it is called graphic rating scale.</a:t>
            </a:r>
          </a:p>
        </p:txBody>
      </p:sp>
      <p:pic>
        <p:nvPicPr>
          <p:cNvPr id="5" name="Picture 4">
            <a:extLst>
              <a:ext uri="{FF2B5EF4-FFF2-40B4-BE49-F238E27FC236}">
                <a16:creationId xmlns:a16="http://schemas.microsoft.com/office/drawing/2014/main" id="{C3A6F78C-98F0-F21B-DF0F-61C5C927D17C}"/>
              </a:ext>
            </a:extLst>
          </p:cNvPr>
          <p:cNvPicPr>
            <a:picLocks noChangeAspect="1"/>
          </p:cNvPicPr>
          <p:nvPr/>
        </p:nvPicPr>
        <p:blipFill>
          <a:blip r:embed="rId2"/>
          <a:stretch>
            <a:fillRect/>
          </a:stretch>
        </p:blipFill>
        <p:spPr>
          <a:xfrm>
            <a:off x="1691072" y="4069324"/>
            <a:ext cx="5506218" cy="2219635"/>
          </a:xfrm>
          <a:prstGeom prst="rect">
            <a:avLst/>
          </a:prstGeom>
        </p:spPr>
      </p:pic>
    </p:spTree>
    <p:extLst>
      <p:ext uri="{BB962C8B-B14F-4D97-AF65-F5344CB8AC3E}">
        <p14:creationId xmlns:p14="http://schemas.microsoft.com/office/powerpoint/2010/main" val="1035581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57BE7-455E-3A1D-B65A-9F9EBED1FDBF}"/>
              </a:ext>
            </a:extLst>
          </p:cNvPr>
          <p:cNvSpPr>
            <a:spLocks noGrp="1"/>
          </p:cNvSpPr>
          <p:nvPr>
            <p:ph type="title"/>
          </p:nvPr>
        </p:nvSpPr>
        <p:spPr>
          <a:xfrm>
            <a:off x="612775" y="228600"/>
            <a:ext cx="8153400" cy="990600"/>
          </a:xfrm>
        </p:spPr>
        <p:txBody>
          <a:bodyPr>
            <a:normAutofit fontScale="90000"/>
          </a:bodyPr>
          <a:lstStyle/>
          <a:p>
            <a:pPr eaLnBrk="1" fontAlgn="auto" hangingPunct="1">
              <a:spcAft>
                <a:spcPts val="0"/>
              </a:spcAft>
              <a:defRPr/>
            </a:pPr>
            <a:r>
              <a:rPr lang="en-US" dirty="0">
                <a:ea typeface="+mn-ea"/>
                <a:cs typeface="+mn-cs"/>
              </a:rPr>
              <a:t>Make sure the question applies to the respondent</a:t>
            </a:r>
            <a:endParaRPr lang="en-US" dirty="0">
              <a:ea typeface="+mj-ea"/>
              <a:cs typeface="+mj-cs"/>
            </a:endParaRPr>
          </a:p>
        </p:txBody>
      </p:sp>
      <p:sp>
        <p:nvSpPr>
          <p:cNvPr id="3" name="Content Placeholder 2">
            <a:extLst>
              <a:ext uri="{FF2B5EF4-FFF2-40B4-BE49-F238E27FC236}">
                <a16:creationId xmlns:a16="http://schemas.microsoft.com/office/drawing/2014/main" id="{3E95E86A-9901-B14F-1266-5FEA4F341803}"/>
              </a:ext>
            </a:extLst>
          </p:cNvPr>
          <p:cNvSpPr>
            <a:spLocks noGrp="1"/>
          </p:cNvSpPr>
          <p:nvPr>
            <p:ph sz="quarter" idx="1"/>
          </p:nvPr>
        </p:nvSpPr>
        <p:spPr>
          <a:xfrm>
            <a:off x="612775" y="1600200"/>
            <a:ext cx="8153400" cy="5029200"/>
          </a:xfrm>
        </p:spPr>
        <p:txBody>
          <a:bodyPr>
            <a:normAutofit/>
          </a:bodyPr>
          <a:lstStyle/>
          <a:p>
            <a:pPr marL="408582" indent="-342900" fontAlgn="auto">
              <a:spcAft>
                <a:spcPts val="0"/>
              </a:spcAft>
              <a:buFont typeface="Arial" panose="020B0604020202020204" pitchFamily="34" charset="0"/>
              <a:buChar char="•"/>
              <a:defRPr/>
            </a:pPr>
            <a:r>
              <a:rPr lang="en-US" dirty="0">
                <a:ea typeface="+mn-ea"/>
              </a:rPr>
              <a:t>Every question should require an answer from every person of whom it is asked</a:t>
            </a:r>
          </a:p>
        </p:txBody>
      </p:sp>
      <p:sp>
        <p:nvSpPr>
          <p:cNvPr id="25603" name="Slide Number Placeholder 3">
            <a:extLst>
              <a:ext uri="{FF2B5EF4-FFF2-40B4-BE49-F238E27FC236}">
                <a16:creationId xmlns:a16="http://schemas.microsoft.com/office/drawing/2014/main" id="{2653A03D-8DB6-52A0-DB6B-D057A45D5638}"/>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47E82277-8292-4936-AB45-404AA35EACA5}" type="slidenum">
              <a:rPr lang="en-US" altLang="en-US" smtClean="0"/>
              <a:pPr eaLnBrk="1" hangingPunct="1">
                <a:lnSpc>
                  <a:spcPct val="80000"/>
                </a:lnSpc>
              </a:pPr>
              <a:t>17</a:t>
            </a:fld>
            <a:endParaRPr lang="en-US" altLang="en-US" sz="1200">
              <a:solidFill>
                <a:srgbClr val="FFFFFF"/>
              </a:solidFill>
            </a:endParaRPr>
          </a:p>
        </p:txBody>
      </p:sp>
      <p:pic>
        <p:nvPicPr>
          <p:cNvPr id="6" name="Picture 5">
            <a:extLst>
              <a:ext uri="{FF2B5EF4-FFF2-40B4-BE49-F238E27FC236}">
                <a16:creationId xmlns:a16="http://schemas.microsoft.com/office/drawing/2014/main" id="{8C0B6BA3-2787-1306-F2C4-C28E02011620}"/>
              </a:ext>
            </a:extLst>
          </p:cNvPr>
          <p:cNvPicPr>
            <a:picLocks noChangeAspect="1"/>
          </p:cNvPicPr>
          <p:nvPr/>
        </p:nvPicPr>
        <p:blipFill>
          <a:blip r:embed="rId2"/>
          <a:stretch>
            <a:fillRect/>
          </a:stretch>
        </p:blipFill>
        <p:spPr>
          <a:xfrm>
            <a:off x="2014180" y="2716097"/>
            <a:ext cx="5115639" cy="914528"/>
          </a:xfrm>
          <a:prstGeom prst="rect">
            <a:avLst/>
          </a:prstGeom>
        </p:spPr>
      </p:pic>
      <p:pic>
        <p:nvPicPr>
          <p:cNvPr id="7" name="Picture 6">
            <a:extLst>
              <a:ext uri="{FF2B5EF4-FFF2-40B4-BE49-F238E27FC236}">
                <a16:creationId xmlns:a16="http://schemas.microsoft.com/office/drawing/2014/main" id="{71C0C5B9-BA3F-8955-A2E2-37C13318DEA0}"/>
              </a:ext>
            </a:extLst>
          </p:cNvPr>
          <p:cNvPicPr>
            <a:picLocks noChangeAspect="1"/>
          </p:cNvPicPr>
          <p:nvPr/>
        </p:nvPicPr>
        <p:blipFill>
          <a:blip r:embed="rId3"/>
          <a:stretch>
            <a:fillRect/>
          </a:stretch>
        </p:blipFill>
        <p:spPr>
          <a:xfrm>
            <a:off x="2109443" y="4077353"/>
            <a:ext cx="4925112" cy="21053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4385C-560B-3AD7-9831-D8A1EB598EDD}"/>
              </a:ext>
            </a:extLst>
          </p:cNvPr>
          <p:cNvSpPr>
            <a:spLocks noGrp="1"/>
          </p:cNvSpPr>
          <p:nvPr>
            <p:ph type="title"/>
          </p:nvPr>
        </p:nvSpPr>
        <p:spPr/>
        <p:txBody>
          <a:bodyPr/>
          <a:lstStyle/>
          <a:p>
            <a:r>
              <a:rPr lang="en-US" dirty="0">
                <a:ea typeface="+mn-ea"/>
                <a:cs typeface="+mn-cs"/>
              </a:rPr>
              <a:t>Ask one question at a time</a:t>
            </a:r>
            <a:endParaRPr lang="en-US" dirty="0"/>
          </a:p>
        </p:txBody>
      </p:sp>
      <p:sp>
        <p:nvSpPr>
          <p:cNvPr id="3" name="Content Placeholder 2">
            <a:extLst>
              <a:ext uri="{FF2B5EF4-FFF2-40B4-BE49-F238E27FC236}">
                <a16:creationId xmlns:a16="http://schemas.microsoft.com/office/drawing/2014/main" id="{65134E14-943D-B819-1159-5D7D2F8E483D}"/>
              </a:ext>
            </a:extLst>
          </p:cNvPr>
          <p:cNvSpPr>
            <a:spLocks noGrp="1"/>
          </p:cNvSpPr>
          <p:nvPr>
            <p:ph idx="1"/>
          </p:nvPr>
        </p:nvSpPr>
        <p:spPr/>
        <p:txBody>
          <a:bodyPr/>
          <a:lstStyle/>
          <a:p>
            <a:r>
              <a:rPr lang="en-US" sz="2800" dirty="0"/>
              <a:t>Sometimes questions ask two (or more) things at a time</a:t>
            </a:r>
          </a:p>
          <a:p>
            <a:pPr lvl="1"/>
            <a:r>
              <a:rPr lang="en-US" sz="2400" dirty="0"/>
              <a:t>Called “Double-barreled” questions</a:t>
            </a:r>
          </a:p>
          <a:p>
            <a:r>
              <a:rPr lang="en-US" sz="2800" dirty="0"/>
              <a:t>An easy mistake because we often want to limit the number of questions we ask in a survey</a:t>
            </a:r>
          </a:p>
          <a:p>
            <a:endParaRPr lang="en-US" dirty="0"/>
          </a:p>
        </p:txBody>
      </p:sp>
      <p:sp>
        <p:nvSpPr>
          <p:cNvPr id="4" name="Rounded Rectangle 3">
            <a:extLst>
              <a:ext uri="{FF2B5EF4-FFF2-40B4-BE49-F238E27FC236}">
                <a16:creationId xmlns:a16="http://schemas.microsoft.com/office/drawing/2014/main" id="{A33E1D0B-B322-1B69-1524-EB6373CAF111}"/>
              </a:ext>
            </a:extLst>
          </p:cNvPr>
          <p:cNvSpPr/>
          <p:nvPr/>
        </p:nvSpPr>
        <p:spPr>
          <a:xfrm>
            <a:off x="1052052" y="4650658"/>
            <a:ext cx="6990735" cy="15301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Has the district been responsive to your customer service needs with timely, informative, and accurate information?</a:t>
            </a:r>
          </a:p>
          <a:p>
            <a:endParaRPr lang="en-US" dirty="0"/>
          </a:p>
          <a:p>
            <a:pPr algn="ctr"/>
            <a:r>
              <a:rPr lang="en-US" dirty="0"/>
              <a:t>Yes           Sometimes            No </a:t>
            </a:r>
          </a:p>
        </p:txBody>
      </p:sp>
    </p:spTree>
    <p:extLst>
      <p:ext uri="{BB962C8B-B14F-4D97-AF65-F5344CB8AC3E}">
        <p14:creationId xmlns:p14="http://schemas.microsoft.com/office/powerpoint/2010/main" val="3599628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790EB-A1EA-5026-1A4D-3877F65E58E7}"/>
              </a:ext>
            </a:extLst>
          </p:cNvPr>
          <p:cNvSpPr>
            <a:spLocks noGrp="1"/>
          </p:cNvSpPr>
          <p:nvPr>
            <p:ph type="title"/>
          </p:nvPr>
        </p:nvSpPr>
        <p:spPr>
          <a:xfrm>
            <a:off x="685800" y="304800"/>
            <a:ext cx="7772400" cy="1143000"/>
          </a:xfrm>
        </p:spPr>
        <p:txBody>
          <a:bodyPr wrap="square" anchor="ctr">
            <a:normAutofit/>
          </a:bodyPr>
          <a:lstStyle/>
          <a:p>
            <a:pPr eaLnBrk="1" fontAlgn="auto" hangingPunct="1">
              <a:spcAft>
                <a:spcPts val="0"/>
              </a:spcAft>
              <a:defRPr/>
            </a:pPr>
            <a:r>
              <a:rPr lang="en-US"/>
              <a:t>Use Simple and Familiar Words</a:t>
            </a:r>
          </a:p>
        </p:txBody>
      </p:sp>
      <p:pic>
        <p:nvPicPr>
          <p:cNvPr id="5" name="Picture 4">
            <a:extLst>
              <a:ext uri="{FF2B5EF4-FFF2-40B4-BE49-F238E27FC236}">
                <a16:creationId xmlns:a16="http://schemas.microsoft.com/office/drawing/2014/main" id="{32E3E0F1-E2C5-F5E5-C243-067E90DF20C1}"/>
              </a:ext>
            </a:extLst>
          </p:cNvPr>
          <p:cNvPicPr>
            <a:picLocks noChangeAspect="1"/>
          </p:cNvPicPr>
          <p:nvPr/>
        </p:nvPicPr>
        <p:blipFill>
          <a:blip r:embed="rId2"/>
          <a:stretch>
            <a:fillRect/>
          </a:stretch>
        </p:blipFill>
        <p:spPr>
          <a:xfrm>
            <a:off x="798285" y="1752600"/>
            <a:ext cx="7547429" cy="3962400"/>
          </a:xfrm>
          <a:prstGeom prst="rect">
            <a:avLst/>
          </a:prstGeom>
          <a:noFill/>
        </p:spPr>
      </p:pic>
      <p:sp>
        <p:nvSpPr>
          <p:cNvPr id="26627" name="Slide Number Placeholder 3" hidden="1">
            <a:extLst>
              <a:ext uri="{FF2B5EF4-FFF2-40B4-BE49-F238E27FC236}">
                <a16:creationId xmlns:a16="http://schemas.microsoft.com/office/drawing/2014/main" id="{51C9AC48-812E-4541-8552-91371C8391A9}"/>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spcAft>
                <a:spcPts val="600"/>
              </a:spcAft>
            </a:pPr>
            <a:fld id="{47E82277-8292-4936-AB45-404AA35EACA5}" type="slidenum">
              <a:rPr lang="en-US" altLang="en-US" sz="1700" smtClean="0"/>
              <a:pPr eaLnBrk="1" hangingPunct="1">
                <a:lnSpc>
                  <a:spcPct val="80000"/>
                </a:lnSpc>
                <a:spcAft>
                  <a:spcPts val="600"/>
                </a:spcAft>
              </a:pPr>
              <a:t>19</a:t>
            </a:fld>
            <a:endParaRPr lang="en-US" altLang="en-US" sz="1700">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790EB-A1EA-5026-1A4D-3877F65E58E7}"/>
              </a:ext>
            </a:extLst>
          </p:cNvPr>
          <p:cNvSpPr>
            <a:spLocks noGrp="1"/>
          </p:cNvSpPr>
          <p:nvPr>
            <p:ph type="title"/>
          </p:nvPr>
        </p:nvSpPr>
        <p:spPr>
          <a:xfrm>
            <a:off x="685800" y="304800"/>
            <a:ext cx="7772400" cy="1143000"/>
          </a:xfrm>
        </p:spPr>
        <p:txBody>
          <a:bodyPr wrap="square" anchor="ctr">
            <a:normAutofit/>
          </a:bodyPr>
          <a:lstStyle/>
          <a:p>
            <a:pPr eaLnBrk="1" fontAlgn="auto" hangingPunct="1">
              <a:spcAft>
                <a:spcPts val="0"/>
              </a:spcAft>
              <a:defRPr/>
            </a:pPr>
            <a:r>
              <a:rPr lang="en-US" dirty="0"/>
              <a:t>Use Simple and Familiar Words</a:t>
            </a:r>
          </a:p>
        </p:txBody>
      </p:sp>
      <p:pic>
        <p:nvPicPr>
          <p:cNvPr id="4" name="Picture 3">
            <a:extLst>
              <a:ext uri="{FF2B5EF4-FFF2-40B4-BE49-F238E27FC236}">
                <a16:creationId xmlns:a16="http://schemas.microsoft.com/office/drawing/2014/main" id="{FB6075C4-7B23-D418-B56F-C548FDB972FC}"/>
              </a:ext>
            </a:extLst>
          </p:cNvPr>
          <p:cNvPicPr>
            <a:picLocks noChangeAspect="1"/>
          </p:cNvPicPr>
          <p:nvPr/>
        </p:nvPicPr>
        <p:blipFill>
          <a:blip r:embed="rId2"/>
          <a:stretch>
            <a:fillRect/>
          </a:stretch>
        </p:blipFill>
        <p:spPr>
          <a:xfrm>
            <a:off x="685800" y="2082165"/>
            <a:ext cx="7772400" cy="3303269"/>
          </a:xfrm>
          <a:prstGeom prst="rect">
            <a:avLst/>
          </a:prstGeom>
          <a:noFill/>
        </p:spPr>
      </p:pic>
      <p:sp>
        <p:nvSpPr>
          <p:cNvPr id="26627" name="Slide Number Placeholder 3" hidden="1">
            <a:extLst>
              <a:ext uri="{FF2B5EF4-FFF2-40B4-BE49-F238E27FC236}">
                <a16:creationId xmlns:a16="http://schemas.microsoft.com/office/drawing/2014/main" id="{51C9AC48-812E-4541-8552-91371C8391A9}"/>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spcAft>
                <a:spcPts val="600"/>
              </a:spcAft>
            </a:pPr>
            <a:fld id="{47E82277-8292-4936-AB45-404AA35EACA5}" type="slidenum">
              <a:rPr lang="en-US" altLang="en-US" smtClean="0"/>
              <a:pPr eaLnBrk="1" hangingPunct="1">
                <a:lnSpc>
                  <a:spcPct val="80000"/>
                </a:lnSpc>
                <a:spcAft>
                  <a:spcPts val="600"/>
                </a:spcAft>
              </a:pPr>
              <a:t>20</a:t>
            </a:fld>
            <a:endParaRPr lang="en-US" altLang="en-US">
              <a:solidFill>
                <a:srgbClr val="FFFFFF"/>
              </a:solidFill>
            </a:endParaRPr>
          </a:p>
        </p:txBody>
      </p:sp>
    </p:spTree>
    <p:extLst>
      <p:ext uri="{BB962C8B-B14F-4D97-AF65-F5344CB8AC3E}">
        <p14:creationId xmlns:p14="http://schemas.microsoft.com/office/powerpoint/2010/main" val="3262946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CA0B-5070-AF88-CEEF-08462A2BD7A3}"/>
              </a:ext>
            </a:extLst>
          </p:cNvPr>
          <p:cNvSpPr>
            <a:spLocks noGrp="1"/>
          </p:cNvSpPr>
          <p:nvPr>
            <p:ph type="title"/>
          </p:nvPr>
        </p:nvSpPr>
        <p:spPr>
          <a:xfrm>
            <a:off x="685800" y="304800"/>
            <a:ext cx="7772400" cy="1143000"/>
          </a:xfrm>
        </p:spPr>
        <p:txBody>
          <a:bodyPr wrap="square" anchor="ctr">
            <a:normAutofit/>
          </a:bodyPr>
          <a:lstStyle/>
          <a:p>
            <a:pPr eaLnBrk="1" fontAlgn="auto" hangingPunct="1">
              <a:spcAft>
                <a:spcPts val="0"/>
              </a:spcAft>
              <a:defRPr/>
            </a:pPr>
            <a:r>
              <a:rPr lang="en-US"/>
              <a:t>Use Specific and Concrete Words to Specify the Concepts Clearly</a:t>
            </a:r>
          </a:p>
        </p:txBody>
      </p:sp>
      <p:pic>
        <p:nvPicPr>
          <p:cNvPr id="4" name="Picture 3">
            <a:extLst>
              <a:ext uri="{FF2B5EF4-FFF2-40B4-BE49-F238E27FC236}">
                <a16:creationId xmlns:a16="http://schemas.microsoft.com/office/drawing/2014/main" id="{363D598E-FFE2-7353-5995-7BF8693F6C98}"/>
              </a:ext>
            </a:extLst>
          </p:cNvPr>
          <p:cNvPicPr>
            <a:picLocks noChangeAspect="1"/>
          </p:cNvPicPr>
          <p:nvPr/>
        </p:nvPicPr>
        <p:blipFill>
          <a:blip r:embed="rId2"/>
          <a:stretch>
            <a:fillRect/>
          </a:stretch>
        </p:blipFill>
        <p:spPr>
          <a:xfrm>
            <a:off x="685800" y="1985010"/>
            <a:ext cx="7772400" cy="3497579"/>
          </a:xfrm>
          <a:prstGeom prst="rect">
            <a:avLst/>
          </a:prstGeom>
          <a:noFill/>
        </p:spPr>
      </p:pic>
      <p:sp>
        <p:nvSpPr>
          <p:cNvPr id="27651" name="Slide Number Placeholder 3" hidden="1">
            <a:extLst>
              <a:ext uri="{FF2B5EF4-FFF2-40B4-BE49-F238E27FC236}">
                <a16:creationId xmlns:a16="http://schemas.microsoft.com/office/drawing/2014/main" id="{F32ADBA2-F377-0713-AC75-3109BD15175F}"/>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spcAft>
                <a:spcPts val="600"/>
              </a:spcAft>
            </a:pPr>
            <a:fld id="{47E82277-8292-4936-AB45-404AA35EACA5}" type="slidenum">
              <a:rPr lang="en-US" altLang="en-US" sz="1700" smtClean="0"/>
              <a:pPr eaLnBrk="1" hangingPunct="1">
                <a:lnSpc>
                  <a:spcPct val="80000"/>
                </a:lnSpc>
                <a:spcAft>
                  <a:spcPts val="600"/>
                </a:spcAft>
              </a:pPr>
              <a:t>21</a:t>
            </a:fld>
            <a:endParaRPr lang="en-US" altLang="en-US" sz="1700">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5F438-29B3-D3AE-4BD9-DC7CFF6E86A8}"/>
              </a:ext>
            </a:extLst>
          </p:cNvPr>
          <p:cNvSpPr>
            <a:spLocks noGrp="1"/>
          </p:cNvSpPr>
          <p:nvPr>
            <p:ph type="title"/>
          </p:nvPr>
        </p:nvSpPr>
        <p:spPr>
          <a:xfrm>
            <a:off x="457205" y="273053"/>
            <a:ext cx="3008313" cy="2027695"/>
          </a:xfrm>
        </p:spPr>
        <p:txBody>
          <a:bodyPr wrap="square" anchor="b">
            <a:normAutofit fontScale="90000"/>
          </a:bodyPr>
          <a:lstStyle/>
          <a:p>
            <a:r>
              <a:rPr lang="en-US" sz="2400" dirty="0"/>
              <a:t>Use Complete Sentences That Take a Question Form, and Use Simple Sentence Structures</a:t>
            </a:r>
          </a:p>
        </p:txBody>
      </p:sp>
      <p:pic>
        <p:nvPicPr>
          <p:cNvPr id="5" name="Picture 4">
            <a:extLst>
              <a:ext uri="{FF2B5EF4-FFF2-40B4-BE49-F238E27FC236}">
                <a16:creationId xmlns:a16="http://schemas.microsoft.com/office/drawing/2014/main" id="{ADC19BA7-E117-0230-D831-A22BA12280C9}"/>
              </a:ext>
            </a:extLst>
          </p:cNvPr>
          <p:cNvPicPr>
            <a:picLocks noChangeAspect="1"/>
          </p:cNvPicPr>
          <p:nvPr/>
        </p:nvPicPr>
        <p:blipFill>
          <a:blip r:embed="rId2"/>
          <a:stretch>
            <a:fillRect/>
          </a:stretch>
        </p:blipFill>
        <p:spPr>
          <a:xfrm>
            <a:off x="4309144" y="273057"/>
            <a:ext cx="3643562" cy="5853113"/>
          </a:xfrm>
          <a:prstGeom prst="rect">
            <a:avLst/>
          </a:prstGeom>
          <a:noFill/>
        </p:spPr>
      </p:pic>
      <p:sp>
        <p:nvSpPr>
          <p:cNvPr id="10" name="Text Placeholder 3">
            <a:extLst>
              <a:ext uri="{FF2B5EF4-FFF2-40B4-BE49-F238E27FC236}">
                <a16:creationId xmlns:a16="http://schemas.microsoft.com/office/drawing/2014/main" id="{F9A47389-CBB6-BDE1-3268-D97F69F5BAF4}"/>
              </a:ext>
            </a:extLst>
          </p:cNvPr>
          <p:cNvSpPr>
            <a:spLocks noGrp="1"/>
          </p:cNvSpPr>
          <p:nvPr>
            <p:ph type="body" sz="half" idx="2"/>
          </p:nvPr>
        </p:nvSpPr>
        <p:spPr>
          <a:xfrm>
            <a:off x="457205" y="2644877"/>
            <a:ext cx="3008313" cy="3481290"/>
          </a:xfrm>
        </p:spPr>
        <p:txBody>
          <a:bodyPr/>
          <a:lstStyle/>
          <a:p>
            <a:r>
              <a:rPr lang="en-US" sz="1600" dirty="0"/>
              <a:t>County vs. country</a:t>
            </a:r>
          </a:p>
        </p:txBody>
      </p:sp>
    </p:spTree>
    <p:extLst>
      <p:ext uri="{BB962C8B-B14F-4D97-AF65-F5344CB8AC3E}">
        <p14:creationId xmlns:p14="http://schemas.microsoft.com/office/powerpoint/2010/main" val="2254100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FC4A573-EAB5-D9EC-5F4D-3F979C009A4D}"/>
              </a:ext>
            </a:extLst>
          </p:cNvPr>
          <p:cNvSpPr>
            <a:spLocks noGrp="1"/>
          </p:cNvSpPr>
          <p:nvPr>
            <p:ph type="title"/>
          </p:nvPr>
        </p:nvSpPr>
        <p:spPr>
          <a:xfrm>
            <a:off x="457205" y="273053"/>
            <a:ext cx="7988705" cy="952147"/>
          </a:xfrm>
        </p:spPr>
        <p:txBody>
          <a:bodyPr wrap="square" anchor="b">
            <a:noAutofit/>
          </a:bodyPr>
          <a:lstStyle/>
          <a:p>
            <a:r>
              <a:rPr lang="en-US" sz="3200" b="0" dirty="0"/>
              <a:t>Make Sure “Yes” Means Yes and “No” Means No</a:t>
            </a:r>
          </a:p>
        </p:txBody>
      </p:sp>
      <p:pic>
        <p:nvPicPr>
          <p:cNvPr id="8" name="Picture 7" descr="A questionnaire with black text&#10;&#10;Description automatically generated">
            <a:extLst>
              <a:ext uri="{FF2B5EF4-FFF2-40B4-BE49-F238E27FC236}">
                <a16:creationId xmlns:a16="http://schemas.microsoft.com/office/drawing/2014/main" id="{0AC929C6-1536-DD02-EC6D-164CFEE16BD9}"/>
              </a:ext>
            </a:extLst>
          </p:cNvPr>
          <p:cNvPicPr>
            <a:picLocks noChangeAspect="1"/>
          </p:cNvPicPr>
          <p:nvPr/>
        </p:nvPicPr>
        <p:blipFill>
          <a:blip r:embed="rId2"/>
          <a:stretch>
            <a:fillRect/>
          </a:stretch>
        </p:blipFill>
        <p:spPr>
          <a:xfrm>
            <a:off x="3575050" y="1225200"/>
            <a:ext cx="5111750" cy="3948826"/>
          </a:xfrm>
          <a:prstGeom prst="rect">
            <a:avLst/>
          </a:prstGeom>
          <a:noFill/>
        </p:spPr>
      </p:pic>
      <p:sp>
        <p:nvSpPr>
          <p:cNvPr id="13" name="Text Placeholder 3">
            <a:extLst>
              <a:ext uri="{FF2B5EF4-FFF2-40B4-BE49-F238E27FC236}">
                <a16:creationId xmlns:a16="http://schemas.microsoft.com/office/drawing/2014/main" id="{7D68397D-B067-B538-0C4F-91807308D745}"/>
              </a:ext>
            </a:extLst>
          </p:cNvPr>
          <p:cNvSpPr>
            <a:spLocks noGrp="1"/>
          </p:cNvSpPr>
          <p:nvPr>
            <p:ph type="body" sz="half" idx="2"/>
          </p:nvPr>
        </p:nvSpPr>
        <p:spPr>
          <a:xfrm>
            <a:off x="457205" y="1435104"/>
            <a:ext cx="3008313" cy="4691063"/>
          </a:xfrm>
        </p:spPr>
        <p:txBody>
          <a:bodyPr/>
          <a:lstStyle/>
          <a:p>
            <a:endParaRPr lang="en-US" sz="1800" dirty="0"/>
          </a:p>
          <a:p>
            <a:r>
              <a:rPr lang="en-US" sz="1800" dirty="0"/>
              <a:t>Questions should not include double negatives, or, in other words, require a respondent to say “yes” to mean no</a:t>
            </a:r>
          </a:p>
        </p:txBody>
      </p:sp>
    </p:spTree>
    <p:extLst>
      <p:ext uri="{BB962C8B-B14F-4D97-AF65-F5344CB8AC3E}">
        <p14:creationId xmlns:p14="http://schemas.microsoft.com/office/powerpoint/2010/main" val="3427959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D8A86E-46F2-274A-C3C1-CB6DD8BADC0B}"/>
              </a:ext>
            </a:extLst>
          </p:cNvPr>
          <p:cNvSpPr>
            <a:spLocks noGrp="1"/>
          </p:cNvSpPr>
          <p:nvPr>
            <p:ph type="title"/>
          </p:nvPr>
        </p:nvSpPr>
        <p:spPr>
          <a:xfrm>
            <a:off x="685800" y="304800"/>
            <a:ext cx="7772400" cy="1143000"/>
          </a:xfrm>
        </p:spPr>
        <p:txBody>
          <a:bodyPr wrap="square" anchor="ctr">
            <a:normAutofit/>
          </a:bodyPr>
          <a:lstStyle/>
          <a:p>
            <a:r>
              <a:rPr lang="en-US" dirty="0"/>
              <a:t>State both positive and negative sides in the question stem</a:t>
            </a:r>
          </a:p>
        </p:txBody>
      </p:sp>
      <p:pic>
        <p:nvPicPr>
          <p:cNvPr id="8" name="Picture 7" descr="A questionnaire with black text&#10;&#10;Description automatically generated">
            <a:extLst>
              <a:ext uri="{FF2B5EF4-FFF2-40B4-BE49-F238E27FC236}">
                <a16:creationId xmlns:a16="http://schemas.microsoft.com/office/drawing/2014/main" id="{662F7FA6-7F26-DB8A-45E6-512EB7907FD2}"/>
              </a:ext>
            </a:extLst>
          </p:cNvPr>
          <p:cNvPicPr>
            <a:picLocks noChangeAspect="1"/>
          </p:cNvPicPr>
          <p:nvPr/>
        </p:nvPicPr>
        <p:blipFill>
          <a:blip r:embed="rId2"/>
          <a:stretch>
            <a:fillRect/>
          </a:stretch>
        </p:blipFill>
        <p:spPr>
          <a:xfrm>
            <a:off x="685800" y="2849690"/>
            <a:ext cx="7772400" cy="1768220"/>
          </a:xfrm>
          <a:prstGeom prst="rect">
            <a:avLst/>
          </a:prstGeom>
          <a:noFill/>
        </p:spPr>
      </p:pic>
    </p:spTree>
    <p:extLst>
      <p:ext uri="{BB962C8B-B14F-4D97-AF65-F5344CB8AC3E}">
        <p14:creationId xmlns:p14="http://schemas.microsoft.com/office/powerpoint/2010/main" val="1641164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DE12BA6-6C6D-7ED9-CEDA-75D8D65EC391}"/>
              </a:ext>
            </a:extLst>
          </p:cNvPr>
          <p:cNvSpPr>
            <a:spLocks noGrp="1"/>
          </p:cNvSpPr>
          <p:nvPr>
            <p:ph type="title"/>
          </p:nvPr>
        </p:nvSpPr>
        <p:spPr>
          <a:xfrm>
            <a:off x="685800" y="304800"/>
            <a:ext cx="7772400" cy="1143000"/>
          </a:xfrm>
        </p:spPr>
        <p:txBody>
          <a:bodyPr/>
          <a:lstStyle/>
          <a:p>
            <a:r>
              <a:rPr lang="en-US" dirty="0"/>
              <a:t>Check all that apply</a:t>
            </a:r>
          </a:p>
        </p:txBody>
      </p:sp>
      <p:pic>
        <p:nvPicPr>
          <p:cNvPr id="5" name="Picture 4">
            <a:extLst>
              <a:ext uri="{FF2B5EF4-FFF2-40B4-BE49-F238E27FC236}">
                <a16:creationId xmlns:a16="http://schemas.microsoft.com/office/drawing/2014/main" id="{9A3F9540-9433-E19A-51DB-FC48A8BEABD4}"/>
              </a:ext>
            </a:extLst>
          </p:cNvPr>
          <p:cNvPicPr>
            <a:picLocks noChangeAspect="1"/>
          </p:cNvPicPr>
          <p:nvPr/>
        </p:nvPicPr>
        <p:blipFill>
          <a:blip r:embed="rId3"/>
          <a:stretch>
            <a:fillRect/>
          </a:stretch>
        </p:blipFill>
        <p:spPr>
          <a:xfrm>
            <a:off x="1679737" y="1752600"/>
            <a:ext cx="5784526" cy="3962400"/>
          </a:xfrm>
          <a:prstGeom prst="rect">
            <a:avLst/>
          </a:prstGeom>
          <a:noFill/>
        </p:spPr>
      </p:pic>
    </p:spTree>
    <p:extLst>
      <p:ext uri="{BB962C8B-B14F-4D97-AF65-F5344CB8AC3E}">
        <p14:creationId xmlns:p14="http://schemas.microsoft.com/office/powerpoint/2010/main" val="3952704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0EF98-015B-1885-DB1D-6BA055858515}"/>
              </a:ext>
            </a:extLst>
          </p:cNvPr>
          <p:cNvSpPr>
            <a:spLocks noGrp="1"/>
          </p:cNvSpPr>
          <p:nvPr>
            <p:ph type="title"/>
          </p:nvPr>
        </p:nvSpPr>
        <p:spPr>
          <a:xfrm>
            <a:off x="685800" y="304800"/>
            <a:ext cx="7772400" cy="1143000"/>
          </a:xfrm>
        </p:spPr>
        <p:txBody>
          <a:bodyPr wrap="square" anchor="ctr">
            <a:normAutofit/>
          </a:bodyPr>
          <a:lstStyle/>
          <a:p>
            <a:r>
              <a:rPr lang="en-US" dirty="0"/>
              <a:t>Provide balanced scales with categories that are evenly spaced conceptually</a:t>
            </a:r>
          </a:p>
        </p:txBody>
      </p:sp>
      <p:pic>
        <p:nvPicPr>
          <p:cNvPr id="5" name="Picture 4">
            <a:extLst>
              <a:ext uri="{FF2B5EF4-FFF2-40B4-BE49-F238E27FC236}">
                <a16:creationId xmlns:a16="http://schemas.microsoft.com/office/drawing/2014/main" id="{6DA4CF9F-7468-CACC-C210-5540935CE982}"/>
              </a:ext>
            </a:extLst>
          </p:cNvPr>
          <p:cNvPicPr>
            <a:picLocks noChangeAspect="1"/>
          </p:cNvPicPr>
          <p:nvPr/>
        </p:nvPicPr>
        <p:blipFill>
          <a:blip r:embed="rId2"/>
          <a:stretch>
            <a:fillRect/>
          </a:stretch>
        </p:blipFill>
        <p:spPr>
          <a:xfrm>
            <a:off x="1731570" y="1752600"/>
            <a:ext cx="5680860" cy="3962400"/>
          </a:xfrm>
          <a:prstGeom prst="rect">
            <a:avLst/>
          </a:prstGeom>
          <a:noFill/>
        </p:spPr>
      </p:pic>
    </p:spTree>
    <p:extLst>
      <p:ext uri="{BB962C8B-B14F-4D97-AF65-F5344CB8AC3E}">
        <p14:creationId xmlns:p14="http://schemas.microsoft.com/office/powerpoint/2010/main" val="610991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81AF10A-0D6E-6F48-AA5C-1309E8121D97}"/>
              </a:ext>
            </a:extLst>
          </p:cNvPr>
          <p:cNvSpPr/>
          <p:nvPr/>
        </p:nvSpPr>
        <p:spPr>
          <a:xfrm>
            <a:off x="1269275" y="3724448"/>
            <a:ext cx="2891481" cy="5869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350" dirty="0"/>
              <a:t>Can you name measurement scholars </a:t>
            </a:r>
            <a:r>
              <a:rPr lang="en-US" sz="1350" b="1" i="1" dirty="0">
                <a:solidFill>
                  <a:srgbClr val="7030A0"/>
                </a:solidFill>
              </a:rPr>
              <a:t>other</a:t>
            </a:r>
            <a:r>
              <a:rPr lang="en-US" sz="1350" dirty="0"/>
              <a:t> than Ben Wright?</a:t>
            </a:r>
          </a:p>
        </p:txBody>
      </p:sp>
      <p:sp>
        <p:nvSpPr>
          <p:cNvPr id="7" name="Rounded Rectangle 6">
            <a:extLst>
              <a:ext uri="{FF2B5EF4-FFF2-40B4-BE49-F238E27FC236}">
                <a16:creationId xmlns:a16="http://schemas.microsoft.com/office/drawing/2014/main" id="{58A9B5A0-FBB6-164B-AA5C-E0C6B70E3889}"/>
              </a:ext>
            </a:extLst>
          </p:cNvPr>
          <p:cNvSpPr/>
          <p:nvPr/>
        </p:nvSpPr>
        <p:spPr>
          <a:xfrm>
            <a:off x="4894438" y="3724448"/>
            <a:ext cx="2891481" cy="5869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350" dirty="0"/>
              <a:t>Can you name measurement scholars </a:t>
            </a:r>
            <a:r>
              <a:rPr lang="en-US" sz="1350" b="1" i="1" dirty="0">
                <a:solidFill>
                  <a:srgbClr val="7030A0"/>
                </a:solidFill>
              </a:rPr>
              <a:t>more famous than</a:t>
            </a:r>
            <a:r>
              <a:rPr lang="en-US" sz="1350" dirty="0"/>
              <a:t> Ben Wright?</a:t>
            </a:r>
          </a:p>
        </p:txBody>
      </p:sp>
      <p:sp>
        <p:nvSpPr>
          <p:cNvPr id="8" name="Rounded Rectangle 7">
            <a:extLst>
              <a:ext uri="{FF2B5EF4-FFF2-40B4-BE49-F238E27FC236}">
                <a16:creationId xmlns:a16="http://schemas.microsoft.com/office/drawing/2014/main" id="{80058A7E-CC0F-9948-9FCF-9D6823871CE9}"/>
              </a:ext>
            </a:extLst>
          </p:cNvPr>
          <p:cNvSpPr/>
          <p:nvPr/>
        </p:nvSpPr>
        <p:spPr>
          <a:xfrm>
            <a:off x="1508687" y="2504883"/>
            <a:ext cx="5693375" cy="5869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350" dirty="0"/>
              <a:t>Can you name more famous measurement scholars than Ben Wright?</a:t>
            </a:r>
          </a:p>
        </p:txBody>
      </p:sp>
      <p:sp>
        <p:nvSpPr>
          <p:cNvPr id="9" name="TextBox 8">
            <a:extLst>
              <a:ext uri="{FF2B5EF4-FFF2-40B4-BE49-F238E27FC236}">
                <a16:creationId xmlns:a16="http://schemas.microsoft.com/office/drawing/2014/main" id="{ED874D57-4AED-1140-9F2C-CB1630CAB8DA}"/>
              </a:ext>
            </a:extLst>
          </p:cNvPr>
          <p:cNvSpPr txBox="1"/>
          <p:nvPr/>
        </p:nvSpPr>
        <p:spPr>
          <a:xfrm>
            <a:off x="3134770" y="3337572"/>
            <a:ext cx="2377639" cy="300082"/>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1350" dirty="0"/>
              <a:t>Two possible interpretations:</a:t>
            </a:r>
          </a:p>
        </p:txBody>
      </p:sp>
      <p:cxnSp>
        <p:nvCxnSpPr>
          <p:cNvPr id="11" name="Straight Connector 10">
            <a:extLst>
              <a:ext uri="{FF2B5EF4-FFF2-40B4-BE49-F238E27FC236}">
                <a16:creationId xmlns:a16="http://schemas.microsoft.com/office/drawing/2014/main" id="{816F26A7-8893-E14A-8F12-536C899182FC}"/>
              </a:ext>
            </a:extLst>
          </p:cNvPr>
          <p:cNvCxnSpPr>
            <a:cxnSpLocks/>
            <a:stCxn id="8" idx="2"/>
            <a:endCxn id="9" idx="0"/>
          </p:cNvCxnSpPr>
          <p:nvPr/>
        </p:nvCxnSpPr>
        <p:spPr>
          <a:xfrm flipH="1">
            <a:off x="4323590" y="3091829"/>
            <a:ext cx="31785" cy="245743"/>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6EBF4E2-895E-5941-AC56-574471423C1A}"/>
              </a:ext>
            </a:extLst>
          </p:cNvPr>
          <p:cNvSpPr txBox="1"/>
          <p:nvPr/>
        </p:nvSpPr>
        <p:spPr>
          <a:xfrm>
            <a:off x="3575354" y="4421270"/>
            <a:ext cx="2185214" cy="300082"/>
          </a:xfrm>
          <a:prstGeom prst="rect">
            <a:avLst/>
          </a:prstGeom>
          <a:noFill/>
        </p:spPr>
        <p:txBody>
          <a:bodyPr wrap="none" rtlCol="0">
            <a:spAutoFit/>
          </a:bodyPr>
          <a:lstStyle/>
          <a:p>
            <a:r>
              <a:rPr lang="en-US" sz="1350" dirty="0"/>
              <a:t>(use one of these instead)</a:t>
            </a:r>
          </a:p>
        </p:txBody>
      </p:sp>
      <p:sp>
        <p:nvSpPr>
          <p:cNvPr id="6" name="Slide Number Placeholder 5"/>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27</a:t>
            </a:fld>
            <a:endParaRPr lang="en-US" dirty="0"/>
          </a:p>
        </p:txBody>
      </p:sp>
      <p:sp>
        <p:nvSpPr>
          <p:cNvPr id="12" name="Title 11">
            <a:extLst>
              <a:ext uri="{FF2B5EF4-FFF2-40B4-BE49-F238E27FC236}">
                <a16:creationId xmlns:a16="http://schemas.microsoft.com/office/drawing/2014/main" id="{29D140D8-0B61-34CC-CFC8-C2EAA9984912}"/>
              </a:ext>
            </a:extLst>
          </p:cNvPr>
          <p:cNvSpPr>
            <a:spLocks noGrp="1"/>
          </p:cNvSpPr>
          <p:nvPr>
            <p:ph type="title"/>
          </p:nvPr>
        </p:nvSpPr>
        <p:spPr/>
        <p:txBody>
          <a:bodyPr/>
          <a:lstStyle/>
          <a:p>
            <a:r>
              <a:rPr lang="en-US" sz="3600" dirty="0"/>
              <a:t>Use clear language that leads to only one interpretation</a:t>
            </a:r>
            <a:endParaRPr lang="en-US" dirty="0"/>
          </a:p>
        </p:txBody>
      </p:sp>
    </p:spTree>
    <p:extLst>
      <p:ext uri="{BB962C8B-B14F-4D97-AF65-F5344CB8AC3E}">
        <p14:creationId xmlns:p14="http://schemas.microsoft.com/office/powerpoint/2010/main" val="2451229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7F450-AC90-E308-0EC8-B5549F559395}"/>
              </a:ext>
            </a:extLst>
          </p:cNvPr>
          <p:cNvSpPr>
            <a:spLocks noGrp="1"/>
          </p:cNvSpPr>
          <p:nvPr>
            <p:ph type="title"/>
          </p:nvPr>
        </p:nvSpPr>
        <p:spPr/>
        <p:txBody>
          <a:bodyPr/>
          <a:lstStyle/>
          <a:p>
            <a:r>
              <a:rPr lang="en-US" sz="3600" dirty="0"/>
              <a:t>Don’t make your respondents do math.</a:t>
            </a:r>
            <a:endParaRPr lang="en-US" dirty="0"/>
          </a:p>
        </p:txBody>
      </p:sp>
      <p:sp>
        <p:nvSpPr>
          <p:cNvPr id="3" name="Content Placeholder 2">
            <a:extLst>
              <a:ext uri="{FF2B5EF4-FFF2-40B4-BE49-F238E27FC236}">
                <a16:creationId xmlns:a16="http://schemas.microsoft.com/office/drawing/2014/main" id="{019B45BA-559A-B682-3A2B-4EBA8C2C3623}"/>
              </a:ext>
            </a:extLst>
          </p:cNvPr>
          <p:cNvSpPr>
            <a:spLocks noGrp="1"/>
          </p:cNvSpPr>
          <p:nvPr>
            <p:ph idx="1"/>
          </p:nvPr>
        </p:nvSpPr>
        <p:spPr/>
        <p:txBody>
          <a:bodyPr/>
          <a:lstStyle/>
          <a:p>
            <a:endParaRPr lang="en-US"/>
          </a:p>
        </p:txBody>
      </p:sp>
      <p:sp>
        <p:nvSpPr>
          <p:cNvPr id="7" name="Rounded Rectangle 6">
            <a:extLst>
              <a:ext uri="{FF2B5EF4-FFF2-40B4-BE49-F238E27FC236}">
                <a16:creationId xmlns:a16="http://schemas.microsoft.com/office/drawing/2014/main" id="{977312BC-379E-CC40-9D29-26253A30403F}"/>
              </a:ext>
            </a:extLst>
          </p:cNvPr>
          <p:cNvSpPr/>
          <p:nvPr/>
        </p:nvSpPr>
        <p:spPr>
          <a:xfrm>
            <a:off x="1318784" y="2636829"/>
            <a:ext cx="2824986" cy="18532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Calculations required:</a:t>
            </a:r>
          </a:p>
          <a:p>
            <a:pPr algn="ctr"/>
            <a:r>
              <a:rPr lang="en-US" i="1" dirty="0"/>
              <a:t>About how many hours per month do you watch television on weekdays?</a:t>
            </a:r>
          </a:p>
        </p:txBody>
      </p:sp>
      <p:sp>
        <p:nvSpPr>
          <p:cNvPr id="8" name="Rounded Rectangle 7">
            <a:extLst>
              <a:ext uri="{FF2B5EF4-FFF2-40B4-BE49-F238E27FC236}">
                <a16:creationId xmlns:a16="http://schemas.microsoft.com/office/drawing/2014/main" id="{AA626EDF-9A56-4343-AEA0-4E468813EE41}"/>
              </a:ext>
            </a:extLst>
          </p:cNvPr>
          <p:cNvSpPr/>
          <p:nvPr/>
        </p:nvSpPr>
        <p:spPr>
          <a:xfrm>
            <a:off x="5076783" y="2636829"/>
            <a:ext cx="2824986" cy="18532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Better:</a:t>
            </a:r>
          </a:p>
          <a:p>
            <a:pPr algn="ctr"/>
            <a:r>
              <a:rPr lang="en-US" i="1" dirty="0"/>
              <a:t>About how many hours per weekday do you spend watching television?</a:t>
            </a:r>
          </a:p>
        </p:txBody>
      </p:sp>
    </p:spTree>
    <p:extLst>
      <p:ext uri="{BB962C8B-B14F-4D97-AF65-F5344CB8AC3E}">
        <p14:creationId xmlns:p14="http://schemas.microsoft.com/office/powerpoint/2010/main" val="357648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3304-303F-3963-8ADB-01C828608B0B}"/>
              </a:ext>
            </a:extLst>
          </p:cNvPr>
          <p:cNvSpPr>
            <a:spLocks noGrp="1"/>
          </p:cNvSpPr>
          <p:nvPr>
            <p:ph type="title"/>
          </p:nvPr>
        </p:nvSpPr>
        <p:spPr/>
        <p:txBody>
          <a:bodyPr/>
          <a:lstStyle/>
          <a:p>
            <a:r>
              <a:rPr lang="en-US" dirty="0"/>
              <a:t>Visual Design Matters</a:t>
            </a:r>
          </a:p>
        </p:txBody>
      </p:sp>
      <p:sp>
        <p:nvSpPr>
          <p:cNvPr id="3" name="Content Placeholder 2">
            <a:extLst>
              <a:ext uri="{FF2B5EF4-FFF2-40B4-BE49-F238E27FC236}">
                <a16:creationId xmlns:a16="http://schemas.microsoft.com/office/drawing/2014/main" id="{B0E2B015-F4CC-C819-2260-2D980A93D6D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46E93D9-1856-C1E4-5E8A-D3DFC3CFA381}"/>
              </a:ext>
            </a:extLst>
          </p:cNvPr>
          <p:cNvPicPr>
            <a:picLocks noChangeAspect="1"/>
          </p:cNvPicPr>
          <p:nvPr/>
        </p:nvPicPr>
        <p:blipFill>
          <a:blip r:embed="rId2"/>
          <a:stretch>
            <a:fillRect/>
          </a:stretch>
        </p:blipFill>
        <p:spPr>
          <a:xfrm>
            <a:off x="2909168" y="1447800"/>
            <a:ext cx="3221335" cy="4850168"/>
          </a:xfrm>
          <a:prstGeom prst="rect">
            <a:avLst/>
          </a:prstGeom>
        </p:spPr>
      </p:pic>
      <p:pic>
        <p:nvPicPr>
          <p:cNvPr id="7" name="Picture 6">
            <a:extLst>
              <a:ext uri="{FF2B5EF4-FFF2-40B4-BE49-F238E27FC236}">
                <a16:creationId xmlns:a16="http://schemas.microsoft.com/office/drawing/2014/main" id="{175C4A7D-D6EC-0997-3FE8-4E33A2B3DC95}"/>
              </a:ext>
            </a:extLst>
          </p:cNvPr>
          <p:cNvPicPr>
            <a:picLocks noChangeAspect="1"/>
          </p:cNvPicPr>
          <p:nvPr/>
        </p:nvPicPr>
        <p:blipFill>
          <a:blip r:embed="rId3"/>
          <a:stretch>
            <a:fillRect/>
          </a:stretch>
        </p:blipFill>
        <p:spPr>
          <a:xfrm>
            <a:off x="6189497" y="861552"/>
            <a:ext cx="2209709" cy="5105400"/>
          </a:xfrm>
          <a:prstGeom prst="rect">
            <a:avLst/>
          </a:prstGeom>
        </p:spPr>
      </p:pic>
    </p:spTree>
    <p:extLst>
      <p:ext uri="{BB962C8B-B14F-4D97-AF65-F5344CB8AC3E}">
        <p14:creationId xmlns:p14="http://schemas.microsoft.com/office/powerpoint/2010/main" val="3046206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3304-303F-3963-8ADB-01C828608B0B}"/>
              </a:ext>
            </a:extLst>
          </p:cNvPr>
          <p:cNvSpPr>
            <a:spLocks noGrp="1"/>
          </p:cNvSpPr>
          <p:nvPr>
            <p:ph type="title"/>
          </p:nvPr>
        </p:nvSpPr>
        <p:spPr/>
        <p:txBody>
          <a:bodyPr/>
          <a:lstStyle/>
          <a:p>
            <a:r>
              <a:rPr lang="en-US" dirty="0"/>
              <a:t>Visual Design Matters</a:t>
            </a:r>
          </a:p>
        </p:txBody>
      </p:sp>
      <p:sp>
        <p:nvSpPr>
          <p:cNvPr id="3" name="Content Placeholder 2">
            <a:extLst>
              <a:ext uri="{FF2B5EF4-FFF2-40B4-BE49-F238E27FC236}">
                <a16:creationId xmlns:a16="http://schemas.microsoft.com/office/drawing/2014/main" id="{B0E2B015-F4CC-C819-2260-2D980A93D6DB}"/>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5E799DEE-5B44-F597-3851-3FA3D2327BB9}"/>
              </a:ext>
            </a:extLst>
          </p:cNvPr>
          <p:cNvPicPr>
            <a:picLocks noChangeAspect="1"/>
          </p:cNvPicPr>
          <p:nvPr/>
        </p:nvPicPr>
        <p:blipFill>
          <a:blip r:embed="rId2"/>
          <a:stretch>
            <a:fillRect/>
          </a:stretch>
        </p:blipFill>
        <p:spPr>
          <a:xfrm>
            <a:off x="638121" y="1752600"/>
            <a:ext cx="7867758" cy="1187065"/>
          </a:xfrm>
          <a:prstGeom prst="rect">
            <a:avLst/>
          </a:prstGeom>
        </p:spPr>
      </p:pic>
      <p:pic>
        <p:nvPicPr>
          <p:cNvPr id="9" name="Picture 8">
            <a:extLst>
              <a:ext uri="{FF2B5EF4-FFF2-40B4-BE49-F238E27FC236}">
                <a16:creationId xmlns:a16="http://schemas.microsoft.com/office/drawing/2014/main" id="{39E5F58A-FF54-B64D-BDC1-1332DCF946C0}"/>
              </a:ext>
            </a:extLst>
          </p:cNvPr>
          <p:cNvPicPr>
            <a:picLocks noChangeAspect="1"/>
          </p:cNvPicPr>
          <p:nvPr/>
        </p:nvPicPr>
        <p:blipFill>
          <a:blip r:embed="rId3"/>
          <a:stretch>
            <a:fillRect/>
          </a:stretch>
        </p:blipFill>
        <p:spPr>
          <a:xfrm>
            <a:off x="2025444" y="3244465"/>
            <a:ext cx="5355293" cy="2918635"/>
          </a:xfrm>
          <a:prstGeom prst="rect">
            <a:avLst/>
          </a:prstGeom>
        </p:spPr>
      </p:pic>
    </p:spTree>
    <p:extLst>
      <p:ext uri="{BB962C8B-B14F-4D97-AF65-F5344CB8AC3E}">
        <p14:creationId xmlns:p14="http://schemas.microsoft.com/office/powerpoint/2010/main" val="423002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34E4A5B-B6BB-0CA3-1708-44D98C2C8541}"/>
              </a:ext>
            </a:extLst>
          </p:cNvPr>
          <p:cNvSpPr>
            <a:spLocks noGrp="1"/>
          </p:cNvSpPr>
          <p:nvPr>
            <p:ph type="title"/>
          </p:nvPr>
        </p:nvSpPr>
        <p:spPr>
          <a:xfrm>
            <a:off x="685800" y="304800"/>
            <a:ext cx="7772400" cy="1143000"/>
          </a:xfrm>
        </p:spPr>
        <p:txBody>
          <a:bodyPr/>
          <a:lstStyle/>
          <a:p>
            <a:r>
              <a:rPr lang="en-US" dirty="0"/>
              <a:t>Visual Design Matters</a:t>
            </a:r>
          </a:p>
        </p:txBody>
      </p:sp>
      <p:pic>
        <p:nvPicPr>
          <p:cNvPr id="5" name="Picture 4">
            <a:extLst>
              <a:ext uri="{FF2B5EF4-FFF2-40B4-BE49-F238E27FC236}">
                <a16:creationId xmlns:a16="http://schemas.microsoft.com/office/drawing/2014/main" id="{558040C0-6256-2917-FA28-2571399CE8D6}"/>
              </a:ext>
            </a:extLst>
          </p:cNvPr>
          <p:cNvPicPr>
            <a:picLocks noChangeAspect="1"/>
          </p:cNvPicPr>
          <p:nvPr/>
        </p:nvPicPr>
        <p:blipFill>
          <a:blip r:embed="rId2"/>
          <a:stretch>
            <a:fillRect/>
          </a:stretch>
        </p:blipFill>
        <p:spPr>
          <a:xfrm>
            <a:off x="2040115" y="1752600"/>
            <a:ext cx="5063770" cy="3962400"/>
          </a:xfrm>
          <a:prstGeom prst="rect">
            <a:avLst/>
          </a:prstGeom>
          <a:noFill/>
        </p:spPr>
      </p:pic>
      <p:sp>
        <p:nvSpPr>
          <p:cNvPr id="2" name="Rectangle 1">
            <a:extLst>
              <a:ext uri="{FF2B5EF4-FFF2-40B4-BE49-F238E27FC236}">
                <a16:creationId xmlns:a16="http://schemas.microsoft.com/office/drawing/2014/main" id="{A8343217-E218-6E10-7D1D-35BCBAA4ADD0}"/>
              </a:ext>
            </a:extLst>
          </p:cNvPr>
          <p:cNvSpPr/>
          <p:nvPr/>
        </p:nvSpPr>
        <p:spPr bwMode="auto">
          <a:xfrm>
            <a:off x="1817370" y="3348990"/>
            <a:ext cx="5646420" cy="254889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43721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A77AD1B-DA33-8B2F-2740-A276B906E697}"/>
              </a:ext>
            </a:extLst>
          </p:cNvPr>
          <p:cNvSpPr>
            <a:spLocks noGrp="1"/>
          </p:cNvSpPr>
          <p:nvPr>
            <p:ph type="title"/>
          </p:nvPr>
        </p:nvSpPr>
        <p:spPr>
          <a:xfrm>
            <a:off x="685800" y="304800"/>
            <a:ext cx="7772400" cy="1143000"/>
          </a:xfrm>
        </p:spPr>
        <p:txBody>
          <a:bodyPr/>
          <a:lstStyle/>
          <a:p>
            <a:r>
              <a:rPr lang="en-US" dirty="0"/>
              <a:t>Visual Design Matters</a:t>
            </a:r>
          </a:p>
        </p:txBody>
      </p:sp>
      <p:pic>
        <p:nvPicPr>
          <p:cNvPr id="5" name="Picture 4">
            <a:extLst>
              <a:ext uri="{FF2B5EF4-FFF2-40B4-BE49-F238E27FC236}">
                <a16:creationId xmlns:a16="http://schemas.microsoft.com/office/drawing/2014/main" id="{C09F0A49-B9AA-1BF3-D29C-F641B147CFFC}"/>
              </a:ext>
            </a:extLst>
          </p:cNvPr>
          <p:cNvPicPr>
            <a:picLocks noChangeAspect="1"/>
          </p:cNvPicPr>
          <p:nvPr/>
        </p:nvPicPr>
        <p:blipFill>
          <a:blip r:embed="rId2"/>
          <a:stretch>
            <a:fillRect/>
          </a:stretch>
        </p:blipFill>
        <p:spPr>
          <a:xfrm>
            <a:off x="685800" y="1907286"/>
            <a:ext cx="7772400" cy="3653027"/>
          </a:xfrm>
          <a:prstGeom prst="rect">
            <a:avLst/>
          </a:prstGeom>
          <a:noFill/>
        </p:spPr>
      </p:pic>
      <p:sp>
        <p:nvSpPr>
          <p:cNvPr id="2" name="Rectangle 1">
            <a:extLst>
              <a:ext uri="{FF2B5EF4-FFF2-40B4-BE49-F238E27FC236}">
                <a16:creationId xmlns:a16="http://schemas.microsoft.com/office/drawing/2014/main" id="{36AC5D9A-A97F-1F0C-D1C4-7B067F2DC548}"/>
              </a:ext>
            </a:extLst>
          </p:cNvPr>
          <p:cNvSpPr/>
          <p:nvPr/>
        </p:nvSpPr>
        <p:spPr bwMode="auto">
          <a:xfrm>
            <a:off x="400050" y="3733799"/>
            <a:ext cx="8183880" cy="254889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262409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D5B5D8-9A97-F229-BAE4-221412A3BDB1}"/>
              </a:ext>
            </a:extLst>
          </p:cNvPr>
          <p:cNvSpPr>
            <a:spLocks noGrp="1"/>
          </p:cNvSpPr>
          <p:nvPr>
            <p:ph type="title"/>
          </p:nvPr>
        </p:nvSpPr>
        <p:spPr>
          <a:xfrm>
            <a:off x="685800" y="304800"/>
            <a:ext cx="7772400" cy="1143000"/>
          </a:xfrm>
        </p:spPr>
        <p:txBody>
          <a:bodyPr/>
          <a:lstStyle/>
          <a:p>
            <a:r>
              <a:rPr lang="en-US" dirty="0"/>
              <a:t>Visual Design Matters</a:t>
            </a:r>
          </a:p>
        </p:txBody>
      </p:sp>
      <p:pic>
        <p:nvPicPr>
          <p:cNvPr id="5" name="Picture 4">
            <a:extLst>
              <a:ext uri="{FF2B5EF4-FFF2-40B4-BE49-F238E27FC236}">
                <a16:creationId xmlns:a16="http://schemas.microsoft.com/office/drawing/2014/main" id="{8F03D80B-D345-64D1-4999-20B46299E9A6}"/>
              </a:ext>
            </a:extLst>
          </p:cNvPr>
          <p:cNvPicPr>
            <a:picLocks noChangeAspect="1"/>
          </p:cNvPicPr>
          <p:nvPr/>
        </p:nvPicPr>
        <p:blipFill>
          <a:blip r:embed="rId2"/>
          <a:stretch>
            <a:fillRect/>
          </a:stretch>
        </p:blipFill>
        <p:spPr>
          <a:xfrm>
            <a:off x="685800" y="2247329"/>
            <a:ext cx="7772400" cy="2972942"/>
          </a:xfrm>
          <a:prstGeom prst="rect">
            <a:avLst/>
          </a:prstGeom>
          <a:noFill/>
        </p:spPr>
      </p:pic>
    </p:spTree>
    <p:extLst>
      <p:ext uri="{BB962C8B-B14F-4D97-AF65-F5344CB8AC3E}">
        <p14:creationId xmlns:p14="http://schemas.microsoft.com/office/powerpoint/2010/main" val="1688333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C8F7801-43AD-90EA-500F-2D0D0B935DB3}"/>
              </a:ext>
            </a:extLst>
          </p:cNvPr>
          <p:cNvSpPr>
            <a:spLocks noGrp="1"/>
          </p:cNvSpPr>
          <p:nvPr>
            <p:ph type="title"/>
          </p:nvPr>
        </p:nvSpPr>
        <p:spPr>
          <a:xfrm>
            <a:off x="685800" y="304800"/>
            <a:ext cx="7772400" cy="1143000"/>
          </a:xfrm>
        </p:spPr>
        <p:txBody>
          <a:bodyPr/>
          <a:lstStyle/>
          <a:p>
            <a:r>
              <a:rPr lang="en-US" dirty="0"/>
              <a:t>Visual Design Matters</a:t>
            </a:r>
          </a:p>
        </p:txBody>
      </p:sp>
      <p:pic>
        <p:nvPicPr>
          <p:cNvPr id="5" name="Picture 4">
            <a:extLst>
              <a:ext uri="{FF2B5EF4-FFF2-40B4-BE49-F238E27FC236}">
                <a16:creationId xmlns:a16="http://schemas.microsoft.com/office/drawing/2014/main" id="{0C421DEE-E8D0-B9CE-979A-9F2568A3154C}"/>
              </a:ext>
            </a:extLst>
          </p:cNvPr>
          <p:cNvPicPr>
            <a:picLocks noChangeAspect="1"/>
          </p:cNvPicPr>
          <p:nvPr/>
        </p:nvPicPr>
        <p:blipFill>
          <a:blip r:embed="rId2"/>
          <a:stretch>
            <a:fillRect/>
          </a:stretch>
        </p:blipFill>
        <p:spPr>
          <a:xfrm>
            <a:off x="685800" y="2218182"/>
            <a:ext cx="7772400" cy="3031235"/>
          </a:xfrm>
          <a:prstGeom prst="rect">
            <a:avLst/>
          </a:prstGeom>
          <a:noFill/>
        </p:spPr>
      </p:pic>
    </p:spTree>
    <p:extLst>
      <p:ext uri="{BB962C8B-B14F-4D97-AF65-F5344CB8AC3E}">
        <p14:creationId xmlns:p14="http://schemas.microsoft.com/office/powerpoint/2010/main" val="3894025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5F54C10-6EB3-527B-42C3-8AB601E2E610}"/>
              </a:ext>
            </a:extLst>
          </p:cNvPr>
          <p:cNvSpPr>
            <a:spLocks noGrp="1"/>
          </p:cNvSpPr>
          <p:nvPr>
            <p:ph type="title"/>
          </p:nvPr>
        </p:nvSpPr>
        <p:spPr>
          <a:xfrm>
            <a:off x="685800" y="304800"/>
            <a:ext cx="7772400" cy="1143000"/>
          </a:xfrm>
        </p:spPr>
        <p:txBody>
          <a:bodyPr/>
          <a:lstStyle/>
          <a:p>
            <a:r>
              <a:rPr lang="en-US" dirty="0"/>
              <a:t>Visual Design Matters</a:t>
            </a:r>
          </a:p>
        </p:txBody>
      </p:sp>
      <p:pic>
        <p:nvPicPr>
          <p:cNvPr id="5" name="Picture 4">
            <a:extLst>
              <a:ext uri="{FF2B5EF4-FFF2-40B4-BE49-F238E27FC236}">
                <a16:creationId xmlns:a16="http://schemas.microsoft.com/office/drawing/2014/main" id="{71B1551F-8E9F-5C77-1E54-E048A051317D}"/>
              </a:ext>
            </a:extLst>
          </p:cNvPr>
          <p:cNvPicPr>
            <a:picLocks noChangeAspect="1"/>
          </p:cNvPicPr>
          <p:nvPr/>
        </p:nvPicPr>
        <p:blipFill>
          <a:blip r:embed="rId2"/>
          <a:stretch>
            <a:fillRect/>
          </a:stretch>
        </p:blipFill>
        <p:spPr>
          <a:xfrm>
            <a:off x="685800" y="2189036"/>
            <a:ext cx="7772400" cy="3089528"/>
          </a:xfrm>
          <a:prstGeom prst="rect">
            <a:avLst/>
          </a:prstGeom>
          <a:noFill/>
        </p:spPr>
      </p:pic>
    </p:spTree>
    <p:extLst>
      <p:ext uri="{BB962C8B-B14F-4D97-AF65-F5344CB8AC3E}">
        <p14:creationId xmlns:p14="http://schemas.microsoft.com/office/powerpoint/2010/main" val="648537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390C3-D6F2-93E4-8547-991369283A3A}"/>
              </a:ext>
            </a:extLst>
          </p:cNvPr>
          <p:cNvSpPr>
            <a:spLocks noGrp="1"/>
          </p:cNvSpPr>
          <p:nvPr>
            <p:ph type="title"/>
          </p:nvPr>
        </p:nvSpPr>
        <p:spPr>
          <a:xfrm>
            <a:off x="685800" y="304800"/>
            <a:ext cx="7772400" cy="1143000"/>
          </a:xfrm>
        </p:spPr>
        <p:txBody>
          <a:bodyPr wrap="square" anchor="ctr">
            <a:normAutofit/>
          </a:bodyPr>
          <a:lstStyle/>
          <a:p>
            <a:r>
              <a:rPr lang="en-US" dirty="0"/>
              <a:t>Exercise</a:t>
            </a:r>
          </a:p>
        </p:txBody>
      </p:sp>
      <p:sp>
        <p:nvSpPr>
          <p:cNvPr id="10" name="Content Placeholder 2">
            <a:extLst>
              <a:ext uri="{FF2B5EF4-FFF2-40B4-BE49-F238E27FC236}">
                <a16:creationId xmlns:a16="http://schemas.microsoft.com/office/drawing/2014/main" id="{03CDFBFA-AF2B-06EF-FD52-07C977B88521}"/>
              </a:ext>
            </a:extLst>
          </p:cNvPr>
          <p:cNvSpPr>
            <a:spLocks noGrp="1"/>
          </p:cNvSpPr>
          <p:nvPr>
            <p:ph sz="half" idx="1"/>
          </p:nvPr>
        </p:nvSpPr>
        <p:spPr>
          <a:xfrm>
            <a:off x="685800" y="1752600"/>
            <a:ext cx="2637503" cy="3962400"/>
          </a:xfrm>
        </p:spPr>
        <p:txBody>
          <a:bodyPr/>
          <a:lstStyle/>
          <a:p>
            <a:pPr marL="0" indent="0">
              <a:buNone/>
            </a:pPr>
            <a:r>
              <a:rPr lang="en-US" dirty="0"/>
              <a:t>Check if any of those items can be improved and, if yes, how.</a:t>
            </a:r>
          </a:p>
        </p:txBody>
      </p:sp>
      <p:pic>
        <p:nvPicPr>
          <p:cNvPr id="5" name="Picture 4">
            <a:extLst>
              <a:ext uri="{FF2B5EF4-FFF2-40B4-BE49-F238E27FC236}">
                <a16:creationId xmlns:a16="http://schemas.microsoft.com/office/drawing/2014/main" id="{C04B1F35-B447-BDB3-10C8-CB0FF5C6CC72}"/>
              </a:ext>
            </a:extLst>
          </p:cNvPr>
          <p:cNvPicPr>
            <a:picLocks noChangeAspect="1"/>
          </p:cNvPicPr>
          <p:nvPr/>
        </p:nvPicPr>
        <p:blipFill>
          <a:blip r:embed="rId2"/>
          <a:stretch>
            <a:fillRect/>
          </a:stretch>
        </p:blipFill>
        <p:spPr>
          <a:xfrm>
            <a:off x="3451712" y="304800"/>
            <a:ext cx="5692288" cy="5929467"/>
          </a:xfrm>
          <a:prstGeom prst="rect">
            <a:avLst/>
          </a:prstGeom>
          <a:noFill/>
        </p:spPr>
      </p:pic>
    </p:spTree>
    <p:extLst>
      <p:ext uri="{BB962C8B-B14F-4D97-AF65-F5344CB8AC3E}">
        <p14:creationId xmlns:p14="http://schemas.microsoft.com/office/powerpoint/2010/main" val="525482214"/>
      </p:ext>
    </p:extLst>
  </p:cSld>
  <p:clrMapOvr>
    <a:masterClrMapping/>
  </p:clrMapOvr>
</p:sld>
</file>

<file path=ppt/theme/theme1.xml><?xml version="1.0" encoding="utf-8"?>
<a:theme xmlns:a="http://schemas.openxmlformats.org/drawingml/2006/main" name="UMN-yellow">
  <a:themeElements>
    <a:clrScheme name="Custom 1">
      <a:dk1>
        <a:sysClr val="windowText" lastClr="000000"/>
      </a:dk1>
      <a:lt1>
        <a:sysClr val="window" lastClr="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UMN-yellow" id="{DB2F7133-BA05-44A6-B8AE-F4ACBE427C16}" vid="{EB79D255-8E2F-4960-9A30-A0E24C4AC9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UMN-yellow</Template>
  <TotalTime>11695</TotalTime>
  <Words>1365</Words>
  <Application>Microsoft Macintosh PowerPoint</Application>
  <PresentationFormat>On-screen Show (4:3)</PresentationFormat>
  <Paragraphs>127</Paragraphs>
  <Slides>36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American Typewriter</vt:lpstr>
      <vt:lpstr>Aptos</vt:lpstr>
      <vt:lpstr>Arial</vt:lpstr>
      <vt:lpstr>Corbel</vt:lpstr>
      <vt:lpstr>Titillium Web</vt:lpstr>
      <vt:lpstr>Wingdings</vt:lpstr>
      <vt:lpstr>Wingdings 2</vt:lpstr>
      <vt:lpstr>UMN-yellow</vt:lpstr>
      <vt:lpstr>EPSY 5244: Survey Design, Sampling, and Implementation</vt:lpstr>
      <vt:lpstr>Reading materials</vt:lpstr>
      <vt:lpstr>Thinking About the Respondent’s Perspective</vt:lpstr>
      <vt:lpstr>Issues to Consider When Starting to Craft Survey Questions</vt:lpstr>
      <vt:lpstr>PowerPoint Presentation</vt:lpstr>
      <vt:lpstr>Issues to Consider When Starting to Craft Survey Questions</vt:lpstr>
      <vt:lpstr>Issues to Consider When Starting to Craft Survey Questions</vt:lpstr>
      <vt:lpstr>A common model of the survey response process</vt:lpstr>
      <vt:lpstr>Approaches To Item Writing</vt:lpstr>
      <vt:lpstr>Anatomy of a Survey Question</vt:lpstr>
      <vt:lpstr>Types of Question Formats</vt:lpstr>
      <vt:lpstr>Types of Question Formats</vt:lpstr>
      <vt:lpstr>Types of Question Formats</vt:lpstr>
      <vt:lpstr>Types of Question Formats</vt:lpstr>
      <vt:lpstr>Types of Question Formats</vt:lpstr>
      <vt:lpstr>Types of Question Formats</vt:lpstr>
      <vt:lpstr>Make sure the question applies to the respondent</vt:lpstr>
      <vt:lpstr>Ask one question at a time</vt:lpstr>
      <vt:lpstr>Use Simple and Familiar Words</vt:lpstr>
      <vt:lpstr>Use Simple and Familiar Words</vt:lpstr>
      <vt:lpstr>Use Specific and Concrete Words to Specify the Concepts Clearly</vt:lpstr>
      <vt:lpstr>Use Complete Sentences That Take a Question Form, and Use Simple Sentence Structures</vt:lpstr>
      <vt:lpstr>Make Sure “Yes” Means Yes and “No” Means No</vt:lpstr>
      <vt:lpstr>State both positive and negative sides in the question stem</vt:lpstr>
      <vt:lpstr>Check all that apply</vt:lpstr>
      <vt:lpstr>Provide balanced scales with categories that are evenly spaced conceptually</vt:lpstr>
      <vt:lpstr>Use clear language that leads to only one interpretation</vt:lpstr>
      <vt:lpstr>Don’t make your respondents do math.</vt:lpstr>
      <vt:lpstr>Visual Design Matters</vt:lpstr>
      <vt:lpstr>Visual Design Matters</vt:lpstr>
      <vt:lpstr>Visual Design Matters</vt:lpstr>
      <vt:lpstr>Visual Design Matters</vt:lpstr>
      <vt:lpstr>Visual Design Matters</vt:lpstr>
      <vt:lpstr>Visual Design Matters</vt:lpstr>
      <vt:lpstr>Visual Design Matters</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Wenchao Ma</dc:creator>
  <cp:lastModifiedBy>Wenchao Ma</cp:lastModifiedBy>
  <cp:revision>72</cp:revision>
  <dcterms:created xsi:type="dcterms:W3CDTF">2024-07-16T02:19:12Z</dcterms:created>
  <dcterms:modified xsi:type="dcterms:W3CDTF">2024-09-24T21:13:01Z</dcterms:modified>
</cp:coreProperties>
</file>