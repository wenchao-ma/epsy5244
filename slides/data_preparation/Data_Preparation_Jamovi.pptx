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313" r:id="rId3"/>
    <p:sldId id="314" r:id="rId4"/>
    <p:sldId id="315" r:id="rId5"/>
    <p:sldId id="272" r:id="rId6"/>
    <p:sldId id="263" r:id="rId7"/>
    <p:sldId id="316" r:id="rId8"/>
    <p:sldId id="317" r:id="rId9"/>
    <p:sldId id="318" r:id="rId10"/>
    <p:sldId id="319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342946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685891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028837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371783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1714729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057674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2400620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2743566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2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8515A-0B91-4614-87F0-0CA8FDD71300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D1FA5-6235-4B33-8690-DEF154940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4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ranja/Documents/5-resources/ppt/2018%20ppt-with%20R/new/working%20files/graphics_4x3-M-gold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87400"/>
            <a:ext cx="8001000" cy="1143000"/>
          </a:xfrm>
        </p:spPr>
        <p:txBody>
          <a:bodyPr/>
          <a:lstStyle>
            <a:lvl1pPr algn="l">
              <a:defRPr>
                <a:solidFill>
                  <a:srgbClr val="7A0019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921000"/>
            <a:ext cx="8001000" cy="6096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indent="0">
              <a:buNone/>
              <a:defRPr sz="1800">
                <a:solidFill>
                  <a:srgbClr val="FFFFFF"/>
                </a:solidFill>
              </a:defRPr>
            </a:lvl2pPr>
            <a:lvl3pPr marL="685891" indent="0">
              <a:buNone/>
              <a:defRPr sz="1800">
                <a:solidFill>
                  <a:srgbClr val="FFFFFF"/>
                </a:solidFill>
              </a:defRPr>
            </a:lvl3pPr>
            <a:lvl4pPr marL="1028837" indent="0">
              <a:buNone/>
              <a:defRPr sz="1800">
                <a:solidFill>
                  <a:srgbClr val="FFFFFF"/>
                </a:solidFill>
              </a:defRPr>
            </a:lvl4pPr>
            <a:lvl5pPr marL="1371783" indent="0"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Presenter/unit/department name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530600"/>
            <a:ext cx="8001000" cy="508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indent="0">
              <a:buNone/>
              <a:defRPr sz="1200">
                <a:solidFill>
                  <a:srgbClr val="FFFFFF"/>
                </a:solidFill>
              </a:defRPr>
            </a:lvl2pPr>
            <a:lvl3pPr marL="685891" indent="0">
              <a:buNone/>
              <a:defRPr sz="1200">
                <a:solidFill>
                  <a:srgbClr val="FFFFFF"/>
                </a:solidFill>
              </a:defRPr>
            </a:lvl3pPr>
            <a:lvl4pPr marL="1028837" indent="0">
              <a:buNone/>
              <a:defRPr sz="1200">
                <a:solidFill>
                  <a:srgbClr val="FFFFFF"/>
                </a:solidFill>
              </a:defRPr>
            </a:lvl4pPr>
            <a:lvl5pPr marL="1371783" indent="0">
              <a:buNone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s_4x3-M-gold.png" descr="/Users/ranja/Documents/5-resources/ppt/2018 ppt-with R/new/working files/graphics_4x3-M-gold.png">
            <a:extLst>
              <a:ext uri="{FF2B5EF4-FFF2-40B4-BE49-F238E27FC236}">
                <a16:creationId xmlns:a16="http://schemas.microsoft.com/office/drawing/2014/main" id="{BD85783E-02E7-AD5B-1B73-2B1DBD3BD5B1}"/>
              </a:ext>
            </a:extLst>
          </p:cNvPr>
          <p:cNvPicPr>
            <a:picLocks noChangeAspect="1"/>
          </p:cNvPicPr>
          <p:nvPr/>
        </p:nvPicPr>
        <p:blipFill rotWithShape="1">
          <a:blip r:embed="rId2" r:link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0000"/>
          <a:stretch>
            <a:fillRect/>
          </a:stretch>
        </p:blipFill>
        <p:spPr>
          <a:xfrm>
            <a:off x="0" y="6387041"/>
            <a:ext cx="9144000" cy="466344"/>
          </a:xfrm>
          <a:prstGeom prst="rect">
            <a:avLst/>
          </a:prstGeom>
        </p:spPr>
      </p:pic>
      <p:pic>
        <p:nvPicPr>
          <p:cNvPr id="5" name="Picture 4" descr="A cartoon of a beaver with a large letter&#10;&#10;Description automatically generated">
            <a:extLst>
              <a:ext uri="{FF2B5EF4-FFF2-40B4-BE49-F238E27FC236}">
                <a16:creationId xmlns:a16="http://schemas.microsoft.com/office/drawing/2014/main" id="{2A03D404-5F99-3C9D-E8C4-48EF1EA45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4" y="4956044"/>
            <a:ext cx="2743206" cy="190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46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806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5"/>
            <a:ext cx="7772400" cy="1362075"/>
          </a:xfrm>
        </p:spPr>
        <p:txBody>
          <a:bodyPr anchor="t"/>
          <a:lstStyle>
            <a:lvl1pPr algn="l">
              <a:defRPr sz="3000" b="0" i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46" indent="0">
              <a:buNone/>
              <a:defRPr sz="1400"/>
            </a:lvl2pPr>
            <a:lvl3pPr marL="685891" indent="0">
              <a:buNone/>
              <a:defRPr sz="1200"/>
            </a:lvl3pPr>
            <a:lvl4pPr marL="1028837" indent="0">
              <a:buNone/>
              <a:defRPr sz="1100"/>
            </a:lvl4pPr>
            <a:lvl5pPr marL="1371783" indent="0">
              <a:buNone/>
              <a:defRPr sz="1100"/>
            </a:lvl5pPr>
            <a:lvl6pPr marL="1714729" indent="0">
              <a:buNone/>
              <a:defRPr sz="1100"/>
            </a:lvl6pPr>
            <a:lvl7pPr marL="2057674" indent="0">
              <a:buNone/>
              <a:defRPr sz="1100"/>
            </a:lvl7pPr>
            <a:lvl8pPr marL="2400620" indent="0">
              <a:buNone/>
              <a:defRPr sz="1100"/>
            </a:lvl8pPr>
            <a:lvl9pPr marL="2743566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488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52600"/>
            <a:ext cx="38100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38100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521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7"/>
            <a:ext cx="4040188" cy="6397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46" indent="0">
              <a:buNone/>
              <a:defRPr sz="1500" b="1"/>
            </a:lvl2pPr>
            <a:lvl3pPr marL="685891" indent="0">
              <a:buNone/>
              <a:defRPr sz="1400" b="1"/>
            </a:lvl3pPr>
            <a:lvl4pPr marL="1028837" indent="0">
              <a:buNone/>
              <a:defRPr sz="1200" b="1"/>
            </a:lvl4pPr>
            <a:lvl5pPr marL="1371783" indent="0">
              <a:buNone/>
              <a:defRPr sz="1200" b="1"/>
            </a:lvl5pPr>
            <a:lvl6pPr marL="1714729" indent="0">
              <a:buNone/>
              <a:defRPr sz="1200" b="1"/>
            </a:lvl6pPr>
            <a:lvl7pPr marL="2057674" indent="0">
              <a:buNone/>
              <a:defRPr sz="1200" b="1"/>
            </a:lvl7pPr>
            <a:lvl8pPr marL="2400620" indent="0">
              <a:buNone/>
              <a:defRPr sz="1200" b="1"/>
            </a:lvl8pPr>
            <a:lvl9pPr marL="274356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7"/>
            <a:ext cx="4041775" cy="6397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46" indent="0">
              <a:buNone/>
              <a:defRPr sz="1500" b="1"/>
            </a:lvl2pPr>
            <a:lvl3pPr marL="685891" indent="0">
              <a:buNone/>
              <a:defRPr sz="1400" b="1"/>
            </a:lvl3pPr>
            <a:lvl4pPr marL="1028837" indent="0">
              <a:buNone/>
              <a:defRPr sz="1200" b="1"/>
            </a:lvl4pPr>
            <a:lvl5pPr marL="1371783" indent="0">
              <a:buNone/>
              <a:defRPr sz="1200" b="1"/>
            </a:lvl5pPr>
            <a:lvl6pPr marL="1714729" indent="0">
              <a:buNone/>
              <a:defRPr sz="1200" b="1"/>
            </a:lvl6pPr>
            <a:lvl7pPr marL="2057674" indent="0">
              <a:buNone/>
              <a:defRPr sz="1200" b="1"/>
            </a:lvl7pPr>
            <a:lvl8pPr marL="2400620" indent="0">
              <a:buNone/>
              <a:defRPr sz="1200" b="1"/>
            </a:lvl8pPr>
            <a:lvl9pPr marL="274356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695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5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40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3"/>
            <a:ext cx="3008313" cy="116205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7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4"/>
            <a:ext cx="3008313" cy="4691063"/>
          </a:xfrm>
        </p:spPr>
        <p:txBody>
          <a:bodyPr/>
          <a:lstStyle>
            <a:lvl1pPr marL="0" indent="0">
              <a:buNone/>
              <a:defRPr sz="1100"/>
            </a:lvl1pPr>
            <a:lvl2pPr marL="342946" indent="0">
              <a:buNone/>
              <a:defRPr sz="900"/>
            </a:lvl2pPr>
            <a:lvl3pPr marL="685891" indent="0">
              <a:buNone/>
              <a:defRPr sz="800"/>
            </a:lvl3pPr>
            <a:lvl4pPr marL="1028837" indent="0">
              <a:buNone/>
              <a:defRPr sz="700"/>
            </a:lvl4pPr>
            <a:lvl5pPr marL="1371783" indent="0">
              <a:buNone/>
              <a:defRPr sz="700"/>
            </a:lvl5pPr>
            <a:lvl6pPr marL="1714729" indent="0">
              <a:buNone/>
              <a:defRPr sz="700"/>
            </a:lvl6pPr>
            <a:lvl7pPr marL="2057674" indent="0">
              <a:buNone/>
              <a:defRPr sz="700"/>
            </a:lvl7pPr>
            <a:lvl8pPr marL="2400620" indent="0">
              <a:buNone/>
              <a:defRPr sz="700"/>
            </a:lvl8pPr>
            <a:lvl9pPr marL="274356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576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4"/>
            <a:ext cx="5486400" cy="56673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46" indent="0">
              <a:buNone/>
              <a:defRPr sz="2100"/>
            </a:lvl2pPr>
            <a:lvl3pPr marL="685891" indent="0">
              <a:buNone/>
              <a:defRPr sz="1800"/>
            </a:lvl3pPr>
            <a:lvl4pPr marL="1028837" indent="0">
              <a:buNone/>
              <a:defRPr sz="1500"/>
            </a:lvl4pPr>
            <a:lvl5pPr marL="1371783" indent="0">
              <a:buNone/>
              <a:defRPr sz="1500"/>
            </a:lvl5pPr>
            <a:lvl6pPr marL="1714729" indent="0">
              <a:buNone/>
              <a:defRPr sz="1500"/>
            </a:lvl6pPr>
            <a:lvl7pPr marL="2057674" indent="0">
              <a:buNone/>
              <a:defRPr sz="1500"/>
            </a:lvl7pPr>
            <a:lvl8pPr marL="2400620" indent="0">
              <a:buNone/>
              <a:defRPr sz="1500"/>
            </a:lvl8pPr>
            <a:lvl9pPr marL="2743566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100"/>
            </a:lvl1pPr>
            <a:lvl2pPr marL="342946" indent="0">
              <a:buNone/>
              <a:defRPr sz="900"/>
            </a:lvl2pPr>
            <a:lvl3pPr marL="685891" indent="0">
              <a:buNone/>
              <a:defRPr sz="800"/>
            </a:lvl3pPr>
            <a:lvl4pPr marL="1028837" indent="0">
              <a:buNone/>
              <a:defRPr sz="700"/>
            </a:lvl4pPr>
            <a:lvl5pPr marL="1371783" indent="0">
              <a:buNone/>
              <a:defRPr sz="700"/>
            </a:lvl5pPr>
            <a:lvl6pPr marL="1714729" indent="0">
              <a:buNone/>
              <a:defRPr sz="700"/>
            </a:lvl6pPr>
            <a:lvl7pPr marL="2057674" indent="0">
              <a:buNone/>
              <a:defRPr sz="700"/>
            </a:lvl7pPr>
            <a:lvl8pPr marL="2400620" indent="0">
              <a:buNone/>
              <a:defRPr sz="700"/>
            </a:lvl8pPr>
            <a:lvl9pPr marL="274356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319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533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1" y="304800"/>
            <a:ext cx="5676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1955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CF52-CB30-4F9E-9D7E-45368C680B4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32F8-B22C-4716-A5CD-F75827372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8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file://localhost/Users/ranja/Documents/5-resources/ppt/2018%20ppt-with%20R/new/working%20files/graphics_4x3-M-gold.png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9" tIns="34295" rIns="68589" bIns="3429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52600"/>
            <a:ext cx="777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9" tIns="34295" rIns="68589" bIns="34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graphics_4x3-M-gold.png" descr="/Users/ranja/Documents/5-resources/ppt/2018 ppt-with R/new/working files/graphics_4x3-M-gold.png"/>
          <p:cNvPicPr>
            <a:picLocks noChangeAspect="1"/>
          </p:cNvPicPr>
          <p:nvPr/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87041"/>
            <a:ext cx="9144000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79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0">
          <a:solidFill>
            <a:srgbClr val="7A0019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5pPr>
      <a:lvl6pPr marL="342946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6pPr>
      <a:lvl7pPr marL="685891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7pPr>
      <a:lvl8pPr marL="1028837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8pPr>
      <a:lvl9pPr marL="1371783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257209" indent="-257209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•"/>
        <a:defRPr sz="24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557287" indent="-214341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–"/>
        <a:defRPr sz="2100">
          <a:solidFill>
            <a:srgbClr val="595959"/>
          </a:solidFill>
          <a:latin typeface="+mn-lt"/>
          <a:ea typeface="ＭＳ Ｐゴシック" charset="0"/>
        </a:defRPr>
      </a:lvl2pPr>
      <a:lvl3pPr marL="857364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•"/>
        <a:defRPr sz="1800">
          <a:solidFill>
            <a:srgbClr val="595959"/>
          </a:solidFill>
          <a:latin typeface="+mn-lt"/>
          <a:ea typeface="ＭＳ Ｐゴシック" charset="0"/>
        </a:defRPr>
      </a:lvl3pPr>
      <a:lvl4pPr marL="1200310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–"/>
        <a:defRPr sz="1500">
          <a:solidFill>
            <a:srgbClr val="595959"/>
          </a:solidFill>
          <a:latin typeface="+mn-lt"/>
          <a:ea typeface="ＭＳ Ｐゴシック" charset="0"/>
        </a:defRPr>
      </a:lvl4pPr>
      <a:lvl5pPr marL="1543256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rgbClr val="595959"/>
          </a:solidFill>
          <a:latin typeface="+mn-lt"/>
          <a:ea typeface="ＭＳ Ｐゴシック" charset="0"/>
        </a:defRPr>
      </a:lvl5pPr>
      <a:lvl6pPr marL="1886201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9147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2093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5039" indent="-171473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46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91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37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83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729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74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620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566" algn="l" defTabSz="34294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C63CEA-ECFB-8FB9-7936-D3735F4AD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787400"/>
            <a:ext cx="8001000" cy="1143000"/>
          </a:xfrm>
        </p:spPr>
        <p:txBody>
          <a:bodyPr/>
          <a:lstStyle/>
          <a:p>
            <a:r>
              <a:rPr lang="en-US" dirty="0"/>
              <a:t>Post-survey Data Preparation Using </a:t>
            </a:r>
            <a:r>
              <a:rPr lang="en-US" dirty="0" err="1"/>
              <a:t>Jamovi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E72E56A-0A3A-B788-8297-1BB995DDE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2921000"/>
            <a:ext cx="8001000" cy="609600"/>
          </a:xfrm>
        </p:spPr>
        <p:txBody>
          <a:bodyPr/>
          <a:lstStyle/>
          <a:p>
            <a:r>
              <a:rPr lang="en-US" dirty="0"/>
              <a:t>Wenchao Ma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155853-A85B-BB76-67BF-5819505BBF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800" y="3530600"/>
            <a:ext cx="8001000" cy="50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0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DCFF-9A84-B0FC-8A9C-433583A2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65052-2546-B658-3F4D-496B8F57B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codebook is a document describing each variable in your dataset. </a:t>
            </a:r>
          </a:p>
          <a:p>
            <a:r>
              <a:rPr lang="en-US" dirty="0"/>
              <a:t>A codebook includes the following: </a:t>
            </a:r>
          </a:p>
          <a:p>
            <a:pPr lvl="1"/>
            <a:r>
              <a:rPr lang="en-US" dirty="0"/>
              <a:t>Variable names and labels. </a:t>
            </a:r>
          </a:p>
          <a:p>
            <a:pPr lvl="1"/>
            <a:r>
              <a:rPr lang="en-US" dirty="0"/>
              <a:t>Values/codes assigned to the variables and their labels. </a:t>
            </a:r>
          </a:p>
          <a:p>
            <a:pPr lvl="1"/>
            <a:r>
              <a:rPr lang="en-US" dirty="0"/>
              <a:t>Missing data codes. </a:t>
            </a:r>
          </a:p>
          <a:p>
            <a:pPr lvl="1"/>
            <a:r>
              <a:rPr lang="en-US" dirty="0"/>
              <a:t>Special instructions on how to use data. </a:t>
            </a:r>
          </a:p>
          <a:p>
            <a:pPr lvl="1"/>
            <a:r>
              <a:rPr lang="en-US" dirty="0"/>
              <a:t>Other relevant information.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C9484-37C2-D518-BCE3-B3525C45E7DC}"/>
              </a:ext>
            </a:extLst>
          </p:cNvPr>
          <p:cNvSpPr txBox="1"/>
          <p:nvPr/>
        </p:nvSpPr>
        <p:spPr>
          <a:xfrm>
            <a:off x="238998" y="6019800"/>
            <a:ext cx="890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https://ies.ed.gov/ncee/rel/regions/central/pdf/CE5.3.2-Guidelines-for-a-Codebook.pdf</a:t>
            </a:r>
          </a:p>
        </p:txBody>
      </p:sp>
    </p:spTree>
    <p:extLst>
      <p:ext uri="{BB962C8B-B14F-4D97-AF65-F5344CB8AC3E}">
        <p14:creationId xmlns:p14="http://schemas.microsoft.com/office/powerpoint/2010/main" val="1778365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C6A9-AB36-7A1D-5A8D-EF5B8213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F86D7-0B48-7F5D-4F8E-E7EC20DF0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Variable names </a:t>
            </a:r>
            <a:r>
              <a:rPr lang="en-US" dirty="0"/>
              <a:t>must be unique and short. If you will analyze data with a statistical program, the variable names cannot contain spaces and special characters. Use underscores instead of spaces. </a:t>
            </a:r>
          </a:p>
          <a:p>
            <a:r>
              <a:rPr lang="en-US" b="1" dirty="0"/>
              <a:t>Variable labels </a:t>
            </a:r>
            <a:r>
              <a:rPr lang="en-US" dirty="0"/>
              <a:t>describe the meaning of variables. A good label is concise but descriptive. </a:t>
            </a:r>
          </a:p>
          <a:p>
            <a:r>
              <a:rPr lang="en-US" b="1" dirty="0"/>
              <a:t>Values and labels </a:t>
            </a:r>
            <a:r>
              <a:rPr lang="en-US" dirty="0"/>
              <a:t>represent the contents of a variable. </a:t>
            </a:r>
          </a:p>
          <a:p>
            <a:pPr lvl="1"/>
            <a:r>
              <a:rPr lang="en-US" dirty="0"/>
              <a:t>For example, 0=remote work and 1=onsite work. </a:t>
            </a:r>
          </a:p>
          <a:p>
            <a:pPr lvl="1"/>
            <a:r>
              <a:rPr lang="en-US" dirty="0"/>
              <a:t>As a general rule, give numeric codes to categorical variables, and assign a unique value to each category. </a:t>
            </a:r>
          </a:p>
        </p:txBody>
      </p:sp>
    </p:spTree>
    <p:extLst>
      <p:ext uri="{BB962C8B-B14F-4D97-AF65-F5344CB8AC3E}">
        <p14:creationId xmlns:p14="http://schemas.microsoft.com/office/powerpoint/2010/main" val="147651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D956-9855-84C8-5491-C4E2C599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56C7-2DF9-254E-F6F4-96D245D1D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data usually have special codes and should be indicated in the codebook. </a:t>
            </a:r>
          </a:p>
          <a:p>
            <a:r>
              <a:rPr lang="en-US" dirty="0"/>
              <a:t>Missing data for continuous variables are represented with an impossible value such as −88, −99, or −999.</a:t>
            </a:r>
          </a:p>
          <a:p>
            <a:r>
              <a:rPr lang="en-US" dirty="0"/>
              <a:t>Different missing data may use different values.</a:t>
            </a:r>
          </a:p>
        </p:txBody>
      </p:sp>
    </p:spTree>
    <p:extLst>
      <p:ext uri="{BB962C8B-B14F-4D97-AF65-F5344CB8AC3E}">
        <p14:creationId xmlns:p14="http://schemas.microsoft.com/office/powerpoint/2010/main" val="320759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CAFB-8C51-E74D-B225-F26EDC4F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the data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80EB5-3F19-3B4D-871F-2CD8DC192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SPSS: </a:t>
            </a:r>
          </a:p>
          <a:p>
            <a:pPr lvl="1"/>
            <a:r>
              <a:rPr lang="en-US" dirty="0"/>
              <a:t>&gt; Open &gt; Browse &gt; </a:t>
            </a:r>
            <a:r>
              <a:rPr lang="en-US" dirty="0" err="1"/>
              <a:t>course_survey.xlsx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B15FD-0EB2-AB44-8E8D-1F93A0A6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B3D70-357F-034C-A407-504ED826F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C28EF7-59FF-7591-4F0C-9BBBD83D2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79" y="2673596"/>
            <a:ext cx="7772400" cy="334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8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Information: variable label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736A1-EB3C-3DBC-F1A1-C036707C5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-&gt; Description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656513" y="6375400"/>
            <a:ext cx="148748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BA7C83-7696-A1A5-0304-66E0F7001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5" y="2508271"/>
            <a:ext cx="5672470" cy="351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D86A-9925-0EF1-0BF7-7595F670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0A4AE-2B19-3724-405C-3D0EB08C4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63" y="1752600"/>
            <a:ext cx="2753793" cy="3962400"/>
          </a:xfrm>
        </p:spPr>
        <p:txBody>
          <a:bodyPr/>
          <a:lstStyle/>
          <a:p>
            <a:r>
              <a:rPr lang="en-US" dirty="0"/>
              <a:t>Variables -&gt; Edit</a:t>
            </a:r>
          </a:p>
          <a:p>
            <a:r>
              <a:rPr lang="en-US" dirty="0"/>
              <a:t>Change variable name</a:t>
            </a:r>
          </a:p>
          <a:p>
            <a:r>
              <a:rPr lang="en-US" dirty="0"/>
              <a:t>Change scale of measurement</a:t>
            </a:r>
          </a:p>
          <a:p>
            <a:r>
              <a:rPr lang="en-US" dirty="0"/>
              <a:t>Add missing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4E5DE-390F-D340-F903-91B1D1EAF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156" y="1752600"/>
            <a:ext cx="5656600" cy="355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16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945C-91A0-1AB3-1AE4-A308A1D2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DF03A-FD77-8520-09E9-F6E1AC0E3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variable labels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9DB570-9AD3-8428-CF6F-1E6CE9A83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61" y="2466753"/>
            <a:ext cx="5562478" cy="333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72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8091-29EF-3EB4-6BE7-6D0C63F3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table and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001CE-C46B-9591-BDE2-226CAA748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Analyses -&gt; Exploration -&gt; Descriptives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0CFE1-A52C-00D2-31A1-61AF5852A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27339"/>
            <a:ext cx="4476454" cy="3281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1ED6D2-717F-942B-5841-37F4CD239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456" y="2896965"/>
            <a:ext cx="5499617" cy="339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9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BF84-722F-8B11-DC89-D9E9F0C4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Bi-variable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F504D-8CCB-4B19-9258-1CD534DB3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Frequencies -&gt; </a:t>
            </a:r>
          </a:p>
          <a:p>
            <a:pPr marL="0" indent="0">
              <a:buNone/>
            </a:pPr>
            <a:r>
              <a:rPr lang="en-US" dirty="0" err="1"/>
              <a:t>Contigency</a:t>
            </a:r>
            <a:r>
              <a:rPr lang="en-US" dirty="0"/>
              <a:t> 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AFCC95-3BDA-4B74-6094-58844BFE2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04469"/>
            <a:ext cx="4433448" cy="3254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B32B7D-FD00-3588-64C7-87E6CEC42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52" y="3733800"/>
            <a:ext cx="6953364" cy="262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190472"/>
      </p:ext>
    </p:extLst>
  </p:cSld>
  <p:clrMapOvr>
    <a:masterClrMapping/>
  </p:clrMapOvr>
</p:sld>
</file>

<file path=ppt/theme/theme1.xml><?xml version="1.0" encoding="utf-8"?>
<a:theme xmlns:a="http://schemas.openxmlformats.org/drawingml/2006/main" name="UMN-yellow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D7D9D7"/>
      </a:lt2>
      <a:accent1>
        <a:srgbClr val="7A0019"/>
      </a:accent1>
      <a:accent2>
        <a:srgbClr val="FFCC33"/>
      </a:accent2>
      <a:accent3>
        <a:srgbClr val="C82936"/>
      </a:accent3>
      <a:accent4>
        <a:srgbClr val="003D4C"/>
      </a:accent4>
      <a:accent5>
        <a:srgbClr val="79C9C7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UMN-yellow" id="{DB2F7133-BA05-44A6-B8AE-F4ACBE427C16}" vid="{EB79D255-8E2F-4960-9A30-A0E24C4AC9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UMN-yellow</Template>
  <TotalTime>2807</TotalTime>
  <Words>284</Words>
  <Application>Microsoft Macintosh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Corbel</vt:lpstr>
      <vt:lpstr>UMN-yellow</vt:lpstr>
      <vt:lpstr>Post-survey Data Preparation Using Jamovi</vt:lpstr>
      <vt:lpstr>Enter data</vt:lpstr>
      <vt:lpstr>Enter data</vt:lpstr>
      <vt:lpstr>Enter data</vt:lpstr>
      <vt:lpstr>Open the data file</vt:lpstr>
      <vt:lpstr>Variable Information: variable label</vt:lpstr>
      <vt:lpstr>Variable Information</vt:lpstr>
      <vt:lpstr>Variable Information</vt:lpstr>
      <vt:lpstr>Frequency table and plots</vt:lpstr>
      <vt:lpstr>Bi-variable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Wenchao Ma</dc:creator>
  <cp:lastModifiedBy>Wenchao Ma</cp:lastModifiedBy>
  <cp:revision>7</cp:revision>
  <dcterms:created xsi:type="dcterms:W3CDTF">2024-08-22T20:57:51Z</dcterms:created>
  <dcterms:modified xsi:type="dcterms:W3CDTF">2026-04-29T20:17:57Z</dcterms:modified>
</cp:coreProperties>
</file>