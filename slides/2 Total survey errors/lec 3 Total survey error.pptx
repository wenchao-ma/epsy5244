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2" r:id="rId1"/>
  </p:sldMasterIdLst>
  <p:notesMasterIdLst>
    <p:notesMasterId r:id="rId35"/>
  </p:notesMasterIdLst>
  <p:sldIdLst>
    <p:sldId id="256" r:id="rId2"/>
    <p:sldId id="257" r:id="rId3"/>
    <p:sldId id="258" r:id="rId4"/>
    <p:sldId id="259" r:id="rId5"/>
    <p:sldId id="260" r:id="rId6"/>
    <p:sldId id="319" r:id="rId7"/>
    <p:sldId id="263" r:id="rId8"/>
    <p:sldId id="268" r:id="rId9"/>
    <p:sldId id="320" r:id="rId10"/>
    <p:sldId id="321" r:id="rId11"/>
    <p:sldId id="322" r:id="rId12"/>
    <p:sldId id="323" r:id="rId13"/>
    <p:sldId id="264" r:id="rId14"/>
    <p:sldId id="272" r:id="rId15"/>
    <p:sldId id="273" r:id="rId16"/>
    <p:sldId id="269" r:id="rId17"/>
    <p:sldId id="265" r:id="rId18"/>
    <p:sldId id="279" r:id="rId19"/>
    <p:sldId id="276" r:id="rId20"/>
    <p:sldId id="280" r:id="rId21"/>
    <p:sldId id="281" r:id="rId22"/>
    <p:sldId id="266" r:id="rId23"/>
    <p:sldId id="318" r:id="rId24"/>
    <p:sldId id="283" r:id="rId25"/>
    <p:sldId id="313" r:id="rId26"/>
    <p:sldId id="267" r:id="rId27"/>
    <p:sldId id="301" r:id="rId28"/>
    <p:sldId id="284" r:id="rId29"/>
    <p:sldId id="285" r:id="rId30"/>
    <p:sldId id="314" r:id="rId31"/>
    <p:sldId id="315" r:id="rId32"/>
    <p:sldId id="316" r:id="rId33"/>
    <p:sldId id="324" r:id="rId34"/>
  </p:sldIdLst>
  <p:sldSz cx="9144000" cy="6858000" type="screen4x3"/>
  <p:notesSz cx="6858000" cy="9144000"/>
  <p:defaultTextStyle>
    <a:defPPr>
      <a:defRPr lang="en-US"/>
    </a:defPPr>
    <a:lvl1pPr algn="l" rtl="0" eaLnBrk="0" fontAlgn="base" hangingPunct="0">
      <a:spcBef>
        <a:spcPct val="0"/>
      </a:spcBef>
      <a:spcAft>
        <a:spcPct val="0"/>
      </a:spcAft>
      <a:defRPr sz="1800" kern="1200">
        <a:solidFill>
          <a:schemeClr val="tx1"/>
        </a:solidFill>
        <a:latin typeface="Arial" charset="0"/>
        <a:ea typeface="ＭＳ Ｐゴシック" charset="0"/>
        <a:cs typeface="ＭＳ Ｐゴシック" charset="0"/>
      </a:defRPr>
    </a:lvl1pPr>
    <a:lvl2pPr marL="342946" algn="l" rtl="0" eaLnBrk="0" fontAlgn="base" hangingPunct="0">
      <a:spcBef>
        <a:spcPct val="0"/>
      </a:spcBef>
      <a:spcAft>
        <a:spcPct val="0"/>
      </a:spcAft>
      <a:defRPr sz="1800" kern="1200">
        <a:solidFill>
          <a:schemeClr val="tx1"/>
        </a:solidFill>
        <a:latin typeface="Arial" charset="0"/>
        <a:ea typeface="ＭＳ Ｐゴシック" charset="0"/>
        <a:cs typeface="ＭＳ Ｐゴシック" charset="0"/>
      </a:defRPr>
    </a:lvl2pPr>
    <a:lvl3pPr marL="685891" algn="l" rtl="0" eaLnBrk="0" fontAlgn="base" hangingPunct="0">
      <a:spcBef>
        <a:spcPct val="0"/>
      </a:spcBef>
      <a:spcAft>
        <a:spcPct val="0"/>
      </a:spcAft>
      <a:defRPr sz="1800" kern="1200">
        <a:solidFill>
          <a:schemeClr val="tx1"/>
        </a:solidFill>
        <a:latin typeface="Arial" charset="0"/>
        <a:ea typeface="ＭＳ Ｐゴシック" charset="0"/>
        <a:cs typeface="ＭＳ Ｐゴシック" charset="0"/>
      </a:defRPr>
    </a:lvl3pPr>
    <a:lvl4pPr marL="1028837" algn="l" rtl="0" eaLnBrk="0" fontAlgn="base" hangingPunct="0">
      <a:spcBef>
        <a:spcPct val="0"/>
      </a:spcBef>
      <a:spcAft>
        <a:spcPct val="0"/>
      </a:spcAft>
      <a:defRPr sz="1800" kern="1200">
        <a:solidFill>
          <a:schemeClr val="tx1"/>
        </a:solidFill>
        <a:latin typeface="Arial" charset="0"/>
        <a:ea typeface="ＭＳ Ｐゴシック" charset="0"/>
        <a:cs typeface="ＭＳ Ｐゴシック" charset="0"/>
      </a:defRPr>
    </a:lvl4pPr>
    <a:lvl5pPr marL="1371783" algn="l" rtl="0" eaLnBrk="0" fontAlgn="base" hangingPunct="0">
      <a:spcBef>
        <a:spcPct val="0"/>
      </a:spcBef>
      <a:spcAft>
        <a:spcPct val="0"/>
      </a:spcAft>
      <a:defRPr sz="1800" kern="1200">
        <a:solidFill>
          <a:schemeClr val="tx1"/>
        </a:solidFill>
        <a:latin typeface="Arial" charset="0"/>
        <a:ea typeface="ＭＳ Ｐゴシック" charset="0"/>
        <a:cs typeface="ＭＳ Ｐゴシック" charset="0"/>
      </a:defRPr>
    </a:lvl5pPr>
    <a:lvl6pPr marL="1714729" algn="l" defTabSz="342946" rtl="0" eaLnBrk="1" latinLnBrk="0" hangingPunct="1">
      <a:defRPr sz="1800" kern="1200">
        <a:solidFill>
          <a:schemeClr val="tx1"/>
        </a:solidFill>
        <a:latin typeface="Arial" charset="0"/>
        <a:ea typeface="ＭＳ Ｐゴシック" charset="0"/>
        <a:cs typeface="ＭＳ Ｐゴシック" charset="0"/>
      </a:defRPr>
    </a:lvl6pPr>
    <a:lvl7pPr marL="2057674" algn="l" defTabSz="342946" rtl="0" eaLnBrk="1" latinLnBrk="0" hangingPunct="1">
      <a:defRPr sz="1800" kern="1200">
        <a:solidFill>
          <a:schemeClr val="tx1"/>
        </a:solidFill>
        <a:latin typeface="Arial" charset="0"/>
        <a:ea typeface="ＭＳ Ｐゴシック" charset="0"/>
        <a:cs typeface="ＭＳ Ｐゴシック" charset="0"/>
      </a:defRPr>
    </a:lvl7pPr>
    <a:lvl8pPr marL="2400620" algn="l" defTabSz="342946" rtl="0" eaLnBrk="1" latinLnBrk="0" hangingPunct="1">
      <a:defRPr sz="1800" kern="1200">
        <a:solidFill>
          <a:schemeClr val="tx1"/>
        </a:solidFill>
        <a:latin typeface="Arial" charset="0"/>
        <a:ea typeface="ＭＳ Ｐゴシック" charset="0"/>
        <a:cs typeface="ＭＳ Ｐゴシック" charset="0"/>
      </a:defRPr>
    </a:lvl8pPr>
    <a:lvl9pPr marL="2743566" algn="l" defTabSz="342946" rtl="0" eaLnBrk="1" latinLnBrk="0" hangingPunct="1">
      <a:defRPr sz="1800" kern="1200">
        <a:solidFill>
          <a:schemeClr val="tx1"/>
        </a:solidFill>
        <a:latin typeface="Arial"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84" autoAdjust="0"/>
    <p:restoredTop sz="91233" autoAdjust="0"/>
  </p:normalViewPr>
  <p:slideViewPr>
    <p:cSldViewPr snapToGrid="0">
      <p:cViewPr varScale="1">
        <p:scale>
          <a:sx n="115" d="100"/>
          <a:sy n="115" d="100"/>
        </p:scale>
        <p:origin x="2144" y="20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B502BB0-23F5-6E4A-8391-C8FCA4782349}" type="doc">
      <dgm:prSet loTypeId="urn:microsoft.com/office/officeart/2005/8/layout/equation1" loCatId="" qsTypeId="urn:microsoft.com/office/officeart/2005/8/quickstyle/simple4" qsCatId="simple" csTypeId="urn:microsoft.com/office/officeart/2005/8/colors/accent1_2" csCatId="accent1" phldr="1"/>
      <dgm:spPr/>
    </dgm:pt>
    <dgm:pt modelId="{CAD0D0AB-52B4-214E-9B7E-FC1B6DB60EFE}">
      <dgm:prSet phldrT="[Text]"/>
      <dgm:spPr/>
      <dgm:t>
        <a:bodyPr/>
        <a:lstStyle/>
        <a:p>
          <a:r>
            <a:rPr lang="en-US" i="1" dirty="0"/>
            <a:t>X</a:t>
          </a:r>
        </a:p>
      </dgm:t>
    </dgm:pt>
    <dgm:pt modelId="{4C259A85-9816-CE49-B2DD-AA619334ED6C}" type="parTrans" cxnId="{F4428E4C-40C6-524C-AC44-7F8828B7A30E}">
      <dgm:prSet/>
      <dgm:spPr/>
      <dgm:t>
        <a:bodyPr/>
        <a:lstStyle/>
        <a:p>
          <a:endParaRPr lang="en-US"/>
        </a:p>
      </dgm:t>
    </dgm:pt>
    <dgm:pt modelId="{9026DF05-9925-5F4E-BA20-4AA2D9F57F08}" type="sibTrans" cxnId="{F4428E4C-40C6-524C-AC44-7F8828B7A30E}">
      <dgm:prSet/>
      <dgm:spPr/>
      <dgm:t>
        <a:bodyPr/>
        <a:lstStyle/>
        <a:p>
          <a:endParaRPr lang="en-US" dirty="0"/>
        </a:p>
      </dgm:t>
    </dgm:pt>
    <dgm:pt modelId="{ED7C9DA7-8623-1049-80C4-CC22DA7E6A4E}">
      <dgm:prSet phldrT="[Text]"/>
      <dgm:spPr/>
      <dgm:t>
        <a:bodyPr/>
        <a:lstStyle/>
        <a:p>
          <a:r>
            <a:rPr lang="en-US" i="1" dirty="0"/>
            <a:t>T</a:t>
          </a:r>
        </a:p>
      </dgm:t>
    </dgm:pt>
    <dgm:pt modelId="{95D43225-0CCC-F442-B1BF-04CA679E7A0D}" type="parTrans" cxnId="{E0C60A97-58D7-FD46-96AB-CCDF5065FD77}">
      <dgm:prSet/>
      <dgm:spPr/>
      <dgm:t>
        <a:bodyPr/>
        <a:lstStyle/>
        <a:p>
          <a:endParaRPr lang="en-US"/>
        </a:p>
      </dgm:t>
    </dgm:pt>
    <dgm:pt modelId="{A6B6C7E0-017B-9548-9FB1-EAFBC27FA8B6}" type="sibTrans" cxnId="{E0C60A97-58D7-FD46-96AB-CCDF5065FD77}">
      <dgm:prSet/>
      <dgm:spPr/>
      <dgm:t>
        <a:bodyPr/>
        <a:lstStyle/>
        <a:p>
          <a:endParaRPr lang="en-US" dirty="0"/>
        </a:p>
      </dgm:t>
    </dgm:pt>
    <dgm:pt modelId="{FA2F6BEE-02CC-AB45-B2F6-3AEE699A31A2}">
      <dgm:prSet phldrT="[Text]"/>
      <dgm:spPr/>
      <dgm:t>
        <a:bodyPr/>
        <a:lstStyle/>
        <a:p>
          <a:r>
            <a:rPr lang="en-US" i="1" dirty="0"/>
            <a:t>E</a:t>
          </a:r>
        </a:p>
      </dgm:t>
    </dgm:pt>
    <dgm:pt modelId="{63532A3F-C5DB-1848-B422-C0D9C11AC9EF}" type="parTrans" cxnId="{0F78AEA8-6AA0-664D-A394-98AE78DD026C}">
      <dgm:prSet/>
      <dgm:spPr/>
      <dgm:t>
        <a:bodyPr/>
        <a:lstStyle/>
        <a:p>
          <a:endParaRPr lang="en-US"/>
        </a:p>
      </dgm:t>
    </dgm:pt>
    <dgm:pt modelId="{E8A2030F-0D38-4742-894C-37FA0CED299B}" type="sibTrans" cxnId="{0F78AEA8-6AA0-664D-A394-98AE78DD026C}">
      <dgm:prSet/>
      <dgm:spPr/>
      <dgm:t>
        <a:bodyPr/>
        <a:lstStyle/>
        <a:p>
          <a:endParaRPr lang="en-US"/>
        </a:p>
      </dgm:t>
    </dgm:pt>
    <dgm:pt modelId="{920C3595-FEB5-6842-BA59-5D9F527329FA}" type="pres">
      <dgm:prSet presAssocID="{9B502BB0-23F5-6E4A-8391-C8FCA4782349}" presName="linearFlow" presStyleCnt="0">
        <dgm:presLayoutVars>
          <dgm:dir/>
          <dgm:resizeHandles val="exact"/>
        </dgm:presLayoutVars>
      </dgm:prSet>
      <dgm:spPr/>
    </dgm:pt>
    <dgm:pt modelId="{A153D6DB-ADC1-1041-ABAD-9FA297C35A51}" type="pres">
      <dgm:prSet presAssocID="{CAD0D0AB-52B4-214E-9B7E-FC1B6DB60EFE}" presName="node" presStyleLbl="node1" presStyleIdx="0" presStyleCnt="3">
        <dgm:presLayoutVars>
          <dgm:bulletEnabled val="1"/>
        </dgm:presLayoutVars>
      </dgm:prSet>
      <dgm:spPr/>
    </dgm:pt>
    <dgm:pt modelId="{B85FD462-6846-734A-A711-B6CC66890935}" type="pres">
      <dgm:prSet presAssocID="{9026DF05-9925-5F4E-BA20-4AA2D9F57F08}" presName="spacerL" presStyleCnt="0"/>
      <dgm:spPr/>
    </dgm:pt>
    <dgm:pt modelId="{D7A55BEF-90AE-4E4F-BEF5-C9C6FCE1F744}" type="pres">
      <dgm:prSet presAssocID="{9026DF05-9925-5F4E-BA20-4AA2D9F57F08}" presName="sibTrans" presStyleLbl="sibTrans2D1" presStyleIdx="0" presStyleCnt="2" custLinFactX="254895" custLinFactNeighborX="300000" custLinFactNeighborY="-8013"/>
      <dgm:spPr/>
    </dgm:pt>
    <dgm:pt modelId="{C94C90CF-AC32-EB4C-A013-F9650371FFAA}" type="pres">
      <dgm:prSet presAssocID="{9026DF05-9925-5F4E-BA20-4AA2D9F57F08}" presName="spacerR" presStyleCnt="0"/>
      <dgm:spPr/>
    </dgm:pt>
    <dgm:pt modelId="{EB5E5D3D-0567-2B4E-A7E0-8F3C16D878CE}" type="pres">
      <dgm:prSet presAssocID="{ED7C9DA7-8623-1049-80C4-CC22DA7E6A4E}" presName="node" presStyleLbl="node1" presStyleIdx="1" presStyleCnt="3">
        <dgm:presLayoutVars>
          <dgm:bulletEnabled val="1"/>
        </dgm:presLayoutVars>
      </dgm:prSet>
      <dgm:spPr/>
    </dgm:pt>
    <dgm:pt modelId="{B6C56093-6CEB-644E-A62D-912466E12354}" type="pres">
      <dgm:prSet presAssocID="{A6B6C7E0-017B-9548-9FB1-EAFBC27FA8B6}" presName="spacerL" presStyleCnt="0"/>
      <dgm:spPr/>
    </dgm:pt>
    <dgm:pt modelId="{13B891B2-059D-174D-8E08-E78FFEDDE494}" type="pres">
      <dgm:prSet presAssocID="{A6B6C7E0-017B-9548-9FB1-EAFBC27FA8B6}" presName="sibTrans" presStyleLbl="sibTrans2D1" presStyleIdx="1" presStyleCnt="2" custLinFactX="-261251" custLinFactNeighborX="-300000" custLinFactNeighborY="1656"/>
      <dgm:spPr/>
    </dgm:pt>
    <dgm:pt modelId="{22646196-33B4-194E-88AA-3DF51773D5DC}" type="pres">
      <dgm:prSet presAssocID="{A6B6C7E0-017B-9548-9FB1-EAFBC27FA8B6}" presName="spacerR" presStyleCnt="0"/>
      <dgm:spPr/>
    </dgm:pt>
    <dgm:pt modelId="{EE603BC4-9010-5D4B-9A03-E80A74EA2877}" type="pres">
      <dgm:prSet presAssocID="{FA2F6BEE-02CC-AB45-B2F6-3AEE699A31A2}" presName="node" presStyleLbl="node1" presStyleIdx="2" presStyleCnt="3">
        <dgm:presLayoutVars>
          <dgm:bulletEnabled val="1"/>
        </dgm:presLayoutVars>
      </dgm:prSet>
      <dgm:spPr/>
    </dgm:pt>
  </dgm:ptLst>
  <dgm:cxnLst>
    <dgm:cxn modelId="{1216972E-8DBE-2B41-BC38-EA67CEA20C52}" type="presOf" srcId="{CAD0D0AB-52B4-214E-9B7E-FC1B6DB60EFE}" destId="{A153D6DB-ADC1-1041-ABAD-9FA297C35A51}" srcOrd="0" destOrd="0" presId="urn:microsoft.com/office/officeart/2005/8/layout/equation1"/>
    <dgm:cxn modelId="{F4428E4C-40C6-524C-AC44-7F8828B7A30E}" srcId="{9B502BB0-23F5-6E4A-8391-C8FCA4782349}" destId="{CAD0D0AB-52B4-214E-9B7E-FC1B6DB60EFE}" srcOrd="0" destOrd="0" parTransId="{4C259A85-9816-CE49-B2DD-AA619334ED6C}" sibTransId="{9026DF05-9925-5F4E-BA20-4AA2D9F57F08}"/>
    <dgm:cxn modelId="{C6FDA57E-A866-8148-B7E2-3A57228809E6}" type="presOf" srcId="{FA2F6BEE-02CC-AB45-B2F6-3AEE699A31A2}" destId="{EE603BC4-9010-5D4B-9A03-E80A74EA2877}" srcOrd="0" destOrd="0" presId="urn:microsoft.com/office/officeart/2005/8/layout/equation1"/>
    <dgm:cxn modelId="{EEED6680-DABC-9E4E-B8F3-03E6DA273FE3}" type="presOf" srcId="{A6B6C7E0-017B-9548-9FB1-EAFBC27FA8B6}" destId="{13B891B2-059D-174D-8E08-E78FFEDDE494}" srcOrd="0" destOrd="0" presId="urn:microsoft.com/office/officeart/2005/8/layout/equation1"/>
    <dgm:cxn modelId="{E0C60A97-58D7-FD46-96AB-CCDF5065FD77}" srcId="{9B502BB0-23F5-6E4A-8391-C8FCA4782349}" destId="{ED7C9DA7-8623-1049-80C4-CC22DA7E6A4E}" srcOrd="1" destOrd="0" parTransId="{95D43225-0CCC-F442-B1BF-04CA679E7A0D}" sibTransId="{A6B6C7E0-017B-9548-9FB1-EAFBC27FA8B6}"/>
    <dgm:cxn modelId="{5543409E-A007-AF47-B360-DF0C2CDD3E4E}" type="presOf" srcId="{9026DF05-9925-5F4E-BA20-4AA2D9F57F08}" destId="{D7A55BEF-90AE-4E4F-BEF5-C9C6FCE1F744}" srcOrd="0" destOrd="0" presId="urn:microsoft.com/office/officeart/2005/8/layout/equation1"/>
    <dgm:cxn modelId="{0F78AEA8-6AA0-664D-A394-98AE78DD026C}" srcId="{9B502BB0-23F5-6E4A-8391-C8FCA4782349}" destId="{FA2F6BEE-02CC-AB45-B2F6-3AEE699A31A2}" srcOrd="2" destOrd="0" parTransId="{63532A3F-C5DB-1848-B422-C0D9C11AC9EF}" sibTransId="{E8A2030F-0D38-4742-894C-37FA0CED299B}"/>
    <dgm:cxn modelId="{FF419CE1-5018-224C-BF56-A69093EF85ED}" type="presOf" srcId="{ED7C9DA7-8623-1049-80C4-CC22DA7E6A4E}" destId="{EB5E5D3D-0567-2B4E-A7E0-8F3C16D878CE}" srcOrd="0" destOrd="0" presId="urn:microsoft.com/office/officeart/2005/8/layout/equation1"/>
    <dgm:cxn modelId="{59CA9EEA-902A-3C40-9CE2-E0F92FD845DB}" type="presOf" srcId="{9B502BB0-23F5-6E4A-8391-C8FCA4782349}" destId="{920C3595-FEB5-6842-BA59-5D9F527329FA}" srcOrd="0" destOrd="0" presId="urn:microsoft.com/office/officeart/2005/8/layout/equation1"/>
    <dgm:cxn modelId="{7EFBE727-C6E9-D64D-AB47-4165DDD8A319}" type="presParOf" srcId="{920C3595-FEB5-6842-BA59-5D9F527329FA}" destId="{A153D6DB-ADC1-1041-ABAD-9FA297C35A51}" srcOrd="0" destOrd="0" presId="urn:microsoft.com/office/officeart/2005/8/layout/equation1"/>
    <dgm:cxn modelId="{CA4A729B-CCAC-E846-966F-58F3DDBD1218}" type="presParOf" srcId="{920C3595-FEB5-6842-BA59-5D9F527329FA}" destId="{B85FD462-6846-734A-A711-B6CC66890935}" srcOrd="1" destOrd="0" presId="urn:microsoft.com/office/officeart/2005/8/layout/equation1"/>
    <dgm:cxn modelId="{49F7D01A-EFFE-4A41-8276-FFBE5CE3E5AC}" type="presParOf" srcId="{920C3595-FEB5-6842-BA59-5D9F527329FA}" destId="{D7A55BEF-90AE-4E4F-BEF5-C9C6FCE1F744}" srcOrd="2" destOrd="0" presId="urn:microsoft.com/office/officeart/2005/8/layout/equation1"/>
    <dgm:cxn modelId="{95B01B08-6FCC-8843-B804-07B9EAB7CF8B}" type="presParOf" srcId="{920C3595-FEB5-6842-BA59-5D9F527329FA}" destId="{C94C90CF-AC32-EB4C-A013-F9650371FFAA}" srcOrd="3" destOrd="0" presId="urn:microsoft.com/office/officeart/2005/8/layout/equation1"/>
    <dgm:cxn modelId="{4EBDA1B7-F45A-8A46-98C2-EA4E453EA66F}" type="presParOf" srcId="{920C3595-FEB5-6842-BA59-5D9F527329FA}" destId="{EB5E5D3D-0567-2B4E-A7E0-8F3C16D878CE}" srcOrd="4" destOrd="0" presId="urn:microsoft.com/office/officeart/2005/8/layout/equation1"/>
    <dgm:cxn modelId="{785647D1-B9F5-0346-BEA7-E6CC64C696B3}" type="presParOf" srcId="{920C3595-FEB5-6842-BA59-5D9F527329FA}" destId="{B6C56093-6CEB-644E-A62D-912466E12354}" srcOrd="5" destOrd="0" presId="urn:microsoft.com/office/officeart/2005/8/layout/equation1"/>
    <dgm:cxn modelId="{2A7ADF27-D643-354D-9DF2-F7FC7895FBAC}" type="presParOf" srcId="{920C3595-FEB5-6842-BA59-5D9F527329FA}" destId="{13B891B2-059D-174D-8E08-E78FFEDDE494}" srcOrd="6" destOrd="0" presId="urn:microsoft.com/office/officeart/2005/8/layout/equation1"/>
    <dgm:cxn modelId="{7B185554-C79D-5547-BD83-4FC68BF08A12}" type="presParOf" srcId="{920C3595-FEB5-6842-BA59-5D9F527329FA}" destId="{22646196-33B4-194E-88AA-3DF51773D5DC}" srcOrd="7" destOrd="0" presId="urn:microsoft.com/office/officeart/2005/8/layout/equation1"/>
    <dgm:cxn modelId="{E7CB75C9-0983-CC42-B89E-44E257084E77}" type="presParOf" srcId="{920C3595-FEB5-6842-BA59-5D9F527329FA}" destId="{EE603BC4-9010-5D4B-9A03-E80A74EA2877}" srcOrd="8" destOrd="0" presId="urn:microsoft.com/office/officeart/2005/8/layout/equati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664D59B-FDAE-D340-A9E6-DA58842CC32C}" type="doc">
      <dgm:prSet loTypeId="urn:microsoft.com/office/officeart/2005/8/layout/vList5" loCatId="" qsTypeId="urn:microsoft.com/office/officeart/2005/8/quickstyle/simple2" qsCatId="simple" csTypeId="urn:microsoft.com/office/officeart/2005/8/colors/colorful3" csCatId="colorful" phldr="1"/>
      <dgm:spPr/>
      <dgm:t>
        <a:bodyPr/>
        <a:lstStyle/>
        <a:p>
          <a:endParaRPr lang="en-US"/>
        </a:p>
      </dgm:t>
    </dgm:pt>
    <dgm:pt modelId="{341B6102-0F06-C845-AD32-4166D139A504}">
      <dgm:prSet phldrT="[Text]"/>
      <dgm:spPr/>
      <dgm:t>
        <a:bodyPr/>
        <a:lstStyle/>
        <a:p>
          <a:r>
            <a:rPr lang="en-US" dirty="0"/>
            <a:t>Random error</a:t>
          </a:r>
        </a:p>
      </dgm:t>
    </dgm:pt>
    <dgm:pt modelId="{3520556F-BF6A-FE46-BD5A-A8C2FF3FD7D4}" type="parTrans" cxnId="{E3410956-1ED5-824F-9049-A19DC3E9B274}">
      <dgm:prSet/>
      <dgm:spPr/>
      <dgm:t>
        <a:bodyPr/>
        <a:lstStyle/>
        <a:p>
          <a:endParaRPr lang="en-US"/>
        </a:p>
      </dgm:t>
    </dgm:pt>
    <dgm:pt modelId="{3FCA53CE-866B-0F41-8B51-E9D19E409EE3}" type="sibTrans" cxnId="{E3410956-1ED5-824F-9049-A19DC3E9B274}">
      <dgm:prSet/>
      <dgm:spPr/>
      <dgm:t>
        <a:bodyPr/>
        <a:lstStyle/>
        <a:p>
          <a:endParaRPr lang="en-US"/>
        </a:p>
      </dgm:t>
    </dgm:pt>
    <dgm:pt modelId="{7D2654D3-CE6D-7F4B-BB5E-F88C2BE85ED0}">
      <dgm:prSet phldrT="[Text]"/>
      <dgm:spPr/>
      <dgm:t>
        <a:bodyPr/>
        <a:lstStyle/>
        <a:p>
          <a:r>
            <a:rPr lang="en-US" dirty="0"/>
            <a:t>Systematic error</a:t>
          </a:r>
        </a:p>
      </dgm:t>
    </dgm:pt>
    <dgm:pt modelId="{BF80939B-3747-1C47-849D-3B0238ABF634}" type="parTrans" cxnId="{54D142F6-BC69-2344-A269-4F8C4E766B1D}">
      <dgm:prSet/>
      <dgm:spPr/>
      <dgm:t>
        <a:bodyPr/>
        <a:lstStyle/>
        <a:p>
          <a:endParaRPr lang="en-US"/>
        </a:p>
      </dgm:t>
    </dgm:pt>
    <dgm:pt modelId="{7CCA0EAD-A7FF-9543-A22B-BB48B1C5F065}" type="sibTrans" cxnId="{54D142F6-BC69-2344-A269-4F8C4E766B1D}">
      <dgm:prSet/>
      <dgm:spPr/>
      <dgm:t>
        <a:bodyPr/>
        <a:lstStyle/>
        <a:p>
          <a:endParaRPr lang="en-US"/>
        </a:p>
      </dgm:t>
    </dgm:pt>
    <dgm:pt modelId="{A3A68BAA-D678-564C-9392-1591437284FD}">
      <dgm:prSet phldrT="[Text]"/>
      <dgm:spPr/>
      <dgm:t>
        <a:bodyPr/>
        <a:lstStyle/>
        <a:p>
          <a:r>
            <a:rPr lang="en-US" dirty="0"/>
            <a:t>Random in nature</a:t>
          </a:r>
        </a:p>
      </dgm:t>
    </dgm:pt>
    <dgm:pt modelId="{9031FAC8-A9F7-324C-8A98-447130A7DACE}" type="parTrans" cxnId="{4753E822-4244-A743-B32E-6EFAA9B64BCE}">
      <dgm:prSet/>
      <dgm:spPr/>
      <dgm:t>
        <a:bodyPr/>
        <a:lstStyle/>
        <a:p>
          <a:endParaRPr lang="en-US"/>
        </a:p>
      </dgm:t>
    </dgm:pt>
    <dgm:pt modelId="{492DBC69-E6D9-D84C-B10C-617DC3549DCB}" type="sibTrans" cxnId="{4753E822-4244-A743-B32E-6EFAA9B64BCE}">
      <dgm:prSet/>
      <dgm:spPr/>
      <dgm:t>
        <a:bodyPr/>
        <a:lstStyle/>
        <a:p>
          <a:endParaRPr lang="en-US"/>
        </a:p>
      </dgm:t>
    </dgm:pt>
    <dgm:pt modelId="{443538B0-2FAE-B848-B95C-8663D18BC1F4}">
      <dgm:prSet phldrT="[Text]"/>
      <dgm:spPr/>
      <dgm:t>
        <a:bodyPr/>
        <a:lstStyle/>
        <a:p>
          <a:r>
            <a:rPr lang="en-US" dirty="0"/>
            <a:t>Occurs when source of error always increase or decrease a true score</a:t>
          </a:r>
        </a:p>
      </dgm:t>
    </dgm:pt>
    <dgm:pt modelId="{04A49004-F404-C141-8308-462B1DF5F9B6}" type="parTrans" cxnId="{B448B60C-6BE9-BA47-B7BE-8BEA5A6B74B6}">
      <dgm:prSet/>
      <dgm:spPr/>
      <dgm:t>
        <a:bodyPr/>
        <a:lstStyle/>
        <a:p>
          <a:endParaRPr lang="en-US"/>
        </a:p>
      </dgm:t>
    </dgm:pt>
    <dgm:pt modelId="{06C0A859-0501-3E42-8689-B51830DB2940}" type="sibTrans" cxnId="{B448B60C-6BE9-BA47-B7BE-8BEA5A6B74B6}">
      <dgm:prSet/>
      <dgm:spPr/>
      <dgm:t>
        <a:bodyPr/>
        <a:lstStyle/>
        <a:p>
          <a:endParaRPr lang="en-US"/>
        </a:p>
      </dgm:t>
    </dgm:pt>
    <dgm:pt modelId="{7F91351C-52D0-5349-B53E-20B2E2DD0669}">
      <dgm:prSet phldrT="[Text]"/>
      <dgm:spPr/>
      <dgm:t>
        <a:bodyPr/>
        <a:lstStyle/>
        <a:p>
          <a:r>
            <a:rPr lang="en-US" dirty="0"/>
            <a:t>Will increase and decrease a person’s score by exactly the same amount with infinite testing</a:t>
          </a:r>
        </a:p>
      </dgm:t>
    </dgm:pt>
    <dgm:pt modelId="{00417314-2FE5-BA46-94A0-1B09D1ED3C87}" type="parTrans" cxnId="{B0E1D04F-7916-CA46-A4A7-8EC68406E560}">
      <dgm:prSet/>
      <dgm:spPr/>
      <dgm:t>
        <a:bodyPr/>
        <a:lstStyle/>
        <a:p>
          <a:endParaRPr lang="en-US"/>
        </a:p>
      </dgm:t>
    </dgm:pt>
    <dgm:pt modelId="{DAC0D98D-2AB5-7649-94F9-6717A6419EFF}" type="sibTrans" cxnId="{B0E1D04F-7916-CA46-A4A7-8EC68406E560}">
      <dgm:prSet/>
      <dgm:spPr/>
      <dgm:t>
        <a:bodyPr/>
        <a:lstStyle/>
        <a:p>
          <a:endParaRPr lang="en-US"/>
        </a:p>
      </dgm:t>
    </dgm:pt>
    <dgm:pt modelId="{7FB59E44-EFA7-9249-8849-6AF1FCC81AD4}">
      <dgm:prSet phldrT="[Text]"/>
      <dgm:spPr/>
      <dgm:t>
        <a:bodyPr/>
        <a:lstStyle/>
        <a:p>
          <a:r>
            <a:rPr lang="en-US" dirty="0"/>
            <a:t>Cancels itself out </a:t>
          </a:r>
        </a:p>
      </dgm:t>
    </dgm:pt>
    <dgm:pt modelId="{CACE2275-40E7-F346-828C-4E7A30883100}" type="parTrans" cxnId="{FE47A2DF-1CA4-044A-8199-582F03876383}">
      <dgm:prSet/>
      <dgm:spPr/>
      <dgm:t>
        <a:bodyPr/>
        <a:lstStyle/>
        <a:p>
          <a:endParaRPr lang="en-US"/>
        </a:p>
      </dgm:t>
    </dgm:pt>
    <dgm:pt modelId="{98A16E4E-8689-F647-AFAB-34F95888C38A}" type="sibTrans" cxnId="{FE47A2DF-1CA4-044A-8199-582F03876383}">
      <dgm:prSet/>
      <dgm:spPr/>
      <dgm:t>
        <a:bodyPr/>
        <a:lstStyle/>
        <a:p>
          <a:endParaRPr lang="en-US"/>
        </a:p>
      </dgm:t>
    </dgm:pt>
    <dgm:pt modelId="{0F099E92-289E-954A-91C6-F4A7C0730C0C}">
      <dgm:prSet phldrT="[Text]"/>
      <dgm:spPr/>
      <dgm:t>
        <a:bodyPr/>
        <a:lstStyle/>
        <a:p>
          <a:r>
            <a:rPr lang="en-US" dirty="0"/>
            <a:t>Lowers reliability of a test</a:t>
          </a:r>
        </a:p>
      </dgm:t>
    </dgm:pt>
    <dgm:pt modelId="{48458A80-5318-9C42-85CB-E4E2647A71F1}" type="parTrans" cxnId="{DD9B9E40-8104-AD49-A4A9-566598BCBC53}">
      <dgm:prSet/>
      <dgm:spPr/>
      <dgm:t>
        <a:bodyPr/>
        <a:lstStyle/>
        <a:p>
          <a:endParaRPr lang="en-US"/>
        </a:p>
      </dgm:t>
    </dgm:pt>
    <dgm:pt modelId="{65E48057-EB8E-AE4D-A53C-B24E09B2CCD4}" type="sibTrans" cxnId="{DD9B9E40-8104-AD49-A4A9-566598BCBC53}">
      <dgm:prSet/>
      <dgm:spPr/>
      <dgm:t>
        <a:bodyPr/>
        <a:lstStyle/>
        <a:p>
          <a:endParaRPr lang="en-US"/>
        </a:p>
      </dgm:t>
    </dgm:pt>
    <dgm:pt modelId="{41F7CCCD-517E-644D-845A-E95EB40E74A5}">
      <dgm:prSet phldrT="[Text]"/>
      <dgm:spPr/>
      <dgm:t>
        <a:bodyPr/>
        <a:lstStyle/>
        <a:p>
          <a:r>
            <a:rPr lang="en-US" dirty="0"/>
            <a:t>Does not lower reliability of a test since the test is reliably inaccurate by the same amount each time</a:t>
          </a:r>
        </a:p>
      </dgm:t>
    </dgm:pt>
    <dgm:pt modelId="{8C2190E6-97E7-9546-AF18-B07523D82154}" type="parTrans" cxnId="{0056F58B-6EDA-114E-890B-7644F96B154C}">
      <dgm:prSet/>
      <dgm:spPr/>
      <dgm:t>
        <a:bodyPr/>
        <a:lstStyle/>
        <a:p>
          <a:endParaRPr lang="en-US"/>
        </a:p>
      </dgm:t>
    </dgm:pt>
    <dgm:pt modelId="{D755182F-6475-D740-A67A-F281434ED851}" type="sibTrans" cxnId="{0056F58B-6EDA-114E-890B-7644F96B154C}">
      <dgm:prSet/>
      <dgm:spPr/>
      <dgm:t>
        <a:bodyPr/>
        <a:lstStyle/>
        <a:p>
          <a:endParaRPr lang="en-US"/>
        </a:p>
      </dgm:t>
    </dgm:pt>
    <dgm:pt modelId="{B4F73723-4064-1D4C-BE90-C7947C5CD8C1}" type="pres">
      <dgm:prSet presAssocID="{4664D59B-FDAE-D340-A9E6-DA58842CC32C}" presName="Name0" presStyleCnt="0">
        <dgm:presLayoutVars>
          <dgm:dir/>
          <dgm:animLvl val="lvl"/>
          <dgm:resizeHandles val="exact"/>
        </dgm:presLayoutVars>
      </dgm:prSet>
      <dgm:spPr/>
    </dgm:pt>
    <dgm:pt modelId="{C22D3460-69EC-6F43-992E-BC6DCEBE983A}" type="pres">
      <dgm:prSet presAssocID="{341B6102-0F06-C845-AD32-4166D139A504}" presName="linNode" presStyleCnt="0"/>
      <dgm:spPr/>
    </dgm:pt>
    <dgm:pt modelId="{DBF00D34-2A22-2442-9666-08FE3167AF2B}" type="pres">
      <dgm:prSet presAssocID="{341B6102-0F06-C845-AD32-4166D139A504}" presName="parentText" presStyleLbl="node1" presStyleIdx="0" presStyleCnt="2">
        <dgm:presLayoutVars>
          <dgm:chMax val="1"/>
          <dgm:bulletEnabled val="1"/>
        </dgm:presLayoutVars>
      </dgm:prSet>
      <dgm:spPr/>
    </dgm:pt>
    <dgm:pt modelId="{5362558E-C959-2A44-BCB9-E90AC5B09049}" type="pres">
      <dgm:prSet presAssocID="{341B6102-0F06-C845-AD32-4166D139A504}" presName="descendantText" presStyleLbl="alignAccFollowNode1" presStyleIdx="0" presStyleCnt="2">
        <dgm:presLayoutVars>
          <dgm:bulletEnabled val="1"/>
        </dgm:presLayoutVars>
      </dgm:prSet>
      <dgm:spPr/>
    </dgm:pt>
    <dgm:pt modelId="{0A273DB2-C3E5-D649-9CE7-F6996CE6F248}" type="pres">
      <dgm:prSet presAssocID="{3FCA53CE-866B-0F41-8B51-E9D19E409EE3}" presName="sp" presStyleCnt="0"/>
      <dgm:spPr/>
    </dgm:pt>
    <dgm:pt modelId="{17D9ED59-F9F2-B949-9CE6-F7051F65BE2A}" type="pres">
      <dgm:prSet presAssocID="{7D2654D3-CE6D-7F4B-BB5E-F88C2BE85ED0}" presName="linNode" presStyleCnt="0"/>
      <dgm:spPr/>
    </dgm:pt>
    <dgm:pt modelId="{D81D5944-306B-5747-9C6B-AB469747919D}" type="pres">
      <dgm:prSet presAssocID="{7D2654D3-CE6D-7F4B-BB5E-F88C2BE85ED0}" presName="parentText" presStyleLbl="node1" presStyleIdx="1" presStyleCnt="2">
        <dgm:presLayoutVars>
          <dgm:chMax val="1"/>
          <dgm:bulletEnabled val="1"/>
        </dgm:presLayoutVars>
      </dgm:prSet>
      <dgm:spPr/>
    </dgm:pt>
    <dgm:pt modelId="{DEB6BF08-3E7E-7B4B-9464-C8E7C5089BA7}" type="pres">
      <dgm:prSet presAssocID="{7D2654D3-CE6D-7F4B-BB5E-F88C2BE85ED0}" presName="descendantText" presStyleLbl="alignAccFollowNode1" presStyleIdx="1" presStyleCnt="2">
        <dgm:presLayoutVars>
          <dgm:bulletEnabled val="1"/>
        </dgm:presLayoutVars>
      </dgm:prSet>
      <dgm:spPr/>
    </dgm:pt>
  </dgm:ptLst>
  <dgm:cxnLst>
    <dgm:cxn modelId="{1B31C10A-E191-2840-AD2C-EEB4DC98227A}" type="presOf" srcId="{7F91351C-52D0-5349-B53E-20B2E2DD0669}" destId="{5362558E-C959-2A44-BCB9-E90AC5B09049}" srcOrd="0" destOrd="1" presId="urn:microsoft.com/office/officeart/2005/8/layout/vList5"/>
    <dgm:cxn modelId="{B448B60C-6BE9-BA47-B7BE-8BEA5A6B74B6}" srcId="{7D2654D3-CE6D-7F4B-BB5E-F88C2BE85ED0}" destId="{443538B0-2FAE-B848-B95C-8663D18BC1F4}" srcOrd="0" destOrd="0" parTransId="{04A49004-F404-C141-8308-462B1DF5F9B6}" sibTransId="{06C0A859-0501-3E42-8689-B51830DB2940}"/>
    <dgm:cxn modelId="{3049EE11-FEB4-8D4A-BD43-850A3970E723}" type="presOf" srcId="{443538B0-2FAE-B848-B95C-8663D18BC1F4}" destId="{DEB6BF08-3E7E-7B4B-9464-C8E7C5089BA7}" srcOrd="0" destOrd="0" presId="urn:microsoft.com/office/officeart/2005/8/layout/vList5"/>
    <dgm:cxn modelId="{D6EB7822-6D48-EB44-A442-F1A9635C6865}" type="presOf" srcId="{7D2654D3-CE6D-7F4B-BB5E-F88C2BE85ED0}" destId="{D81D5944-306B-5747-9C6B-AB469747919D}" srcOrd="0" destOrd="0" presId="urn:microsoft.com/office/officeart/2005/8/layout/vList5"/>
    <dgm:cxn modelId="{4753E822-4244-A743-B32E-6EFAA9B64BCE}" srcId="{341B6102-0F06-C845-AD32-4166D139A504}" destId="{A3A68BAA-D678-564C-9392-1591437284FD}" srcOrd="0" destOrd="0" parTransId="{9031FAC8-A9F7-324C-8A98-447130A7DACE}" sibTransId="{492DBC69-E6D9-D84C-B10C-617DC3549DCB}"/>
    <dgm:cxn modelId="{DD9B9E40-8104-AD49-A4A9-566598BCBC53}" srcId="{341B6102-0F06-C845-AD32-4166D139A504}" destId="{0F099E92-289E-954A-91C6-F4A7C0730C0C}" srcOrd="3" destOrd="0" parTransId="{48458A80-5318-9C42-85CB-E4E2647A71F1}" sibTransId="{65E48057-EB8E-AE4D-A53C-B24E09B2CCD4}"/>
    <dgm:cxn modelId="{AFBCDA47-1EE1-C54F-A18F-EA0CEC6A3ADE}" type="presOf" srcId="{A3A68BAA-D678-564C-9392-1591437284FD}" destId="{5362558E-C959-2A44-BCB9-E90AC5B09049}" srcOrd="0" destOrd="0" presId="urn:microsoft.com/office/officeart/2005/8/layout/vList5"/>
    <dgm:cxn modelId="{B0E1D04F-7916-CA46-A4A7-8EC68406E560}" srcId="{341B6102-0F06-C845-AD32-4166D139A504}" destId="{7F91351C-52D0-5349-B53E-20B2E2DD0669}" srcOrd="1" destOrd="0" parTransId="{00417314-2FE5-BA46-94A0-1B09D1ED3C87}" sibTransId="{DAC0D98D-2AB5-7649-94F9-6717A6419EFF}"/>
    <dgm:cxn modelId="{E3410956-1ED5-824F-9049-A19DC3E9B274}" srcId="{4664D59B-FDAE-D340-A9E6-DA58842CC32C}" destId="{341B6102-0F06-C845-AD32-4166D139A504}" srcOrd="0" destOrd="0" parTransId="{3520556F-BF6A-FE46-BD5A-A8C2FF3FD7D4}" sibTransId="{3FCA53CE-866B-0F41-8B51-E9D19E409EE3}"/>
    <dgm:cxn modelId="{1831EA61-C00E-5B49-8EB9-E4746369DD95}" type="presOf" srcId="{341B6102-0F06-C845-AD32-4166D139A504}" destId="{DBF00D34-2A22-2442-9666-08FE3167AF2B}" srcOrd="0" destOrd="0" presId="urn:microsoft.com/office/officeart/2005/8/layout/vList5"/>
    <dgm:cxn modelId="{1B0F626A-2AEC-504C-A5F9-F1AAA898DA06}" type="presOf" srcId="{41F7CCCD-517E-644D-845A-E95EB40E74A5}" destId="{DEB6BF08-3E7E-7B4B-9464-C8E7C5089BA7}" srcOrd="0" destOrd="1" presId="urn:microsoft.com/office/officeart/2005/8/layout/vList5"/>
    <dgm:cxn modelId="{0056F58B-6EDA-114E-890B-7644F96B154C}" srcId="{7D2654D3-CE6D-7F4B-BB5E-F88C2BE85ED0}" destId="{41F7CCCD-517E-644D-845A-E95EB40E74A5}" srcOrd="1" destOrd="0" parTransId="{8C2190E6-97E7-9546-AF18-B07523D82154}" sibTransId="{D755182F-6475-D740-A67A-F281434ED851}"/>
    <dgm:cxn modelId="{7E6F53CA-C33E-CA49-B41A-75D03E9F6C8F}" type="presOf" srcId="{0F099E92-289E-954A-91C6-F4A7C0730C0C}" destId="{5362558E-C959-2A44-BCB9-E90AC5B09049}" srcOrd="0" destOrd="3" presId="urn:microsoft.com/office/officeart/2005/8/layout/vList5"/>
    <dgm:cxn modelId="{AC1D86D6-D28D-BE4B-BC44-683F012FB396}" type="presOf" srcId="{4664D59B-FDAE-D340-A9E6-DA58842CC32C}" destId="{B4F73723-4064-1D4C-BE90-C7947C5CD8C1}" srcOrd="0" destOrd="0" presId="urn:microsoft.com/office/officeart/2005/8/layout/vList5"/>
    <dgm:cxn modelId="{F09F50D7-4C9F-2848-8D91-95898920FB40}" type="presOf" srcId="{7FB59E44-EFA7-9249-8849-6AF1FCC81AD4}" destId="{5362558E-C959-2A44-BCB9-E90AC5B09049}" srcOrd="0" destOrd="2" presId="urn:microsoft.com/office/officeart/2005/8/layout/vList5"/>
    <dgm:cxn modelId="{FE47A2DF-1CA4-044A-8199-582F03876383}" srcId="{341B6102-0F06-C845-AD32-4166D139A504}" destId="{7FB59E44-EFA7-9249-8849-6AF1FCC81AD4}" srcOrd="2" destOrd="0" parTransId="{CACE2275-40E7-F346-828C-4E7A30883100}" sibTransId="{98A16E4E-8689-F647-AFAB-34F95888C38A}"/>
    <dgm:cxn modelId="{54D142F6-BC69-2344-A269-4F8C4E766B1D}" srcId="{4664D59B-FDAE-D340-A9E6-DA58842CC32C}" destId="{7D2654D3-CE6D-7F4B-BB5E-F88C2BE85ED0}" srcOrd="1" destOrd="0" parTransId="{BF80939B-3747-1C47-849D-3B0238ABF634}" sibTransId="{7CCA0EAD-A7FF-9543-A22B-BB48B1C5F065}"/>
    <dgm:cxn modelId="{4C4679C0-91AB-0A4D-A071-B2C6C576BFC4}" type="presParOf" srcId="{B4F73723-4064-1D4C-BE90-C7947C5CD8C1}" destId="{C22D3460-69EC-6F43-992E-BC6DCEBE983A}" srcOrd="0" destOrd="0" presId="urn:microsoft.com/office/officeart/2005/8/layout/vList5"/>
    <dgm:cxn modelId="{82E1342A-075C-544D-94E3-100F182C4C5B}" type="presParOf" srcId="{C22D3460-69EC-6F43-992E-BC6DCEBE983A}" destId="{DBF00D34-2A22-2442-9666-08FE3167AF2B}" srcOrd="0" destOrd="0" presId="urn:microsoft.com/office/officeart/2005/8/layout/vList5"/>
    <dgm:cxn modelId="{F1E8D495-8CEA-5647-95EC-1AF1E09B4598}" type="presParOf" srcId="{C22D3460-69EC-6F43-992E-BC6DCEBE983A}" destId="{5362558E-C959-2A44-BCB9-E90AC5B09049}" srcOrd="1" destOrd="0" presId="urn:microsoft.com/office/officeart/2005/8/layout/vList5"/>
    <dgm:cxn modelId="{D68EF82F-984B-5F49-BA31-F11BAE998595}" type="presParOf" srcId="{B4F73723-4064-1D4C-BE90-C7947C5CD8C1}" destId="{0A273DB2-C3E5-D649-9CE7-F6996CE6F248}" srcOrd="1" destOrd="0" presId="urn:microsoft.com/office/officeart/2005/8/layout/vList5"/>
    <dgm:cxn modelId="{CBE216E9-8B30-E547-9E0C-5719CB4EC711}" type="presParOf" srcId="{B4F73723-4064-1D4C-BE90-C7947C5CD8C1}" destId="{17D9ED59-F9F2-B949-9CE6-F7051F65BE2A}" srcOrd="2" destOrd="0" presId="urn:microsoft.com/office/officeart/2005/8/layout/vList5"/>
    <dgm:cxn modelId="{7F4D2641-0567-B246-A6A3-CBD2FBFE841E}" type="presParOf" srcId="{17D9ED59-F9F2-B949-9CE6-F7051F65BE2A}" destId="{D81D5944-306B-5747-9C6B-AB469747919D}" srcOrd="0" destOrd="0" presId="urn:microsoft.com/office/officeart/2005/8/layout/vList5"/>
    <dgm:cxn modelId="{2D06E66A-2DFD-4F48-8B14-9A2D30D76D58}" type="presParOf" srcId="{17D9ED59-F9F2-B949-9CE6-F7051F65BE2A}" destId="{DEB6BF08-3E7E-7B4B-9464-C8E7C5089BA7}"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53D6DB-ADC1-1041-ABAD-9FA297C35A51}">
      <dsp:nvSpPr>
        <dsp:cNvPr id="0" name=""/>
        <dsp:cNvSpPr/>
      </dsp:nvSpPr>
      <dsp:spPr>
        <a:xfrm>
          <a:off x="215934" y="455"/>
          <a:ext cx="985378" cy="985378"/>
        </a:xfrm>
        <a:prstGeom prst="ellipse">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5880" tIns="55880" rIns="55880" bIns="55880" numCol="1" spcCol="1270" anchor="ctr" anchorCtr="0">
          <a:noAutofit/>
        </a:bodyPr>
        <a:lstStyle/>
        <a:p>
          <a:pPr marL="0" lvl="0" indent="0" algn="ctr" defTabSz="1955800">
            <a:lnSpc>
              <a:spcPct val="90000"/>
            </a:lnSpc>
            <a:spcBef>
              <a:spcPct val="0"/>
            </a:spcBef>
            <a:spcAft>
              <a:spcPct val="35000"/>
            </a:spcAft>
            <a:buNone/>
          </a:pPr>
          <a:r>
            <a:rPr lang="en-US" sz="4400" i="1" kern="1200" dirty="0"/>
            <a:t>X</a:t>
          </a:r>
        </a:p>
      </dsp:txBody>
      <dsp:txXfrm>
        <a:off x="360239" y="144760"/>
        <a:ext cx="696768" cy="696768"/>
      </dsp:txXfrm>
    </dsp:sp>
    <dsp:sp modelId="{D7A55BEF-90AE-4E4F-BEF5-C9C6FCE1F744}">
      <dsp:nvSpPr>
        <dsp:cNvPr id="0" name=""/>
        <dsp:cNvSpPr/>
      </dsp:nvSpPr>
      <dsp:spPr>
        <a:xfrm>
          <a:off x="2978137" y="161589"/>
          <a:ext cx="571519" cy="571519"/>
        </a:xfrm>
        <a:prstGeom prst="mathPlus">
          <a:avLst/>
        </a:prstGeom>
        <a:gradFill rotWithShape="0">
          <a:gsLst>
            <a:gs pos="0">
              <a:schemeClr val="accent1">
                <a:tint val="60000"/>
                <a:hueOff val="0"/>
                <a:satOff val="0"/>
                <a:lumOff val="0"/>
                <a:alphaOff val="0"/>
                <a:tint val="100000"/>
                <a:shade val="100000"/>
                <a:satMod val="130000"/>
              </a:schemeClr>
            </a:gs>
            <a:gs pos="100000">
              <a:schemeClr val="accent1">
                <a:tint val="60000"/>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dirty="0"/>
        </a:p>
      </dsp:txBody>
      <dsp:txXfrm>
        <a:off x="3053892" y="380138"/>
        <a:ext cx="420009" cy="134421"/>
      </dsp:txXfrm>
    </dsp:sp>
    <dsp:sp modelId="{EB5E5D3D-0567-2B4E-A7E0-8F3C16D878CE}">
      <dsp:nvSpPr>
        <dsp:cNvPr id="0" name=""/>
        <dsp:cNvSpPr/>
      </dsp:nvSpPr>
      <dsp:spPr>
        <a:xfrm>
          <a:off x="1932857" y="455"/>
          <a:ext cx="985378" cy="985378"/>
        </a:xfrm>
        <a:prstGeom prst="ellipse">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5880" tIns="55880" rIns="55880" bIns="55880" numCol="1" spcCol="1270" anchor="ctr" anchorCtr="0">
          <a:noAutofit/>
        </a:bodyPr>
        <a:lstStyle/>
        <a:p>
          <a:pPr marL="0" lvl="0" indent="0" algn="ctr" defTabSz="1955800">
            <a:lnSpc>
              <a:spcPct val="90000"/>
            </a:lnSpc>
            <a:spcBef>
              <a:spcPct val="0"/>
            </a:spcBef>
            <a:spcAft>
              <a:spcPct val="35000"/>
            </a:spcAft>
            <a:buNone/>
          </a:pPr>
          <a:r>
            <a:rPr lang="en-US" sz="4400" i="1" kern="1200" dirty="0"/>
            <a:t>T</a:t>
          </a:r>
        </a:p>
      </dsp:txBody>
      <dsp:txXfrm>
        <a:off x="2077162" y="144760"/>
        <a:ext cx="696768" cy="696768"/>
      </dsp:txXfrm>
    </dsp:sp>
    <dsp:sp modelId="{13B891B2-059D-174D-8E08-E78FFEDDE494}">
      <dsp:nvSpPr>
        <dsp:cNvPr id="0" name=""/>
        <dsp:cNvSpPr/>
      </dsp:nvSpPr>
      <dsp:spPr>
        <a:xfrm>
          <a:off x="1265110" y="216849"/>
          <a:ext cx="571519" cy="571519"/>
        </a:xfrm>
        <a:prstGeom prst="mathEqual">
          <a:avLst/>
        </a:prstGeom>
        <a:gradFill rotWithShape="0">
          <a:gsLst>
            <a:gs pos="0">
              <a:schemeClr val="accent1">
                <a:tint val="60000"/>
                <a:hueOff val="0"/>
                <a:satOff val="0"/>
                <a:lumOff val="0"/>
                <a:alphaOff val="0"/>
                <a:tint val="100000"/>
                <a:shade val="100000"/>
                <a:satMod val="130000"/>
              </a:schemeClr>
            </a:gs>
            <a:gs pos="100000">
              <a:schemeClr val="accent1">
                <a:tint val="60000"/>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1111250">
            <a:lnSpc>
              <a:spcPct val="90000"/>
            </a:lnSpc>
            <a:spcBef>
              <a:spcPct val="0"/>
            </a:spcBef>
            <a:spcAft>
              <a:spcPct val="35000"/>
            </a:spcAft>
            <a:buNone/>
          </a:pPr>
          <a:endParaRPr lang="en-US" sz="2500" kern="1200" dirty="0"/>
        </a:p>
      </dsp:txBody>
      <dsp:txXfrm>
        <a:off x="1340865" y="334582"/>
        <a:ext cx="420009" cy="336053"/>
      </dsp:txXfrm>
    </dsp:sp>
    <dsp:sp modelId="{EE603BC4-9010-5D4B-9A03-E80A74EA2877}">
      <dsp:nvSpPr>
        <dsp:cNvPr id="0" name=""/>
        <dsp:cNvSpPr/>
      </dsp:nvSpPr>
      <dsp:spPr>
        <a:xfrm>
          <a:off x="3649780" y="455"/>
          <a:ext cx="985378" cy="985378"/>
        </a:xfrm>
        <a:prstGeom prst="ellipse">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5880" tIns="55880" rIns="55880" bIns="55880" numCol="1" spcCol="1270" anchor="ctr" anchorCtr="0">
          <a:noAutofit/>
        </a:bodyPr>
        <a:lstStyle/>
        <a:p>
          <a:pPr marL="0" lvl="0" indent="0" algn="ctr" defTabSz="1955800">
            <a:lnSpc>
              <a:spcPct val="90000"/>
            </a:lnSpc>
            <a:spcBef>
              <a:spcPct val="0"/>
            </a:spcBef>
            <a:spcAft>
              <a:spcPct val="35000"/>
            </a:spcAft>
            <a:buNone/>
          </a:pPr>
          <a:r>
            <a:rPr lang="en-US" sz="4400" i="1" kern="1200" dirty="0"/>
            <a:t>E</a:t>
          </a:r>
        </a:p>
      </dsp:txBody>
      <dsp:txXfrm>
        <a:off x="3794085" y="144760"/>
        <a:ext cx="696768" cy="69676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62558E-C959-2A44-BCB9-E90AC5B09049}">
      <dsp:nvSpPr>
        <dsp:cNvPr id="0" name=""/>
        <dsp:cNvSpPr/>
      </dsp:nvSpPr>
      <dsp:spPr>
        <a:xfrm rot="5400000">
          <a:off x="3893117" y="-1378665"/>
          <a:ext cx="1163323" cy="4211557"/>
        </a:xfrm>
        <a:prstGeom prst="round2SameRect">
          <a:avLst/>
        </a:prstGeom>
        <a:solidFill>
          <a:schemeClr val="accent3">
            <a:tint val="40000"/>
            <a:alpha val="90000"/>
            <a:hueOff val="0"/>
            <a:satOff val="0"/>
            <a:lumOff val="0"/>
            <a:alphaOff val="0"/>
          </a:schemeClr>
        </a:solidFill>
        <a:ln w="25400"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9530" tIns="24765" rIns="49530" bIns="24765" numCol="1" spcCol="1270" anchor="ctr" anchorCtr="0">
          <a:noAutofit/>
        </a:bodyPr>
        <a:lstStyle/>
        <a:p>
          <a:pPr marL="114300" lvl="1" indent="-114300" algn="l" defTabSz="577850">
            <a:lnSpc>
              <a:spcPct val="90000"/>
            </a:lnSpc>
            <a:spcBef>
              <a:spcPct val="0"/>
            </a:spcBef>
            <a:spcAft>
              <a:spcPct val="15000"/>
            </a:spcAft>
            <a:buChar char="•"/>
          </a:pPr>
          <a:r>
            <a:rPr lang="en-US" sz="1300" kern="1200" dirty="0"/>
            <a:t>Random in nature</a:t>
          </a:r>
        </a:p>
        <a:p>
          <a:pPr marL="114300" lvl="1" indent="-114300" algn="l" defTabSz="577850">
            <a:lnSpc>
              <a:spcPct val="90000"/>
            </a:lnSpc>
            <a:spcBef>
              <a:spcPct val="0"/>
            </a:spcBef>
            <a:spcAft>
              <a:spcPct val="15000"/>
            </a:spcAft>
            <a:buChar char="•"/>
          </a:pPr>
          <a:r>
            <a:rPr lang="en-US" sz="1300" kern="1200" dirty="0"/>
            <a:t>Will increase and decrease a person’s score by exactly the same amount with infinite testing</a:t>
          </a:r>
        </a:p>
        <a:p>
          <a:pPr marL="114300" lvl="1" indent="-114300" algn="l" defTabSz="577850">
            <a:lnSpc>
              <a:spcPct val="90000"/>
            </a:lnSpc>
            <a:spcBef>
              <a:spcPct val="0"/>
            </a:spcBef>
            <a:spcAft>
              <a:spcPct val="15000"/>
            </a:spcAft>
            <a:buChar char="•"/>
          </a:pPr>
          <a:r>
            <a:rPr lang="en-US" sz="1300" kern="1200" dirty="0"/>
            <a:t>Cancels itself out </a:t>
          </a:r>
        </a:p>
        <a:p>
          <a:pPr marL="114300" lvl="1" indent="-114300" algn="l" defTabSz="577850">
            <a:lnSpc>
              <a:spcPct val="90000"/>
            </a:lnSpc>
            <a:spcBef>
              <a:spcPct val="0"/>
            </a:spcBef>
            <a:spcAft>
              <a:spcPct val="15000"/>
            </a:spcAft>
            <a:buChar char="•"/>
          </a:pPr>
          <a:r>
            <a:rPr lang="en-US" sz="1300" kern="1200" dirty="0"/>
            <a:t>Lowers reliability of a test</a:t>
          </a:r>
        </a:p>
      </dsp:txBody>
      <dsp:txXfrm rot="-5400000">
        <a:off x="2369001" y="202240"/>
        <a:ext cx="4154768" cy="1049745"/>
      </dsp:txXfrm>
    </dsp:sp>
    <dsp:sp modelId="{DBF00D34-2A22-2442-9666-08FE3167AF2B}">
      <dsp:nvSpPr>
        <dsp:cNvPr id="0" name=""/>
        <dsp:cNvSpPr/>
      </dsp:nvSpPr>
      <dsp:spPr>
        <a:xfrm>
          <a:off x="0" y="36"/>
          <a:ext cx="2369000" cy="1454153"/>
        </a:xfrm>
        <a:prstGeom prst="roundRect">
          <a:avLst/>
        </a:prstGeom>
        <a:solidFill>
          <a:schemeClr val="accent3">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14300" tIns="57150" rIns="114300" bIns="57150" numCol="1" spcCol="1270" anchor="ctr" anchorCtr="0">
          <a:noAutofit/>
        </a:bodyPr>
        <a:lstStyle/>
        <a:p>
          <a:pPr marL="0" lvl="0" indent="0" algn="ctr" defTabSz="1333500">
            <a:lnSpc>
              <a:spcPct val="90000"/>
            </a:lnSpc>
            <a:spcBef>
              <a:spcPct val="0"/>
            </a:spcBef>
            <a:spcAft>
              <a:spcPct val="35000"/>
            </a:spcAft>
            <a:buNone/>
          </a:pPr>
          <a:r>
            <a:rPr lang="en-US" sz="3000" kern="1200" dirty="0"/>
            <a:t>Random error</a:t>
          </a:r>
        </a:p>
      </dsp:txBody>
      <dsp:txXfrm>
        <a:off x="70986" y="71022"/>
        <a:ext cx="2227028" cy="1312181"/>
      </dsp:txXfrm>
    </dsp:sp>
    <dsp:sp modelId="{DEB6BF08-3E7E-7B4B-9464-C8E7C5089BA7}">
      <dsp:nvSpPr>
        <dsp:cNvPr id="0" name=""/>
        <dsp:cNvSpPr/>
      </dsp:nvSpPr>
      <dsp:spPr>
        <a:xfrm rot="5400000">
          <a:off x="3893117" y="148196"/>
          <a:ext cx="1163323" cy="4211557"/>
        </a:xfrm>
        <a:prstGeom prst="round2SameRect">
          <a:avLst/>
        </a:prstGeom>
        <a:solidFill>
          <a:schemeClr val="accent3">
            <a:tint val="40000"/>
            <a:alpha val="90000"/>
            <a:hueOff val="-9431568"/>
            <a:satOff val="-38765"/>
            <a:lumOff val="-5615"/>
            <a:alphaOff val="0"/>
          </a:schemeClr>
        </a:solidFill>
        <a:ln w="25400" cap="flat" cmpd="sng" algn="ctr">
          <a:solidFill>
            <a:schemeClr val="accent3">
              <a:tint val="40000"/>
              <a:alpha val="90000"/>
              <a:hueOff val="-9431568"/>
              <a:satOff val="-38765"/>
              <a:lumOff val="-5615"/>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9530" tIns="24765" rIns="49530" bIns="24765" numCol="1" spcCol="1270" anchor="ctr" anchorCtr="0">
          <a:noAutofit/>
        </a:bodyPr>
        <a:lstStyle/>
        <a:p>
          <a:pPr marL="114300" lvl="1" indent="-114300" algn="l" defTabSz="577850">
            <a:lnSpc>
              <a:spcPct val="90000"/>
            </a:lnSpc>
            <a:spcBef>
              <a:spcPct val="0"/>
            </a:spcBef>
            <a:spcAft>
              <a:spcPct val="15000"/>
            </a:spcAft>
            <a:buChar char="•"/>
          </a:pPr>
          <a:r>
            <a:rPr lang="en-US" sz="1300" kern="1200" dirty="0"/>
            <a:t>Occurs when source of error always increase or decrease a true score</a:t>
          </a:r>
        </a:p>
        <a:p>
          <a:pPr marL="114300" lvl="1" indent="-114300" algn="l" defTabSz="577850">
            <a:lnSpc>
              <a:spcPct val="90000"/>
            </a:lnSpc>
            <a:spcBef>
              <a:spcPct val="0"/>
            </a:spcBef>
            <a:spcAft>
              <a:spcPct val="15000"/>
            </a:spcAft>
            <a:buChar char="•"/>
          </a:pPr>
          <a:r>
            <a:rPr lang="en-US" sz="1300" kern="1200" dirty="0"/>
            <a:t>Does not lower reliability of a test since the test is reliably inaccurate by the same amount each time</a:t>
          </a:r>
        </a:p>
      </dsp:txBody>
      <dsp:txXfrm rot="-5400000">
        <a:off x="2369001" y="1729102"/>
        <a:ext cx="4154768" cy="1049745"/>
      </dsp:txXfrm>
    </dsp:sp>
    <dsp:sp modelId="{D81D5944-306B-5747-9C6B-AB469747919D}">
      <dsp:nvSpPr>
        <dsp:cNvPr id="0" name=""/>
        <dsp:cNvSpPr/>
      </dsp:nvSpPr>
      <dsp:spPr>
        <a:xfrm>
          <a:off x="0" y="1526897"/>
          <a:ext cx="2369000" cy="1454153"/>
        </a:xfrm>
        <a:prstGeom prst="roundRect">
          <a:avLst/>
        </a:prstGeom>
        <a:solidFill>
          <a:schemeClr val="accent3">
            <a:hueOff val="-9795232"/>
            <a:satOff val="34022"/>
            <a:lumOff val="-32352"/>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14300" tIns="57150" rIns="114300" bIns="57150" numCol="1" spcCol="1270" anchor="ctr" anchorCtr="0">
          <a:noAutofit/>
        </a:bodyPr>
        <a:lstStyle/>
        <a:p>
          <a:pPr marL="0" lvl="0" indent="0" algn="ctr" defTabSz="1333500">
            <a:lnSpc>
              <a:spcPct val="90000"/>
            </a:lnSpc>
            <a:spcBef>
              <a:spcPct val="0"/>
            </a:spcBef>
            <a:spcAft>
              <a:spcPct val="35000"/>
            </a:spcAft>
            <a:buNone/>
          </a:pPr>
          <a:r>
            <a:rPr lang="en-US" sz="3000" kern="1200" dirty="0"/>
            <a:t>Systematic error</a:t>
          </a:r>
        </a:p>
      </dsp:txBody>
      <dsp:txXfrm>
        <a:off x="70986" y="1597883"/>
        <a:ext cx="2227028" cy="1312181"/>
      </dsp:txXfrm>
    </dsp:sp>
  </dsp:spTree>
</dsp:drawing>
</file>

<file path=ppt/diagrams/layout1.xml><?xml version="1.0" encoding="utf-8"?>
<dgm:layoutDef xmlns:dgm="http://schemas.openxmlformats.org/drawingml/2006/diagram" xmlns:a="http://schemas.openxmlformats.org/drawingml/2006/main" uniqueId="urn:microsoft.com/office/officeart/2005/8/layout/equation1">
  <dgm:title val=""/>
  <dgm:desc val=""/>
  <dgm:catLst>
    <dgm:cat type="relationship" pri="17000"/>
    <dgm:cat type="process" pri="2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choose name="Name0">
      <dgm:if name="Name1" func="var" arg="dir" op="equ" val="norm">
        <dgm:alg type="lin">
          <dgm:param type="fallback" val="2D"/>
        </dgm:alg>
      </dgm:if>
      <dgm:else name="Name2">
        <dgm:alg type="lin">
          <dgm:param type="linDir" val="fromR"/>
          <dgm:param type="fallback" val="2D"/>
        </dgm:alg>
      </dgm:else>
    </dgm:choose>
    <dgm:shape xmlns:r="http://schemas.openxmlformats.org/officeDocument/2006/relationships" r:blip="">
      <dgm:adjLst/>
    </dgm:shape>
    <dgm:presOf/>
    <dgm:constrLst>
      <dgm:constr type="w" for="ch" ptType="node" refType="w"/>
      <dgm:constr type="w" for="ch" ptType="sibTrans" refType="w" refFor="ch" refPtType="node" fact="0.58"/>
      <dgm:constr type="primFontSz" for="ch" ptType="node" op="equ" val="65"/>
      <dgm:constr type="primFontSz" for="ch" ptType="sibTrans" op="equ" val="55"/>
      <dgm:constr type="primFontSz" for="ch" ptType="sibTrans" refType="primFontSz" refFor="ch" refPtType="node" op="lte" fact="0.8"/>
      <dgm:constr type="w" for="ch" forName="spacerL" refType="w" refFor="ch" refPtType="sibTrans" fact="0.14"/>
      <dgm:constr type="w" for="ch" forName="spacerR" refType="w" refFor="ch" refPtType="sibTrans" fact="0.14"/>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sibTransForEach" axis="followSib" ptType="sibTrans" cnt="1">
        <dgm:layoutNode name="spacerL">
          <dgm:alg type="sp"/>
          <dgm:shape xmlns:r="http://schemas.openxmlformats.org/officeDocument/2006/relationships" r:blip="">
            <dgm:adjLst/>
          </dgm:shape>
          <dgm:presOf/>
          <dgm:constrLst/>
          <dgm:ruleLst/>
        </dgm:layoutNode>
        <dgm:layoutNode name="sibTrans">
          <dgm:alg type="tx"/>
          <dgm:choose name="Name3">
            <dgm:if name="Name4" axis="followSib" ptType="sibTrans" func="cnt" op="equ" val="0">
              <dgm:shape xmlns:r="http://schemas.openxmlformats.org/officeDocument/2006/relationships" type="mathEqual" r:blip="">
                <dgm:adjLst/>
              </dgm:shape>
            </dgm:if>
            <dgm:else name="Name5">
              <dgm:shape xmlns:r="http://schemas.openxmlformats.org/officeDocument/2006/relationships" type="mathPlus" r:blip="">
                <dgm:adjLst/>
              </dgm:shape>
            </dgm:else>
          </dgm:choose>
          <dgm:presOf axis="self"/>
          <dgm:constrLst>
            <dgm:constr type="h" refType="w"/>
            <dgm:constr type="lMarg"/>
            <dgm:constr type="rMarg"/>
            <dgm:constr type="tMarg"/>
            <dgm:constr type="bMarg"/>
          </dgm:constrLst>
          <dgm:ruleLst>
            <dgm:rule type="primFontSz" val="5" fact="NaN" max="NaN"/>
          </dgm:ruleLst>
        </dgm:layoutNode>
        <dgm:layoutNode name="spacerR">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22EE1A-1E57-4A26-BEAD-BA0F11D4AB95}" type="datetimeFigureOut">
              <a:rPr lang="en-US" smtClean="0"/>
              <a:t>4/24/26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925CEA-CE71-402A-A3BD-05AB42F89E39}" type="slidenum">
              <a:rPr lang="en-US" smtClean="0"/>
              <a:t>‹#›</a:t>
            </a:fld>
            <a:endParaRPr lang="en-US"/>
          </a:p>
        </p:txBody>
      </p:sp>
    </p:spTree>
    <p:extLst>
      <p:ext uri="{BB962C8B-B14F-4D97-AF65-F5344CB8AC3E}">
        <p14:creationId xmlns:p14="http://schemas.microsoft.com/office/powerpoint/2010/main" val="17955947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0925CEA-CE71-402A-A3BD-05AB42F89E39}" type="slidenum">
              <a:rPr lang="en-US" smtClean="0"/>
              <a:t>1</a:t>
            </a:fld>
            <a:endParaRPr lang="en-US"/>
          </a:p>
        </p:txBody>
      </p:sp>
    </p:spTree>
    <p:extLst>
      <p:ext uri="{BB962C8B-B14F-4D97-AF65-F5344CB8AC3E}">
        <p14:creationId xmlns:p14="http://schemas.microsoft.com/office/powerpoint/2010/main" val="33149546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Surveys, however, are never interested in the characteristics of individual respondents per se. They are interested in statistics that combine those answers to summarize the characteristics </a:t>
            </a:r>
            <a:r>
              <a:rPr lang="en-US" dirty="0" err="1"/>
              <a:t>ofgroups</a:t>
            </a:r>
            <a:r>
              <a:rPr lang="en-US" dirty="0"/>
              <a:t> </a:t>
            </a:r>
            <a:r>
              <a:rPr lang="en-US" dirty="0" err="1"/>
              <a:t>ofpersons</a:t>
            </a:r>
            <a:r>
              <a:rPr lang="en-US" dirty="0"/>
              <a:t>.</a:t>
            </a:r>
          </a:p>
        </p:txBody>
      </p:sp>
      <p:sp>
        <p:nvSpPr>
          <p:cNvPr id="4" name="Slide Number Placeholder 3"/>
          <p:cNvSpPr>
            <a:spLocks noGrp="1"/>
          </p:cNvSpPr>
          <p:nvPr>
            <p:ph type="sldNum" sz="quarter" idx="5"/>
          </p:nvPr>
        </p:nvSpPr>
        <p:spPr/>
        <p:txBody>
          <a:bodyPr/>
          <a:lstStyle/>
          <a:p>
            <a:fld id="{E0925CEA-CE71-402A-A3BD-05AB42F89E39}" type="slidenum">
              <a:rPr lang="en-US" smtClean="0"/>
              <a:t>2</a:t>
            </a:fld>
            <a:endParaRPr lang="en-US"/>
          </a:p>
        </p:txBody>
      </p:sp>
    </p:spTree>
    <p:extLst>
      <p:ext uri="{BB962C8B-B14F-4D97-AF65-F5344CB8AC3E}">
        <p14:creationId xmlns:p14="http://schemas.microsoft.com/office/powerpoint/2010/main" val="11587597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0925CEA-CE71-402A-A3BD-05AB42F89E39}" type="slidenum">
              <a:rPr lang="en-US" smtClean="0"/>
              <a:t>13</a:t>
            </a:fld>
            <a:endParaRPr lang="en-US"/>
          </a:p>
        </p:txBody>
      </p:sp>
    </p:spTree>
    <p:extLst>
      <p:ext uri="{BB962C8B-B14F-4D97-AF65-F5344CB8AC3E}">
        <p14:creationId xmlns:p14="http://schemas.microsoft.com/office/powerpoint/2010/main" val="4824446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One example of frame noncoverage occurs when the frame population is defined by all possible telephone numbers and the target population is defined as all households. In the United States, about 6% of the households do not have a telephone, so they are all missed when the survey is conducted solely by telephone.</a:t>
            </a:r>
          </a:p>
          <a:p>
            <a:endParaRPr lang="en-US" dirty="0"/>
          </a:p>
          <a:p>
            <a:r>
              <a:rPr lang="en-US" dirty="0"/>
              <a:t>Using a new target population is subject to the criticism that the population is not the one of interest to the user of the survey statistics. </a:t>
            </a:r>
          </a:p>
          <a:p>
            <a:endParaRPr lang="en-US" dirty="0"/>
          </a:p>
          <a:p>
            <a:r>
              <a:rPr lang="en-US" dirty="0"/>
              <a:t>Maintaining the full household target population means that the survey is subject to the criticism that there is coverage error in its statistics.</a:t>
            </a:r>
          </a:p>
          <a:p>
            <a:endParaRPr lang="en-US" dirty="0"/>
          </a:p>
          <a:p>
            <a:endParaRPr lang="en-US" dirty="0"/>
          </a:p>
        </p:txBody>
      </p:sp>
      <p:sp>
        <p:nvSpPr>
          <p:cNvPr id="4" name="Slide Number Placeholder 3"/>
          <p:cNvSpPr>
            <a:spLocks noGrp="1"/>
          </p:cNvSpPr>
          <p:nvPr>
            <p:ph type="sldNum" sz="quarter" idx="5"/>
          </p:nvPr>
        </p:nvSpPr>
        <p:spPr/>
        <p:txBody>
          <a:bodyPr/>
          <a:lstStyle/>
          <a:p>
            <a:fld id="{E0925CEA-CE71-402A-A3BD-05AB42F89E39}" type="slidenum">
              <a:rPr lang="en-US" smtClean="0"/>
              <a:t>14</a:t>
            </a:fld>
            <a:endParaRPr lang="en-US"/>
          </a:p>
        </p:txBody>
      </p:sp>
    </p:spTree>
    <p:extLst>
      <p:ext uri="{BB962C8B-B14F-4D97-AF65-F5344CB8AC3E}">
        <p14:creationId xmlns:p14="http://schemas.microsoft.com/office/powerpoint/2010/main" val="31260711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effectLst/>
              </a:rPr>
              <a:t>Lepkowski</a:t>
            </a:r>
            <a:r>
              <a:rPr lang="en-US" dirty="0">
                <a:effectLst/>
              </a:rPr>
              <a:t>, J. M., Singer, E., Tourangeau, R., Groves, R. M., Fowler, F. J., &amp; Couper, M. (n.d.). </a:t>
            </a:r>
            <a:r>
              <a:rPr lang="en-US" i="1" dirty="0">
                <a:effectLst/>
              </a:rPr>
              <a:t>Survey Methodology</a:t>
            </a:r>
            <a:r>
              <a:rPr lang="en-US" dirty="0">
                <a:effectLst/>
              </a:rPr>
              <a:t>. P.55</a:t>
            </a:r>
          </a:p>
          <a:p>
            <a:endParaRPr lang="en-US" dirty="0"/>
          </a:p>
        </p:txBody>
      </p:sp>
      <p:sp>
        <p:nvSpPr>
          <p:cNvPr id="4" name="Slide Number Placeholder 3"/>
          <p:cNvSpPr>
            <a:spLocks noGrp="1"/>
          </p:cNvSpPr>
          <p:nvPr>
            <p:ph type="sldNum" sz="quarter" idx="5"/>
          </p:nvPr>
        </p:nvSpPr>
        <p:spPr/>
        <p:txBody>
          <a:bodyPr/>
          <a:lstStyle/>
          <a:p>
            <a:fld id="{E0925CEA-CE71-402A-A3BD-05AB42F89E39}" type="slidenum">
              <a:rPr lang="en-US" smtClean="0"/>
              <a:t>16</a:t>
            </a:fld>
            <a:endParaRPr lang="en-US"/>
          </a:p>
        </p:txBody>
      </p:sp>
    </p:spTree>
    <p:extLst>
      <p:ext uri="{BB962C8B-B14F-4D97-AF65-F5344CB8AC3E}">
        <p14:creationId xmlns:p14="http://schemas.microsoft.com/office/powerpoint/2010/main" val="2832657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sampling variance is high, the sample means are very unstable. In that situation, sampling error is very high. That means that for any given survey with that kind of design, there is a larger chance that the mean from the survey will be comparatively far from the true mean of the population from which the sample was drawn (the sample frame).</a:t>
            </a:r>
          </a:p>
        </p:txBody>
      </p:sp>
      <p:sp>
        <p:nvSpPr>
          <p:cNvPr id="4" name="Slide Number Placeholder 3"/>
          <p:cNvSpPr>
            <a:spLocks noGrp="1"/>
          </p:cNvSpPr>
          <p:nvPr>
            <p:ph type="sldNum" sz="quarter" idx="5"/>
          </p:nvPr>
        </p:nvSpPr>
        <p:spPr/>
        <p:txBody>
          <a:bodyPr/>
          <a:lstStyle/>
          <a:p>
            <a:fld id="{E0925CEA-CE71-402A-A3BD-05AB42F89E39}" type="slidenum">
              <a:rPr lang="en-US" smtClean="0"/>
              <a:t>19</a:t>
            </a:fld>
            <a:endParaRPr lang="en-US"/>
          </a:p>
        </p:txBody>
      </p:sp>
    </p:spTree>
    <p:extLst>
      <p:ext uri="{BB962C8B-B14F-4D97-AF65-F5344CB8AC3E}">
        <p14:creationId xmlns:p14="http://schemas.microsoft.com/office/powerpoint/2010/main" val="35927879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Sampling bias can be easily removed by giving all elements an equal chance of selection.</a:t>
            </a:r>
          </a:p>
        </p:txBody>
      </p:sp>
      <p:sp>
        <p:nvSpPr>
          <p:cNvPr id="4" name="Slide Number Placeholder 3"/>
          <p:cNvSpPr>
            <a:spLocks noGrp="1"/>
          </p:cNvSpPr>
          <p:nvPr>
            <p:ph type="sldNum" sz="quarter" idx="5"/>
          </p:nvPr>
        </p:nvSpPr>
        <p:spPr/>
        <p:txBody>
          <a:bodyPr/>
          <a:lstStyle/>
          <a:p>
            <a:fld id="{E0925CEA-CE71-402A-A3BD-05AB42F89E39}" type="slidenum">
              <a:rPr lang="en-US" smtClean="0"/>
              <a:t>20</a:t>
            </a:fld>
            <a:endParaRPr lang="en-US"/>
          </a:p>
        </p:txBody>
      </p:sp>
    </p:spTree>
    <p:extLst>
      <p:ext uri="{BB962C8B-B14F-4D97-AF65-F5344CB8AC3E}">
        <p14:creationId xmlns:p14="http://schemas.microsoft.com/office/powerpoint/2010/main" val="23303191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 response rate surveys can also have high nonresponse bias (</a:t>
            </a:r>
            <a:r>
              <a:rPr lang="en-US" dirty="0" err="1"/>
              <a:t>ifthe</a:t>
            </a:r>
            <a:r>
              <a:rPr lang="en-US" dirty="0"/>
              <a:t> nonrespondents are very distinctive on the survey variable). The best way to think about this is that high response rates reduce the risk of nonresponse bias.</a:t>
            </a:r>
          </a:p>
        </p:txBody>
      </p:sp>
      <p:sp>
        <p:nvSpPr>
          <p:cNvPr id="4" name="Slide Number Placeholder 3"/>
          <p:cNvSpPr>
            <a:spLocks noGrp="1"/>
          </p:cNvSpPr>
          <p:nvPr>
            <p:ph type="sldNum" sz="quarter" idx="5"/>
          </p:nvPr>
        </p:nvSpPr>
        <p:spPr/>
        <p:txBody>
          <a:bodyPr/>
          <a:lstStyle/>
          <a:p>
            <a:fld id="{E0925CEA-CE71-402A-A3BD-05AB42F89E39}" type="slidenum">
              <a:rPr lang="en-US" smtClean="0"/>
              <a:t>24</a:t>
            </a:fld>
            <a:endParaRPr lang="en-US"/>
          </a:p>
        </p:txBody>
      </p:sp>
    </p:spTree>
    <p:extLst>
      <p:ext uri="{BB962C8B-B14F-4D97-AF65-F5344CB8AC3E}">
        <p14:creationId xmlns:p14="http://schemas.microsoft.com/office/powerpoint/2010/main" val="8868848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numCol="2" spcCol="182880">
            <a:noAutofit/>
          </a:bodyPr>
          <a:lstStyle/>
          <a:p>
            <a:pPr marL="228600" indent="-228600">
              <a:buFont typeface="+mj-lt"/>
              <a:buNone/>
            </a:pPr>
            <a:endParaRPr lang="en-US" sz="1200" dirty="0"/>
          </a:p>
        </p:txBody>
      </p:sp>
      <p:sp>
        <p:nvSpPr>
          <p:cNvPr id="5" name="Slide Image Placeholder 4"/>
          <p:cNvSpPr>
            <a:spLocks noGrp="1" noRot="1" noChangeAspect="1"/>
          </p:cNvSpPr>
          <p:nvPr>
            <p:ph type="sldImg"/>
          </p:nvPr>
        </p:nvSpPr>
        <p:spPr>
          <a:xfrm>
            <a:off x="538163" y="503238"/>
            <a:ext cx="3146425" cy="2359025"/>
          </a:xfr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example of specification error is in the measurement of unemployment in the Current Population Survey (CPS) (U.S. Department of Labor, Bureau of Labor Statistics, and U.S. Department of Commerce, Bureau of the Census 2002). For the Bureau of Labor Statistics (BLS), an important distinction among unemployed persons is whether they were ‘‘looking for work’’ or ‘‘on layoff.’’ Persons on layoff are defined as those who are separated from a job and await a recall to return to that job. Persons who are ‘‘looking for work’’ are the unemployed who are not on layoff and who are pursuing certain specified activities to find employment. Prior to 1994, the CPS questionnaire did not consider or collect information on the expectation of recall from persons who indicated that they had been laid off. Rather, unemployed persons were simply asked, ‘‘Were you on layoff from a job?’’ This question was problematic because, to many people, the term ‘‘layoff’’ could mean permanent termination from the job rather than the temporary loss of work the BLS economists were trying to measure. (See </a:t>
            </a:r>
            <a:r>
              <a:rPr lang="en-US" dirty="0" err="1"/>
              <a:t>Biemer</a:t>
            </a:r>
            <a:r>
              <a:rPr lang="en-US" dirty="0"/>
              <a:t> 2004 for an extensive discussion and analysis of this problem.) BLS redesigned this question in 1994 to clarify the concept of layoff. Currently, unemployed persons are asked, ‘‘Has your employer given you a date to return to work?’’ and ‘‘Could you have returned to work if you had been recalled?’’ These questions brought the concept of ‘‘on layoff’’ in line with the specification being used by BLS economists and produced slightly different estimates of unemployment</a:t>
            </a:r>
          </a:p>
        </p:txBody>
      </p:sp>
      <p:sp>
        <p:nvSpPr>
          <p:cNvPr id="4" name="Slide Number Placeholder 3"/>
          <p:cNvSpPr>
            <a:spLocks noGrp="1"/>
          </p:cNvSpPr>
          <p:nvPr>
            <p:ph type="sldNum" sz="quarter" idx="5"/>
          </p:nvPr>
        </p:nvSpPr>
        <p:spPr/>
        <p:txBody>
          <a:bodyPr/>
          <a:lstStyle/>
          <a:p>
            <a:fld id="{E0925CEA-CE71-402A-A3BD-05AB42F89E39}" type="slidenum">
              <a:rPr lang="en-US" smtClean="0"/>
              <a:t>32</a:t>
            </a:fld>
            <a:endParaRPr lang="en-US"/>
          </a:p>
        </p:txBody>
      </p:sp>
    </p:spTree>
    <p:extLst>
      <p:ext uri="{BB962C8B-B14F-4D97-AF65-F5344CB8AC3E}">
        <p14:creationId xmlns:p14="http://schemas.microsoft.com/office/powerpoint/2010/main" val="223599599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file://localhost/Users/ranja/Documents/5-resources/ppt/2018%20ppt-with%20R/new/working%20files/graphics_4x3-M-gold.png"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7170" name="Rectangle 2"/>
          <p:cNvSpPr>
            <a:spLocks noGrp="1" noChangeArrowheads="1"/>
          </p:cNvSpPr>
          <p:nvPr>
            <p:ph type="ctrTitle"/>
          </p:nvPr>
        </p:nvSpPr>
        <p:spPr>
          <a:xfrm>
            <a:off x="685800" y="787400"/>
            <a:ext cx="8001000" cy="1143000"/>
          </a:xfrm>
        </p:spPr>
        <p:txBody>
          <a:bodyPr/>
          <a:lstStyle>
            <a:lvl1pPr algn="l">
              <a:defRPr>
                <a:solidFill>
                  <a:srgbClr val="7A0019"/>
                </a:solidFill>
              </a:defRPr>
            </a:lvl1pPr>
          </a:lstStyle>
          <a:p>
            <a:pPr lvl="0"/>
            <a:r>
              <a:rPr lang="en-US" noProof="0"/>
              <a:t>Click to edit Master title style</a:t>
            </a:r>
            <a:endParaRPr lang="en-US" noProof="0" dirty="0"/>
          </a:p>
        </p:txBody>
      </p:sp>
      <p:sp>
        <p:nvSpPr>
          <p:cNvPr id="6" name="Text Placeholder 5"/>
          <p:cNvSpPr>
            <a:spLocks noGrp="1"/>
          </p:cNvSpPr>
          <p:nvPr>
            <p:ph type="body" sz="quarter" idx="10" hasCustomPrompt="1"/>
          </p:nvPr>
        </p:nvSpPr>
        <p:spPr>
          <a:xfrm>
            <a:off x="685800" y="2921000"/>
            <a:ext cx="8001000" cy="609600"/>
          </a:xfrm>
        </p:spPr>
        <p:txBody>
          <a:bodyPr/>
          <a:lstStyle>
            <a:lvl1pPr marL="0" indent="0">
              <a:buNone/>
              <a:defRPr sz="1800">
                <a:solidFill>
                  <a:schemeClr val="tx1">
                    <a:lumMod val="65000"/>
                    <a:lumOff val="35000"/>
                  </a:schemeClr>
                </a:solidFill>
              </a:defRPr>
            </a:lvl1pPr>
            <a:lvl2pPr marL="342946" indent="0">
              <a:buNone/>
              <a:defRPr sz="1800">
                <a:solidFill>
                  <a:srgbClr val="FFFFFF"/>
                </a:solidFill>
              </a:defRPr>
            </a:lvl2pPr>
            <a:lvl3pPr marL="685891" indent="0">
              <a:buNone/>
              <a:defRPr sz="1800">
                <a:solidFill>
                  <a:srgbClr val="FFFFFF"/>
                </a:solidFill>
              </a:defRPr>
            </a:lvl3pPr>
            <a:lvl4pPr marL="1028837" indent="0">
              <a:buNone/>
              <a:defRPr sz="1800">
                <a:solidFill>
                  <a:srgbClr val="FFFFFF"/>
                </a:solidFill>
              </a:defRPr>
            </a:lvl4pPr>
            <a:lvl5pPr marL="1371783" indent="0">
              <a:buNone/>
              <a:defRPr sz="1800">
                <a:solidFill>
                  <a:srgbClr val="FFFFFF"/>
                </a:solidFill>
              </a:defRPr>
            </a:lvl5pPr>
          </a:lstStyle>
          <a:p>
            <a:pPr lvl="0"/>
            <a:r>
              <a:rPr lang="en-US" dirty="0"/>
              <a:t>Presenter/unit/department name</a:t>
            </a:r>
          </a:p>
        </p:txBody>
      </p:sp>
      <p:sp>
        <p:nvSpPr>
          <p:cNvPr id="10" name="Text Placeholder 9"/>
          <p:cNvSpPr>
            <a:spLocks noGrp="1"/>
          </p:cNvSpPr>
          <p:nvPr>
            <p:ph type="body" sz="quarter" idx="12" hasCustomPrompt="1"/>
          </p:nvPr>
        </p:nvSpPr>
        <p:spPr>
          <a:xfrm>
            <a:off x="685800" y="3530600"/>
            <a:ext cx="8001000" cy="508000"/>
          </a:xfrm>
        </p:spPr>
        <p:txBody>
          <a:bodyPr/>
          <a:lstStyle>
            <a:lvl1pPr marL="0" indent="0">
              <a:buNone/>
              <a:defRPr sz="1200">
                <a:solidFill>
                  <a:schemeClr val="tx1">
                    <a:lumMod val="65000"/>
                    <a:lumOff val="35000"/>
                  </a:schemeClr>
                </a:solidFill>
              </a:defRPr>
            </a:lvl1pPr>
            <a:lvl2pPr marL="342946" indent="0">
              <a:buNone/>
              <a:defRPr sz="1200">
                <a:solidFill>
                  <a:srgbClr val="FFFFFF"/>
                </a:solidFill>
              </a:defRPr>
            </a:lvl2pPr>
            <a:lvl3pPr marL="685891" indent="0">
              <a:buNone/>
              <a:defRPr sz="1200">
                <a:solidFill>
                  <a:srgbClr val="FFFFFF"/>
                </a:solidFill>
              </a:defRPr>
            </a:lvl3pPr>
            <a:lvl4pPr marL="1028837" indent="0">
              <a:buNone/>
              <a:defRPr sz="1200">
                <a:solidFill>
                  <a:srgbClr val="FFFFFF"/>
                </a:solidFill>
              </a:defRPr>
            </a:lvl4pPr>
            <a:lvl5pPr marL="1371783" indent="0">
              <a:buNone/>
              <a:defRPr sz="1200">
                <a:solidFill>
                  <a:srgbClr val="FFFFFF"/>
                </a:solidFill>
              </a:defRPr>
            </a:lvl5pPr>
          </a:lstStyle>
          <a:p>
            <a:pPr lvl="0"/>
            <a:r>
              <a:rPr lang="en-US" dirty="0"/>
              <a:t>Date</a:t>
            </a:r>
          </a:p>
        </p:txBody>
      </p:sp>
      <p:pic>
        <p:nvPicPr>
          <p:cNvPr id="8" name="graphics_4x3-M-gold.png" descr="/Users/ranja/Documents/5-resources/ppt/2018 ppt-with R/new/working files/graphics_4x3-M-gold.png">
            <a:extLst>
              <a:ext uri="{FF2B5EF4-FFF2-40B4-BE49-F238E27FC236}">
                <a16:creationId xmlns:a16="http://schemas.microsoft.com/office/drawing/2014/main" id="{BD85783E-02E7-AD5B-1B73-2B1DBD3BD5B1}"/>
              </a:ext>
            </a:extLst>
          </p:cNvPr>
          <p:cNvPicPr>
            <a:picLocks noChangeAspect="1"/>
          </p:cNvPicPr>
          <p:nvPr/>
        </p:nvPicPr>
        <p:blipFill rotWithShape="1">
          <a:blip r:embed="rId2" r:link="rId3" cstate="print">
            <a:extLst>
              <a:ext uri="{28A0092B-C50C-407E-A947-70E740481C1C}">
                <a14:useLocalDpi xmlns:a14="http://schemas.microsoft.com/office/drawing/2010/main"/>
              </a:ext>
            </a:extLst>
          </a:blip>
          <a:srcRect r="10000"/>
          <a:stretch>
            <a:fillRect/>
          </a:stretch>
        </p:blipFill>
        <p:spPr>
          <a:xfrm>
            <a:off x="0" y="6387041"/>
            <a:ext cx="9144000" cy="466344"/>
          </a:xfrm>
          <a:prstGeom prst="rect">
            <a:avLst/>
          </a:prstGeom>
        </p:spPr>
      </p:pic>
      <p:pic>
        <p:nvPicPr>
          <p:cNvPr id="5" name="Picture 4" descr="A cartoon of a beaver with a large letter&#10;&#10;Description automatically generated">
            <a:extLst>
              <a:ext uri="{FF2B5EF4-FFF2-40B4-BE49-F238E27FC236}">
                <a16:creationId xmlns:a16="http://schemas.microsoft.com/office/drawing/2014/main" id="{2A03D404-5F99-3C9D-E8C4-48EF1EA452C9}"/>
              </a:ext>
            </a:extLst>
          </p:cNvPr>
          <p:cNvPicPr>
            <a:picLocks noChangeAspect="1"/>
          </p:cNvPicPr>
          <p:nvPr/>
        </p:nvPicPr>
        <p:blipFill>
          <a:blip r:embed="rId4"/>
          <a:stretch>
            <a:fillRect/>
          </a:stretch>
        </p:blipFill>
        <p:spPr>
          <a:xfrm>
            <a:off x="6400794" y="4956044"/>
            <a:ext cx="2743206" cy="1901956"/>
          </a:xfrm>
          <a:prstGeom prst="rect">
            <a:avLst/>
          </a:prstGeom>
        </p:spPr>
      </p:pic>
    </p:spTree>
    <p:extLst>
      <p:ext uri="{BB962C8B-B14F-4D97-AF65-F5344CB8AC3E}">
        <p14:creationId xmlns:p14="http://schemas.microsoft.com/office/powerpoint/2010/main" val="19467273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891309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5"/>
            <a:ext cx="7772400" cy="1362075"/>
          </a:xfrm>
        </p:spPr>
        <p:txBody>
          <a:bodyPr anchor="t"/>
          <a:lstStyle>
            <a:lvl1pPr algn="l">
              <a:defRPr sz="3000" b="0" i="0" cap="none"/>
            </a:lvl1pPr>
          </a:lstStyle>
          <a:p>
            <a:r>
              <a:rPr lang="en-US"/>
              <a:t>Click to edit Master title style</a:t>
            </a:r>
            <a:endParaRPr lang="en-US" dirty="0"/>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1500"/>
            </a:lvl1pPr>
            <a:lvl2pPr marL="342946" indent="0">
              <a:buNone/>
              <a:defRPr sz="1400"/>
            </a:lvl2pPr>
            <a:lvl3pPr marL="685891" indent="0">
              <a:buNone/>
              <a:defRPr sz="1200"/>
            </a:lvl3pPr>
            <a:lvl4pPr marL="1028837" indent="0">
              <a:buNone/>
              <a:defRPr sz="1100"/>
            </a:lvl4pPr>
            <a:lvl5pPr marL="1371783" indent="0">
              <a:buNone/>
              <a:defRPr sz="1100"/>
            </a:lvl5pPr>
            <a:lvl6pPr marL="1714729" indent="0">
              <a:buNone/>
              <a:defRPr sz="1100"/>
            </a:lvl6pPr>
            <a:lvl7pPr marL="2057674" indent="0">
              <a:buNone/>
              <a:defRPr sz="1100"/>
            </a:lvl7pPr>
            <a:lvl8pPr marL="2400620" indent="0">
              <a:buNone/>
              <a:defRPr sz="1100"/>
            </a:lvl8pPr>
            <a:lvl9pPr marL="2743566" indent="0">
              <a:buNone/>
              <a:defRPr sz="1100"/>
            </a:lvl9pPr>
          </a:lstStyle>
          <a:p>
            <a:pPr lvl="0"/>
            <a:r>
              <a:rPr lang="en-US"/>
              <a:t>Click to edit Master text styles</a:t>
            </a:r>
          </a:p>
        </p:txBody>
      </p:sp>
    </p:spTree>
    <p:extLst>
      <p:ext uri="{BB962C8B-B14F-4D97-AF65-F5344CB8AC3E}">
        <p14:creationId xmlns:p14="http://schemas.microsoft.com/office/powerpoint/2010/main" val="4500517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1752600"/>
            <a:ext cx="3810000" cy="3962400"/>
          </a:xfrm>
        </p:spPr>
        <p:txBody>
          <a:bodyPr/>
          <a:lstStyle>
            <a:lvl1pPr>
              <a:defRPr sz="2100"/>
            </a:lvl1pPr>
            <a:lvl2pPr>
              <a:defRPr sz="1800"/>
            </a:lvl2pPr>
            <a:lvl3pPr>
              <a:defRPr sz="15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52600"/>
            <a:ext cx="3810000" cy="3962400"/>
          </a:xfrm>
        </p:spPr>
        <p:txBody>
          <a:bodyPr/>
          <a:lstStyle>
            <a:lvl1pPr>
              <a:defRPr sz="2100"/>
            </a:lvl1pPr>
            <a:lvl2pPr>
              <a:defRPr sz="1800"/>
            </a:lvl2pPr>
            <a:lvl3pPr>
              <a:defRPr sz="15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416757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9"/>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7"/>
            <a:ext cx="4040188" cy="639763"/>
          </a:xfrm>
        </p:spPr>
        <p:txBody>
          <a:bodyPr anchor="b"/>
          <a:lstStyle>
            <a:lvl1pPr marL="0" indent="0">
              <a:buNone/>
              <a:defRPr sz="1800" b="1"/>
            </a:lvl1pPr>
            <a:lvl2pPr marL="342946" indent="0">
              <a:buNone/>
              <a:defRPr sz="1500" b="1"/>
            </a:lvl2pPr>
            <a:lvl3pPr marL="685891" indent="0">
              <a:buNone/>
              <a:defRPr sz="1400" b="1"/>
            </a:lvl3pPr>
            <a:lvl4pPr marL="1028837" indent="0">
              <a:buNone/>
              <a:defRPr sz="1200" b="1"/>
            </a:lvl4pPr>
            <a:lvl5pPr marL="1371783" indent="0">
              <a:buNone/>
              <a:defRPr sz="1200" b="1"/>
            </a:lvl5pPr>
            <a:lvl6pPr marL="1714729" indent="0">
              <a:buNone/>
              <a:defRPr sz="1200" b="1"/>
            </a:lvl6pPr>
            <a:lvl7pPr marL="2057674" indent="0">
              <a:buNone/>
              <a:defRPr sz="1200" b="1"/>
            </a:lvl7pPr>
            <a:lvl8pPr marL="2400620" indent="0">
              <a:buNone/>
              <a:defRPr sz="1200" b="1"/>
            </a:lvl8pPr>
            <a:lvl9pPr marL="2743566"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800"/>
            </a:lvl1pPr>
            <a:lvl2pPr>
              <a:defRPr sz="15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8" y="1535117"/>
            <a:ext cx="4041775" cy="639763"/>
          </a:xfrm>
        </p:spPr>
        <p:txBody>
          <a:bodyPr anchor="b"/>
          <a:lstStyle>
            <a:lvl1pPr marL="0" indent="0">
              <a:buNone/>
              <a:defRPr sz="1800" b="1"/>
            </a:lvl1pPr>
            <a:lvl2pPr marL="342946" indent="0">
              <a:buNone/>
              <a:defRPr sz="1500" b="1"/>
            </a:lvl2pPr>
            <a:lvl3pPr marL="685891" indent="0">
              <a:buNone/>
              <a:defRPr sz="1400" b="1"/>
            </a:lvl3pPr>
            <a:lvl4pPr marL="1028837" indent="0">
              <a:buNone/>
              <a:defRPr sz="1200" b="1"/>
            </a:lvl4pPr>
            <a:lvl5pPr marL="1371783" indent="0">
              <a:buNone/>
              <a:defRPr sz="1200" b="1"/>
            </a:lvl5pPr>
            <a:lvl6pPr marL="1714729" indent="0">
              <a:buNone/>
              <a:defRPr sz="1200" b="1"/>
            </a:lvl6pPr>
            <a:lvl7pPr marL="2057674" indent="0">
              <a:buNone/>
              <a:defRPr sz="1200" b="1"/>
            </a:lvl7pPr>
            <a:lvl8pPr marL="2400620" indent="0">
              <a:buNone/>
              <a:defRPr sz="1200" b="1"/>
            </a:lvl8pPr>
            <a:lvl9pPr marL="2743566"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8" y="2174875"/>
            <a:ext cx="4041775" cy="3951288"/>
          </a:xfrm>
        </p:spPr>
        <p:txBody>
          <a:bodyPr/>
          <a:lstStyle>
            <a:lvl1pPr>
              <a:defRPr sz="1800"/>
            </a:lvl1pPr>
            <a:lvl2pPr>
              <a:defRPr sz="15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880152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2416785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10111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5" y="273053"/>
            <a:ext cx="3008313" cy="1162051"/>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73057"/>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5" y="1435104"/>
            <a:ext cx="3008313" cy="4691063"/>
          </a:xfrm>
        </p:spPr>
        <p:txBody>
          <a:bodyPr/>
          <a:lstStyle>
            <a:lvl1pPr marL="0" indent="0">
              <a:buNone/>
              <a:defRPr sz="1100"/>
            </a:lvl1pPr>
            <a:lvl2pPr marL="342946" indent="0">
              <a:buNone/>
              <a:defRPr sz="900"/>
            </a:lvl2pPr>
            <a:lvl3pPr marL="685891" indent="0">
              <a:buNone/>
              <a:defRPr sz="800"/>
            </a:lvl3pPr>
            <a:lvl4pPr marL="1028837" indent="0">
              <a:buNone/>
              <a:defRPr sz="700"/>
            </a:lvl4pPr>
            <a:lvl5pPr marL="1371783" indent="0">
              <a:buNone/>
              <a:defRPr sz="700"/>
            </a:lvl5pPr>
            <a:lvl6pPr marL="1714729" indent="0">
              <a:buNone/>
              <a:defRPr sz="700"/>
            </a:lvl6pPr>
            <a:lvl7pPr marL="2057674" indent="0">
              <a:buNone/>
              <a:defRPr sz="700"/>
            </a:lvl7pPr>
            <a:lvl8pPr marL="2400620" indent="0">
              <a:buNone/>
              <a:defRPr sz="700"/>
            </a:lvl8pPr>
            <a:lvl9pPr marL="2743566" indent="0">
              <a:buNone/>
              <a:defRPr sz="700"/>
            </a:lvl9pPr>
          </a:lstStyle>
          <a:p>
            <a:pPr lvl="0"/>
            <a:r>
              <a:rPr lang="en-US"/>
              <a:t>Click to edit Master text styles</a:t>
            </a:r>
          </a:p>
        </p:txBody>
      </p:sp>
    </p:spTree>
    <p:extLst>
      <p:ext uri="{BB962C8B-B14F-4D97-AF65-F5344CB8AC3E}">
        <p14:creationId xmlns:p14="http://schemas.microsoft.com/office/powerpoint/2010/main" val="16496241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4"/>
            <a:ext cx="5486400" cy="566739"/>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2400"/>
            </a:lvl1pPr>
            <a:lvl2pPr marL="342946" indent="0">
              <a:buNone/>
              <a:defRPr sz="2100"/>
            </a:lvl2pPr>
            <a:lvl3pPr marL="685891" indent="0">
              <a:buNone/>
              <a:defRPr sz="1800"/>
            </a:lvl3pPr>
            <a:lvl4pPr marL="1028837" indent="0">
              <a:buNone/>
              <a:defRPr sz="1500"/>
            </a:lvl4pPr>
            <a:lvl5pPr marL="1371783" indent="0">
              <a:buNone/>
              <a:defRPr sz="1500"/>
            </a:lvl5pPr>
            <a:lvl6pPr marL="1714729" indent="0">
              <a:buNone/>
              <a:defRPr sz="1500"/>
            </a:lvl6pPr>
            <a:lvl7pPr marL="2057674" indent="0">
              <a:buNone/>
              <a:defRPr sz="1500"/>
            </a:lvl7pPr>
            <a:lvl8pPr marL="2400620" indent="0">
              <a:buNone/>
              <a:defRPr sz="1500"/>
            </a:lvl8pPr>
            <a:lvl9pPr marL="2743566" indent="0">
              <a:buNone/>
              <a:defRPr sz="1500"/>
            </a:lvl9pPr>
          </a:lstStyle>
          <a:p>
            <a:pPr lvl="0"/>
            <a:r>
              <a:rPr lang="en-US" noProof="0"/>
              <a:t>Click icon to add picture</a:t>
            </a:r>
          </a:p>
        </p:txBody>
      </p:sp>
      <p:sp>
        <p:nvSpPr>
          <p:cNvPr id="4" name="Text Placeholder 3"/>
          <p:cNvSpPr>
            <a:spLocks noGrp="1"/>
          </p:cNvSpPr>
          <p:nvPr>
            <p:ph type="body" sz="half" idx="2"/>
          </p:nvPr>
        </p:nvSpPr>
        <p:spPr>
          <a:xfrm>
            <a:off x="1792288" y="5367342"/>
            <a:ext cx="5486400" cy="804863"/>
          </a:xfrm>
        </p:spPr>
        <p:txBody>
          <a:bodyPr/>
          <a:lstStyle>
            <a:lvl1pPr marL="0" indent="0">
              <a:buNone/>
              <a:defRPr sz="1100"/>
            </a:lvl1pPr>
            <a:lvl2pPr marL="342946" indent="0">
              <a:buNone/>
              <a:defRPr sz="900"/>
            </a:lvl2pPr>
            <a:lvl3pPr marL="685891" indent="0">
              <a:buNone/>
              <a:defRPr sz="800"/>
            </a:lvl3pPr>
            <a:lvl4pPr marL="1028837" indent="0">
              <a:buNone/>
              <a:defRPr sz="700"/>
            </a:lvl4pPr>
            <a:lvl5pPr marL="1371783" indent="0">
              <a:buNone/>
              <a:defRPr sz="700"/>
            </a:lvl5pPr>
            <a:lvl6pPr marL="1714729" indent="0">
              <a:buNone/>
              <a:defRPr sz="700"/>
            </a:lvl6pPr>
            <a:lvl7pPr marL="2057674" indent="0">
              <a:buNone/>
              <a:defRPr sz="700"/>
            </a:lvl7pPr>
            <a:lvl8pPr marL="2400620" indent="0">
              <a:buNone/>
              <a:defRPr sz="700"/>
            </a:lvl8pPr>
            <a:lvl9pPr marL="2743566" indent="0">
              <a:buNone/>
              <a:defRPr sz="700"/>
            </a:lvl9pPr>
          </a:lstStyle>
          <a:p>
            <a:pPr lvl="0"/>
            <a:r>
              <a:rPr lang="en-US"/>
              <a:t>Click to edit Master text styles</a:t>
            </a:r>
          </a:p>
        </p:txBody>
      </p:sp>
    </p:spTree>
    <p:extLst>
      <p:ext uri="{BB962C8B-B14F-4D97-AF65-F5344CB8AC3E}">
        <p14:creationId xmlns:p14="http://schemas.microsoft.com/office/powerpoint/2010/main" val="40349531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21891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304800"/>
            <a:ext cx="1943100" cy="5410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1" y="304800"/>
            <a:ext cx="5676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920251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file://localhost/Users/ranja/Documents/5-resources/ppt/2018%20ppt-with%20R/new/working%20files/graphics_4x3-M-gold.png" TargetMode="Externa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304800"/>
            <a:ext cx="7772400" cy="114300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FAA26D3D-D897-4be2-8F04-BA451C77F1D7}">
              <ma14:placeholderFlag xmlns="" xmlns:ma14="http://schemas.microsoft.com/office/mac/drawingml/2011/main" val="1"/>
            </a:ext>
          </a:extLst>
        </p:spPr>
        <p:txBody>
          <a:bodyPr vert="horz" wrap="square" lIns="68589" tIns="34295" rIns="68589" bIns="34295" numCol="1" anchor="ctr" anchorCtr="0" compatLnSpc="1">
            <a:prstTxWarp prst="textNoShape">
              <a:avLst/>
            </a:prstTxWarp>
          </a:bodyPr>
          <a:lstStyle/>
          <a:p>
            <a:pPr lvl="0"/>
            <a:r>
              <a:rPr lang="en-US"/>
              <a:t>Click to edit Master title style</a:t>
            </a:r>
            <a:endParaRPr lang="en-US" dirty="0"/>
          </a:p>
        </p:txBody>
      </p:sp>
      <p:sp>
        <p:nvSpPr>
          <p:cNvPr id="1027" name="Rectangle 3"/>
          <p:cNvSpPr>
            <a:spLocks noGrp="1" noChangeArrowheads="1"/>
          </p:cNvSpPr>
          <p:nvPr>
            <p:ph type="body" idx="1"/>
          </p:nvPr>
        </p:nvSpPr>
        <p:spPr bwMode="auto">
          <a:xfrm>
            <a:off x="685800" y="1752600"/>
            <a:ext cx="7772400" cy="396240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FAA26D3D-D897-4be2-8F04-BA451C77F1D7}">
              <ma14:placeholderFlag xmlns="" xmlns:ma14="http://schemas.microsoft.com/office/mac/drawingml/2011/main" val="1"/>
            </a:ext>
          </a:extLst>
        </p:spPr>
        <p:txBody>
          <a:bodyPr vert="horz" wrap="square" lIns="68589" tIns="34295" rIns="68589" bIns="34295"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8" name="graphics_4x3-M-gold.png" descr="/Users/ranja/Documents/5-resources/ppt/2018 ppt-with R/new/working files/graphics_4x3-M-gold.png"/>
          <p:cNvPicPr>
            <a:picLocks noChangeAspect="1"/>
          </p:cNvPicPr>
          <p:nvPr/>
        </p:nvPicPr>
        <p:blipFill>
          <a:blip r:embed="rId13" r:link="rId14" cstate="print">
            <a:extLst>
              <a:ext uri="{28A0092B-C50C-407E-A947-70E740481C1C}">
                <a14:useLocalDpi xmlns:a14="http://schemas.microsoft.com/office/drawing/2010/main"/>
              </a:ext>
            </a:extLst>
          </a:blip>
          <a:stretch>
            <a:fillRect/>
          </a:stretch>
        </p:blipFill>
        <p:spPr>
          <a:xfrm>
            <a:off x="0" y="6387041"/>
            <a:ext cx="9144000" cy="466344"/>
          </a:xfrm>
          <a:prstGeom prst="rect">
            <a:avLst/>
          </a:prstGeom>
        </p:spPr>
      </p:pic>
    </p:spTree>
    <p:extLst>
      <p:ext uri="{BB962C8B-B14F-4D97-AF65-F5344CB8AC3E}">
        <p14:creationId xmlns:p14="http://schemas.microsoft.com/office/powerpoint/2010/main" val="187786125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fontAlgn="base" hangingPunct="1">
        <a:spcBef>
          <a:spcPct val="0"/>
        </a:spcBef>
        <a:spcAft>
          <a:spcPct val="0"/>
        </a:spcAft>
        <a:defRPr sz="3300" b="0">
          <a:solidFill>
            <a:srgbClr val="7A0019"/>
          </a:solidFill>
          <a:latin typeface="+mj-lt"/>
          <a:ea typeface="ＭＳ Ｐゴシック" charset="0"/>
          <a:cs typeface="ＭＳ Ｐゴシック" charset="0"/>
        </a:defRPr>
      </a:lvl1pPr>
      <a:lvl2pPr algn="ctr" rtl="0" eaLnBrk="1" fontAlgn="base" hangingPunct="1">
        <a:spcBef>
          <a:spcPct val="0"/>
        </a:spcBef>
        <a:spcAft>
          <a:spcPct val="0"/>
        </a:spcAft>
        <a:defRPr sz="3300">
          <a:solidFill>
            <a:srgbClr val="7A0019"/>
          </a:solidFill>
          <a:latin typeface="Corbel" charset="0"/>
          <a:ea typeface="ＭＳ Ｐゴシック" charset="0"/>
          <a:cs typeface="ＭＳ Ｐゴシック" charset="0"/>
        </a:defRPr>
      </a:lvl2pPr>
      <a:lvl3pPr algn="ctr" rtl="0" eaLnBrk="1" fontAlgn="base" hangingPunct="1">
        <a:spcBef>
          <a:spcPct val="0"/>
        </a:spcBef>
        <a:spcAft>
          <a:spcPct val="0"/>
        </a:spcAft>
        <a:defRPr sz="3300">
          <a:solidFill>
            <a:srgbClr val="7A0019"/>
          </a:solidFill>
          <a:latin typeface="Corbel" charset="0"/>
          <a:ea typeface="ＭＳ Ｐゴシック" charset="0"/>
          <a:cs typeface="ＭＳ Ｐゴシック" charset="0"/>
        </a:defRPr>
      </a:lvl3pPr>
      <a:lvl4pPr algn="ctr" rtl="0" eaLnBrk="1" fontAlgn="base" hangingPunct="1">
        <a:spcBef>
          <a:spcPct val="0"/>
        </a:spcBef>
        <a:spcAft>
          <a:spcPct val="0"/>
        </a:spcAft>
        <a:defRPr sz="3300">
          <a:solidFill>
            <a:srgbClr val="7A0019"/>
          </a:solidFill>
          <a:latin typeface="Corbel" charset="0"/>
          <a:ea typeface="ＭＳ Ｐゴシック" charset="0"/>
          <a:cs typeface="ＭＳ Ｐゴシック" charset="0"/>
        </a:defRPr>
      </a:lvl4pPr>
      <a:lvl5pPr algn="ctr" rtl="0" eaLnBrk="1" fontAlgn="base" hangingPunct="1">
        <a:spcBef>
          <a:spcPct val="0"/>
        </a:spcBef>
        <a:spcAft>
          <a:spcPct val="0"/>
        </a:spcAft>
        <a:defRPr sz="3300">
          <a:solidFill>
            <a:srgbClr val="7A0019"/>
          </a:solidFill>
          <a:latin typeface="Corbel" charset="0"/>
          <a:ea typeface="ＭＳ Ｐゴシック" charset="0"/>
          <a:cs typeface="ＭＳ Ｐゴシック" charset="0"/>
        </a:defRPr>
      </a:lvl5pPr>
      <a:lvl6pPr marL="342946" algn="ctr" rtl="0" eaLnBrk="1" fontAlgn="base" hangingPunct="1">
        <a:spcBef>
          <a:spcPct val="0"/>
        </a:spcBef>
        <a:spcAft>
          <a:spcPct val="0"/>
        </a:spcAft>
        <a:defRPr sz="3300">
          <a:solidFill>
            <a:srgbClr val="7A0019"/>
          </a:solidFill>
          <a:latin typeface="Arial" charset="0"/>
          <a:ea typeface="ＭＳ Ｐゴシック" charset="0"/>
          <a:cs typeface="ＭＳ Ｐゴシック" charset="0"/>
        </a:defRPr>
      </a:lvl6pPr>
      <a:lvl7pPr marL="685891" algn="ctr" rtl="0" eaLnBrk="1" fontAlgn="base" hangingPunct="1">
        <a:spcBef>
          <a:spcPct val="0"/>
        </a:spcBef>
        <a:spcAft>
          <a:spcPct val="0"/>
        </a:spcAft>
        <a:defRPr sz="3300">
          <a:solidFill>
            <a:srgbClr val="7A0019"/>
          </a:solidFill>
          <a:latin typeface="Arial" charset="0"/>
          <a:ea typeface="ＭＳ Ｐゴシック" charset="0"/>
          <a:cs typeface="ＭＳ Ｐゴシック" charset="0"/>
        </a:defRPr>
      </a:lvl7pPr>
      <a:lvl8pPr marL="1028837" algn="ctr" rtl="0" eaLnBrk="1" fontAlgn="base" hangingPunct="1">
        <a:spcBef>
          <a:spcPct val="0"/>
        </a:spcBef>
        <a:spcAft>
          <a:spcPct val="0"/>
        </a:spcAft>
        <a:defRPr sz="3300">
          <a:solidFill>
            <a:srgbClr val="7A0019"/>
          </a:solidFill>
          <a:latin typeface="Arial" charset="0"/>
          <a:ea typeface="ＭＳ Ｐゴシック" charset="0"/>
          <a:cs typeface="ＭＳ Ｐゴシック" charset="0"/>
        </a:defRPr>
      </a:lvl8pPr>
      <a:lvl9pPr marL="1371783" algn="ctr" rtl="0" eaLnBrk="1" fontAlgn="base" hangingPunct="1">
        <a:spcBef>
          <a:spcPct val="0"/>
        </a:spcBef>
        <a:spcAft>
          <a:spcPct val="0"/>
        </a:spcAft>
        <a:defRPr sz="3300">
          <a:solidFill>
            <a:srgbClr val="7A0019"/>
          </a:solidFill>
          <a:latin typeface="Arial" charset="0"/>
          <a:ea typeface="ＭＳ Ｐゴシック" charset="0"/>
          <a:cs typeface="ＭＳ Ｐゴシック" charset="0"/>
        </a:defRPr>
      </a:lvl9pPr>
    </p:titleStyle>
    <p:bodyStyle>
      <a:lvl1pPr marL="257209" indent="-257209" algn="l" rtl="0" eaLnBrk="1" fontAlgn="base" hangingPunct="1">
        <a:spcBef>
          <a:spcPct val="20000"/>
        </a:spcBef>
        <a:spcAft>
          <a:spcPct val="0"/>
        </a:spcAft>
        <a:buClr>
          <a:srgbClr val="7A0019"/>
        </a:buClr>
        <a:buChar char="•"/>
        <a:defRPr sz="2400">
          <a:solidFill>
            <a:srgbClr val="595959"/>
          </a:solidFill>
          <a:latin typeface="+mn-lt"/>
          <a:ea typeface="ＭＳ Ｐゴシック" charset="0"/>
          <a:cs typeface="ＭＳ Ｐゴシック" charset="0"/>
        </a:defRPr>
      </a:lvl1pPr>
      <a:lvl2pPr marL="557287" indent="-214341" algn="l" rtl="0" eaLnBrk="1" fontAlgn="base" hangingPunct="1">
        <a:spcBef>
          <a:spcPct val="20000"/>
        </a:spcBef>
        <a:spcAft>
          <a:spcPct val="0"/>
        </a:spcAft>
        <a:buClr>
          <a:srgbClr val="7A0019"/>
        </a:buClr>
        <a:buChar char="–"/>
        <a:defRPr sz="2100">
          <a:solidFill>
            <a:srgbClr val="595959"/>
          </a:solidFill>
          <a:latin typeface="+mn-lt"/>
          <a:ea typeface="ＭＳ Ｐゴシック" charset="0"/>
        </a:defRPr>
      </a:lvl2pPr>
      <a:lvl3pPr marL="857364" indent="-171473" algn="l" rtl="0" eaLnBrk="1" fontAlgn="base" hangingPunct="1">
        <a:spcBef>
          <a:spcPct val="20000"/>
        </a:spcBef>
        <a:spcAft>
          <a:spcPct val="0"/>
        </a:spcAft>
        <a:buClr>
          <a:srgbClr val="7A0019"/>
        </a:buClr>
        <a:buChar char="•"/>
        <a:defRPr sz="1800">
          <a:solidFill>
            <a:srgbClr val="595959"/>
          </a:solidFill>
          <a:latin typeface="+mn-lt"/>
          <a:ea typeface="ＭＳ Ｐゴシック" charset="0"/>
        </a:defRPr>
      </a:lvl3pPr>
      <a:lvl4pPr marL="1200310" indent="-171473" algn="l" rtl="0" eaLnBrk="1" fontAlgn="base" hangingPunct="1">
        <a:spcBef>
          <a:spcPct val="20000"/>
        </a:spcBef>
        <a:spcAft>
          <a:spcPct val="0"/>
        </a:spcAft>
        <a:buClr>
          <a:srgbClr val="7A0019"/>
        </a:buClr>
        <a:buChar char="–"/>
        <a:defRPr sz="1500">
          <a:solidFill>
            <a:srgbClr val="595959"/>
          </a:solidFill>
          <a:latin typeface="+mn-lt"/>
          <a:ea typeface="ＭＳ Ｐゴシック" charset="0"/>
        </a:defRPr>
      </a:lvl4pPr>
      <a:lvl5pPr marL="1543256" indent="-171473" algn="l" rtl="0" eaLnBrk="1" fontAlgn="base" hangingPunct="1">
        <a:spcBef>
          <a:spcPct val="20000"/>
        </a:spcBef>
        <a:spcAft>
          <a:spcPct val="0"/>
        </a:spcAft>
        <a:buClr>
          <a:srgbClr val="7A0019"/>
        </a:buClr>
        <a:buChar char="»"/>
        <a:defRPr sz="1500">
          <a:solidFill>
            <a:srgbClr val="595959"/>
          </a:solidFill>
          <a:latin typeface="+mn-lt"/>
          <a:ea typeface="ＭＳ Ｐゴシック" charset="0"/>
        </a:defRPr>
      </a:lvl5pPr>
      <a:lvl6pPr marL="1886201" indent="-171473" algn="l" rtl="0" eaLnBrk="1" fontAlgn="base" hangingPunct="1">
        <a:spcBef>
          <a:spcPct val="20000"/>
        </a:spcBef>
        <a:spcAft>
          <a:spcPct val="0"/>
        </a:spcAft>
        <a:buClr>
          <a:srgbClr val="7A0019"/>
        </a:buClr>
        <a:buChar char="»"/>
        <a:defRPr sz="1500">
          <a:solidFill>
            <a:schemeClr val="tx1"/>
          </a:solidFill>
          <a:latin typeface="+mn-lt"/>
          <a:ea typeface="+mn-ea"/>
        </a:defRPr>
      </a:lvl6pPr>
      <a:lvl7pPr marL="2229147" indent="-171473" algn="l" rtl="0" eaLnBrk="1" fontAlgn="base" hangingPunct="1">
        <a:spcBef>
          <a:spcPct val="20000"/>
        </a:spcBef>
        <a:spcAft>
          <a:spcPct val="0"/>
        </a:spcAft>
        <a:buClr>
          <a:srgbClr val="7A0019"/>
        </a:buClr>
        <a:buChar char="»"/>
        <a:defRPr sz="1500">
          <a:solidFill>
            <a:schemeClr val="tx1"/>
          </a:solidFill>
          <a:latin typeface="+mn-lt"/>
          <a:ea typeface="+mn-ea"/>
        </a:defRPr>
      </a:lvl7pPr>
      <a:lvl8pPr marL="2572093" indent="-171473" algn="l" rtl="0" eaLnBrk="1" fontAlgn="base" hangingPunct="1">
        <a:spcBef>
          <a:spcPct val="20000"/>
        </a:spcBef>
        <a:spcAft>
          <a:spcPct val="0"/>
        </a:spcAft>
        <a:buClr>
          <a:srgbClr val="7A0019"/>
        </a:buClr>
        <a:buChar char="»"/>
        <a:defRPr sz="1500">
          <a:solidFill>
            <a:schemeClr val="tx1"/>
          </a:solidFill>
          <a:latin typeface="+mn-lt"/>
          <a:ea typeface="+mn-ea"/>
        </a:defRPr>
      </a:lvl8pPr>
      <a:lvl9pPr marL="2915039" indent="-171473" algn="l" rtl="0" eaLnBrk="1" fontAlgn="base" hangingPunct="1">
        <a:spcBef>
          <a:spcPct val="20000"/>
        </a:spcBef>
        <a:spcAft>
          <a:spcPct val="0"/>
        </a:spcAft>
        <a:buClr>
          <a:srgbClr val="7A0019"/>
        </a:buClr>
        <a:buChar char="»"/>
        <a:defRPr sz="1500">
          <a:solidFill>
            <a:schemeClr val="tx1"/>
          </a:solidFill>
          <a:latin typeface="+mn-lt"/>
          <a:ea typeface="+mn-ea"/>
        </a:defRPr>
      </a:lvl9pPr>
    </p:bodyStyle>
    <p:otherStyle>
      <a:defPPr>
        <a:defRPr lang="en-US"/>
      </a:defPPr>
      <a:lvl1pPr marL="0" algn="l" defTabSz="342946" rtl="0" eaLnBrk="1" latinLnBrk="0" hangingPunct="1">
        <a:defRPr sz="1400" kern="1200">
          <a:solidFill>
            <a:schemeClr val="tx1"/>
          </a:solidFill>
          <a:latin typeface="+mn-lt"/>
          <a:ea typeface="+mn-ea"/>
          <a:cs typeface="+mn-cs"/>
        </a:defRPr>
      </a:lvl1pPr>
      <a:lvl2pPr marL="342946" algn="l" defTabSz="342946" rtl="0" eaLnBrk="1" latinLnBrk="0" hangingPunct="1">
        <a:defRPr sz="1400" kern="1200">
          <a:solidFill>
            <a:schemeClr val="tx1"/>
          </a:solidFill>
          <a:latin typeface="+mn-lt"/>
          <a:ea typeface="+mn-ea"/>
          <a:cs typeface="+mn-cs"/>
        </a:defRPr>
      </a:lvl2pPr>
      <a:lvl3pPr marL="685891" algn="l" defTabSz="342946" rtl="0" eaLnBrk="1" latinLnBrk="0" hangingPunct="1">
        <a:defRPr sz="1400" kern="1200">
          <a:solidFill>
            <a:schemeClr val="tx1"/>
          </a:solidFill>
          <a:latin typeface="+mn-lt"/>
          <a:ea typeface="+mn-ea"/>
          <a:cs typeface="+mn-cs"/>
        </a:defRPr>
      </a:lvl3pPr>
      <a:lvl4pPr marL="1028837" algn="l" defTabSz="342946" rtl="0" eaLnBrk="1" latinLnBrk="0" hangingPunct="1">
        <a:defRPr sz="1400" kern="1200">
          <a:solidFill>
            <a:schemeClr val="tx1"/>
          </a:solidFill>
          <a:latin typeface="+mn-lt"/>
          <a:ea typeface="+mn-ea"/>
          <a:cs typeface="+mn-cs"/>
        </a:defRPr>
      </a:lvl4pPr>
      <a:lvl5pPr marL="1371783" algn="l" defTabSz="342946" rtl="0" eaLnBrk="1" latinLnBrk="0" hangingPunct="1">
        <a:defRPr sz="1400" kern="1200">
          <a:solidFill>
            <a:schemeClr val="tx1"/>
          </a:solidFill>
          <a:latin typeface="+mn-lt"/>
          <a:ea typeface="+mn-ea"/>
          <a:cs typeface="+mn-cs"/>
        </a:defRPr>
      </a:lvl5pPr>
      <a:lvl6pPr marL="1714729" algn="l" defTabSz="342946" rtl="0" eaLnBrk="1" latinLnBrk="0" hangingPunct="1">
        <a:defRPr sz="1400" kern="1200">
          <a:solidFill>
            <a:schemeClr val="tx1"/>
          </a:solidFill>
          <a:latin typeface="+mn-lt"/>
          <a:ea typeface="+mn-ea"/>
          <a:cs typeface="+mn-cs"/>
        </a:defRPr>
      </a:lvl6pPr>
      <a:lvl7pPr marL="2057674" algn="l" defTabSz="342946" rtl="0" eaLnBrk="1" latinLnBrk="0" hangingPunct="1">
        <a:defRPr sz="1400" kern="1200">
          <a:solidFill>
            <a:schemeClr val="tx1"/>
          </a:solidFill>
          <a:latin typeface="+mn-lt"/>
          <a:ea typeface="+mn-ea"/>
          <a:cs typeface="+mn-cs"/>
        </a:defRPr>
      </a:lvl7pPr>
      <a:lvl8pPr marL="2400620" algn="l" defTabSz="342946" rtl="0" eaLnBrk="1" latinLnBrk="0" hangingPunct="1">
        <a:defRPr sz="1400" kern="1200">
          <a:solidFill>
            <a:schemeClr val="tx1"/>
          </a:solidFill>
          <a:latin typeface="+mn-lt"/>
          <a:ea typeface="+mn-ea"/>
          <a:cs typeface="+mn-cs"/>
        </a:defRPr>
      </a:lvl8pPr>
      <a:lvl9pPr marL="2743566" algn="l" defTabSz="342946" rtl="0" eaLnBrk="1" latinLnBrk="0" hangingPunct="1">
        <a:defRPr sz="1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965C8C-CF70-CF3F-9392-E243431AEC0B}"/>
              </a:ext>
            </a:extLst>
          </p:cNvPr>
          <p:cNvSpPr>
            <a:spLocks noGrp="1"/>
          </p:cNvSpPr>
          <p:nvPr>
            <p:ph type="ctrTitle"/>
          </p:nvPr>
        </p:nvSpPr>
        <p:spPr/>
        <p:txBody>
          <a:bodyPr/>
          <a:lstStyle/>
          <a:p>
            <a:r>
              <a:rPr lang="en-US" altLang="en-US" dirty="0"/>
              <a:t>Total Survey Error Framework</a:t>
            </a:r>
            <a:endParaRPr lang="en-US" dirty="0"/>
          </a:p>
        </p:txBody>
      </p:sp>
      <p:sp>
        <p:nvSpPr>
          <p:cNvPr id="3" name="Text Placeholder 2">
            <a:extLst>
              <a:ext uri="{FF2B5EF4-FFF2-40B4-BE49-F238E27FC236}">
                <a16:creationId xmlns:a16="http://schemas.microsoft.com/office/drawing/2014/main" id="{54B6C380-3DF9-E998-2C27-3E061F31EA79}"/>
              </a:ext>
            </a:extLst>
          </p:cNvPr>
          <p:cNvSpPr>
            <a:spLocks noGrp="1"/>
          </p:cNvSpPr>
          <p:nvPr>
            <p:ph type="body" sz="quarter" idx="10"/>
          </p:nvPr>
        </p:nvSpPr>
        <p:spPr/>
        <p:txBody>
          <a:bodyPr/>
          <a:lstStyle/>
          <a:p>
            <a:r>
              <a:rPr lang="en-US" dirty="0"/>
              <a:t>Wenchao Ma</a:t>
            </a:r>
          </a:p>
          <a:p>
            <a:r>
              <a:rPr lang="en-US" dirty="0"/>
              <a:t>University of Minnesota</a:t>
            </a:r>
          </a:p>
          <a:p>
            <a:endParaRPr lang="en-US" dirty="0"/>
          </a:p>
        </p:txBody>
      </p:sp>
      <p:sp>
        <p:nvSpPr>
          <p:cNvPr id="4" name="Text Placeholder 3">
            <a:extLst>
              <a:ext uri="{FF2B5EF4-FFF2-40B4-BE49-F238E27FC236}">
                <a16:creationId xmlns:a16="http://schemas.microsoft.com/office/drawing/2014/main" id="{9D768A85-7F52-262F-2784-53D0D2E9D002}"/>
              </a:ext>
            </a:extLst>
          </p:cNvPr>
          <p:cNvSpPr>
            <a:spLocks noGrp="1"/>
          </p:cNvSpPr>
          <p:nvPr>
            <p:ph type="body" sz="quarter" idx="12"/>
          </p:nvPr>
        </p:nvSpPr>
        <p:spPr/>
        <p:txBody>
          <a:bodyPr/>
          <a:lstStyle/>
          <a:p>
            <a:endParaRPr lang="en-US" dirty="0"/>
          </a:p>
        </p:txBody>
      </p:sp>
    </p:spTree>
    <p:extLst>
      <p:ext uri="{BB962C8B-B14F-4D97-AF65-F5344CB8AC3E}">
        <p14:creationId xmlns:p14="http://schemas.microsoft.com/office/powerpoint/2010/main" val="6681138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49FF76-80C3-2AD8-212B-0BB27CAC9ED6}"/>
              </a:ext>
            </a:extLst>
          </p:cNvPr>
          <p:cNvSpPr>
            <a:spLocks noGrp="1"/>
          </p:cNvSpPr>
          <p:nvPr>
            <p:ph type="title"/>
          </p:nvPr>
        </p:nvSpPr>
        <p:spPr/>
        <p:txBody>
          <a:bodyPr/>
          <a:lstStyle/>
          <a:p>
            <a:r>
              <a:rPr lang="en-US" dirty="0"/>
              <a:t>Inferences in Survey</a:t>
            </a:r>
          </a:p>
        </p:txBody>
      </p:sp>
      <p:sp>
        <p:nvSpPr>
          <p:cNvPr id="3" name="Content Placeholder 2">
            <a:extLst>
              <a:ext uri="{FF2B5EF4-FFF2-40B4-BE49-F238E27FC236}">
                <a16:creationId xmlns:a16="http://schemas.microsoft.com/office/drawing/2014/main" id="{5014085E-D19A-1F23-4E80-88D8EBED47B0}"/>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F5C6A3CC-75CF-A2FC-E4C5-1E0C6F01AED7}"/>
              </a:ext>
            </a:extLst>
          </p:cNvPr>
          <p:cNvPicPr>
            <a:picLocks noChangeAspect="1"/>
          </p:cNvPicPr>
          <p:nvPr/>
        </p:nvPicPr>
        <p:blipFill>
          <a:blip r:embed="rId3"/>
          <a:stretch>
            <a:fillRect/>
          </a:stretch>
        </p:blipFill>
        <p:spPr>
          <a:xfrm>
            <a:off x="1413164" y="1752600"/>
            <a:ext cx="5725652" cy="4397257"/>
          </a:xfrm>
          <a:prstGeom prst="rect">
            <a:avLst/>
          </a:prstGeom>
        </p:spPr>
      </p:pic>
    </p:spTree>
    <p:extLst>
      <p:ext uri="{BB962C8B-B14F-4D97-AF65-F5344CB8AC3E}">
        <p14:creationId xmlns:p14="http://schemas.microsoft.com/office/powerpoint/2010/main" val="38216590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4BADB-5285-5EB1-B3C4-7DD92BB53A0A}"/>
              </a:ext>
            </a:extLst>
          </p:cNvPr>
          <p:cNvSpPr>
            <a:spLocks noGrp="1"/>
          </p:cNvSpPr>
          <p:nvPr>
            <p:ph type="title"/>
          </p:nvPr>
        </p:nvSpPr>
        <p:spPr/>
        <p:txBody>
          <a:bodyPr/>
          <a:lstStyle/>
          <a:p>
            <a:r>
              <a:rPr lang="en-US" dirty="0"/>
              <a:t>Inferences in Survey</a:t>
            </a:r>
          </a:p>
        </p:txBody>
      </p:sp>
      <p:sp>
        <p:nvSpPr>
          <p:cNvPr id="3" name="Content Placeholder 2">
            <a:extLst>
              <a:ext uri="{FF2B5EF4-FFF2-40B4-BE49-F238E27FC236}">
                <a16:creationId xmlns:a16="http://schemas.microsoft.com/office/drawing/2014/main" id="{FCF972C7-181E-2253-6FF8-30965CD07B7C}"/>
              </a:ext>
            </a:extLst>
          </p:cNvPr>
          <p:cNvSpPr>
            <a:spLocks noGrp="1"/>
          </p:cNvSpPr>
          <p:nvPr>
            <p:ph idx="1"/>
          </p:nvPr>
        </p:nvSpPr>
        <p:spPr/>
        <p:txBody>
          <a:bodyPr/>
          <a:lstStyle/>
          <a:p>
            <a:r>
              <a:rPr lang="en-US" dirty="0"/>
              <a:t>Answers people give must accurately describe characteristics of the respondents. </a:t>
            </a:r>
          </a:p>
          <a:p>
            <a:r>
              <a:rPr lang="en-US" dirty="0"/>
              <a:t>The subset of persons participating in the survey must have characteristics similar to those of a larger population.</a:t>
            </a:r>
          </a:p>
          <a:p>
            <a:r>
              <a:rPr lang="en-US" dirty="0"/>
              <a:t>When either of these two conditions is not met, the survey statistics are subject to "error."</a:t>
            </a:r>
          </a:p>
        </p:txBody>
      </p:sp>
    </p:spTree>
    <p:extLst>
      <p:ext uri="{BB962C8B-B14F-4D97-AF65-F5344CB8AC3E}">
        <p14:creationId xmlns:p14="http://schemas.microsoft.com/office/powerpoint/2010/main" val="4081776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2F3B4C90-39EB-E2A1-AB0C-566A112BE090}"/>
              </a:ext>
            </a:extLst>
          </p:cNvPr>
          <p:cNvSpPr>
            <a:spLocks noGrp="1"/>
          </p:cNvSpPr>
          <p:nvPr>
            <p:ph type="title"/>
          </p:nvPr>
        </p:nvSpPr>
        <p:spPr/>
        <p:txBody>
          <a:bodyPr/>
          <a:lstStyle/>
          <a:p>
            <a:r>
              <a:rPr lang="en-US" sz="2800" dirty="0"/>
              <a:t>Survey lifecycle from a design perspective</a:t>
            </a:r>
          </a:p>
        </p:txBody>
      </p:sp>
      <p:sp>
        <p:nvSpPr>
          <p:cNvPr id="12" name="Text Placeholder 3">
            <a:extLst>
              <a:ext uri="{FF2B5EF4-FFF2-40B4-BE49-F238E27FC236}">
                <a16:creationId xmlns:a16="http://schemas.microsoft.com/office/drawing/2014/main" id="{C299B8B4-7965-32A8-8F4E-DE215FF3838B}"/>
              </a:ext>
            </a:extLst>
          </p:cNvPr>
          <p:cNvSpPr>
            <a:spLocks noGrp="1"/>
          </p:cNvSpPr>
          <p:nvPr>
            <p:ph type="body" sz="half" idx="2"/>
          </p:nvPr>
        </p:nvSpPr>
        <p:spPr/>
        <p:txBody>
          <a:bodyPr/>
          <a:lstStyle/>
          <a:p>
            <a:endParaRPr lang="en-US"/>
          </a:p>
        </p:txBody>
      </p:sp>
      <p:pic>
        <p:nvPicPr>
          <p:cNvPr id="5" name="Picture 4" descr="A diagram of a survey process&#10;&#10;Description automatically generated">
            <a:extLst>
              <a:ext uri="{FF2B5EF4-FFF2-40B4-BE49-F238E27FC236}">
                <a16:creationId xmlns:a16="http://schemas.microsoft.com/office/drawing/2014/main" id="{03DF06C0-34FB-6BC1-5E1D-A7039EF43D6F}"/>
              </a:ext>
            </a:extLst>
          </p:cNvPr>
          <p:cNvPicPr>
            <a:picLocks noChangeAspect="1"/>
          </p:cNvPicPr>
          <p:nvPr/>
        </p:nvPicPr>
        <p:blipFill>
          <a:blip r:embed="rId2"/>
          <a:stretch>
            <a:fillRect/>
          </a:stretch>
        </p:blipFill>
        <p:spPr>
          <a:xfrm>
            <a:off x="3575050" y="451361"/>
            <a:ext cx="5111750" cy="5496505"/>
          </a:xfrm>
          <a:prstGeom prst="rect">
            <a:avLst/>
          </a:prstGeom>
          <a:noFill/>
        </p:spPr>
      </p:pic>
    </p:spTree>
    <p:extLst>
      <p:ext uri="{BB962C8B-B14F-4D97-AF65-F5344CB8AC3E}">
        <p14:creationId xmlns:p14="http://schemas.microsoft.com/office/powerpoint/2010/main" val="4797398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2C74742A-354F-1A8B-4774-D0DE715ECBC6}"/>
              </a:ext>
            </a:extLst>
          </p:cNvPr>
          <p:cNvSpPr>
            <a:spLocks noGrp="1"/>
          </p:cNvSpPr>
          <p:nvPr>
            <p:ph type="title"/>
          </p:nvPr>
        </p:nvSpPr>
        <p:spPr/>
        <p:txBody>
          <a:bodyPr/>
          <a:lstStyle/>
          <a:p>
            <a:r>
              <a:rPr lang="en-US" sz="2400" dirty="0"/>
              <a:t>Survey lifecycle from a quality perspective</a:t>
            </a:r>
            <a:endParaRPr lang="en-US" sz="2000" dirty="0"/>
          </a:p>
        </p:txBody>
      </p:sp>
      <p:sp>
        <p:nvSpPr>
          <p:cNvPr id="13" name="Text Placeholder 3">
            <a:extLst>
              <a:ext uri="{FF2B5EF4-FFF2-40B4-BE49-F238E27FC236}">
                <a16:creationId xmlns:a16="http://schemas.microsoft.com/office/drawing/2014/main" id="{FD6B413B-2D74-2EF2-1CC6-8C04DFD1238A}"/>
              </a:ext>
            </a:extLst>
          </p:cNvPr>
          <p:cNvSpPr>
            <a:spLocks noGrp="1"/>
          </p:cNvSpPr>
          <p:nvPr>
            <p:ph type="body" sz="half" idx="2"/>
          </p:nvPr>
        </p:nvSpPr>
        <p:spPr/>
        <p:txBody>
          <a:bodyPr/>
          <a:lstStyle/>
          <a:p>
            <a:endParaRPr lang="en-US" altLang="en-US" sz="1800" dirty="0"/>
          </a:p>
          <a:p>
            <a:endParaRPr lang="en-US" altLang="en-US" sz="1800" dirty="0"/>
          </a:p>
          <a:p>
            <a:r>
              <a:rPr lang="en-US" altLang="en-US" sz="1800" dirty="0"/>
              <a:t>Survey error occurs when the estimate that is produced using survey data is different from the true value of the variable in the population one hopes to describe</a:t>
            </a:r>
          </a:p>
          <a:p>
            <a:endParaRPr lang="en-US" sz="1800" dirty="0"/>
          </a:p>
        </p:txBody>
      </p:sp>
      <p:pic>
        <p:nvPicPr>
          <p:cNvPr id="6" name="Picture 5">
            <a:extLst>
              <a:ext uri="{FF2B5EF4-FFF2-40B4-BE49-F238E27FC236}">
                <a16:creationId xmlns:a16="http://schemas.microsoft.com/office/drawing/2014/main" id="{0A3F555C-5A3E-965A-6728-B220475310EE}"/>
              </a:ext>
            </a:extLst>
          </p:cNvPr>
          <p:cNvPicPr>
            <a:picLocks noChangeAspect="1"/>
          </p:cNvPicPr>
          <p:nvPr/>
        </p:nvPicPr>
        <p:blipFill>
          <a:blip r:embed="rId2"/>
          <a:stretch>
            <a:fillRect/>
          </a:stretch>
        </p:blipFill>
        <p:spPr>
          <a:xfrm>
            <a:off x="3575050" y="311619"/>
            <a:ext cx="5111750" cy="5775988"/>
          </a:xfrm>
          <a:prstGeom prst="rect">
            <a:avLst/>
          </a:prstGeom>
          <a:noFill/>
        </p:spPr>
      </p:pic>
      <p:pic>
        <p:nvPicPr>
          <p:cNvPr id="3" name="Picture 2">
            <a:extLst>
              <a:ext uri="{FF2B5EF4-FFF2-40B4-BE49-F238E27FC236}">
                <a16:creationId xmlns:a16="http://schemas.microsoft.com/office/drawing/2014/main" id="{48E2BB24-51A8-3CCF-C457-707AE02ED1B4}"/>
              </a:ext>
            </a:extLst>
          </p:cNvPr>
          <p:cNvPicPr>
            <a:picLocks noChangeAspect="1"/>
          </p:cNvPicPr>
          <p:nvPr/>
        </p:nvPicPr>
        <p:blipFill>
          <a:blip r:embed="rId3"/>
          <a:stretch>
            <a:fillRect/>
          </a:stretch>
        </p:blipFill>
        <p:spPr>
          <a:xfrm>
            <a:off x="3517900" y="1287417"/>
            <a:ext cx="1560670" cy="625584"/>
          </a:xfrm>
          <a:prstGeom prst="rect">
            <a:avLst/>
          </a:prstGeom>
        </p:spPr>
      </p:pic>
      <p:sp>
        <p:nvSpPr>
          <p:cNvPr id="4" name="TextBox 3">
            <a:extLst>
              <a:ext uri="{FF2B5EF4-FFF2-40B4-BE49-F238E27FC236}">
                <a16:creationId xmlns:a16="http://schemas.microsoft.com/office/drawing/2014/main" id="{AF2FFEA2-35B9-BDEF-4AE6-CA7A329D329B}"/>
              </a:ext>
            </a:extLst>
          </p:cNvPr>
          <p:cNvSpPr txBox="1"/>
          <p:nvPr/>
        </p:nvSpPr>
        <p:spPr>
          <a:xfrm>
            <a:off x="3778250" y="1384304"/>
            <a:ext cx="1136650" cy="276999"/>
          </a:xfrm>
          <a:prstGeom prst="rect">
            <a:avLst/>
          </a:prstGeom>
          <a:solidFill>
            <a:schemeClr val="bg1"/>
          </a:solidFill>
        </p:spPr>
        <p:txBody>
          <a:bodyPr wrap="square" rtlCol="0">
            <a:spAutoFit/>
          </a:bodyPr>
          <a:lstStyle/>
          <a:p>
            <a:r>
              <a:rPr lang="en-US" sz="1200" b="1" dirty="0"/>
              <a:t>Specification</a:t>
            </a:r>
          </a:p>
        </p:txBody>
      </p:sp>
    </p:spTree>
    <p:extLst>
      <p:ext uri="{BB962C8B-B14F-4D97-AF65-F5344CB8AC3E}">
        <p14:creationId xmlns:p14="http://schemas.microsoft.com/office/powerpoint/2010/main" val="9738023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A360692-DA2D-1CC5-4DC3-EFA845BB5750}"/>
              </a:ext>
            </a:extLst>
          </p:cNvPr>
          <p:cNvSpPr>
            <a:spLocks noGrp="1"/>
          </p:cNvSpPr>
          <p:nvPr>
            <p:ph type="title"/>
          </p:nvPr>
        </p:nvSpPr>
        <p:spPr/>
        <p:txBody>
          <a:bodyPr/>
          <a:lstStyle/>
          <a:p>
            <a:endParaRPr lang="en-US"/>
          </a:p>
        </p:txBody>
      </p:sp>
      <p:sp>
        <p:nvSpPr>
          <p:cNvPr id="6" name="Content Placeholder 5">
            <a:extLst>
              <a:ext uri="{FF2B5EF4-FFF2-40B4-BE49-F238E27FC236}">
                <a16:creationId xmlns:a16="http://schemas.microsoft.com/office/drawing/2014/main" id="{7138D971-A04D-83CB-DCC0-F1D8FEA128BF}"/>
              </a:ext>
            </a:extLst>
          </p:cNvPr>
          <p:cNvSpPr>
            <a:spLocks noGrp="1"/>
          </p:cNvSpPr>
          <p:nvPr>
            <p:ph idx="1"/>
          </p:nvPr>
        </p:nvSpPr>
        <p:spPr/>
        <p:txBody>
          <a:bodyPr/>
          <a:lstStyle/>
          <a:p>
            <a:r>
              <a:rPr lang="en-US" dirty="0"/>
              <a:t>Total survey error (TSE) is the difference between a population mean, total, or other population parameter and the estimate of the parameter based on the sample survey (or census).</a:t>
            </a:r>
          </a:p>
          <a:p>
            <a:r>
              <a:rPr lang="en-US" dirty="0"/>
              <a:t>TSE is the accumulation of all errors that may arise in the design, collection, processing, and analysis of survey data</a:t>
            </a:r>
          </a:p>
          <a:p>
            <a:r>
              <a:rPr lang="en-US" dirty="0"/>
              <a:t>TSE concept was developed by Robert Groves (1989) in book on Survey Errors and Survey Costs</a:t>
            </a:r>
          </a:p>
        </p:txBody>
      </p:sp>
    </p:spTree>
    <p:extLst>
      <p:ext uri="{BB962C8B-B14F-4D97-AF65-F5344CB8AC3E}">
        <p14:creationId xmlns:p14="http://schemas.microsoft.com/office/powerpoint/2010/main" val="23743674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Title 1">
            <a:extLst>
              <a:ext uri="{FF2B5EF4-FFF2-40B4-BE49-F238E27FC236}">
                <a16:creationId xmlns:a16="http://schemas.microsoft.com/office/drawing/2014/main" id="{DFDF6ECD-C2E8-E4DC-C49E-62D5BB4B065E}"/>
              </a:ext>
            </a:extLst>
          </p:cNvPr>
          <p:cNvSpPr>
            <a:spLocks noGrp="1"/>
          </p:cNvSpPr>
          <p:nvPr>
            <p:ph type="title"/>
          </p:nvPr>
        </p:nvSpPr>
        <p:spPr>
          <a:xfrm>
            <a:off x="612775" y="228600"/>
            <a:ext cx="8153400" cy="990600"/>
          </a:xfrm>
        </p:spPr>
        <p:txBody>
          <a:bodyPr/>
          <a:lstStyle/>
          <a:p>
            <a:pPr eaLnBrk="1" hangingPunct="1"/>
            <a:r>
              <a:rPr lang="en-US" altLang="en-US" dirty="0"/>
              <a:t>The Total Survey Error Framework</a:t>
            </a:r>
          </a:p>
        </p:txBody>
      </p:sp>
      <p:sp>
        <p:nvSpPr>
          <p:cNvPr id="18434" name="Content Placeholder 2">
            <a:extLst>
              <a:ext uri="{FF2B5EF4-FFF2-40B4-BE49-F238E27FC236}">
                <a16:creationId xmlns:a16="http://schemas.microsoft.com/office/drawing/2014/main" id="{75ADDCF0-5185-86C2-FF23-E575A09984E1}"/>
              </a:ext>
            </a:extLst>
          </p:cNvPr>
          <p:cNvSpPr>
            <a:spLocks noGrp="1"/>
          </p:cNvSpPr>
          <p:nvPr>
            <p:ph idx="1"/>
          </p:nvPr>
        </p:nvSpPr>
        <p:spPr>
          <a:xfrm>
            <a:off x="612775" y="1600200"/>
            <a:ext cx="8153400" cy="4495800"/>
          </a:xfrm>
        </p:spPr>
        <p:txBody>
          <a:bodyPr/>
          <a:lstStyle/>
          <a:p>
            <a:pPr eaLnBrk="1" hangingPunct="1"/>
            <a:r>
              <a:rPr lang="en-US" altLang="en-US" dirty="0"/>
              <a:t>There are several main types of error that surveyors must attempt to minimize</a:t>
            </a:r>
          </a:p>
          <a:p>
            <a:pPr eaLnBrk="1" hangingPunct="1"/>
            <a:r>
              <a:rPr lang="en-US" altLang="en-US" dirty="0"/>
              <a:t>No source of error can be ignored</a:t>
            </a:r>
          </a:p>
        </p:txBody>
      </p:sp>
      <p:sp>
        <p:nvSpPr>
          <p:cNvPr id="18435" name="Slide Number Placeholder 3">
            <a:extLst>
              <a:ext uri="{FF2B5EF4-FFF2-40B4-BE49-F238E27FC236}">
                <a16:creationId xmlns:a16="http://schemas.microsoft.com/office/drawing/2014/main" id="{171BF97E-394D-6AC2-CC04-018DC0B173C4}"/>
              </a:ext>
            </a:extLst>
          </p:cNvPr>
          <p:cNvSpPr>
            <a:spLocks noGrp="1"/>
          </p:cNvSpPr>
          <p:nvPr>
            <p:ph type="sldNum" sz="quarter" idx="12"/>
          </p:nvPr>
        </p:nvSpPr>
        <p:spPr bwMode="auto">
          <a:xfrm>
            <a:off x="0" y="1271588"/>
            <a:ext cx="533400" cy="2444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92500" lnSpcReduction="10000"/>
          </a:bodyPr>
          <a:lstStyle>
            <a:defPPr>
              <a:defRPr lang="en-US"/>
            </a:defPPr>
            <a:lvl1pPr algn="ctr" rtl="0" fontAlgn="base">
              <a:spcBef>
                <a:spcPct val="0"/>
              </a:spcBef>
              <a:spcAft>
                <a:spcPct val="0"/>
              </a:spcAft>
              <a:defRPr sz="1400" b="1" kern="1200">
                <a:solidFill>
                  <a:srgbClr val="FFFFFF"/>
                </a:solidFill>
                <a:latin typeface="Tw Cen MT" panose="020B0602020104020603" pitchFamily="34" charset="0"/>
                <a:ea typeface="MS PGothic" panose="020B0600070205080204" pitchFamily="34" charset="-128"/>
                <a:cs typeface="Arial" panose="020B0604020202020204" pitchFamily="34" charset="0"/>
              </a:defRPr>
            </a:lvl1pPr>
            <a:lvl2pPr marL="457200" algn="l" rtl="0" fontAlgn="base">
              <a:spcBef>
                <a:spcPct val="0"/>
              </a:spcBef>
              <a:spcAft>
                <a:spcPct val="0"/>
              </a:spcAft>
              <a:defRPr kern="1200">
                <a:solidFill>
                  <a:schemeClr val="tx1"/>
                </a:solidFill>
                <a:latin typeface="Tw Cen MT" panose="020B0602020104020603" pitchFamily="34" charset="0"/>
                <a:ea typeface="MS PGothic" panose="020B0600070205080204" pitchFamily="34" charset="-128"/>
                <a:cs typeface="+mn-cs"/>
              </a:defRPr>
            </a:lvl2pPr>
            <a:lvl3pPr marL="914400" algn="l" rtl="0" fontAlgn="base">
              <a:spcBef>
                <a:spcPct val="0"/>
              </a:spcBef>
              <a:spcAft>
                <a:spcPct val="0"/>
              </a:spcAft>
              <a:defRPr kern="1200">
                <a:solidFill>
                  <a:schemeClr val="tx1"/>
                </a:solidFill>
                <a:latin typeface="Tw Cen MT" panose="020B0602020104020603" pitchFamily="34" charset="0"/>
                <a:ea typeface="MS PGothic" panose="020B0600070205080204" pitchFamily="34" charset="-128"/>
                <a:cs typeface="+mn-cs"/>
              </a:defRPr>
            </a:lvl3pPr>
            <a:lvl4pPr marL="1371600" algn="l" rtl="0" fontAlgn="base">
              <a:spcBef>
                <a:spcPct val="0"/>
              </a:spcBef>
              <a:spcAft>
                <a:spcPct val="0"/>
              </a:spcAft>
              <a:defRPr kern="1200">
                <a:solidFill>
                  <a:schemeClr val="tx1"/>
                </a:solidFill>
                <a:latin typeface="Tw Cen MT" panose="020B0602020104020603" pitchFamily="34" charset="0"/>
                <a:ea typeface="MS PGothic" panose="020B0600070205080204" pitchFamily="34" charset="-128"/>
                <a:cs typeface="+mn-cs"/>
              </a:defRPr>
            </a:lvl4pPr>
            <a:lvl5pPr marL="1828800" algn="l" rtl="0" fontAlgn="base">
              <a:spcBef>
                <a:spcPct val="0"/>
              </a:spcBef>
              <a:spcAft>
                <a:spcPct val="0"/>
              </a:spcAft>
              <a:defRPr kern="1200">
                <a:solidFill>
                  <a:schemeClr val="tx1"/>
                </a:solidFill>
                <a:latin typeface="Tw Cen MT" panose="020B0602020104020603"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Tw Cen MT" panose="020B0602020104020603"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Tw Cen MT" panose="020B0602020104020603"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Tw Cen MT" panose="020B0602020104020603"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Tw Cen MT" panose="020B0602020104020603" pitchFamily="34" charset="0"/>
                <a:ea typeface="MS PGothic" panose="020B0600070205080204" pitchFamily="34" charset="-128"/>
                <a:cs typeface="+mn-cs"/>
              </a:defRPr>
            </a:lvl9pPr>
          </a:lstStyle>
          <a:p>
            <a:pPr eaLnBrk="1" hangingPunct="1">
              <a:lnSpc>
                <a:spcPct val="80000"/>
              </a:lnSpc>
            </a:pPr>
            <a:fld id="{EDAE4D1F-3E22-4E30-845E-B78F7DCA3A1C}" type="slidenum">
              <a:rPr lang="en-US" altLang="en-US" smtClean="0"/>
              <a:pPr eaLnBrk="1" hangingPunct="1">
                <a:lnSpc>
                  <a:spcPct val="80000"/>
                </a:lnSpc>
              </a:pPr>
              <a:t>7</a:t>
            </a:fld>
            <a:endParaRPr lang="en-US" altLang="en-US" sz="1200">
              <a:solidFill>
                <a:srgbClr val="FFFFFF"/>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le 1">
            <a:extLst>
              <a:ext uri="{FF2B5EF4-FFF2-40B4-BE49-F238E27FC236}">
                <a16:creationId xmlns:a16="http://schemas.microsoft.com/office/drawing/2014/main" id="{6BF59C39-4D71-59C5-F09E-A2ABF0233022}"/>
              </a:ext>
            </a:extLst>
          </p:cNvPr>
          <p:cNvSpPr>
            <a:spLocks noGrp="1"/>
          </p:cNvSpPr>
          <p:nvPr>
            <p:ph type="title"/>
          </p:nvPr>
        </p:nvSpPr>
        <p:spPr>
          <a:xfrm>
            <a:off x="612775" y="228600"/>
            <a:ext cx="8153400" cy="990600"/>
          </a:xfrm>
        </p:spPr>
        <p:txBody>
          <a:bodyPr/>
          <a:lstStyle/>
          <a:p>
            <a:pPr eaLnBrk="1" hangingPunct="1"/>
            <a:r>
              <a:rPr lang="en-US" altLang="en-US" dirty="0"/>
              <a:t>The Total Survey Error Framework</a:t>
            </a:r>
          </a:p>
        </p:txBody>
      </p:sp>
      <p:sp>
        <p:nvSpPr>
          <p:cNvPr id="23554" name="Content Placeholder 2">
            <a:extLst>
              <a:ext uri="{FF2B5EF4-FFF2-40B4-BE49-F238E27FC236}">
                <a16:creationId xmlns:a16="http://schemas.microsoft.com/office/drawing/2014/main" id="{EDF850BD-B199-E38F-99C7-958A59485C50}"/>
              </a:ext>
            </a:extLst>
          </p:cNvPr>
          <p:cNvSpPr>
            <a:spLocks noGrp="1"/>
          </p:cNvSpPr>
          <p:nvPr>
            <p:ph idx="1"/>
          </p:nvPr>
        </p:nvSpPr>
        <p:spPr>
          <a:xfrm>
            <a:off x="612775" y="1600200"/>
            <a:ext cx="8153400" cy="4495800"/>
          </a:xfrm>
        </p:spPr>
        <p:txBody>
          <a:bodyPr/>
          <a:lstStyle/>
          <a:p>
            <a:pPr eaLnBrk="1" hangingPunct="1"/>
            <a:r>
              <a:rPr lang="en-US" altLang="en-US"/>
              <a:t>Surveyors often make the mistake of attempting to reduce one particular source of error while ignoring others</a:t>
            </a:r>
          </a:p>
          <a:p>
            <a:pPr eaLnBrk="1" hangingPunct="1"/>
            <a:r>
              <a:rPr lang="en-US" altLang="en-US"/>
              <a:t>Instead, surveyors should think in terms of minimizing total survey error (TSE)</a:t>
            </a:r>
          </a:p>
          <a:p>
            <a:pPr eaLnBrk="1" hangingPunct="1"/>
            <a:r>
              <a:rPr lang="en-US" altLang="en-US"/>
              <a:t>This involves attempting to maximize data accuracy by simultaneously controlling all four sources of error to the extent practical and possible, within the time, cost, and other constraints of the survey</a:t>
            </a:r>
          </a:p>
        </p:txBody>
      </p:sp>
      <p:sp>
        <p:nvSpPr>
          <p:cNvPr id="23555" name="Slide Number Placeholder 3">
            <a:extLst>
              <a:ext uri="{FF2B5EF4-FFF2-40B4-BE49-F238E27FC236}">
                <a16:creationId xmlns:a16="http://schemas.microsoft.com/office/drawing/2014/main" id="{0FAEC2F0-075D-09E9-EAB6-64DA51BA31C1}"/>
              </a:ext>
            </a:extLst>
          </p:cNvPr>
          <p:cNvSpPr>
            <a:spLocks noGrp="1"/>
          </p:cNvSpPr>
          <p:nvPr>
            <p:ph type="sldNum" sz="quarter" idx="12"/>
          </p:nvPr>
        </p:nvSpPr>
        <p:spPr bwMode="auto">
          <a:xfrm>
            <a:off x="0" y="1271588"/>
            <a:ext cx="533400" cy="2444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92500" lnSpcReduction="10000"/>
          </a:bodyPr>
          <a:lstStyle>
            <a:defPPr>
              <a:defRPr lang="en-US"/>
            </a:defPPr>
            <a:lvl1pPr algn="ctr" rtl="0" fontAlgn="base">
              <a:spcBef>
                <a:spcPct val="0"/>
              </a:spcBef>
              <a:spcAft>
                <a:spcPct val="0"/>
              </a:spcAft>
              <a:defRPr sz="1400" b="1" kern="1200">
                <a:solidFill>
                  <a:srgbClr val="FFFFFF"/>
                </a:solidFill>
                <a:latin typeface="Tw Cen MT" panose="020B0602020104020603" pitchFamily="34" charset="0"/>
                <a:ea typeface="MS PGothic" panose="020B0600070205080204" pitchFamily="34" charset="-128"/>
                <a:cs typeface="Arial" panose="020B0604020202020204" pitchFamily="34" charset="0"/>
              </a:defRPr>
            </a:lvl1pPr>
            <a:lvl2pPr marL="457200" algn="l" rtl="0" fontAlgn="base">
              <a:spcBef>
                <a:spcPct val="0"/>
              </a:spcBef>
              <a:spcAft>
                <a:spcPct val="0"/>
              </a:spcAft>
              <a:defRPr kern="1200">
                <a:solidFill>
                  <a:schemeClr val="tx1"/>
                </a:solidFill>
                <a:latin typeface="Tw Cen MT" panose="020B0602020104020603" pitchFamily="34" charset="0"/>
                <a:ea typeface="MS PGothic" panose="020B0600070205080204" pitchFamily="34" charset="-128"/>
                <a:cs typeface="+mn-cs"/>
              </a:defRPr>
            </a:lvl2pPr>
            <a:lvl3pPr marL="914400" algn="l" rtl="0" fontAlgn="base">
              <a:spcBef>
                <a:spcPct val="0"/>
              </a:spcBef>
              <a:spcAft>
                <a:spcPct val="0"/>
              </a:spcAft>
              <a:defRPr kern="1200">
                <a:solidFill>
                  <a:schemeClr val="tx1"/>
                </a:solidFill>
                <a:latin typeface="Tw Cen MT" panose="020B0602020104020603" pitchFamily="34" charset="0"/>
                <a:ea typeface="MS PGothic" panose="020B0600070205080204" pitchFamily="34" charset="-128"/>
                <a:cs typeface="+mn-cs"/>
              </a:defRPr>
            </a:lvl3pPr>
            <a:lvl4pPr marL="1371600" algn="l" rtl="0" fontAlgn="base">
              <a:spcBef>
                <a:spcPct val="0"/>
              </a:spcBef>
              <a:spcAft>
                <a:spcPct val="0"/>
              </a:spcAft>
              <a:defRPr kern="1200">
                <a:solidFill>
                  <a:schemeClr val="tx1"/>
                </a:solidFill>
                <a:latin typeface="Tw Cen MT" panose="020B0602020104020603" pitchFamily="34" charset="0"/>
                <a:ea typeface="MS PGothic" panose="020B0600070205080204" pitchFamily="34" charset="-128"/>
                <a:cs typeface="+mn-cs"/>
              </a:defRPr>
            </a:lvl4pPr>
            <a:lvl5pPr marL="1828800" algn="l" rtl="0" fontAlgn="base">
              <a:spcBef>
                <a:spcPct val="0"/>
              </a:spcBef>
              <a:spcAft>
                <a:spcPct val="0"/>
              </a:spcAft>
              <a:defRPr kern="1200">
                <a:solidFill>
                  <a:schemeClr val="tx1"/>
                </a:solidFill>
                <a:latin typeface="Tw Cen MT" panose="020B0602020104020603"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Tw Cen MT" panose="020B0602020104020603"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Tw Cen MT" panose="020B0602020104020603"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Tw Cen MT" panose="020B0602020104020603"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Tw Cen MT" panose="020B0602020104020603" pitchFamily="34" charset="0"/>
                <a:ea typeface="MS PGothic" panose="020B0600070205080204" pitchFamily="34" charset="-128"/>
                <a:cs typeface="+mn-cs"/>
              </a:defRPr>
            </a:lvl9pPr>
          </a:lstStyle>
          <a:p>
            <a:pPr eaLnBrk="1" hangingPunct="1">
              <a:lnSpc>
                <a:spcPct val="80000"/>
              </a:lnSpc>
            </a:pPr>
            <a:fld id="{EDAE4D1F-3E22-4E30-845E-B78F7DCA3A1C}" type="slidenum">
              <a:rPr lang="en-US" altLang="en-US" smtClean="0"/>
              <a:pPr eaLnBrk="1" hangingPunct="1">
                <a:lnSpc>
                  <a:spcPct val="80000"/>
                </a:lnSpc>
              </a:pPr>
              <a:t>8</a:t>
            </a:fld>
            <a:endParaRPr lang="en-US" altLang="en-US" sz="1200">
              <a:solidFill>
                <a:srgbClr val="FFFFFF"/>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F30B9C-D0E5-899E-2419-298FC8174E58}"/>
              </a:ext>
            </a:extLst>
          </p:cNvPr>
          <p:cNvSpPr>
            <a:spLocks noGrp="1"/>
          </p:cNvSpPr>
          <p:nvPr>
            <p:ph type="title"/>
          </p:nvPr>
        </p:nvSpPr>
        <p:spPr/>
        <p:txBody>
          <a:bodyPr/>
          <a:lstStyle/>
          <a:p>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B33C17B-FF54-2C4A-44EB-EEB7DC2C6133}"/>
                  </a:ext>
                </a:extLst>
              </p:cNvPr>
              <p:cNvSpPr>
                <a:spLocks noGrp="1"/>
              </p:cNvSpPr>
              <p:nvPr>
                <p:ph idx="1"/>
              </p:nvPr>
            </p:nvSpPr>
            <p:spPr/>
            <p:txBody>
              <a:bodyPr/>
              <a:lstStyle/>
              <a:p>
                <a:pPr marL="0" indent="0">
                  <a:buNone/>
                </a:pPr>
                <a14:m>
                  <m:oMathPara xmlns:m="http://schemas.openxmlformats.org/officeDocument/2006/math">
                    <m:oMathParaPr>
                      <m:jc m:val="centerGroup"/>
                    </m:oMathParaPr>
                    <m:oMath xmlns:m="http://schemas.openxmlformats.org/officeDocument/2006/math">
                      <m:r>
                        <m:rPr>
                          <m:nor/>
                        </m:rPr>
                        <a:rPr lang="en-US" dirty="0"/>
                        <m:t>TSE</m:t>
                      </m:r>
                      <m:r>
                        <m:rPr>
                          <m:nor/>
                        </m:rPr>
                        <a:rPr lang="en-US" dirty="0"/>
                        <m:t> = </m:t>
                      </m:r>
                      <m:r>
                        <m:rPr>
                          <m:nor/>
                        </m:rPr>
                        <a:rPr lang="en-US" dirty="0"/>
                        <m:t>sampling</m:t>
                      </m:r>
                      <m:r>
                        <m:rPr>
                          <m:nor/>
                        </m:rPr>
                        <a:rPr lang="en-US" dirty="0"/>
                        <m:t> </m:t>
                      </m:r>
                      <m:r>
                        <m:rPr>
                          <m:nor/>
                        </m:rPr>
                        <a:rPr lang="en-US" dirty="0"/>
                        <m:t>errors</m:t>
                      </m:r>
                      <m:r>
                        <m:rPr>
                          <m:nor/>
                        </m:rPr>
                        <a:rPr lang="en-US" dirty="0"/>
                        <m:t> + </m:t>
                      </m:r>
                      <m:r>
                        <m:rPr>
                          <m:nor/>
                        </m:rPr>
                        <a:rPr lang="en-US" dirty="0"/>
                        <m:t>non</m:t>
                      </m:r>
                      <m:r>
                        <m:rPr>
                          <m:nor/>
                        </m:rPr>
                        <a:rPr lang="en-US" dirty="0"/>
                        <m:t>−</m:t>
                      </m:r>
                      <m:r>
                        <m:rPr>
                          <m:nor/>
                        </m:rPr>
                        <a:rPr lang="en-US" dirty="0"/>
                        <m:t>sampling</m:t>
                      </m:r>
                      <m:r>
                        <m:rPr>
                          <m:nor/>
                        </m:rPr>
                        <a:rPr lang="en-US" dirty="0"/>
                        <m:t> </m:t>
                      </m:r>
                      <m:r>
                        <m:rPr>
                          <m:nor/>
                        </m:rPr>
                        <a:rPr lang="en-US" dirty="0"/>
                        <m:t>errors</m:t>
                      </m:r>
                    </m:oMath>
                  </m:oMathPara>
                </a14:m>
                <a:endParaRPr lang="en-US" dirty="0"/>
              </a:p>
              <a:p>
                <a:endParaRPr lang="en-US" dirty="0"/>
              </a:p>
              <a:p>
                <a:r>
                  <a:rPr lang="en-US" dirty="0"/>
                  <a:t>Sampling errors can be estimated and adjusted for probability-based sampling and are due to selecting a sample instead of the entire population </a:t>
                </a:r>
              </a:p>
              <a:p>
                <a:r>
                  <a:rPr lang="en-US" dirty="0"/>
                  <a:t>Non-sampling errors are errors due to mistakes or system deficiencies, also from incomplete responses to the survey or its questions, etc. </a:t>
                </a:r>
              </a:p>
            </p:txBody>
          </p:sp>
        </mc:Choice>
        <mc:Fallback xmlns="">
          <p:sp>
            <p:nvSpPr>
              <p:cNvPr id="3" name="Content Placeholder 2">
                <a:extLst>
                  <a:ext uri="{FF2B5EF4-FFF2-40B4-BE49-F238E27FC236}">
                    <a16:creationId xmlns:a16="http://schemas.microsoft.com/office/drawing/2014/main" id="{CB33C17B-FF54-2C4A-44EB-EEB7DC2C6133}"/>
                  </a:ext>
                </a:extLst>
              </p:cNvPr>
              <p:cNvSpPr>
                <a:spLocks noGrp="1" noRot="1" noChangeAspect="1" noMove="1" noResize="1" noEditPoints="1" noAdjustHandles="1" noChangeArrowheads="1" noChangeShapeType="1" noTextEdit="1"/>
              </p:cNvSpPr>
              <p:nvPr>
                <p:ph idx="1"/>
              </p:nvPr>
            </p:nvSpPr>
            <p:spPr>
              <a:blipFill>
                <a:blip r:embed="rId2"/>
                <a:stretch>
                  <a:fillRect l="-1412" r="-549"/>
                </a:stretch>
              </a:blipFill>
            </p:spPr>
            <p:txBody>
              <a:bodyPr/>
              <a:lstStyle/>
              <a:p>
                <a:r>
                  <a:rPr lang="en-US">
                    <a:noFill/>
                  </a:rPr>
                  <a:t> </a:t>
                </a:r>
              </a:p>
            </p:txBody>
          </p:sp>
        </mc:Fallback>
      </mc:AlternateContent>
    </p:spTree>
    <p:extLst>
      <p:ext uri="{BB962C8B-B14F-4D97-AF65-F5344CB8AC3E}">
        <p14:creationId xmlns:p14="http://schemas.microsoft.com/office/powerpoint/2010/main" val="2159423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79A9A-FE29-51D3-4A66-C61CCE63AEE0}"/>
              </a:ext>
            </a:extLst>
          </p:cNvPr>
          <p:cNvSpPr>
            <a:spLocks noGrp="1"/>
          </p:cNvSpPr>
          <p:nvPr>
            <p:ph type="title"/>
          </p:nvPr>
        </p:nvSpPr>
        <p:spPr/>
        <p:txBody>
          <a:bodyPr/>
          <a:lstStyle/>
          <a:p>
            <a:r>
              <a:rPr lang="en-US" dirty="0"/>
              <a:t>Mean Squared Error (MSE)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02385B4-5384-76A7-E5B9-F21BD23E7662}"/>
                  </a:ext>
                </a:extLst>
              </p:cNvPr>
              <p:cNvSpPr>
                <a:spLocks noGrp="1"/>
              </p:cNvSpPr>
              <p:nvPr>
                <p:ph idx="1"/>
              </p:nvPr>
            </p:nvSpPr>
            <p:spPr/>
            <p:txBody>
              <a:bodyPr/>
              <a:lstStyle/>
              <a:p>
                <a:r>
                  <a:rPr lang="en-US" dirty="0"/>
                  <a:t>MSE is the sum of the total bias squared plus the variance components for all the various sources of error in the survey design.</a:t>
                </a:r>
              </a:p>
              <a:p>
                <a:pPr marL="0" indent="0">
                  <a:buNone/>
                </a:pPr>
                <a:endParaRPr lang="en-US" dirty="0"/>
              </a:p>
              <a:p>
                <a:pPr marL="0" indent="0" algn="ctr">
                  <a:buNone/>
                </a:pPr>
                <a14:m>
                  <m:oMathPara xmlns:m="http://schemas.openxmlformats.org/officeDocument/2006/math">
                    <m:oMathParaPr>
                      <m:jc m:val="centerGroup"/>
                    </m:oMathParaPr>
                    <m:oMath xmlns:m="http://schemas.openxmlformats.org/officeDocument/2006/math">
                      <m:r>
                        <m:rPr>
                          <m:nor/>
                        </m:rPr>
                        <a:rPr lang="en-US" dirty="0" smtClean="0"/>
                        <m:t>TSE</m:t>
                      </m:r>
                      <m:r>
                        <m:rPr>
                          <m:nor/>
                        </m:rPr>
                        <a:rPr lang="en-US" b="0" i="0" dirty="0" smtClean="0"/>
                        <m:t> </m:t>
                      </m:r>
                      <m:r>
                        <m:rPr>
                          <m:nor/>
                        </m:rPr>
                        <a:rPr lang="en-US" b="0" i="0" dirty="0" smtClean="0"/>
                        <m:t>MSE</m:t>
                      </m:r>
                      <m:r>
                        <m:rPr>
                          <m:nor/>
                        </m:rPr>
                        <a:rPr lang="en-US" dirty="0" smtClean="0"/>
                        <m:t> = </m:t>
                      </m:r>
                      <m:sSup>
                        <m:sSupPr>
                          <m:ctrlPr>
                            <a:rPr lang="en-US" i="1" dirty="0" smtClean="0">
                              <a:latin typeface="Cambria Math" panose="02040503050406030204" pitchFamily="18" charset="0"/>
                            </a:rPr>
                          </m:ctrlPr>
                        </m:sSupPr>
                        <m:e>
                          <m:r>
                            <m:rPr>
                              <m:nor/>
                            </m:rPr>
                            <a:rPr lang="en-US" dirty="0"/>
                            <m:t>bias</m:t>
                          </m:r>
                        </m:e>
                        <m:sup>
                          <m:r>
                            <a:rPr lang="en-US" b="0" i="1" dirty="0" smtClean="0">
                              <a:latin typeface="Cambria Math" panose="02040503050406030204" pitchFamily="18" charset="0"/>
                            </a:rPr>
                            <m:t>2</m:t>
                          </m:r>
                        </m:sup>
                      </m:sSup>
                      <m:r>
                        <m:rPr>
                          <m:nor/>
                        </m:rPr>
                        <a:rPr lang="en-US" dirty="0"/>
                        <m:t>+ </m:t>
                      </m:r>
                      <m:r>
                        <m:rPr>
                          <m:nor/>
                        </m:rPr>
                        <a:rPr lang="en-US" dirty="0"/>
                        <m:t>variance</m:t>
                      </m:r>
                    </m:oMath>
                  </m:oMathPara>
                </a14:m>
                <a:endParaRPr lang="en-US" dirty="0"/>
              </a:p>
              <a:p>
                <a:endParaRPr lang="en-US" dirty="0"/>
              </a:p>
              <a:p>
                <a:pPr lvl="1"/>
                <a:r>
                  <a:rPr lang="en-US" dirty="0"/>
                  <a:t>Systematic Error (bias)</a:t>
                </a:r>
              </a:p>
              <a:p>
                <a:pPr lvl="2"/>
                <a:r>
                  <a:rPr lang="en-US" dirty="0"/>
                  <a:t>errors that tend to agree </a:t>
                </a:r>
              </a:p>
              <a:p>
                <a:pPr lvl="2"/>
                <a:r>
                  <a:rPr lang="en-US" dirty="0"/>
                  <a:t>results in biased estimates </a:t>
                </a:r>
              </a:p>
              <a:p>
                <a:pPr lvl="2"/>
                <a:r>
                  <a:rPr lang="en-US" dirty="0"/>
                  <a:t>does not cancel out</a:t>
                </a:r>
              </a:p>
            </p:txBody>
          </p:sp>
        </mc:Choice>
        <mc:Fallback xmlns="">
          <p:sp>
            <p:nvSpPr>
              <p:cNvPr id="3" name="Content Placeholder 2">
                <a:extLst>
                  <a:ext uri="{FF2B5EF4-FFF2-40B4-BE49-F238E27FC236}">
                    <a16:creationId xmlns:a16="http://schemas.microsoft.com/office/drawing/2014/main" id="{302385B4-5384-76A7-E5B9-F21BD23E7662}"/>
                  </a:ext>
                </a:extLst>
              </p:cNvPr>
              <p:cNvSpPr>
                <a:spLocks noGrp="1" noRot="1" noChangeAspect="1" noMove="1" noResize="1" noEditPoints="1" noAdjustHandles="1" noChangeArrowheads="1" noChangeShapeType="1" noTextEdit="1"/>
              </p:cNvSpPr>
              <p:nvPr>
                <p:ph idx="1"/>
              </p:nvPr>
            </p:nvSpPr>
            <p:spPr>
              <a:blipFill>
                <a:blip r:embed="rId2"/>
                <a:stretch>
                  <a:fillRect l="-1412" t="-1385"/>
                </a:stretch>
              </a:blipFill>
            </p:spPr>
            <p:txBody>
              <a:bodyPr/>
              <a:lstStyle/>
              <a:p>
                <a:r>
                  <a:rPr lang="en-US">
                    <a:noFill/>
                  </a:rPr>
                  <a:t> </a:t>
                </a:r>
              </a:p>
            </p:txBody>
          </p:sp>
        </mc:Fallback>
      </mc:AlternateContent>
    </p:spTree>
    <p:extLst>
      <p:ext uri="{BB962C8B-B14F-4D97-AF65-F5344CB8AC3E}">
        <p14:creationId xmlns:p14="http://schemas.microsoft.com/office/powerpoint/2010/main" val="33941020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79A9A-FE29-51D3-4A66-C61CCE63AEE0}"/>
              </a:ext>
            </a:extLst>
          </p:cNvPr>
          <p:cNvSpPr>
            <a:spLocks noGrp="1"/>
          </p:cNvSpPr>
          <p:nvPr>
            <p:ph type="title"/>
          </p:nvPr>
        </p:nvSpPr>
        <p:spPr/>
        <p:txBody>
          <a:bodyPr/>
          <a:lstStyle/>
          <a:p>
            <a:r>
              <a:rPr lang="en-US" dirty="0"/>
              <a:t>Mean Squared Error (MSE)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02385B4-5384-76A7-E5B9-F21BD23E7662}"/>
                  </a:ext>
                </a:extLst>
              </p:cNvPr>
              <p:cNvSpPr>
                <a:spLocks noGrp="1"/>
              </p:cNvSpPr>
              <p:nvPr>
                <p:ph idx="1"/>
              </p:nvPr>
            </p:nvSpPr>
            <p:spPr/>
            <p:txBody>
              <a:bodyPr/>
              <a:lstStyle/>
              <a:p>
                <a:r>
                  <a:rPr lang="en-US" dirty="0"/>
                  <a:t>MSE is the sum of the total bias squared plus the variance components for all the various sources of error in the survey design.</a:t>
                </a:r>
              </a:p>
              <a:p>
                <a:pPr marL="0" indent="0">
                  <a:buNone/>
                </a:pPr>
                <a:endParaRPr lang="en-US" dirty="0"/>
              </a:p>
              <a:p>
                <a:pPr marL="0" indent="0" algn="ctr">
                  <a:buNone/>
                </a:pPr>
                <a14:m>
                  <m:oMathPara xmlns:m="http://schemas.openxmlformats.org/officeDocument/2006/math">
                    <m:oMathParaPr>
                      <m:jc m:val="centerGroup"/>
                    </m:oMathParaPr>
                    <m:oMath xmlns:m="http://schemas.openxmlformats.org/officeDocument/2006/math">
                      <m:r>
                        <m:rPr>
                          <m:nor/>
                        </m:rPr>
                        <a:rPr lang="en-US" dirty="0" smtClean="0"/>
                        <m:t>TSE</m:t>
                      </m:r>
                      <m:r>
                        <m:rPr>
                          <m:nor/>
                        </m:rPr>
                        <a:rPr lang="en-US" b="0" i="0" dirty="0" smtClean="0"/>
                        <m:t> </m:t>
                      </m:r>
                      <m:r>
                        <m:rPr>
                          <m:nor/>
                        </m:rPr>
                        <a:rPr lang="en-US" b="0" i="0" dirty="0" smtClean="0"/>
                        <m:t>MSE</m:t>
                      </m:r>
                      <m:r>
                        <m:rPr>
                          <m:nor/>
                        </m:rPr>
                        <a:rPr lang="en-US" dirty="0" smtClean="0"/>
                        <m:t> = </m:t>
                      </m:r>
                      <m:sSup>
                        <m:sSupPr>
                          <m:ctrlPr>
                            <a:rPr lang="en-US" i="1" dirty="0" smtClean="0">
                              <a:latin typeface="Cambria Math" panose="02040503050406030204" pitchFamily="18" charset="0"/>
                            </a:rPr>
                          </m:ctrlPr>
                        </m:sSupPr>
                        <m:e>
                          <m:r>
                            <m:rPr>
                              <m:nor/>
                            </m:rPr>
                            <a:rPr lang="en-US" dirty="0"/>
                            <m:t>bias</m:t>
                          </m:r>
                        </m:e>
                        <m:sup>
                          <m:r>
                            <a:rPr lang="en-US" b="0" i="1" dirty="0" smtClean="0">
                              <a:latin typeface="Cambria Math" panose="02040503050406030204" pitchFamily="18" charset="0"/>
                            </a:rPr>
                            <m:t>2</m:t>
                          </m:r>
                        </m:sup>
                      </m:sSup>
                      <m:r>
                        <m:rPr>
                          <m:nor/>
                        </m:rPr>
                        <a:rPr lang="en-US" dirty="0"/>
                        <m:t>+ </m:t>
                      </m:r>
                      <m:r>
                        <m:rPr>
                          <m:nor/>
                        </m:rPr>
                        <a:rPr lang="en-US" dirty="0"/>
                        <m:t>variance</m:t>
                      </m:r>
                    </m:oMath>
                  </m:oMathPara>
                </a14:m>
                <a:endParaRPr lang="en-US" dirty="0"/>
              </a:p>
              <a:p>
                <a:endParaRPr lang="en-US" dirty="0"/>
              </a:p>
              <a:p>
                <a:pPr lvl="1"/>
                <a:r>
                  <a:rPr lang="en-US" dirty="0"/>
                  <a:t>Random Error (variance)</a:t>
                </a:r>
              </a:p>
              <a:p>
                <a:pPr lvl="2"/>
                <a:r>
                  <a:rPr lang="en-US" dirty="0"/>
                  <a:t>errors that tend to disagree </a:t>
                </a:r>
              </a:p>
              <a:p>
                <a:pPr lvl="2"/>
                <a:r>
                  <a:rPr lang="en-US" dirty="0"/>
                  <a:t>affects the variance (stability) of estimates </a:t>
                </a:r>
              </a:p>
              <a:p>
                <a:pPr lvl="2"/>
                <a:r>
                  <a:rPr lang="en-US" dirty="0"/>
                  <a:t>vary from case to case but are expected to cancel out</a:t>
                </a:r>
              </a:p>
            </p:txBody>
          </p:sp>
        </mc:Choice>
        <mc:Fallback xmlns="">
          <p:sp>
            <p:nvSpPr>
              <p:cNvPr id="3" name="Content Placeholder 2">
                <a:extLst>
                  <a:ext uri="{FF2B5EF4-FFF2-40B4-BE49-F238E27FC236}">
                    <a16:creationId xmlns:a16="http://schemas.microsoft.com/office/drawing/2014/main" id="{302385B4-5384-76A7-E5B9-F21BD23E7662}"/>
                  </a:ext>
                </a:extLst>
              </p:cNvPr>
              <p:cNvSpPr>
                <a:spLocks noGrp="1" noRot="1" noChangeAspect="1" noMove="1" noResize="1" noEditPoints="1" noAdjustHandles="1" noChangeArrowheads="1" noChangeShapeType="1" noTextEdit="1"/>
              </p:cNvSpPr>
              <p:nvPr>
                <p:ph idx="1"/>
              </p:nvPr>
            </p:nvSpPr>
            <p:spPr>
              <a:blipFill>
                <a:blip r:embed="rId2"/>
                <a:stretch>
                  <a:fillRect l="-1412" t="-1385"/>
                </a:stretch>
              </a:blipFill>
            </p:spPr>
            <p:txBody>
              <a:bodyPr/>
              <a:lstStyle/>
              <a:p>
                <a:r>
                  <a:rPr lang="en-US">
                    <a:noFill/>
                  </a:rPr>
                  <a:t> </a:t>
                </a:r>
              </a:p>
            </p:txBody>
          </p:sp>
        </mc:Fallback>
      </mc:AlternateContent>
    </p:spTree>
    <p:extLst>
      <p:ext uri="{BB962C8B-B14F-4D97-AF65-F5344CB8AC3E}">
        <p14:creationId xmlns:p14="http://schemas.microsoft.com/office/powerpoint/2010/main" val="30173741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79A9A-FE29-51D3-4A66-C61CCE63AEE0}"/>
              </a:ext>
            </a:extLst>
          </p:cNvPr>
          <p:cNvSpPr>
            <a:spLocks noGrp="1"/>
          </p:cNvSpPr>
          <p:nvPr>
            <p:ph type="title"/>
          </p:nvPr>
        </p:nvSpPr>
        <p:spPr/>
        <p:txBody>
          <a:bodyPr/>
          <a:lstStyle/>
          <a:p>
            <a:r>
              <a:rPr lang="en-US" dirty="0"/>
              <a:t>Mean Squared Error (MSE)</a:t>
            </a:r>
          </a:p>
        </p:txBody>
      </p:sp>
      <p:sp>
        <p:nvSpPr>
          <p:cNvPr id="3" name="Content Placeholder 2">
            <a:extLst>
              <a:ext uri="{FF2B5EF4-FFF2-40B4-BE49-F238E27FC236}">
                <a16:creationId xmlns:a16="http://schemas.microsoft.com/office/drawing/2014/main" id="{302385B4-5384-76A7-E5B9-F21BD23E7662}"/>
              </a:ext>
            </a:extLst>
          </p:cNvPr>
          <p:cNvSpPr>
            <a:spLocks noGrp="1"/>
          </p:cNvSpPr>
          <p:nvPr>
            <p:ph idx="1"/>
          </p:nvPr>
        </p:nvSpPr>
        <p:spPr/>
        <p:txBody>
          <a:bodyPr/>
          <a:lstStyle/>
          <a:p>
            <a:r>
              <a:rPr lang="en-US" dirty="0"/>
              <a:t>MSE is a metric for measuring TSE</a:t>
            </a:r>
          </a:p>
          <a:p>
            <a:r>
              <a:rPr lang="en-US" dirty="0"/>
              <a:t>MSE cannot be calculated directly but useful conceptually to consider how large the different components can be and how much they add to the total survey error</a:t>
            </a:r>
          </a:p>
          <a:p>
            <a:r>
              <a:rPr lang="en-US" dirty="0"/>
              <a:t>Hypothetical but great guide for optimal survey designs</a:t>
            </a:r>
          </a:p>
          <a:p>
            <a:r>
              <a:rPr lang="en-US" dirty="0"/>
              <a:t>Survey design goal is to minimize the MSE </a:t>
            </a:r>
          </a:p>
          <a:p>
            <a:r>
              <a:rPr lang="en-US" dirty="0"/>
              <a:t>When other designs are similar on other quality dimensions, the optimal design is the one achieving the smallest mean squared error</a:t>
            </a:r>
          </a:p>
        </p:txBody>
      </p:sp>
    </p:spTree>
    <p:extLst>
      <p:ext uri="{BB962C8B-B14F-4D97-AF65-F5344CB8AC3E}">
        <p14:creationId xmlns:p14="http://schemas.microsoft.com/office/powerpoint/2010/main" val="2637530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itle 1">
            <a:extLst>
              <a:ext uri="{FF2B5EF4-FFF2-40B4-BE49-F238E27FC236}">
                <a16:creationId xmlns:a16="http://schemas.microsoft.com/office/drawing/2014/main" id="{FCFEEA6E-53C9-5F72-B602-CD91D28A88E6}"/>
              </a:ext>
            </a:extLst>
          </p:cNvPr>
          <p:cNvSpPr>
            <a:spLocks noGrp="1"/>
          </p:cNvSpPr>
          <p:nvPr>
            <p:ph type="title"/>
          </p:nvPr>
        </p:nvSpPr>
        <p:spPr>
          <a:xfrm>
            <a:off x="612775" y="228600"/>
            <a:ext cx="8153400" cy="990600"/>
          </a:xfrm>
        </p:spPr>
        <p:txBody>
          <a:bodyPr/>
          <a:lstStyle/>
          <a:p>
            <a:pPr eaLnBrk="1" hangingPunct="1"/>
            <a:r>
              <a:rPr lang="en-US" altLang="en-US" dirty="0"/>
              <a:t>Coverage Error</a:t>
            </a:r>
          </a:p>
        </p:txBody>
      </p:sp>
      <p:sp>
        <p:nvSpPr>
          <p:cNvPr id="3" name="Content Placeholder 2">
            <a:extLst>
              <a:ext uri="{FF2B5EF4-FFF2-40B4-BE49-F238E27FC236}">
                <a16:creationId xmlns:a16="http://schemas.microsoft.com/office/drawing/2014/main" id="{7CF740F9-4712-3E11-59B1-DB6333B63703}"/>
              </a:ext>
            </a:extLst>
          </p:cNvPr>
          <p:cNvSpPr>
            <a:spLocks noGrp="1"/>
          </p:cNvSpPr>
          <p:nvPr>
            <p:ph idx="1"/>
          </p:nvPr>
        </p:nvSpPr>
        <p:spPr>
          <a:xfrm>
            <a:off x="612775" y="1600200"/>
            <a:ext cx="8153400" cy="4876800"/>
          </a:xfrm>
        </p:spPr>
        <p:txBody>
          <a:bodyPr>
            <a:normAutofit fontScale="92500" lnSpcReduction="10000"/>
          </a:bodyPr>
          <a:lstStyle/>
          <a:p>
            <a:pPr marL="320040" indent="-320040" eaLnBrk="1" fontAlgn="auto" hangingPunct="1">
              <a:spcAft>
                <a:spcPts val="0"/>
              </a:spcAft>
              <a:buFont typeface="Wingdings"/>
              <a:buChar char=""/>
              <a:defRPr/>
            </a:pPr>
            <a:r>
              <a:rPr lang="en-US" dirty="0">
                <a:ea typeface="+mn-ea"/>
                <a:cs typeface="+mn-cs"/>
              </a:rPr>
              <a:t>Occurs when the list of members of the target population from which sample members are drawn (the </a:t>
            </a:r>
            <a:r>
              <a:rPr lang="en-US" i="1" dirty="0">
                <a:ea typeface="+mn-ea"/>
                <a:cs typeface="+mn-cs"/>
              </a:rPr>
              <a:t>sampling frame</a:t>
            </a:r>
            <a:r>
              <a:rPr lang="en-US" dirty="0">
                <a:ea typeface="+mn-ea"/>
                <a:cs typeface="+mn-cs"/>
              </a:rPr>
              <a:t>) does not accurately reflect the population on the characteristic(s) the survey is trying to estimate</a:t>
            </a:r>
          </a:p>
          <a:p>
            <a:pPr marL="320040" indent="-320040" eaLnBrk="1" fontAlgn="auto" hangingPunct="1">
              <a:spcAft>
                <a:spcPts val="0"/>
              </a:spcAft>
              <a:buFont typeface="Wingdings"/>
              <a:buChar char=""/>
              <a:defRPr/>
            </a:pPr>
            <a:r>
              <a:rPr lang="en-US" dirty="0">
                <a:ea typeface="+mn-ea"/>
                <a:cs typeface="+mn-cs"/>
              </a:rPr>
              <a:t>Coverage error is the difference between the estimate produced when the list is inaccurate and what would have been produced with an accurate list</a:t>
            </a:r>
          </a:p>
          <a:p>
            <a:pPr marL="320040" indent="-320040" eaLnBrk="1" fontAlgn="auto" hangingPunct="1">
              <a:spcAft>
                <a:spcPts val="0"/>
              </a:spcAft>
              <a:buFont typeface="Wingdings"/>
              <a:buChar char=""/>
              <a:defRPr/>
            </a:pPr>
            <a:r>
              <a:rPr lang="en-US" dirty="0">
                <a:ea typeface="+mn-ea"/>
                <a:cs typeface="+mn-cs"/>
              </a:rPr>
              <a:t>A high-quality sample survey requires that every member of the population has a known, nonzero probability of being sampled. </a:t>
            </a:r>
          </a:p>
          <a:p>
            <a:pPr marL="320040" indent="-320040" eaLnBrk="1" fontAlgn="auto" hangingPunct="1">
              <a:spcAft>
                <a:spcPts val="0"/>
              </a:spcAft>
              <a:buFont typeface="Wingdings"/>
              <a:buChar char=""/>
              <a:defRPr/>
            </a:pPr>
            <a:r>
              <a:rPr lang="en-US" dirty="0">
                <a:ea typeface="+mn-ea"/>
                <a:cs typeface="+mn-cs"/>
              </a:rPr>
              <a:t>The ideal case is when there is a one-to-one correspondence between the frame and target population units (i.e., each target unit is included once and only once on the frame, and the frame does not contain units that are not in the target population)</a:t>
            </a:r>
            <a:endParaRPr lang="en-US" i="1" dirty="0">
              <a:ea typeface="+mn-ea"/>
              <a:cs typeface="+mn-cs"/>
            </a:endParaRPr>
          </a:p>
        </p:txBody>
      </p:sp>
      <p:sp>
        <p:nvSpPr>
          <p:cNvPr id="19459" name="Slide Number Placeholder 3">
            <a:extLst>
              <a:ext uri="{FF2B5EF4-FFF2-40B4-BE49-F238E27FC236}">
                <a16:creationId xmlns:a16="http://schemas.microsoft.com/office/drawing/2014/main" id="{ACE4BB7E-50E1-0225-C9A0-CA6E30A3FFEF}"/>
              </a:ext>
            </a:extLst>
          </p:cNvPr>
          <p:cNvSpPr>
            <a:spLocks noGrp="1"/>
          </p:cNvSpPr>
          <p:nvPr>
            <p:ph type="sldNum" sz="quarter" idx="12"/>
          </p:nvPr>
        </p:nvSpPr>
        <p:spPr bwMode="auto">
          <a:xfrm>
            <a:off x="0" y="1271588"/>
            <a:ext cx="533400" cy="2444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92500" lnSpcReduction="10000"/>
          </a:bodyPr>
          <a:lstStyle>
            <a:defPPr>
              <a:defRPr lang="en-US"/>
            </a:defPPr>
            <a:lvl1pPr algn="ctr" rtl="0" fontAlgn="base">
              <a:spcBef>
                <a:spcPct val="0"/>
              </a:spcBef>
              <a:spcAft>
                <a:spcPct val="0"/>
              </a:spcAft>
              <a:defRPr sz="1400" b="1" kern="1200">
                <a:solidFill>
                  <a:srgbClr val="FFFFFF"/>
                </a:solidFill>
                <a:latin typeface="Tw Cen MT" panose="020B0602020104020603" pitchFamily="34" charset="0"/>
                <a:ea typeface="MS PGothic" panose="020B0600070205080204" pitchFamily="34" charset="-128"/>
                <a:cs typeface="Arial" panose="020B0604020202020204" pitchFamily="34" charset="0"/>
              </a:defRPr>
            </a:lvl1pPr>
            <a:lvl2pPr marL="457200" algn="l" rtl="0" fontAlgn="base">
              <a:spcBef>
                <a:spcPct val="0"/>
              </a:spcBef>
              <a:spcAft>
                <a:spcPct val="0"/>
              </a:spcAft>
              <a:defRPr kern="1200">
                <a:solidFill>
                  <a:schemeClr val="tx1"/>
                </a:solidFill>
                <a:latin typeface="Tw Cen MT" panose="020B0602020104020603" pitchFamily="34" charset="0"/>
                <a:ea typeface="MS PGothic" panose="020B0600070205080204" pitchFamily="34" charset="-128"/>
                <a:cs typeface="+mn-cs"/>
              </a:defRPr>
            </a:lvl2pPr>
            <a:lvl3pPr marL="914400" algn="l" rtl="0" fontAlgn="base">
              <a:spcBef>
                <a:spcPct val="0"/>
              </a:spcBef>
              <a:spcAft>
                <a:spcPct val="0"/>
              </a:spcAft>
              <a:defRPr kern="1200">
                <a:solidFill>
                  <a:schemeClr val="tx1"/>
                </a:solidFill>
                <a:latin typeface="Tw Cen MT" panose="020B0602020104020603" pitchFamily="34" charset="0"/>
                <a:ea typeface="MS PGothic" panose="020B0600070205080204" pitchFamily="34" charset="-128"/>
                <a:cs typeface="+mn-cs"/>
              </a:defRPr>
            </a:lvl3pPr>
            <a:lvl4pPr marL="1371600" algn="l" rtl="0" fontAlgn="base">
              <a:spcBef>
                <a:spcPct val="0"/>
              </a:spcBef>
              <a:spcAft>
                <a:spcPct val="0"/>
              </a:spcAft>
              <a:defRPr kern="1200">
                <a:solidFill>
                  <a:schemeClr val="tx1"/>
                </a:solidFill>
                <a:latin typeface="Tw Cen MT" panose="020B0602020104020603" pitchFamily="34" charset="0"/>
                <a:ea typeface="MS PGothic" panose="020B0600070205080204" pitchFamily="34" charset="-128"/>
                <a:cs typeface="+mn-cs"/>
              </a:defRPr>
            </a:lvl4pPr>
            <a:lvl5pPr marL="1828800" algn="l" rtl="0" fontAlgn="base">
              <a:spcBef>
                <a:spcPct val="0"/>
              </a:spcBef>
              <a:spcAft>
                <a:spcPct val="0"/>
              </a:spcAft>
              <a:defRPr kern="1200">
                <a:solidFill>
                  <a:schemeClr val="tx1"/>
                </a:solidFill>
                <a:latin typeface="Tw Cen MT" panose="020B0602020104020603"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Tw Cen MT" panose="020B0602020104020603"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Tw Cen MT" panose="020B0602020104020603"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Tw Cen MT" panose="020B0602020104020603"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Tw Cen MT" panose="020B0602020104020603" pitchFamily="34" charset="0"/>
                <a:ea typeface="MS PGothic" panose="020B0600070205080204" pitchFamily="34" charset="-128"/>
                <a:cs typeface="+mn-cs"/>
              </a:defRPr>
            </a:lvl9pPr>
          </a:lstStyle>
          <a:p>
            <a:pPr eaLnBrk="1" hangingPunct="1">
              <a:lnSpc>
                <a:spcPct val="80000"/>
              </a:lnSpc>
            </a:pPr>
            <a:fld id="{EDAE4D1F-3E22-4E30-845E-B78F7DCA3A1C}" type="slidenum">
              <a:rPr lang="en-US" altLang="en-US" smtClean="0"/>
              <a:pPr eaLnBrk="1" hangingPunct="1">
                <a:lnSpc>
                  <a:spcPct val="80000"/>
                </a:lnSpc>
              </a:pPr>
              <a:t>13</a:t>
            </a:fld>
            <a:endParaRPr lang="en-US" altLang="en-US" sz="1200">
              <a:solidFill>
                <a:srgbClr val="FFFFFF"/>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8D172E-2C80-29A0-2558-4A75544360C6}"/>
              </a:ext>
            </a:extLst>
          </p:cNvPr>
          <p:cNvSpPr>
            <a:spLocks noGrp="1"/>
          </p:cNvSpPr>
          <p:nvPr>
            <p:ph type="title"/>
          </p:nvPr>
        </p:nvSpPr>
        <p:spPr/>
        <p:txBody>
          <a:bodyPr/>
          <a:lstStyle/>
          <a:p>
            <a:r>
              <a:rPr lang="en-US" dirty="0" err="1">
                <a:ea typeface="+mn-ea"/>
                <a:cs typeface="+mn-cs"/>
              </a:rPr>
              <a:t>Undercoverage</a:t>
            </a:r>
            <a:endParaRPr lang="en-US" dirty="0"/>
          </a:p>
        </p:txBody>
      </p:sp>
      <p:sp>
        <p:nvSpPr>
          <p:cNvPr id="3" name="Content Placeholder 2">
            <a:extLst>
              <a:ext uri="{FF2B5EF4-FFF2-40B4-BE49-F238E27FC236}">
                <a16:creationId xmlns:a16="http://schemas.microsoft.com/office/drawing/2014/main" id="{D4EEE8C8-C647-2A27-B4E6-98380B53B180}"/>
              </a:ext>
            </a:extLst>
          </p:cNvPr>
          <p:cNvSpPr>
            <a:spLocks noGrp="1"/>
          </p:cNvSpPr>
          <p:nvPr>
            <p:ph idx="1"/>
          </p:nvPr>
        </p:nvSpPr>
        <p:spPr/>
        <p:txBody>
          <a:bodyPr/>
          <a:lstStyle/>
          <a:p>
            <a:r>
              <a:rPr lang="en-US" dirty="0">
                <a:ea typeface="+mn-ea"/>
                <a:cs typeface="+mn-cs"/>
              </a:rPr>
              <a:t>If some units in the population are not on the list of the frame, there will be </a:t>
            </a:r>
            <a:r>
              <a:rPr lang="en-US" i="1" dirty="0" err="1">
                <a:ea typeface="+mn-ea"/>
                <a:cs typeface="+mn-cs"/>
              </a:rPr>
              <a:t>undercoverage</a:t>
            </a:r>
            <a:r>
              <a:rPr lang="en-US" i="1" dirty="0">
                <a:ea typeface="+mn-ea"/>
                <a:cs typeface="+mn-cs"/>
              </a:rPr>
              <a:t> </a:t>
            </a:r>
          </a:p>
          <a:p>
            <a:r>
              <a:rPr lang="en-US" dirty="0">
                <a:ea typeface="+mn-ea"/>
                <a:cs typeface="+mn-cs"/>
              </a:rPr>
              <a:t>Those not on the list will have zero probability of being selected</a:t>
            </a:r>
          </a:p>
          <a:p>
            <a:r>
              <a:rPr lang="en-US" dirty="0"/>
              <a:t>When under-coverage occurs, the survey researcher faces three options: </a:t>
            </a:r>
          </a:p>
          <a:p>
            <a:pPr lvl="1"/>
            <a:r>
              <a:rPr lang="en-US" dirty="0"/>
              <a:t>Revise the sampling frame or use multiple frames,</a:t>
            </a:r>
          </a:p>
          <a:p>
            <a:pPr lvl="1"/>
            <a:r>
              <a:rPr lang="en-US" dirty="0"/>
              <a:t>Redefine the target population to fit the frame better,</a:t>
            </a:r>
          </a:p>
          <a:p>
            <a:pPr lvl="1"/>
            <a:r>
              <a:rPr lang="en-US" dirty="0"/>
              <a:t>Admit the possibility of coverage error in statistics describing the original target population.</a:t>
            </a:r>
          </a:p>
        </p:txBody>
      </p:sp>
    </p:spTree>
    <p:extLst>
      <p:ext uri="{BB962C8B-B14F-4D97-AF65-F5344CB8AC3E}">
        <p14:creationId xmlns:p14="http://schemas.microsoft.com/office/powerpoint/2010/main" val="30990735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1FE2E-4F3C-1C8C-4676-9DC5E6043660}"/>
              </a:ext>
            </a:extLst>
          </p:cNvPr>
          <p:cNvSpPr>
            <a:spLocks noGrp="1"/>
          </p:cNvSpPr>
          <p:nvPr>
            <p:ph type="title"/>
          </p:nvPr>
        </p:nvSpPr>
        <p:spPr/>
        <p:txBody>
          <a:bodyPr/>
          <a:lstStyle/>
          <a:p>
            <a:r>
              <a:rPr lang="en-US" dirty="0" err="1"/>
              <a:t>Overcoverage</a:t>
            </a:r>
            <a:endParaRPr lang="en-US" dirty="0"/>
          </a:p>
        </p:txBody>
      </p:sp>
      <p:sp>
        <p:nvSpPr>
          <p:cNvPr id="3" name="Content Placeholder 2">
            <a:extLst>
              <a:ext uri="{FF2B5EF4-FFF2-40B4-BE49-F238E27FC236}">
                <a16:creationId xmlns:a16="http://schemas.microsoft.com/office/drawing/2014/main" id="{E1411CA6-4E0D-AC98-86E6-DF39982EC0E2}"/>
              </a:ext>
            </a:extLst>
          </p:cNvPr>
          <p:cNvSpPr>
            <a:spLocks noGrp="1"/>
          </p:cNvSpPr>
          <p:nvPr>
            <p:ph idx="1"/>
          </p:nvPr>
        </p:nvSpPr>
        <p:spPr/>
        <p:txBody>
          <a:bodyPr/>
          <a:lstStyle/>
          <a:p>
            <a:r>
              <a:rPr lang="en-US" dirty="0" err="1"/>
              <a:t>Overcoverage</a:t>
            </a:r>
            <a:r>
              <a:rPr lang="en-US" dirty="0"/>
              <a:t> occurs when </a:t>
            </a:r>
          </a:p>
          <a:p>
            <a:pPr lvl="1"/>
            <a:r>
              <a:rPr lang="en-US" dirty="0"/>
              <a:t>Some units in the frame are not members of the target population (i.e., they are </a:t>
            </a:r>
            <a:r>
              <a:rPr lang="en-US" i="1" dirty="0"/>
              <a:t>ineligible</a:t>
            </a:r>
            <a:r>
              <a:rPr lang="en-US" dirty="0"/>
              <a:t> or </a:t>
            </a:r>
            <a:r>
              <a:rPr lang="en-US" i="1" dirty="0"/>
              <a:t>out of scope </a:t>
            </a:r>
            <a:r>
              <a:rPr lang="en-US" dirty="0"/>
              <a:t>for the survey) or</a:t>
            </a:r>
          </a:p>
          <a:p>
            <a:pPr lvl="1"/>
            <a:r>
              <a:rPr lang="en-US" dirty="0"/>
              <a:t>Some units have higher chance of being selected due to duplicated IDs</a:t>
            </a:r>
          </a:p>
          <a:p>
            <a:r>
              <a:rPr lang="en-US" dirty="0"/>
              <a:t>If cannot be removed a priori, the ineligible units are usually identified during the data collection and deleted with no biasing effects on the survey data.</a:t>
            </a:r>
          </a:p>
          <a:p>
            <a:r>
              <a:rPr lang="en-US" dirty="0"/>
              <a:t>Some units that are out of scope for the survey are mistaken for eligible units, and consequently, the estimates based on the survey results may be biased</a:t>
            </a:r>
          </a:p>
        </p:txBody>
      </p:sp>
    </p:spTree>
    <p:extLst>
      <p:ext uri="{BB962C8B-B14F-4D97-AF65-F5344CB8AC3E}">
        <p14:creationId xmlns:p14="http://schemas.microsoft.com/office/powerpoint/2010/main" val="17110098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749103-ACD8-38C2-9C79-AE303BD073D3}"/>
              </a:ext>
            </a:extLst>
          </p:cNvPr>
          <p:cNvSpPr>
            <a:spLocks noGrp="1"/>
          </p:cNvSpPr>
          <p:nvPr>
            <p:ph type="title"/>
          </p:nvPr>
        </p:nvSpPr>
        <p:spPr/>
        <p:txBody>
          <a:bodyPr/>
          <a:lstStyle/>
          <a:p>
            <a:r>
              <a:rPr lang="en-US" altLang="en-US" dirty="0"/>
              <a:t>Coverage Error</a:t>
            </a:r>
            <a:endParaRPr lang="en-US" dirty="0"/>
          </a:p>
        </p:txBody>
      </p:sp>
      <p:sp>
        <p:nvSpPr>
          <p:cNvPr id="3" name="Content Placeholder 2">
            <a:extLst>
              <a:ext uri="{FF2B5EF4-FFF2-40B4-BE49-F238E27FC236}">
                <a16:creationId xmlns:a16="http://schemas.microsoft.com/office/drawing/2014/main" id="{47245356-0A85-829F-873F-A51F90CE9D31}"/>
              </a:ext>
            </a:extLst>
          </p:cNvPr>
          <p:cNvSpPr>
            <a:spLocks noGrp="1"/>
          </p:cNvSpPr>
          <p:nvPr>
            <p:ph idx="1"/>
          </p:nvPr>
        </p:nvSpPr>
        <p:spPr/>
        <p:txBody>
          <a:bodyPr/>
          <a:lstStyle/>
          <a:p>
            <a:endParaRPr lang="en-US"/>
          </a:p>
        </p:txBody>
      </p:sp>
      <p:pic>
        <p:nvPicPr>
          <p:cNvPr id="7" name="Picture 6">
            <a:extLst>
              <a:ext uri="{FF2B5EF4-FFF2-40B4-BE49-F238E27FC236}">
                <a16:creationId xmlns:a16="http://schemas.microsoft.com/office/drawing/2014/main" id="{7506ADDA-353A-B954-9884-E93F6788CF36}"/>
              </a:ext>
            </a:extLst>
          </p:cNvPr>
          <p:cNvPicPr>
            <a:picLocks noChangeAspect="1"/>
          </p:cNvPicPr>
          <p:nvPr/>
        </p:nvPicPr>
        <p:blipFill>
          <a:blip r:embed="rId3"/>
          <a:stretch>
            <a:fillRect/>
          </a:stretch>
        </p:blipFill>
        <p:spPr>
          <a:xfrm>
            <a:off x="1952259" y="1566560"/>
            <a:ext cx="5239481" cy="4334480"/>
          </a:xfrm>
          <a:prstGeom prst="rect">
            <a:avLst/>
          </a:prstGeom>
        </p:spPr>
      </p:pic>
    </p:spTree>
    <p:extLst>
      <p:ext uri="{BB962C8B-B14F-4D97-AF65-F5344CB8AC3E}">
        <p14:creationId xmlns:p14="http://schemas.microsoft.com/office/powerpoint/2010/main" val="16600764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itle 1">
            <a:extLst>
              <a:ext uri="{FF2B5EF4-FFF2-40B4-BE49-F238E27FC236}">
                <a16:creationId xmlns:a16="http://schemas.microsoft.com/office/drawing/2014/main" id="{10A84755-7337-5B16-80F0-A79F7D74FDA2}"/>
              </a:ext>
            </a:extLst>
          </p:cNvPr>
          <p:cNvSpPr>
            <a:spLocks noGrp="1"/>
          </p:cNvSpPr>
          <p:nvPr>
            <p:ph type="title"/>
          </p:nvPr>
        </p:nvSpPr>
        <p:spPr>
          <a:xfrm>
            <a:off x="612775" y="228600"/>
            <a:ext cx="8153400" cy="990600"/>
          </a:xfrm>
        </p:spPr>
        <p:txBody>
          <a:bodyPr/>
          <a:lstStyle/>
          <a:p>
            <a:pPr eaLnBrk="1" hangingPunct="1"/>
            <a:r>
              <a:rPr lang="en-US" altLang="en-US" dirty="0"/>
              <a:t>Sampling Error</a:t>
            </a:r>
          </a:p>
        </p:txBody>
      </p:sp>
      <p:sp>
        <p:nvSpPr>
          <p:cNvPr id="3" name="Content Placeholder 2">
            <a:extLst>
              <a:ext uri="{FF2B5EF4-FFF2-40B4-BE49-F238E27FC236}">
                <a16:creationId xmlns:a16="http://schemas.microsoft.com/office/drawing/2014/main" id="{0CE4D487-8B2E-AA4B-A513-C8B5C81DFDE1}"/>
              </a:ext>
            </a:extLst>
          </p:cNvPr>
          <p:cNvSpPr>
            <a:spLocks noGrp="1"/>
          </p:cNvSpPr>
          <p:nvPr>
            <p:ph idx="1"/>
          </p:nvPr>
        </p:nvSpPr>
        <p:spPr>
          <a:xfrm>
            <a:off x="612775" y="1600200"/>
            <a:ext cx="8153400" cy="4495800"/>
          </a:xfrm>
        </p:spPr>
        <p:txBody>
          <a:bodyPr>
            <a:normAutofit/>
          </a:bodyPr>
          <a:lstStyle/>
          <a:p>
            <a:pPr marL="320040" indent="-320040" eaLnBrk="1" fontAlgn="auto" hangingPunct="1">
              <a:spcAft>
                <a:spcPts val="0"/>
              </a:spcAft>
              <a:buFont typeface="Wingdings"/>
              <a:buChar char=""/>
              <a:defRPr/>
            </a:pPr>
            <a:r>
              <a:rPr lang="en-US" dirty="0">
                <a:ea typeface="+mn-ea"/>
                <a:cs typeface="+mn-cs"/>
              </a:rPr>
              <a:t>The difference between the estimate produced when only a sample of units is surveyed and the estimate produced when all units are surveyed</a:t>
            </a:r>
          </a:p>
          <a:p>
            <a:pPr marL="320040" indent="-320040" eaLnBrk="1" fontAlgn="auto" hangingPunct="1">
              <a:spcAft>
                <a:spcPts val="0"/>
              </a:spcAft>
              <a:buFont typeface="Wingdings"/>
              <a:buChar char=""/>
              <a:defRPr/>
            </a:pPr>
            <a:r>
              <a:rPr lang="en-US" dirty="0">
                <a:ea typeface="+mn-ea"/>
                <a:cs typeface="+mn-cs"/>
              </a:rPr>
              <a:t>Occurs any time a survey includes only some, rather than all, members of the sampling frame; it is </a:t>
            </a:r>
            <a:r>
              <a:rPr lang="en-US" i="1" dirty="0">
                <a:ea typeface="+mn-ea"/>
                <a:cs typeface="+mn-cs"/>
              </a:rPr>
              <a:t>unavoidable</a:t>
            </a:r>
            <a:r>
              <a:rPr lang="en-US" dirty="0">
                <a:ea typeface="+mn-ea"/>
                <a:cs typeface="+mn-cs"/>
              </a:rPr>
              <a:t> in sample surveys</a:t>
            </a:r>
          </a:p>
          <a:p>
            <a:pPr marL="320040" indent="-320040" eaLnBrk="1" fontAlgn="auto" hangingPunct="1">
              <a:spcAft>
                <a:spcPts val="0"/>
              </a:spcAft>
              <a:buFont typeface="Wingdings"/>
              <a:buChar char=""/>
              <a:defRPr/>
            </a:pPr>
            <a:r>
              <a:rPr lang="en-US" dirty="0">
                <a:ea typeface="+mn-ea"/>
                <a:cs typeface="+mn-cs"/>
              </a:rPr>
              <a:t>But it can be minimized, and probability sampling allows us to obtain estimates about the population within acceptable levels of precision by surveying </a:t>
            </a:r>
            <a:r>
              <a:rPr lang="en-US" dirty="0">
                <a:ea typeface="ＭＳ Ｐゴシック" charset="0"/>
              </a:rPr>
              <a:t>only </a:t>
            </a:r>
            <a:r>
              <a:rPr lang="en-US" dirty="0">
                <a:ea typeface="+mn-ea"/>
                <a:cs typeface="+mn-cs"/>
              </a:rPr>
              <a:t>a small portion of the population</a:t>
            </a:r>
          </a:p>
        </p:txBody>
      </p:sp>
      <p:sp>
        <p:nvSpPr>
          <p:cNvPr id="20483" name="Slide Number Placeholder 3">
            <a:extLst>
              <a:ext uri="{FF2B5EF4-FFF2-40B4-BE49-F238E27FC236}">
                <a16:creationId xmlns:a16="http://schemas.microsoft.com/office/drawing/2014/main" id="{5E1D5E19-04C8-DE6C-5A26-3AE2AE3BC669}"/>
              </a:ext>
            </a:extLst>
          </p:cNvPr>
          <p:cNvSpPr>
            <a:spLocks noGrp="1"/>
          </p:cNvSpPr>
          <p:nvPr>
            <p:ph type="sldNum" sz="quarter" idx="12"/>
          </p:nvPr>
        </p:nvSpPr>
        <p:spPr bwMode="auto">
          <a:xfrm>
            <a:off x="0" y="1271588"/>
            <a:ext cx="533400" cy="2444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92500" lnSpcReduction="10000"/>
          </a:bodyPr>
          <a:lstStyle>
            <a:defPPr>
              <a:defRPr lang="en-US"/>
            </a:defPPr>
            <a:lvl1pPr algn="ctr" rtl="0" fontAlgn="base">
              <a:spcBef>
                <a:spcPct val="0"/>
              </a:spcBef>
              <a:spcAft>
                <a:spcPct val="0"/>
              </a:spcAft>
              <a:defRPr sz="1400" b="1" kern="1200">
                <a:solidFill>
                  <a:srgbClr val="FFFFFF"/>
                </a:solidFill>
                <a:latin typeface="Tw Cen MT" panose="020B0602020104020603" pitchFamily="34" charset="0"/>
                <a:ea typeface="MS PGothic" panose="020B0600070205080204" pitchFamily="34" charset="-128"/>
                <a:cs typeface="Arial" panose="020B0604020202020204" pitchFamily="34" charset="0"/>
              </a:defRPr>
            </a:lvl1pPr>
            <a:lvl2pPr marL="457200" algn="l" rtl="0" fontAlgn="base">
              <a:spcBef>
                <a:spcPct val="0"/>
              </a:spcBef>
              <a:spcAft>
                <a:spcPct val="0"/>
              </a:spcAft>
              <a:defRPr kern="1200">
                <a:solidFill>
                  <a:schemeClr val="tx1"/>
                </a:solidFill>
                <a:latin typeface="Tw Cen MT" panose="020B0602020104020603" pitchFamily="34" charset="0"/>
                <a:ea typeface="MS PGothic" panose="020B0600070205080204" pitchFamily="34" charset="-128"/>
                <a:cs typeface="+mn-cs"/>
              </a:defRPr>
            </a:lvl2pPr>
            <a:lvl3pPr marL="914400" algn="l" rtl="0" fontAlgn="base">
              <a:spcBef>
                <a:spcPct val="0"/>
              </a:spcBef>
              <a:spcAft>
                <a:spcPct val="0"/>
              </a:spcAft>
              <a:defRPr kern="1200">
                <a:solidFill>
                  <a:schemeClr val="tx1"/>
                </a:solidFill>
                <a:latin typeface="Tw Cen MT" panose="020B0602020104020603" pitchFamily="34" charset="0"/>
                <a:ea typeface="MS PGothic" panose="020B0600070205080204" pitchFamily="34" charset="-128"/>
                <a:cs typeface="+mn-cs"/>
              </a:defRPr>
            </a:lvl3pPr>
            <a:lvl4pPr marL="1371600" algn="l" rtl="0" fontAlgn="base">
              <a:spcBef>
                <a:spcPct val="0"/>
              </a:spcBef>
              <a:spcAft>
                <a:spcPct val="0"/>
              </a:spcAft>
              <a:defRPr kern="1200">
                <a:solidFill>
                  <a:schemeClr val="tx1"/>
                </a:solidFill>
                <a:latin typeface="Tw Cen MT" panose="020B0602020104020603" pitchFamily="34" charset="0"/>
                <a:ea typeface="MS PGothic" panose="020B0600070205080204" pitchFamily="34" charset="-128"/>
                <a:cs typeface="+mn-cs"/>
              </a:defRPr>
            </a:lvl4pPr>
            <a:lvl5pPr marL="1828800" algn="l" rtl="0" fontAlgn="base">
              <a:spcBef>
                <a:spcPct val="0"/>
              </a:spcBef>
              <a:spcAft>
                <a:spcPct val="0"/>
              </a:spcAft>
              <a:defRPr kern="1200">
                <a:solidFill>
                  <a:schemeClr val="tx1"/>
                </a:solidFill>
                <a:latin typeface="Tw Cen MT" panose="020B0602020104020603"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Tw Cen MT" panose="020B0602020104020603"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Tw Cen MT" panose="020B0602020104020603"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Tw Cen MT" panose="020B0602020104020603"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Tw Cen MT" panose="020B0602020104020603" pitchFamily="34" charset="0"/>
                <a:ea typeface="MS PGothic" panose="020B0600070205080204" pitchFamily="34" charset="-128"/>
                <a:cs typeface="+mn-cs"/>
              </a:defRPr>
            </a:lvl9pPr>
          </a:lstStyle>
          <a:p>
            <a:pPr eaLnBrk="1" hangingPunct="1">
              <a:lnSpc>
                <a:spcPct val="80000"/>
              </a:lnSpc>
            </a:pPr>
            <a:fld id="{EDAE4D1F-3E22-4E30-845E-B78F7DCA3A1C}" type="slidenum">
              <a:rPr lang="en-US" altLang="en-US" smtClean="0"/>
              <a:pPr eaLnBrk="1" hangingPunct="1">
                <a:lnSpc>
                  <a:spcPct val="80000"/>
                </a:lnSpc>
              </a:pPr>
              <a:t>17</a:t>
            </a:fld>
            <a:endParaRPr lang="en-US" altLang="en-US" sz="1200">
              <a:solidFill>
                <a:srgbClr val="FFFFFF"/>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208466-6685-91C4-ADB5-01896C45BE78}"/>
              </a:ext>
            </a:extLst>
          </p:cNvPr>
          <p:cNvSpPr>
            <a:spLocks noGrp="1"/>
          </p:cNvSpPr>
          <p:nvPr>
            <p:ph type="title"/>
          </p:nvPr>
        </p:nvSpPr>
        <p:spPr/>
        <p:txBody>
          <a:bodyPr/>
          <a:lstStyle/>
          <a:p>
            <a:r>
              <a:rPr lang="en-US" dirty="0"/>
              <a:t>Sampling Error</a:t>
            </a:r>
          </a:p>
        </p:txBody>
      </p:sp>
      <p:sp>
        <p:nvSpPr>
          <p:cNvPr id="3" name="Content Placeholder 2">
            <a:extLst>
              <a:ext uri="{FF2B5EF4-FFF2-40B4-BE49-F238E27FC236}">
                <a16:creationId xmlns:a16="http://schemas.microsoft.com/office/drawing/2014/main" id="{F796FCEA-78FA-1592-8DF8-C16A9332956D}"/>
              </a:ext>
            </a:extLst>
          </p:cNvPr>
          <p:cNvSpPr>
            <a:spLocks noGrp="1"/>
          </p:cNvSpPr>
          <p:nvPr>
            <p:ph idx="1"/>
          </p:nvPr>
        </p:nvSpPr>
        <p:spPr/>
        <p:txBody>
          <a:bodyPr/>
          <a:lstStyle/>
          <a:p>
            <a:r>
              <a:rPr lang="en-US" dirty="0"/>
              <a:t>There are two types of sampling error: sampling bias and sampling variance. </a:t>
            </a:r>
          </a:p>
          <a:p>
            <a:r>
              <a:rPr lang="en-US" dirty="0"/>
              <a:t>Sampling bias arises when some members of the sampling frame are given no chance (or reduced chance) of selection.</a:t>
            </a:r>
          </a:p>
          <a:p>
            <a:r>
              <a:rPr lang="en-US" dirty="0"/>
              <a:t>Sampling variance arises because, given the design for the sample, by chance many different sets of frame elements could be drawn</a:t>
            </a:r>
          </a:p>
        </p:txBody>
      </p:sp>
    </p:spTree>
    <p:extLst>
      <p:ext uri="{BB962C8B-B14F-4D97-AF65-F5344CB8AC3E}">
        <p14:creationId xmlns:p14="http://schemas.microsoft.com/office/powerpoint/2010/main" val="18417972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CB2AF022-683C-3D46-0039-52350348526C}"/>
              </a:ext>
            </a:extLst>
          </p:cNvPr>
          <p:cNvSpPr>
            <a:spLocks noGrp="1"/>
          </p:cNvSpPr>
          <p:nvPr>
            <p:ph type="title"/>
          </p:nvPr>
        </p:nvSpPr>
        <p:spPr/>
        <p:txBody>
          <a:bodyPr/>
          <a:lstStyle/>
          <a:p>
            <a:r>
              <a:rPr lang="en-US" dirty="0"/>
              <a:t>Sampling Error</a:t>
            </a:r>
          </a:p>
        </p:txBody>
      </p:sp>
      <p:pic>
        <p:nvPicPr>
          <p:cNvPr id="5" name="Picture 4">
            <a:extLst>
              <a:ext uri="{FF2B5EF4-FFF2-40B4-BE49-F238E27FC236}">
                <a16:creationId xmlns:a16="http://schemas.microsoft.com/office/drawing/2014/main" id="{10C57403-B4F6-2A0B-96BA-D2A95F835617}"/>
              </a:ext>
            </a:extLst>
          </p:cNvPr>
          <p:cNvPicPr>
            <a:picLocks noChangeAspect="1"/>
          </p:cNvPicPr>
          <p:nvPr/>
        </p:nvPicPr>
        <p:blipFill>
          <a:blip r:embed="rId3"/>
          <a:stretch>
            <a:fillRect/>
          </a:stretch>
        </p:blipFill>
        <p:spPr>
          <a:xfrm>
            <a:off x="1414709" y="1752600"/>
            <a:ext cx="6314581" cy="3962400"/>
          </a:xfrm>
          <a:prstGeom prst="rect">
            <a:avLst/>
          </a:prstGeom>
          <a:noFill/>
        </p:spPr>
      </p:pic>
    </p:spTree>
    <p:extLst>
      <p:ext uri="{BB962C8B-B14F-4D97-AF65-F5344CB8AC3E}">
        <p14:creationId xmlns:p14="http://schemas.microsoft.com/office/powerpoint/2010/main" val="26698128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19E96-F2CA-82DE-A4A5-5593A450986A}"/>
              </a:ext>
            </a:extLst>
          </p:cNvPr>
          <p:cNvSpPr>
            <a:spLocks noGrp="1"/>
          </p:cNvSpPr>
          <p:nvPr>
            <p:ph type="title"/>
          </p:nvPr>
        </p:nvSpPr>
        <p:spPr/>
        <p:txBody>
          <a:bodyPr/>
          <a:lstStyle/>
          <a:p>
            <a:r>
              <a:rPr lang="en-US" dirty="0"/>
              <a:t>Sampling Error</a:t>
            </a:r>
          </a:p>
        </p:txBody>
      </p:sp>
      <p:sp>
        <p:nvSpPr>
          <p:cNvPr id="3" name="Content Placeholder 2">
            <a:extLst>
              <a:ext uri="{FF2B5EF4-FFF2-40B4-BE49-F238E27FC236}">
                <a16:creationId xmlns:a16="http://schemas.microsoft.com/office/drawing/2014/main" id="{5EE65037-0965-F872-4698-1AE93BD539DF}"/>
              </a:ext>
            </a:extLst>
          </p:cNvPr>
          <p:cNvSpPr>
            <a:spLocks noGrp="1"/>
          </p:cNvSpPr>
          <p:nvPr>
            <p:ph idx="1"/>
          </p:nvPr>
        </p:nvSpPr>
        <p:spPr/>
        <p:txBody>
          <a:bodyPr/>
          <a:lstStyle/>
          <a:p>
            <a:r>
              <a:rPr lang="en-US" dirty="0"/>
              <a:t>The extent of the error due to sampling is a function of four basic principles of the design: </a:t>
            </a:r>
          </a:p>
          <a:p>
            <a:pPr lvl="1"/>
            <a:r>
              <a:rPr lang="en-US" dirty="0"/>
              <a:t>Whether all sampling frame elements have known, nonzero chances of selection into the sample (called "probability sampling") </a:t>
            </a:r>
          </a:p>
          <a:p>
            <a:pPr lvl="1"/>
            <a:r>
              <a:rPr lang="en-US" dirty="0"/>
              <a:t>Whether the sample is designed to control the representation of key subpopulations in the sample (called "stratification") </a:t>
            </a:r>
          </a:p>
          <a:p>
            <a:pPr lvl="1"/>
            <a:r>
              <a:rPr lang="en-US" dirty="0"/>
              <a:t>Whether individual elements are drawn directly and independently or in groups (called "element" or "cluster" samples) </a:t>
            </a:r>
          </a:p>
          <a:p>
            <a:pPr lvl="1"/>
            <a:r>
              <a:rPr lang="en-US" dirty="0"/>
              <a:t>How large a sample of elements is selected</a:t>
            </a:r>
          </a:p>
        </p:txBody>
      </p:sp>
    </p:spTree>
    <p:extLst>
      <p:ext uri="{BB962C8B-B14F-4D97-AF65-F5344CB8AC3E}">
        <p14:creationId xmlns:p14="http://schemas.microsoft.com/office/powerpoint/2010/main" val="600499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BE2FC0-16F6-FD4E-F791-9EDCE9ED44B9}"/>
              </a:ext>
            </a:extLst>
          </p:cNvPr>
          <p:cNvSpPr>
            <a:spLocks noGrp="1"/>
          </p:cNvSpPr>
          <p:nvPr>
            <p:ph type="title"/>
          </p:nvPr>
        </p:nvSpPr>
        <p:spPr/>
        <p:txBody>
          <a:bodyPr/>
          <a:lstStyle/>
          <a:p>
            <a:r>
              <a:rPr lang="en-US" dirty="0"/>
              <a:t>Sampling Error</a:t>
            </a:r>
          </a:p>
        </p:txBody>
      </p:sp>
      <p:sp>
        <p:nvSpPr>
          <p:cNvPr id="3" name="Content Placeholder 2">
            <a:extLst>
              <a:ext uri="{FF2B5EF4-FFF2-40B4-BE49-F238E27FC236}">
                <a16:creationId xmlns:a16="http://schemas.microsoft.com/office/drawing/2014/main" id="{52774EB1-6CF8-8E52-814A-FF6C959C6EE4}"/>
              </a:ext>
            </a:extLst>
          </p:cNvPr>
          <p:cNvSpPr>
            <a:spLocks noGrp="1"/>
          </p:cNvSpPr>
          <p:nvPr>
            <p:ph idx="1"/>
          </p:nvPr>
        </p:nvSpPr>
        <p:spPr/>
        <p:txBody>
          <a:bodyPr/>
          <a:lstStyle/>
          <a:p>
            <a:r>
              <a:rPr lang="en-US" dirty="0"/>
              <a:t>Sampling bias can be easily removed by giving all elements an equal chance of selection.</a:t>
            </a:r>
          </a:p>
          <a:p>
            <a:r>
              <a:rPr lang="en-US" dirty="0"/>
              <a:t>Sampling variance is reduced with </a:t>
            </a:r>
          </a:p>
          <a:p>
            <a:pPr lvl="1"/>
            <a:r>
              <a:rPr lang="en-US" dirty="0"/>
              <a:t>big samples, </a:t>
            </a:r>
          </a:p>
          <a:p>
            <a:pPr lvl="1"/>
            <a:r>
              <a:rPr lang="en-US" dirty="0"/>
              <a:t>with samples that are stratified, and </a:t>
            </a:r>
          </a:p>
          <a:p>
            <a:pPr lvl="1"/>
            <a:r>
              <a:rPr lang="en-US" dirty="0"/>
              <a:t>samples that are not clustered.</a:t>
            </a:r>
          </a:p>
        </p:txBody>
      </p:sp>
    </p:spTree>
    <p:extLst>
      <p:ext uri="{BB962C8B-B14F-4D97-AF65-F5344CB8AC3E}">
        <p14:creationId xmlns:p14="http://schemas.microsoft.com/office/powerpoint/2010/main" val="6650092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1">
            <a:extLst>
              <a:ext uri="{FF2B5EF4-FFF2-40B4-BE49-F238E27FC236}">
                <a16:creationId xmlns:a16="http://schemas.microsoft.com/office/drawing/2014/main" id="{A439E9DE-B3E9-BF2D-C7FB-CC0451D197F9}"/>
              </a:ext>
            </a:extLst>
          </p:cNvPr>
          <p:cNvSpPr>
            <a:spLocks noGrp="1"/>
          </p:cNvSpPr>
          <p:nvPr>
            <p:ph type="title"/>
          </p:nvPr>
        </p:nvSpPr>
        <p:spPr>
          <a:xfrm>
            <a:off x="612775" y="228600"/>
            <a:ext cx="8153400" cy="990600"/>
          </a:xfrm>
        </p:spPr>
        <p:txBody>
          <a:bodyPr/>
          <a:lstStyle/>
          <a:p>
            <a:pPr eaLnBrk="1" hangingPunct="1"/>
            <a:r>
              <a:rPr lang="en-US" altLang="en-US" dirty="0"/>
              <a:t>Nonresponse Error</a:t>
            </a:r>
          </a:p>
        </p:txBody>
      </p:sp>
      <p:sp>
        <p:nvSpPr>
          <p:cNvPr id="21506" name="Content Placeholder 2">
            <a:extLst>
              <a:ext uri="{FF2B5EF4-FFF2-40B4-BE49-F238E27FC236}">
                <a16:creationId xmlns:a16="http://schemas.microsoft.com/office/drawing/2014/main" id="{E70426DC-6C7E-EE40-E89A-1744A6470F91}"/>
              </a:ext>
            </a:extLst>
          </p:cNvPr>
          <p:cNvSpPr>
            <a:spLocks noGrp="1"/>
          </p:cNvSpPr>
          <p:nvPr>
            <p:ph idx="1"/>
          </p:nvPr>
        </p:nvSpPr>
        <p:spPr>
          <a:xfrm>
            <a:off x="612775" y="1600200"/>
            <a:ext cx="8153400" cy="4495800"/>
          </a:xfrm>
        </p:spPr>
        <p:txBody>
          <a:bodyPr/>
          <a:lstStyle/>
          <a:p>
            <a:pPr eaLnBrk="1" hangingPunct="1"/>
            <a:r>
              <a:rPr lang="en-US" altLang="en-US"/>
              <a:t>The difference between the estimate produced when only some of the sampled units respond to the survey compared to when all of them respond</a:t>
            </a:r>
          </a:p>
          <a:p>
            <a:pPr eaLnBrk="1" hangingPunct="1"/>
            <a:r>
              <a:rPr lang="en-US" altLang="en-US"/>
              <a:t>It occurs if those who don’</a:t>
            </a:r>
            <a:r>
              <a:rPr lang="en-US" altLang="ja-JP"/>
              <a:t>t respond are different from those who do in a way that influences the estimate </a:t>
            </a:r>
          </a:p>
          <a:p>
            <a:pPr eaLnBrk="1" hangingPunct="1"/>
            <a:r>
              <a:rPr lang="en-US" altLang="en-US"/>
              <a:t>A high response rate can reduce the likelihood of nonresponse error, but it does not necessarily mean that there is low nonresponse error</a:t>
            </a:r>
          </a:p>
        </p:txBody>
      </p:sp>
      <p:sp>
        <p:nvSpPr>
          <p:cNvPr id="21507" name="Slide Number Placeholder 3">
            <a:extLst>
              <a:ext uri="{FF2B5EF4-FFF2-40B4-BE49-F238E27FC236}">
                <a16:creationId xmlns:a16="http://schemas.microsoft.com/office/drawing/2014/main" id="{54BBB2F1-4B76-C8B8-F60D-68EA39CF6A7D}"/>
              </a:ext>
            </a:extLst>
          </p:cNvPr>
          <p:cNvSpPr>
            <a:spLocks noGrp="1"/>
          </p:cNvSpPr>
          <p:nvPr>
            <p:ph type="sldNum" sz="quarter" idx="12"/>
          </p:nvPr>
        </p:nvSpPr>
        <p:spPr bwMode="auto">
          <a:xfrm>
            <a:off x="0" y="1271588"/>
            <a:ext cx="533400" cy="2444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92500" lnSpcReduction="10000"/>
          </a:bodyPr>
          <a:lstStyle>
            <a:defPPr>
              <a:defRPr lang="en-US"/>
            </a:defPPr>
            <a:lvl1pPr algn="ctr" rtl="0" fontAlgn="base">
              <a:spcBef>
                <a:spcPct val="0"/>
              </a:spcBef>
              <a:spcAft>
                <a:spcPct val="0"/>
              </a:spcAft>
              <a:defRPr sz="1400" b="1" kern="1200">
                <a:solidFill>
                  <a:srgbClr val="FFFFFF"/>
                </a:solidFill>
                <a:latin typeface="Tw Cen MT" panose="020B0602020104020603" pitchFamily="34" charset="0"/>
                <a:ea typeface="MS PGothic" panose="020B0600070205080204" pitchFamily="34" charset="-128"/>
                <a:cs typeface="Arial" panose="020B0604020202020204" pitchFamily="34" charset="0"/>
              </a:defRPr>
            </a:lvl1pPr>
            <a:lvl2pPr marL="457200" algn="l" rtl="0" fontAlgn="base">
              <a:spcBef>
                <a:spcPct val="0"/>
              </a:spcBef>
              <a:spcAft>
                <a:spcPct val="0"/>
              </a:spcAft>
              <a:defRPr kern="1200">
                <a:solidFill>
                  <a:schemeClr val="tx1"/>
                </a:solidFill>
                <a:latin typeface="Tw Cen MT" panose="020B0602020104020603" pitchFamily="34" charset="0"/>
                <a:ea typeface="MS PGothic" panose="020B0600070205080204" pitchFamily="34" charset="-128"/>
                <a:cs typeface="+mn-cs"/>
              </a:defRPr>
            </a:lvl2pPr>
            <a:lvl3pPr marL="914400" algn="l" rtl="0" fontAlgn="base">
              <a:spcBef>
                <a:spcPct val="0"/>
              </a:spcBef>
              <a:spcAft>
                <a:spcPct val="0"/>
              </a:spcAft>
              <a:defRPr kern="1200">
                <a:solidFill>
                  <a:schemeClr val="tx1"/>
                </a:solidFill>
                <a:latin typeface="Tw Cen MT" panose="020B0602020104020603" pitchFamily="34" charset="0"/>
                <a:ea typeface="MS PGothic" panose="020B0600070205080204" pitchFamily="34" charset="-128"/>
                <a:cs typeface="+mn-cs"/>
              </a:defRPr>
            </a:lvl3pPr>
            <a:lvl4pPr marL="1371600" algn="l" rtl="0" fontAlgn="base">
              <a:spcBef>
                <a:spcPct val="0"/>
              </a:spcBef>
              <a:spcAft>
                <a:spcPct val="0"/>
              </a:spcAft>
              <a:defRPr kern="1200">
                <a:solidFill>
                  <a:schemeClr val="tx1"/>
                </a:solidFill>
                <a:latin typeface="Tw Cen MT" panose="020B0602020104020603" pitchFamily="34" charset="0"/>
                <a:ea typeface="MS PGothic" panose="020B0600070205080204" pitchFamily="34" charset="-128"/>
                <a:cs typeface="+mn-cs"/>
              </a:defRPr>
            </a:lvl4pPr>
            <a:lvl5pPr marL="1828800" algn="l" rtl="0" fontAlgn="base">
              <a:spcBef>
                <a:spcPct val="0"/>
              </a:spcBef>
              <a:spcAft>
                <a:spcPct val="0"/>
              </a:spcAft>
              <a:defRPr kern="1200">
                <a:solidFill>
                  <a:schemeClr val="tx1"/>
                </a:solidFill>
                <a:latin typeface="Tw Cen MT" panose="020B0602020104020603"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Tw Cen MT" panose="020B0602020104020603"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Tw Cen MT" panose="020B0602020104020603"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Tw Cen MT" panose="020B0602020104020603"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Tw Cen MT" panose="020B0602020104020603" pitchFamily="34" charset="0"/>
                <a:ea typeface="MS PGothic" panose="020B0600070205080204" pitchFamily="34" charset="-128"/>
                <a:cs typeface="+mn-cs"/>
              </a:defRPr>
            </a:lvl9pPr>
          </a:lstStyle>
          <a:p>
            <a:pPr eaLnBrk="1" hangingPunct="1">
              <a:lnSpc>
                <a:spcPct val="80000"/>
              </a:lnSpc>
            </a:pPr>
            <a:fld id="{EDAE4D1F-3E22-4E30-845E-B78F7DCA3A1C}" type="slidenum">
              <a:rPr lang="en-US" altLang="en-US" smtClean="0"/>
              <a:pPr eaLnBrk="1" hangingPunct="1">
                <a:lnSpc>
                  <a:spcPct val="80000"/>
                </a:lnSpc>
              </a:pPr>
              <a:t>22</a:t>
            </a:fld>
            <a:endParaRPr lang="en-US" altLang="en-US" sz="1200">
              <a:solidFill>
                <a:srgbClr val="FFFFFF"/>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FE998-DFAE-805B-427E-75AF2099F452}"/>
              </a:ext>
            </a:extLst>
          </p:cNvPr>
          <p:cNvSpPr>
            <a:spLocks noGrp="1"/>
          </p:cNvSpPr>
          <p:nvPr>
            <p:ph type="title"/>
          </p:nvPr>
        </p:nvSpPr>
        <p:spPr/>
        <p:txBody>
          <a:bodyPr/>
          <a:lstStyle/>
          <a:p>
            <a:r>
              <a:rPr lang="en-US" altLang="en-US" dirty="0"/>
              <a:t>Nonresponse Error</a:t>
            </a:r>
            <a:endParaRPr lang="en-US" dirty="0"/>
          </a:p>
        </p:txBody>
      </p:sp>
      <p:sp>
        <p:nvSpPr>
          <p:cNvPr id="3" name="Content Placeholder 2">
            <a:extLst>
              <a:ext uri="{FF2B5EF4-FFF2-40B4-BE49-F238E27FC236}">
                <a16:creationId xmlns:a16="http://schemas.microsoft.com/office/drawing/2014/main" id="{A9922FD7-9604-E50C-DF07-5ABF44509487}"/>
              </a:ext>
            </a:extLst>
          </p:cNvPr>
          <p:cNvSpPr>
            <a:spLocks noGrp="1"/>
          </p:cNvSpPr>
          <p:nvPr>
            <p:ph idx="1"/>
          </p:nvPr>
        </p:nvSpPr>
        <p:spPr/>
        <p:txBody>
          <a:bodyPr/>
          <a:lstStyle/>
          <a:p>
            <a:r>
              <a:rPr lang="en-US" dirty="0"/>
              <a:t>Unit nonresponse occurs when a sample unit does not response to any part of the survey</a:t>
            </a:r>
          </a:p>
          <a:p>
            <a:r>
              <a:rPr lang="en-US" dirty="0"/>
              <a:t>Item nonresponse occurs when the survey is only partially completed, and some items are not answered</a:t>
            </a:r>
          </a:p>
          <a:p>
            <a:r>
              <a:rPr lang="en-US" dirty="0"/>
              <a:t>Incomplete response occurs when the response to open-ended question is incomplete or very short and inadequate</a:t>
            </a:r>
          </a:p>
          <a:p>
            <a:r>
              <a:rPr lang="en-US" dirty="0"/>
              <a:t>Panel attrition occurs when a sample unit is lost over the period of a longitudinal study</a:t>
            </a:r>
          </a:p>
        </p:txBody>
      </p:sp>
    </p:spTree>
    <p:extLst>
      <p:ext uri="{BB962C8B-B14F-4D97-AF65-F5344CB8AC3E}">
        <p14:creationId xmlns:p14="http://schemas.microsoft.com/office/powerpoint/2010/main" val="12774245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48D0DD-4914-6920-139A-632B70178417}"/>
              </a:ext>
            </a:extLst>
          </p:cNvPr>
          <p:cNvSpPr>
            <a:spLocks noGrp="1"/>
          </p:cNvSpPr>
          <p:nvPr>
            <p:ph type="title"/>
          </p:nvPr>
        </p:nvSpPr>
        <p:spPr/>
        <p:txBody>
          <a:bodyPr/>
          <a:lstStyle/>
          <a:p>
            <a:r>
              <a:rPr lang="en-US" altLang="en-US" dirty="0"/>
              <a:t>Nonresponse Error</a:t>
            </a:r>
            <a:endParaRPr lang="en-US" dirty="0"/>
          </a:p>
        </p:txBody>
      </p:sp>
      <p:sp>
        <p:nvSpPr>
          <p:cNvPr id="3" name="Content Placeholder 2">
            <a:extLst>
              <a:ext uri="{FF2B5EF4-FFF2-40B4-BE49-F238E27FC236}">
                <a16:creationId xmlns:a16="http://schemas.microsoft.com/office/drawing/2014/main" id="{CB271425-8D4D-9AB5-6137-07C9AC853526}"/>
              </a:ext>
            </a:extLst>
          </p:cNvPr>
          <p:cNvSpPr>
            <a:spLocks noGrp="1"/>
          </p:cNvSpPr>
          <p:nvPr>
            <p:ph idx="1"/>
          </p:nvPr>
        </p:nvSpPr>
        <p:spPr/>
        <p:txBody>
          <a:bodyPr/>
          <a:lstStyle/>
          <a:p>
            <a:r>
              <a:rPr lang="en-US" dirty="0"/>
              <a:t>Nonresponse bias for the sample mean is the product of the nonresponse rate (the proportion of eligible sample elements for which data are not collected) and the difference between the respondent and nonrespondent mean.</a:t>
            </a:r>
          </a:p>
          <a:p>
            <a:r>
              <a:rPr lang="en-US" dirty="0"/>
              <a:t>This indicates that response rates alone are not quality indicators</a:t>
            </a:r>
          </a:p>
          <a:p>
            <a:r>
              <a:rPr lang="en-US" dirty="0"/>
              <a:t>High response rate surveys can have high nonresponse bias </a:t>
            </a:r>
          </a:p>
          <a:p>
            <a:r>
              <a:rPr lang="en-US" dirty="0"/>
              <a:t>High response rates reduce the risk of nonresponse bias</a:t>
            </a:r>
          </a:p>
        </p:txBody>
      </p:sp>
    </p:spTree>
    <p:extLst>
      <p:ext uri="{BB962C8B-B14F-4D97-AF65-F5344CB8AC3E}">
        <p14:creationId xmlns:p14="http://schemas.microsoft.com/office/powerpoint/2010/main" val="39538608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itle 1">
            <a:extLst>
              <a:ext uri="{FF2B5EF4-FFF2-40B4-BE49-F238E27FC236}">
                <a16:creationId xmlns:a16="http://schemas.microsoft.com/office/drawing/2014/main" id="{BEFF38B6-3FB3-0CB3-B4AA-4D333B1CAC6D}"/>
              </a:ext>
            </a:extLst>
          </p:cNvPr>
          <p:cNvSpPr>
            <a:spLocks noGrp="1"/>
          </p:cNvSpPr>
          <p:nvPr>
            <p:ph type="title"/>
          </p:nvPr>
        </p:nvSpPr>
        <p:spPr>
          <a:xfrm>
            <a:off x="612775" y="228600"/>
            <a:ext cx="8153400" cy="990600"/>
          </a:xfrm>
        </p:spPr>
        <p:txBody>
          <a:bodyPr/>
          <a:lstStyle/>
          <a:p>
            <a:pPr eaLnBrk="1" hangingPunct="1"/>
            <a:r>
              <a:rPr lang="en-US" altLang="en-US" dirty="0"/>
              <a:t>Measurement Error</a:t>
            </a:r>
          </a:p>
        </p:txBody>
      </p:sp>
      <p:sp>
        <p:nvSpPr>
          <p:cNvPr id="3" name="Content Placeholder 2">
            <a:extLst>
              <a:ext uri="{FF2B5EF4-FFF2-40B4-BE49-F238E27FC236}">
                <a16:creationId xmlns:a16="http://schemas.microsoft.com/office/drawing/2014/main" id="{D170506E-B78C-33D9-E05A-09DAADC8E2B0}"/>
              </a:ext>
            </a:extLst>
          </p:cNvPr>
          <p:cNvSpPr>
            <a:spLocks noGrp="1"/>
          </p:cNvSpPr>
          <p:nvPr>
            <p:ph idx="1"/>
          </p:nvPr>
        </p:nvSpPr>
        <p:spPr>
          <a:xfrm>
            <a:off x="612775" y="1600200"/>
            <a:ext cx="8153400" cy="5029200"/>
          </a:xfrm>
        </p:spPr>
        <p:txBody>
          <a:bodyPr>
            <a:normAutofit/>
          </a:bodyPr>
          <a:lstStyle/>
          <a:p>
            <a:pPr eaLnBrk="1" fontAlgn="auto" hangingPunct="1">
              <a:spcAft>
                <a:spcPts val="0"/>
              </a:spcAft>
              <a:buFont typeface="Arial" panose="020B0604020202020204" pitchFamily="34" charset="0"/>
              <a:buChar char="•"/>
              <a:defRPr/>
            </a:pPr>
            <a:r>
              <a:rPr lang="en-US" dirty="0">
                <a:ea typeface="+mn-ea"/>
                <a:cs typeface="+mn-cs"/>
              </a:rPr>
              <a:t>The difference between the estimate produced and the true value because respondents gave inaccurate answers</a:t>
            </a:r>
          </a:p>
        </p:txBody>
      </p:sp>
      <p:sp>
        <p:nvSpPr>
          <p:cNvPr id="22531" name="Slide Number Placeholder 3">
            <a:extLst>
              <a:ext uri="{FF2B5EF4-FFF2-40B4-BE49-F238E27FC236}">
                <a16:creationId xmlns:a16="http://schemas.microsoft.com/office/drawing/2014/main" id="{F6227200-C0E9-C473-CF7A-121698B8DADF}"/>
              </a:ext>
            </a:extLst>
          </p:cNvPr>
          <p:cNvSpPr>
            <a:spLocks noGrp="1"/>
          </p:cNvSpPr>
          <p:nvPr>
            <p:ph type="sldNum" sz="quarter" idx="12"/>
          </p:nvPr>
        </p:nvSpPr>
        <p:spPr bwMode="auto">
          <a:xfrm>
            <a:off x="0" y="1271588"/>
            <a:ext cx="533400" cy="2444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92500" lnSpcReduction="10000"/>
          </a:bodyPr>
          <a:lstStyle>
            <a:defPPr>
              <a:defRPr lang="en-US"/>
            </a:defPPr>
            <a:lvl1pPr algn="ctr" rtl="0" fontAlgn="base">
              <a:spcBef>
                <a:spcPct val="0"/>
              </a:spcBef>
              <a:spcAft>
                <a:spcPct val="0"/>
              </a:spcAft>
              <a:defRPr sz="1400" b="1" kern="1200">
                <a:solidFill>
                  <a:srgbClr val="FFFFFF"/>
                </a:solidFill>
                <a:latin typeface="Tw Cen MT" panose="020B0602020104020603" pitchFamily="34" charset="0"/>
                <a:ea typeface="MS PGothic" panose="020B0600070205080204" pitchFamily="34" charset="-128"/>
                <a:cs typeface="Arial" panose="020B0604020202020204" pitchFamily="34" charset="0"/>
              </a:defRPr>
            </a:lvl1pPr>
            <a:lvl2pPr marL="457200" algn="l" rtl="0" fontAlgn="base">
              <a:spcBef>
                <a:spcPct val="0"/>
              </a:spcBef>
              <a:spcAft>
                <a:spcPct val="0"/>
              </a:spcAft>
              <a:defRPr kern="1200">
                <a:solidFill>
                  <a:schemeClr val="tx1"/>
                </a:solidFill>
                <a:latin typeface="Tw Cen MT" panose="020B0602020104020603" pitchFamily="34" charset="0"/>
                <a:ea typeface="MS PGothic" panose="020B0600070205080204" pitchFamily="34" charset="-128"/>
                <a:cs typeface="+mn-cs"/>
              </a:defRPr>
            </a:lvl2pPr>
            <a:lvl3pPr marL="914400" algn="l" rtl="0" fontAlgn="base">
              <a:spcBef>
                <a:spcPct val="0"/>
              </a:spcBef>
              <a:spcAft>
                <a:spcPct val="0"/>
              </a:spcAft>
              <a:defRPr kern="1200">
                <a:solidFill>
                  <a:schemeClr val="tx1"/>
                </a:solidFill>
                <a:latin typeface="Tw Cen MT" panose="020B0602020104020603" pitchFamily="34" charset="0"/>
                <a:ea typeface="MS PGothic" panose="020B0600070205080204" pitchFamily="34" charset="-128"/>
                <a:cs typeface="+mn-cs"/>
              </a:defRPr>
            </a:lvl3pPr>
            <a:lvl4pPr marL="1371600" algn="l" rtl="0" fontAlgn="base">
              <a:spcBef>
                <a:spcPct val="0"/>
              </a:spcBef>
              <a:spcAft>
                <a:spcPct val="0"/>
              </a:spcAft>
              <a:defRPr kern="1200">
                <a:solidFill>
                  <a:schemeClr val="tx1"/>
                </a:solidFill>
                <a:latin typeface="Tw Cen MT" panose="020B0602020104020603" pitchFamily="34" charset="0"/>
                <a:ea typeface="MS PGothic" panose="020B0600070205080204" pitchFamily="34" charset="-128"/>
                <a:cs typeface="+mn-cs"/>
              </a:defRPr>
            </a:lvl4pPr>
            <a:lvl5pPr marL="1828800" algn="l" rtl="0" fontAlgn="base">
              <a:spcBef>
                <a:spcPct val="0"/>
              </a:spcBef>
              <a:spcAft>
                <a:spcPct val="0"/>
              </a:spcAft>
              <a:defRPr kern="1200">
                <a:solidFill>
                  <a:schemeClr val="tx1"/>
                </a:solidFill>
                <a:latin typeface="Tw Cen MT" panose="020B0602020104020603"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Tw Cen MT" panose="020B0602020104020603"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Tw Cen MT" panose="020B0602020104020603"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Tw Cen MT" panose="020B0602020104020603"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Tw Cen MT" panose="020B0602020104020603" pitchFamily="34" charset="0"/>
                <a:ea typeface="MS PGothic" panose="020B0600070205080204" pitchFamily="34" charset="-128"/>
                <a:cs typeface="+mn-cs"/>
              </a:defRPr>
            </a:lvl9pPr>
          </a:lstStyle>
          <a:p>
            <a:pPr eaLnBrk="1" hangingPunct="1">
              <a:lnSpc>
                <a:spcPct val="80000"/>
              </a:lnSpc>
            </a:pPr>
            <a:fld id="{EDAE4D1F-3E22-4E30-845E-B78F7DCA3A1C}" type="slidenum">
              <a:rPr lang="en-US" altLang="en-US" smtClean="0"/>
              <a:pPr eaLnBrk="1" hangingPunct="1">
                <a:lnSpc>
                  <a:spcPct val="80000"/>
                </a:lnSpc>
              </a:pPr>
              <a:t>25</a:t>
            </a:fld>
            <a:endParaRPr lang="en-US" altLang="en-US" sz="1200">
              <a:solidFill>
                <a:srgbClr val="FFFFFF"/>
              </a:solidFill>
            </a:endParaRPr>
          </a:p>
        </p:txBody>
      </p:sp>
      <p:graphicFrame>
        <p:nvGraphicFramePr>
          <p:cNvPr id="2" name="Diagram 1">
            <a:extLst>
              <a:ext uri="{FF2B5EF4-FFF2-40B4-BE49-F238E27FC236}">
                <a16:creationId xmlns:a16="http://schemas.microsoft.com/office/drawing/2014/main" id="{A3E164F7-A3EC-5400-8A84-C06059DB995A}"/>
              </a:ext>
            </a:extLst>
          </p:cNvPr>
          <p:cNvGraphicFramePr/>
          <p:nvPr>
            <p:extLst>
              <p:ext uri="{D42A27DB-BD31-4B8C-83A1-F6EECF244321}">
                <p14:modId xmlns:p14="http://schemas.microsoft.com/office/powerpoint/2010/main" val="85084717"/>
              </p:ext>
            </p:extLst>
          </p:nvPr>
        </p:nvGraphicFramePr>
        <p:xfrm>
          <a:off x="2146453" y="3519948"/>
          <a:ext cx="4851093" cy="98629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994060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itle 1">
            <a:extLst>
              <a:ext uri="{FF2B5EF4-FFF2-40B4-BE49-F238E27FC236}">
                <a16:creationId xmlns:a16="http://schemas.microsoft.com/office/drawing/2014/main" id="{BEFF38B6-3FB3-0CB3-B4AA-4D333B1CAC6D}"/>
              </a:ext>
            </a:extLst>
          </p:cNvPr>
          <p:cNvSpPr>
            <a:spLocks noGrp="1"/>
          </p:cNvSpPr>
          <p:nvPr>
            <p:ph type="title"/>
          </p:nvPr>
        </p:nvSpPr>
        <p:spPr>
          <a:xfrm>
            <a:off x="612775" y="228600"/>
            <a:ext cx="8153400" cy="990600"/>
          </a:xfrm>
        </p:spPr>
        <p:txBody>
          <a:bodyPr/>
          <a:lstStyle/>
          <a:p>
            <a:pPr eaLnBrk="1" hangingPunct="1"/>
            <a:r>
              <a:rPr lang="en-US" altLang="en-US" dirty="0"/>
              <a:t>Measurement Error</a:t>
            </a:r>
          </a:p>
        </p:txBody>
      </p:sp>
      <p:sp>
        <p:nvSpPr>
          <p:cNvPr id="3" name="Content Placeholder 2">
            <a:extLst>
              <a:ext uri="{FF2B5EF4-FFF2-40B4-BE49-F238E27FC236}">
                <a16:creationId xmlns:a16="http://schemas.microsoft.com/office/drawing/2014/main" id="{D170506E-B78C-33D9-E05A-09DAADC8E2B0}"/>
              </a:ext>
            </a:extLst>
          </p:cNvPr>
          <p:cNvSpPr>
            <a:spLocks noGrp="1"/>
          </p:cNvSpPr>
          <p:nvPr>
            <p:ph idx="1"/>
          </p:nvPr>
        </p:nvSpPr>
        <p:spPr>
          <a:xfrm>
            <a:off x="612775" y="1600200"/>
            <a:ext cx="8153400" cy="5029200"/>
          </a:xfrm>
        </p:spPr>
        <p:txBody>
          <a:bodyPr>
            <a:normAutofit/>
          </a:bodyPr>
          <a:lstStyle/>
          <a:p>
            <a:pPr eaLnBrk="1" fontAlgn="auto" hangingPunct="1">
              <a:spcAft>
                <a:spcPts val="0"/>
              </a:spcAft>
              <a:buFont typeface="Arial" panose="020B0604020202020204" pitchFamily="34" charset="0"/>
              <a:buChar char="•"/>
              <a:defRPr/>
            </a:pPr>
            <a:r>
              <a:rPr lang="en-US" dirty="0">
                <a:ea typeface="+mn-ea"/>
                <a:cs typeface="+mn-cs"/>
              </a:rPr>
              <a:t>Respondents may be unwilling or unable to provide accurate answers for a variety of reasons: poor question design, survey mode effects, interviewer and respondent behavior, or data collection mistakes </a:t>
            </a:r>
          </a:p>
          <a:p>
            <a:pPr eaLnBrk="1" fontAlgn="auto" hangingPunct="1">
              <a:spcAft>
                <a:spcPts val="0"/>
              </a:spcAft>
              <a:buFont typeface="Arial" panose="020B0604020202020204" pitchFamily="34" charset="0"/>
              <a:buChar char="•"/>
              <a:defRPr/>
            </a:pPr>
            <a:r>
              <a:rPr lang="en-US" dirty="0">
                <a:ea typeface="+mn-ea"/>
                <a:cs typeface="+mn-cs"/>
              </a:rPr>
              <a:t>even if the question is a good way to measure a specific concept, there are many other ways in which measurement error can still occur</a:t>
            </a:r>
          </a:p>
        </p:txBody>
      </p:sp>
      <p:sp>
        <p:nvSpPr>
          <p:cNvPr id="22531" name="Slide Number Placeholder 3">
            <a:extLst>
              <a:ext uri="{FF2B5EF4-FFF2-40B4-BE49-F238E27FC236}">
                <a16:creationId xmlns:a16="http://schemas.microsoft.com/office/drawing/2014/main" id="{F6227200-C0E9-C473-CF7A-121698B8DADF}"/>
              </a:ext>
            </a:extLst>
          </p:cNvPr>
          <p:cNvSpPr>
            <a:spLocks noGrp="1"/>
          </p:cNvSpPr>
          <p:nvPr>
            <p:ph type="sldNum" sz="quarter" idx="12"/>
          </p:nvPr>
        </p:nvSpPr>
        <p:spPr bwMode="auto">
          <a:xfrm>
            <a:off x="0" y="1271588"/>
            <a:ext cx="533400" cy="2444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92500" lnSpcReduction="10000"/>
          </a:bodyPr>
          <a:lstStyle>
            <a:defPPr>
              <a:defRPr lang="en-US"/>
            </a:defPPr>
            <a:lvl1pPr algn="ctr" rtl="0" fontAlgn="base">
              <a:spcBef>
                <a:spcPct val="0"/>
              </a:spcBef>
              <a:spcAft>
                <a:spcPct val="0"/>
              </a:spcAft>
              <a:defRPr sz="1400" b="1" kern="1200">
                <a:solidFill>
                  <a:srgbClr val="FFFFFF"/>
                </a:solidFill>
                <a:latin typeface="Tw Cen MT" panose="020B0602020104020603" pitchFamily="34" charset="0"/>
                <a:ea typeface="MS PGothic" panose="020B0600070205080204" pitchFamily="34" charset="-128"/>
                <a:cs typeface="Arial" panose="020B0604020202020204" pitchFamily="34" charset="0"/>
              </a:defRPr>
            </a:lvl1pPr>
            <a:lvl2pPr marL="457200" algn="l" rtl="0" fontAlgn="base">
              <a:spcBef>
                <a:spcPct val="0"/>
              </a:spcBef>
              <a:spcAft>
                <a:spcPct val="0"/>
              </a:spcAft>
              <a:defRPr kern="1200">
                <a:solidFill>
                  <a:schemeClr val="tx1"/>
                </a:solidFill>
                <a:latin typeface="Tw Cen MT" panose="020B0602020104020603" pitchFamily="34" charset="0"/>
                <a:ea typeface="MS PGothic" panose="020B0600070205080204" pitchFamily="34" charset="-128"/>
                <a:cs typeface="+mn-cs"/>
              </a:defRPr>
            </a:lvl2pPr>
            <a:lvl3pPr marL="914400" algn="l" rtl="0" fontAlgn="base">
              <a:spcBef>
                <a:spcPct val="0"/>
              </a:spcBef>
              <a:spcAft>
                <a:spcPct val="0"/>
              </a:spcAft>
              <a:defRPr kern="1200">
                <a:solidFill>
                  <a:schemeClr val="tx1"/>
                </a:solidFill>
                <a:latin typeface="Tw Cen MT" panose="020B0602020104020603" pitchFamily="34" charset="0"/>
                <a:ea typeface="MS PGothic" panose="020B0600070205080204" pitchFamily="34" charset="-128"/>
                <a:cs typeface="+mn-cs"/>
              </a:defRPr>
            </a:lvl3pPr>
            <a:lvl4pPr marL="1371600" algn="l" rtl="0" fontAlgn="base">
              <a:spcBef>
                <a:spcPct val="0"/>
              </a:spcBef>
              <a:spcAft>
                <a:spcPct val="0"/>
              </a:spcAft>
              <a:defRPr kern="1200">
                <a:solidFill>
                  <a:schemeClr val="tx1"/>
                </a:solidFill>
                <a:latin typeface="Tw Cen MT" panose="020B0602020104020603" pitchFamily="34" charset="0"/>
                <a:ea typeface="MS PGothic" panose="020B0600070205080204" pitchFamily="34" charset="-128"/>
                <a:cs typeface="+mn-cs"/>
              </a:defRPr>
            </a:lvl4pPr>
            <a:lvl5pPr marL="1828800" algn="l" rtl="0" fontAlgn="base">
              <a:spcBef>
                <a:spcPct val="0"/>
              </a:spcBef>
              <a:spcAft>
                <a:spcPct val="0"/>
              </a:spcAft>
              <a:defRPr kern="1200">
                <a:solidFill>
                  <a:schemeClr val="tx1"/>
                </a:solidFill>
                <a:latin typeface="Tw Cen MT" panose="020B0602020104020603"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Tw Cen MT" panose="020B0602020104020603"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Tw Cen MT" panose="020B0602020104020603"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Tw Cen MT" panose="020B0602020104020603"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Tw Cen MT" panose="020B0602020104020603" pitchFamily="34" charset="0"/>
                <a:ea typeface="MS PGothic" panose="020B0600070205080204" pitchFamily="34" charset="-128"/>
                <a:cs typeface="+mn-cs"/>
              </a:defRPr>
            </a:lvl9pPr>
          </a:lstStyle>
          <a:p>
            <a:pPr eaLnBrk="1" hangingPunct="1">
              <a:lnSpc>
                <a:spcPct val="80000"/>
              </a:lnSpc>
            </a:pPr>
            <a:fld id="{EDAE4D1F-3E22-4E30-845E-B78F7DCA3A1C}" type="slidenum">
              <a:rPr lang="en-US" altLang="en-US" smtClean="0"/>
              <a:pPr eaLnBrk="1" hangingPunct="1">
                <a:lnSpc>
                  <a:spcPct val="80000"/>
                </a:lnSpc>
              </a:pPr>
              <a:t>26</a:t>
            </a:fld>
            <a:endParaRPr lang="en-US" altLang="en-US" sz="1200">
              <a:solidFill>
                <a:srgbClr val="FFFFFF"/>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p:cNvGraphicFramePr/>
          <p:nvPr/>
        </p:nvGraphicFramePr>
        <p:xfrm>
          <a:off x="942975" y="2343387"/>
          <a:ext cx="6580558" cy="29810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itle 3">
            <a:extLst>
              <a:ext uri="{FF2B5EF4-FFF2-40B4-BE49-F238E27FC236}">
                <a16:creationId xmlns:a16="http://schemas.microsoft.com/office/drawing/2014/main" id="{BF2FE3E0-A998-5040-F55A-E83EE534135E}"/>
              </a:ext>
            </a:extLst>
          </p:cNvPr>
          <p:cNvSpPr>
            <a:spLocks noGrp="1"/>
          </p:cNvSpPr>
          <p:nvPr>
            <p:ph type="title"/>
          </p:nvPr>
        </p:nvSpPr>
        <p:spPr/>
        <p:txBody>
          <a:bodyPr/>
          <a:lstStyle/>
          <a:p>
            <a:r>
              <a:rPr lang="en-US" dirty="0"/>
              <a:t>Measurement Error</a:t>
            </a:r>
          </a:p>
        </p:txBody>
      </p:sp>
    </p:spTree>
    <p:extLst>
      <p:ext uri="{BB962C8B-B14F-4D97-AF65-F5344CB8AC3E}">
        <p14:creationId xmlns:p14="http://schemas.microsoft.com/office/powerpoint/2010/main" val="659782507"/>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AD110-5D9E-7B6D-99D0-970B04C9BAC2}"/>
              </a:ext>
            </a:extLst>
          </p:cNvPr>
          <p:cNvSpPr>
            <a:spLocks noGrp="1"/>
          </p:cNvSpPr>
          <p:nvPr>
            <p:ph type="title"/>
          </p:nvPr>
        </p:nvSpPr>
        <p:spPr/>
        <p:txBody>
          <a:bodyPr/>
          <a:lstStyle/>
          <a:p>
            <a:r>
              <a:rPr lang="en-US" dirty="0"/>
              <a:t>Measurement Error</a:t>
            </a:r>
          </a:p>
        </p:txBody>
      </p:sp>
      <p:sp>
        <p:nvSpPr>
          <p:cNvPr id="3" name="Content Placeholder 2">
            <a:extLst>
              <a:ext uri="{FF2B5EF4-FFF2-40B4-BE49-F238E27FC236}">
                <a16:creationId xmlns:a16="http://schemas.microsoft.com/office/drawing/2014/main" id="{6D51CDBE-79B4-9754-FB1F-6A195C01D2B2}"/>
              </a:ext>
            </a:extLst>
          </p:cNvPr>
          <p:cNvSpPr>
            <a:spLocks noGrp="1"/>
          </p:cNvSpPr>
          <p:nvPr>
            <p:ph idx="1"/>
          </p:nvPr>
        </p:nvSpPr>
        <p:spPr/>
        <p:txBody>
          <a:bodyPr/>
          <a:lstStyle/>
          <a:p>
            <a:r>
              <a:rPr lang="en-US" dirty="0"/>
              <a:t>Standard error of measurement (SEM) is defined as the standard deviation of an individual’s observed scores around their true score</a:t>
            </a:r>
          </a:p>
          <a:p>
            <a:r>
              <a:rPr lang="en-US" dirty="0"/>
              <a:t>SEM is an index of the amount of inconsistency or error expected in an individual’s observed test score</a:t>
            </a:r>
          </a:p>
          <a:p>
            <a:r>
              <a:rPr lang="en-US" dirty="0"/>
              <a:t>SEM is an estimate of how much the individual’s observed test score might differ from the individual’s true test score</a:t>
            </a:r>
          </a:p>
          <a:p>
            <a:r>
              <a:rPr lang="en-US" dirty="0"/>
              <a:t>SEM can be used to quantify the amount of </a:t>
            </a:r>
            <a:r>
              <a:rPr lang="en-US" i="1" dirty="0"/>
              <a:t>random</a:t>
            </a:r>
            <a:r>
              <a:rPr lang="en-US" dirty="0"/>
              <a:t> measurement error</a:t>
            </a:r>
          </a:p>
        </p:txBody>
      </p:sp>
    </p:spTree>
    <p:extLst>
      <p:ext uri="{BB962C8B-B14F-4D97-AF65-F5344CB8AC3E}">
        <p14:creationId xmlns:p14="http://schemas.microsoft.com/office/powerpoint/2010/main" val="19121617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D09686-EB57-6A0D-E9F2-F55B504721F4}"/>
              </a:ext>
            </a:extLst>
          </p:cNvPr>
          <p:cNvSpPr>
            <a:spLocks noGrp="1"/>
          </p:cNvSpPr>
          <p:nvPr>
            <p:ph type="title"/>
          </p:nvPr>
        </p:nvSpPr>
        <p:spPr/>
        <p:txBody>
          <a:bodyPr/>
          <a:lstStyle/>
          <a:p>
            <a:r>
              <a:rPr lang="en-US" dirty="0"/>
              <a:t>Measurement Error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64E0F47-BB57-0567-7EA6-B3ABAAEE2C06}"/>
                  </a:ext>
                </a:extLst>
              </p:cNvPr>
              <p:cNvSpPr>
                <a:spLocks noGrp="1"/>
              </p:cNvSpPr>
              <p:nvPr>
                <p:ph idx="1"/>
              </p:nvPr>
            </p:nvSpPr>
            <p:spPr/>
            <p:txBody>
              <a:bodyPr/>
              <a:lstStyle/>
              <a:p>
                <a:r>
                  <a:rPr lang="en-US" dirty="0"/>
                  <a:t>Based on sample data, SEM can be calculated as</a:t>
                </a:r>
              </a:p>
              <a:p>
                <a:endParaRPr lang="en-US" i="1" dirty="0">
                  <a:latin typeface="Cambria Math" panose="02040503050406030204" pitchFamily="18" charset="0"/>
                </a:endParaRPr>
              </a:p>
              <a:p>
                <a:pPr marL="0" indent="0" algn="ctr">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𝑆𝐸𝑀</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𝑥</m:t>
                          </m:r>
                        </m:sub>
                      </m:sSub>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1−</m:t>
                          </m:r>
                          <m:sSub>
                            <m:sSubPr>
                              <m:ctrlPr>
                                <a:rPr lang="en-US" b="0" i="1" smtClean="0">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𝜌</m:t>
                              </m:r>
                            </m:e>
                            <m:sub>
                              <m:r>
                                <a:rPr lang="en-US" b="0" i="1" smtClean="0">
                                  <a:latin typeface="Cambria Math" panose="02040503050406030204" pitchFamily="18" charset="0"/>
                                </a:rPr>
                                <m:t>𝑥</m:t>
                              </m:r>
                            </m:sub>
                          </m:sSub>
                        </m:e>
                      </m:rad>
                    </m:oMath>
                  </m:oMathPara>
                </a14:m>
                <a:endParaRPr lang="en-US" dirty="0"/>
              </a:p>
              <a:p>
                <a:pPr marL="0" indent="0" algn="ctr">
                  <a:buNone/>
                </a:pPr>
                <a:endParaRPr lang="en-US" dirty="0"/>
              </a:p>
              <a:p>
                <a:pPr marL="0" indent="0">
                  <a:buNone/>
                </a:pPr>
                <a:r>
                  <a:rPr lang="en-US" dirty="0"/>
                  <a:t>where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𝑥</m:t>
                        </m:r>
                      </m:sub>
                    </m:sSub>
                  </m:oMath>
                </a14:m>
                <a:r>
                  <a:rPr lang="en-US" dirty="0"/>
                  <a:t> is the standard deviation of observed scores and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𝜌</m:t>
                        </m:r>
                      </m:e>
                      <m:sub>
                        <m:r>
                          <a:rPr lang="en-US" i="1">
                            <a:latin typeface="Cambria Math" panose="02040503050406030204" pitchFamily="18" charset="0"/>
                          </a:rPr>
                          <m:t>𝑥</m:t>
                        </m:r>
                      </m:sub>
                    </m:sSub>
                  </m:oMath>
                </a14:m>
                <a:r>
                  <a:rPr lang="en-US" dirty="0"/>
                  <a:t> is estimated reliability.</a:t>
                </a:r>
              </a:p>
            </p:txBody>
          </p:sp>
        </mc:Choice>
        <mc:Fallback xmlns="">
          <p:sp>
            <p:nvSpPr>
              <p:cNvPr id="3" name="Content Placeholder 2">
                <a:extLst>
                  <a:ext uri="{FF2B5EF4-FFF2-40B4-BE49-F238E27FC236}">
                    <a16:creationId xmlns:a16="http://schemas.microsoft.com/office/drawing/2014/main" id="{B64E0F47-BB57-0567-7EA6-B3ABAAEE2C06}"/>
                  </a:ext>
                </a:extLst>
              </p:cNvPr>
              <p:cNvSpPr>
                <a:spLocks noGrp="1" noRot="1" noChangeAspect="1" noMove="1" noResize="1" noEditPoints="1" noAdjustHandles="1" noChangeArrowheads="1" noChangeShapeType="1" noTextEdit="1"/>
              </p:cNvSpPr>
              <p:nvPr>
                <p:ph idx="1"/>
              </p:nvPr>
            </p:nvSpPr>
            <p:spPr>
              <a:blipFill>
                <a:blip r:embed="rId2"/>
                <a:stretch>
                  <a:fillRect l="-1569" t="-1385"/>
                </a:stretch>
              </a:blipFill>
            </p:spPr>
            <p:txBody>
              <a:bodyPr/>
              <a:lstStyle/>
              <a:p>
                <a:r>
                  <a:rPr lang="en-US">
                    <a:noFill/>
                  </a:rPr>
                  <a:t> </a:t>
                </a:r>
              </a:p>
            </p:txBody>
          </p:sp>
        </mc:Fallback>
      </mc:AlternateContent>
    </p:spTree>
    <p:extLst>
      <p:ext uri="{BB962C8B-B14F-4D97-AF65-F5344CB8AC3E}">
        <p14:creationId xmlns:p14="http://schemas.microsoft.com/office/powerpoint/2010/main" val="15281738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48BE0-E256-3105-1576-F8208B02A1BC}"/>
              </a:ext>
            </a:extLst>
          </p:cNvPr>
          <p:cNvSpPr>
            <a:spLocks noGrp="1"/>
          </p:cNvSpPr>
          <p:nvPr>
            <p:ph type="title"/>
          </p:nvPr>
        </p:nvSpPr>
        <p:spPr/>
        <p:txBody>
          <a:bodyPr/>
          <a:lstStyle/>
          <a:p>
            <a:r>
              <a:rPr lang="en-US" dirty="0"/>
              <a:t>Measurement Error</a:t>
            </a:r>
          </a:p>
        </p:txBody>
      </p:sp>
      <p:sp>
        <p:nvSpPr>
          <p:cNvPr id="3" name="Content Placeholder 2">
            <a:extLst>
              <a:ext uri="{FF2B5EF4-FFF2-40B4-BE49-F238E27FC236}">
                <a16:creationId xmlns:a16="http://schemas.microsoft.com/office/drawing/2014/main" id="{13FEE598-4DE0-9329-6BE3-B349E712FBC3}"/>
              </a:ext>
            </a:extLst>
          </p:cNvPr>
          <p:cNvSpPr>
            <a:spLocks noGrp="1"/>
          </p:cNvSpPr>
          <p:nvPr>
            <p:ph idx="1"/>
          </p:nvPr>
        </p:nvSpPr>
        <p:spPr/>
        <p:txBody>
          <a:bodyPr/>
          <a:lstStyle/>
          <a:p>
            <a:r>
              <a:rPr lang="en-US" dirty="0"/>
              <a:t>As an example, if the standard deviation for a sample of observed assessment scores was 15, and the reliability of the scale, as estimated using the coefficient alpha method was 0.75, then the SEM would be calculated as ________</a:t>
            </a:r>
          </a:p>
          <a:p>
            <a:r>
              <a:rPr lang="en-US" dirty="0"/>
              <a:t>After obtaining the SEM, a 95% confidence interval can be constructed for observed score x +/- 1.96SEM</a:t>
            </a:r>
          </a:p>
          <a:p>
            <a:r>
              <a:rPr lang="en-US" dirty="0"/>
              <a:t>The 95% confidence interval for an observed score of 87 is [________,_______]</a:t>
            </a:r>
          </a:p>
          <a:p>
            <a:endParaRPr lang="en-US" dirty="0"/>
          </a:p>
        </p:txBody>
      </p:sp>
    </p:spTree>
    <p:extLst>
      <p:ext uri="{BB962C8B-B14F-4D97-AF65-F5344CB8AC3E}">
        <p14:creationId xmlns:p14="http://schemas.microsoft.com/office/powerpoint/2010/main" val="33241988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559A7-3030-A74A-44CA-912B72B677A0}"/>
              </a:ext>
            </a:extLst>
          </p:cNvPr>
          <p:cNvSpPr>
            <a:spLocks noGrp="1"/>
          </p:cNvSpPr>
          <p:nvPr>
            <p:ph type="title"/>
          </p:nvPr>
        </p:nvSpPr>
        <p:spPr/>
        <p:txBody>
          <a:bodyPr/>
          <a:lstStyle/>
          <a:p>
            <a:r>
              <a:rPr lang="en-US" dirty="0"/>
              <a:t>Specification Error</a:t>
            </a:r>
          </a:p>
        </p:txBody>
      </p:sp>
      <p:sp>
        <p:nvSpPr>
          <p:cNvPr id="3" name="Content Placeholder 2">
            <a:extLst>
              <a:ext uri="{FF2B5EF4-FFF2-40B4-BE49-F238E27FC236}">
                <a16:creationId xmlns:a16="http://schemas.microsoft.com/office/drawing/2014/main" id="{E60F3E17-92DE-CAA4-50BB-52DEB0690404}"/>
              </a:ext>
            </a:extLst>
          </p:cNvPr>
          <p:cNvSpPr>
            <a:spLocks noGrp="1"/>
          </p:cNvSpPr>
          <p:nvPr>
            <p:ph idx="1"/>
          </p:nvPr>
        </p:nvSpPr>
        <p:spPr/>
        <p:txBody>
          <a:bodyPr/>
          <a:lstStyle/>
          <a:p>
            <a:r>
              <a:rPr lang="en-US" dirty="0"/>
              <a:t>Specification error may occur when there is a mismatch between what the survey is measuring and what it is intended to measure</a:t>
            </a:r>
          </a:p>
          <a:p>
            <a:r>
              <a:rPr lang="en-US" dirty="0"/>
              <a:t>When psychological tests are used, this is about the validity of the test scores</a:t>
            </a:r>
          </a:p>
          <a:p>
            <a:endParaRPr lang="en-US" dirty="0"/>
          </a:p>
        </p:txBody>
      </p:sp>
    </p:spTree>
    <p:extLst>
      <p:ext uri="{BB962C8B-B14F-4D97-AF65-F5344CB8AC3E}">
        <p14:creationId xmlns:p14="http://schemas.microsoft.com/office/powerpoint/2010/main" val="40232320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3DFFC-3368-9694-E17A-D6261138B829}"/>
              </a:ext>
            </a:extLst>
          </p:cNvPr>
          <p:cNvSpPr>
            <a:spLocks noGrp="1"/>
          </p:cNvSpPr>
          <p:nvPr>
            <p:ph type="title"/>
          </p:nvPr>
        </p:nvSpPr>
        <p:spPr/>
        <p:txBody>
          <a:bodyPr/>
          <a:lstStyle/>
          <a:p>
            <a:r>
              <a:rPr lang="en-US" dirty="0"/>
              <a:t>Specification Error</a:t>
            </a:r>
          </a:p>
        </p:txBody>
      </p:sp>
      <p:sp>
        <p:nvSpPr>
          <p:cNvPr id="3" name="Content Placeholder 2">
            <a:extLst>
              <a:ext uri="{FF2B5EF4-FFF2-40B4-BE49-F238E27FC236}">
                <a16:creationId xmlns:a16="http://schemas.microsoft.com/office/drawing/2014/main" id="{9D5C2FBC-3D43-F44E-26C9-51D1B70C4BF5}"/>
              </a:ext>
            </a:extLst>
          </p:cNvPr>
          <p:cNvSpPr>
            <a:spLocks noGrp="1"/>
          </p:cNvSpPr>
          <p:nvPr>
            <p:ph idx="1"/>
          </p:nvPr>
        </p:nvSpPr>
        <p:spPr/>
        <p:txBody>
          <a:bodyPr/>
          <a:lstStyle/>
          <a:p>
            <a:r>
              <a:rPr lang="en-US" dirty="0"/>
              <a:t>Bureau of Labor Statistics (BLS) defines people “on layoff” as those who are separated from a job and </a:t>
            </a:r>
            <a:r>
              <a:rPr lang="en-US" b="1" dirty="0"/>
              <a:t>await a recall </a:t>
            </a:r>
            <a:r>
              <a:rPr lang="en-US" dirty="0"/>
              <a:t>to return to that job.</a:t>
            </a:r>
          </a:p>
          <a:p>
            <a:r>
              <a:rPr lang="en-US" dirty="0"/>
              <a:t>‘‘Were you on layoff from a job?’’ (a previous version before 1994)</a:t>
            </a:r>
          </a:p>
          <a:p>
            <a:r>
              <a:rPr lang="en-US" dirty="0"/>
              <a:t>To many people, the term ‘‘layoff’’ could mean permanent termination</a:t>
            </a:r>
          </a:p>
          <a:p>
            <a:r>
              <a:rPr lang="en-US" dirty="0"/>
              <a:t>‘‘Has your employer given you a date to return to work?’’ and ‘‘Could you have returned to work if you had been recalled?’’ (new questions after 1994)</a:t>
            </a:r>
          </a:p>
        </p:txBody>
      </p:sp>
    </p:spTree>
    <p:extLst>
      <p:ext uri="{BB962C8B-B14F-4D97-AF65-F5344CB8AC3E}">
        <p14:creationId xmlns:p14="http://schemas.microsoft.com/office/powerpoint/2010/main" val="1238170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291616-1A74-D971-50B4-8574C75201B4}"/>
              </a:ext>
            </a:extLst>
          </p:cNvPr>
          <p:cNvSpPr>
            <a:spLocks noGrp="1"/>
          </p:cNvSpPr>
          <p:nvPr>
            <p:ph type="title"/>
          </p:nvPr>
        </p:nvSpPr>
        <p:spPr/>
        <p:txBody>
          <a:bodyPr/>
          <a:lstStyle/>
          <a:p>
            <a:r>
              <a:rPr lang="en-US" dirty="0"/>
              <a:t>Processing Errors</a:t>
            </a:r>
          </a:p>
        </p:txBody>
      </p:sp>
      <p:sp>
        <p:nvSpPr>
          <p:cNvPr id="3" name="Content Placeholder 2">
            <a:extLst>
              <a:ext uri="{FF2B5EF4-FFF2-40B4-BE49-F238E27FC236}">
                <a16:creationId xmlns:a16="http://schemas.microsoft.com/office/drawing/2014/main" id="{B79653DA-F14D-E151-54C0-F9E4C565191F}"/>
              </a:ext>
            </a:extLst>
          </p:cNvPr>
          <p:cNvSpPr>
            <a:spLocks noGrp="1"/>
          </p:cNvSpPr>
          <p:nvPr>
            <p:ph idx="1"/>
          </p:nvPr>
        </p:nvSpPr>
        <p:spPr/>
        <p:txBody>
          <a:bodyPr/>
          <a:lstStyle/>
          <a:p>
            <a:r>
              <a:rPr lang="en-US" dirty="0"/>
              <a:t>errors that arise during the data processing stage, including errors in the editing of data, data entry, coding, the assignment of survey weights, and the tabulation of survey data.</a:t>
            </a:r>
          </a:p>
          <a:p>
            <a:r>
              <a:rPr lang="en-US" dirty="0"/>
              <a:t>For open-ended items that are coded, coding error is another type of data processing error.</a:t>
            </a:r>
          </a:p>
        </p:txBody>
      </p:sp>
    </p:spTree>
    <p:extLst>
      <p:ext uri="{BB962C8B-B14F-4D97-AF65-F5344CB8AC3E}">
        <p14:creationId xmlns:p14="http://schemas.microsoft.com/office/powerpoint/2010/main" val="736149768"/>
      </p:ext>
    </p:extLst>
  </p:cSld>
  <p:clrMapOvr>
    <a:masterClrMapping/>
  </p:clrMapOvr>
</p:sld>
</file>

<file path=ppt/theme/theme1.xml><?xml version="1.0" encoding="utf-8"?>
<a:theme xmlns:a="http://schemas.openxmlformats.org/drawingml/2006/main" name="UMN-yellow">
  <a:themeElements>
    <a:clrScheme name="Custom 1">
      <a:dk1>
        <a:sysClr val="windowText" lastClr="000000"/>
      </a:dk1>
      <a:lt1>
        <a:sysClr val="window" lastClr="FFFFFF"/>
      </a:lt1>
      <a:dk2>
        <a:srgbClr val="1F497D"/>
      </a:dk2>
      <a:lt2>
        <a:srgbClr val="D7D9D7"/>
      </a:lt2>
      <a:accent1>
        <a:srgbClr val="7A0019"/>
      </a:accent1>
      <a:accent2>
        <a:srgbClr val="FFCC33"/>
      </a:accent2>
      <a:accent3>
        <a:srgbClr val="C82936"/>
      </a:accent3>
      <a:accent4>
        <a:srgbClr val="003D4C"/>
      </a:accent4>
      <a:accent5>
        <a:srgbClr val="79C9C7"/>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rgbClr val="000000"/>
            </a:solidFill>
            <a:effectLst/>
            <a:latin typeface="Arial" charset="0"/>
            <a:ea typeface="ＭＳ Ｐゴシック" charset="0"/>
            <a:cs typeface="ＭＳ Ｐゴシック"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rgbClr val="000000"/>
            </a:solidFill>
            <a:effectLst/>
            <a:latin typeface="Arial" charset="0"/>
            <a:ea typeface="ＭＳ Ｐゴシック" charset="0"/>
            <a:cs typeface="ＭＳ Ｐゴシック" charset="0"/>
          </a:defRPr>
        </a:defPPr>
      </a:lstStyle>
    </a:lnDef>
  </a:objectDefaults>
  <a:extraClrSchemeLst>
    <a:extraClrScheme>
      <a:clrScheme name="Office Them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ffice Them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ffice Them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ffice Theme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ffice Them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ffice Them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ffice Them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ffice Them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ffice Them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UMN-yellow" id="{DB2F7133-BA05-44A6-B8AE-F4ACBE427C16}" vid="{EB79D255-8E2F-4960-9A30-A0E24C4AC90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UMN-yellow</Template>
  <TotalTime>10956</TotalTime>
  <Words>2462</Words>
  <Application>Microsoft Macintosh PowerPoint</Application>
  <PresentationFormat>On-screen Show (4:3)</PresentationFormat>
  <Paragraphs>176</Paragraphs>
  <Slides>33</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33</vt:i4>
      </vt:variant>
    </vt:vector>
  </HeadingPairs>
  <TitlesOfParts>
    <vt:vector size="40" baseType="lpstr">
      <vt:lpstr>ＭＳ Ｐゴシック</vt:lpstr>
      <vt:lpstr>Aptos</vt:lpstr>
      <vt:lpstr>Arial</vt:lpstr>
      <vt:lpstr>Cambria Math</vt:lpstr>
      <vt:lpstr>Corbel</vt:lpstr>
      <vt:lpstr>Wingdings</vt:lpstr>
      <vt:lpstr>UMN-yellow</vt:lpstr>
      <vt:lpstr>Total Survey Error Framework</vt:lpstr>
      <vt:lpstr>Inferences in Survey</vt:lpstr>
      <vt:lpstr>Inferences in Survey</vt:lpstr>
      <vt:lpstr>Survey lifecycle from a design perspective</vt:lpstr>
      <vt:lpstr>Survey lifecycle from a quality perspective</vt:lpstr>
      <vt:lpstr>PowerPoint Presentation</vt:lpstr>
      <vt:lpstr>The Total Survey Error Framework</vt:lpstr>
      <vt:lpstr>The Total Survey Error Framework</vt:lpstr>
      <vt:lpstr>PowerPoint Presentation</vt:lpstr>
      <vt:lpstr>Mean Squared Error (MSE)</vt:lpstr>
      <vt:lpstr>Mean Squared Error (MSE)</vt:lpstr>
      <vt:lpstr>Mean Squared Error (MSE)</vt:lpstr>
      <vt:lpstr>Coverage Error</vt:lpstr>
      <vt:lpstr>Undercoverage</vt:lpstr>
      <vt:lpstr>Overcoverage</vt:lpstr>
      <vt:lpstr>Coverage Error</vt:lpstr>
      <vt:lpstr>Sampling Error</vt:lpstr>
      <vt:lpstr>Sampling Error</vt:lpstr>
      <vt:lpstr>Sampling Error</vt:lpstr>
      <vt:lpstr>Sampling Error</vt:lpstr>
      <vt:lpstr>Sampling Error</vt:lpstr>
      <vt:lpstr>Nonresponse Error</vt:lpstr>
      <vt:lpstr>Nonresponse Error</vt:lpstr>
      <vt:lpstr>Nonresponse Error</vt:lpstr>
      <vt:lpstr>Measurement Error</vt:lpstr>
      <vt:lpstr>Measurement Error</vt:lpstr>
      <vt:lpstr>Measurement Error</vt:lpstr>
      <vt:lpstr>Measurement Error</vt:lpstr>
      <vt:lpstr>Measurement Error</vt:lpstr>
      <vt:lpstr>Measurement Error</vt:lpstr>
      <vt:lpstr>Specification Error</vt:lpstr>
      <vt:lpstr>Specification Error</vt:lpstr>
      <vt:lpstr>Processing Errors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Wenchao Ma</dc:creator>
  <cp:lastModifiedBy>Wenchao Ma</cp:lastModifiedBy>
  <cp:revision>62</cp:revision>
  <dcterms:created xsi:type="dcterms:W3CDTF">2024-07-16T02:19:12Z</dcterms:created>
  <dcterms:modified xsi:type="dcterms:W3CDTF">2026-04-24T16:53:34Z</dcterms:modified>
</cp:coreProperties>
</file>