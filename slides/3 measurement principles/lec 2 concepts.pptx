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4" r:id="rId4"/>
    <p:sldId id="265" r:id="rId5"/>
    <p:sldId id="261" r:id="rId6"/>
    <p:sldId id="262" r:id="rId7"/>
    <p:sldId id="263" r:id="rId8"/>
    <p:sldId id="260" r:id="rId9"/>
    <p:sldId id="259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342946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685891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028837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371783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1714729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057674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2400620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2743566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8467" autoAdjust="0"/>
  </p:normalViewPr>
  <p:slideViewPr>
    <p:cSldViewPr snapToGrid="0">
      <p:cViewPr varScale="1">
        <p:scale>
          <a:sx n="72" d="100"/>
          <a:sy n="72" d="100"/>
        </p:scale>
        <p:origin x="268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2EE1A-1E57-4A26-BEAD-BA0F11D4AB95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25CEA-CE71-402A-A3BD-05AB42F89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94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25CEA-CE71-402A-A3BD-05AB42F89E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54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concept is an idea, a general mental formulation summarizing specific occurrences, such as “gender” representing masculinity and femininity, or “age” summarizing specific instances of the idea of time (youth, middle age, elderly).</a:t>
            </a:r>
          </a:p>
          <a:p>
            <a:endParaRPr lang="en-US" dirty="0"/>
          </a:p>
          <a:p>
            <a:r>
              <a:rPr lang="en-US" dirty="0"/>
              <a:t>A concept can be defined with a dictionary to produce a common usage of the word, and a search of scientific publications can result in a more suitable definition for the appropriate field of study. Otherwise, the meanings of concepts can be quite subjective and made more difficult to measure, especially for more abstract ones. </a:t>
            </a:r>
          </a:p>
          <a:p>
            <a:endParaRPr lang="en-US" dirty="0"/>
          </a:p>
          <a:p>
            <a:r>
              <a:rPr lang="en-US" dirty="0"/>
              <a:t>A good way to start a project, then, is to list the concepts you are interested in studying and then find relevant popular and scientific definitions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25CEA-CE71-402A-A3BD-05AB42F89E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95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concept is an idea, a general mental formulation summarizing specific occurrences, such as “gender” representing masculinity and femininity, or “age” summarizing specific instances of the idea of time (youth, middle age, elderly).</a:t>
            </a:r>
          </a:p>
          <a:p>
            <a:endParaRPr lang="en-US" dirty="0"/>
          </a:p>
          <a:p>
            <a:r>
              <a:rPr lang="en-US" dirty="0"/>
              <a:t>A concept can be defined with a dictionary to produce a common usage of the word, and a search of scientific publications can result in a more suitable definition for the appropriate field of study. Otherwise, the meanings of concepts can be quite subjective and made more difficult to measure, especially for more abstract ones. </a:t>
            </a:r>
          </a:p>
          <a:p>
            <a:endParaRPr lang="en-US" dirty="0"/>
          </a:p>
          <a:p>
            <a:r>
              <a:rPr lang="en-US" dirty="0"/>
              <a:t>A good way to start a project, then, is to list the concepts you are interested in studying and then find relevant popular and scientific definitions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25CEA-CE71-402A-A3BD-05AB42F89E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45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25CEA-CE71-402A-A3BD-05AB42F89E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04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25CEA-CE71-402A-A3BD-05AB42F89E3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25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RobotoCondensed-Regular"/>
              </a:rPr>
              <a:t>A common example of interval level measurement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RobotoCondensed-Regular"/>
              </a:rPr>
              <a:t>is temperature as measured by the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RobotoCondensed-Regular"/>
              </a:rPr>
              <a:t>Fahrenheit or Centigrade scales, in which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RobotoCondensed-Regular"/>
              </a:rPr>
              <a:t>the difference in heat between scale points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RobotoCondensed-Regular"/>
              </a:rPr>
              <a:t>of 50° and 51° is the same as the difference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RobotoCondensed-Regular"/>
              </a:rPr>
              <a:t>between 90° and 91°.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25CEA-CE71-402A-A3BD-05AB42F89E3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8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ranja/Documents/5-resources/ppt/2018%20ppt-with%20R/new/working%20files/graphics_4x3-M-gold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87400"/>
            <a:ext cx="8001000" cy="1143000"/>
          </a:xfrm>
        </p:spPr>
        <p:txBody>
          <a:bodyPr/>
          <a:lstStyle>
            <a:lvl1pPr algn="l">
              <a:defRPr>
                <a:solidFill>
                  <a:srgbClr val="7A0019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921000"/>
            <a:ext cx="8001000" cy="6096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indent="0">
              <a:buNone/>
              <a:defRPr sz="1800">
                <a:solidFill>
                  <a:srgbClr val="FFFFFF"/>
                </a:solidFill>
              </a:defRPr>
            </a:lvl2pPr>
            <a:lvl3pPr marL="685891" indent="0">
              <a:buNone/>
              <a:defRPr sz="1800">
                <a:solidFill>
                  <a:srgbClr val="FFFFFF"/>
                </a:solidFill>
              </a:defRPr>
            </a:lvl3pPr>
            <a:lvl4pPr marL="1028837" indent="0">
              <a:buNone/>
              <a:defRPr sz="1800">
                <a:solidFill>
                  <a:srgbClr val="FFFFFF"/>
                </a:solidFill>
              </a:defRPr>
            </a:lvl4pPr>
            <a:lvl5pPr marL="1371783" indent="0"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Presenter/unit/department name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530600"/>
            <a:ext cx="8001000" cy="508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indent="0">
              <a:buNone/>
              <a:defRPr sz="1200">
                <a:solidFill>
                  <a:srgbClr val="FFFFFF"/>
                </a:solidFill>
              </a:defRPr>
            </a:lvl2pPr>
            <a:lvl3pPr marL="685891" indent="0">
              <a:buNone/>
              <a:defRPr sz="1200">
                <a:solidFill>
                  <a:srgbClr val="FFFFFF"/>
                </a:solidFill>
              </a:defRPr>
            </a:lvl3pPr>
            <a:lvl4pPr marL="1028837" indent="0">
              <a:buNone/>
              <a:defRPr sz="1200">
                <a:solidFill>
                  <a:srgbClr val="FFFFFF"/>
                </a:solidFill>
              </a:defRPr>
            </a:lvl4pPr>
            <a:lvl5pPr marL="1371783" indent="0">
              <a:buNone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s_4x3-M-gold.png" descr="/Users/ranja/Documents/5-resources/ppt/2018 ppt-with R/new/working files/graphics_4x3-M-gold.png">
            <a:extLst>
              <a:ext uri="{FF2B5EF4-FFF2-40B4-BE49-F238E27FC236}">
                <a16:creationId xmlns:a16="http://schemas.microsoft.com/office/drawing/2014/main" id="{BD85783E-02E7-AD5B-1B73-2B1DBD3BD5B1}"/>
              </a:ext>
            </a:extLst>
          </p:cNvPr>
          <p:cNvPicPr>
            <a:picLocks noChangeAspect="1"/>
          </p:cNvPicPr>
          <p:nvPr/>
        </p:nvPicPr>
        <p:blipFill rotWithShape="1">
          <a:blip r:embed="rId2" r:link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0000"/>
          <a:stretch>
            <a:fillRect/>
          </a:stretch>
        </p:blipFill>
        <p:spPr>
          <a:xfrm>
            <a:off x="0" y="6387041"/>
            <a:ext cx="9144000" cy="466344"/>
          </a:xfrm>
          <a:prstGeom prst="rect">
            <a:avLst/>
          </a:prstGeom>
        </p:spPr>
      </p:pic>
      <p:pic>
        <p:nvPicPr>
          <p:cNvPr id="5" name="Picture 4" descr="A cartoon of a beaver with a large letter&#10;&#10;Description automatically generated">
            <a:extLst>
              <a:ext uri="{FF2B5EF4-FFF2-40B4-BE49-F238E27FC236}">
                <a16:creationId xmlns:a16="http://schemas.microsoft.com/office/drawing/2014/main" id="{2A03D404-5F99-3C9D-E8C4-48EF1EA45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4" y="4956044"/>
            <a:ext cx="2743206" cy="190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0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015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5"/>
            <a:ext cx="7772400" cy="1362075"/>
          </a:xfrm>
        </p:spPr>
        <p:txBody>
          <a:bodyPr anchor="t"/>
          <a:lstStyle>
            <a:lvl1pPr algn="l">
              <a:defRPr sz="3000" b="0" i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46" indent="0">
              <a:buNone/>
              <a:defRPr sz="1400"/>
            </a:lvl2pPr>
            <a:lvl3pPr marL="685891" indent="0">
              <a:buNone/>
              <a:defRPr sz="1200"/>
            </a:lvl3pPr>
            <a:lvl4pPr marL="1028837" indent="0">
              <a:buNone/>
              <a:defRPr sz="1100"/>
            </a:lvl4pPr>
            <a:lvl5pPr marL="1371783" indent="0">
              <a:buNone/>
              <a:defRPr sz="1100"/>
            </a:lvl5pPr>
            <a:lvl6pPr marL="1714729" indent="0">
              <a:buNone/>
              <a:defRPr sz="1100"/>
            </a:lvl6pPr>
            <a:lvl7pPr marL="2057674" indent="0">
              <a:buNone/>
              <a:defRPr sz="1100"/>
            </a:lvl7pPr>
            <a:lvl8pPr marL="2400620" indent="0">
              <a:buNone/>
              <a:defRPr sz="1100"/>
            </a:lvl8pPr>
            <a:lvl9pPr marL="2743566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893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52600"/>
            <a:ext cx="38100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38100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465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7"/>
            <a:ext cx="4040188" cy="6397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46" indent="0">
              <a:buNone/>
              <a:defRPr sz="1500" b="1"/>
            </a:lvl2pPr>
            <a:lvl3pPr marL="685891" indent="0">
              <a:buNone/>
              <a:defRPr sz="1400" b="1"/>
            </a:lvl3pPr>
            <a:lvl4pPr marL="1028837" indent="0">
              <a:buNone/>
              <a:defRPr sz="1200" b="1"/>
            </a:lvl4pPr>
            <a:lvl5pPr marL="1371783" indent="0">
              <a:buNone/>
              <a:defRPr sz="1200" b="1"/>
            </a:lvl5pPr>
            <a:lvl6pPr marL="1714729" indent="0">
              <a:buNone/>
              <a:defRPr sz="1200" b="1"/>
            </a:lvl6pPr>
            <a:lvl7pPr marL="2057674" indent="0">
              <a:buNone/>
              <a:defRPr sz="1200" b="1"/>
            </a:lvl7pPr>
            <a:lvl8pPr marL="2400620" indent="0">
              <a:buNone/>
              <a:defRPr sz="1200" b="1"/>
            </a:lvl8pPr>
            <a:lvl9pPr marL="274356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7"/>
            <a:ext cx="4041775" cy="6397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46" indent="0">
              <a:buNone/>
              <a:defRPr sz="1500" b="1"/>
            </a:lvl2pPr>
            <a:lvl3pPr marL="685891" indent="0">
              <a:buNone/>
              <a:defRPr sz="1400" b="1"/>
            </a:lvl3pPr>
            <a:lvl4pPr marL="1028837" indent="0">
              <a:buNone/>
              <a:defRPr sz="1200" b="1"/>
            </a:lvl4pPr>
            <a:lvl5pPr marL="1371783" indent="0">
              <a:buNone/>
              <a:defRPr sz="1200" b="1"/>
            </a:lvl5pPr>
            <a:lvl6pPr marL="1714729" indent="0">
              <a:buNone/>
              <a:defRPr sz="1200" b="1"/>
            </a:lvl6pPr>
            <a:lvl7pPr marL="2057674" indent="0">
              <a:buNone/>
              <a:defRPr sz="1200" b="1"/>
            </a:lvl7pPr>
            <a:lvl8pPr marL="2400620" indent="0">
              <a:buNone/>
              <a:defRPr sz="1200" b="1"/>
            </a:lvl8pPr>
            <a:lvl9pPr marL="274356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439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806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29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3"/>
            <a:ext cx="3008313" cy="116205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7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4"/>
            <a:ext cx="3008313" cy="4691063"/>
          </a:xfrm>
        </p:spPr>
        <p:txBody>
          <a:bodyPr/>
          <a:lstStyle>
            <a:lvl1pPr marL="0" indent="0">
              <a:buNone/>
              <a:defRPr sz="1100"/>
            </a:lvl1pPr>
            <a:lvl2pPr marL="342946" indent="0">
              <a:buNone/>
              <a:defRPr sz="900"/>
            </a:lvl2pPr>
            <a:lvl3pPr marL="685891" indent="0">
              <a:buNone/>
              <a:defRPr sz="800"/>
            </a:lvl3pPr>
            <a:lvl4pPr marL="1028837" indent="0">
              <a:buNone/>
              <a:defRPr sz="700"/>
            </a:lvl4pPr>
            <a:lvl5pPr marL="1371783" indent="0">
              <a:buNone/>
              <a:defRPr sz="700"/>
            </a:lvl5pPr>
            <a:lvl6pPr marL="1714729" indent="0">
              <a:buNone/>
              <a:defRPr sz="700"/>
            </a:lvl6pPr>
            <a:lvl7pPr marL="2057674" indent="0">
              <a:buNone/>
              <a:defRPr sz="700"/>
            </a:lvl7pPr>
            <a:lvl8pPr marL="2400620" indent="0">
              <a:buNone/>
              <a:defRPr sz="700"/>
            </a:lvl8pPr>
            <a:lvl9pPr marL="274356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954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4"/>
            <a:ext cx="5486400" cy="56673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46" indent="0">
              <a:buNone/>
              <a:defRPr sz="2100"/>
            </a:lvl2pPr>
            <a:lvl3pPr marL="685891" indent="0">
              <a:buNone/>
              <a:defRPr sz="1800"/>
            </a:lvl3pPr>
            <a:lvl4pPr marL="1028837" indent="0">
              <a:buNone/>
              <a:defRPr sz="1500"/>
            </a:lvl4pPr>
            <a:lvl5pPr marL="1371783" indent="0">
              <a:buNone/>
              <a:defRPr sz="1500"/>
            </a:lvl5pPr>
            <a:lvl6pPr marL="1714729" indent="0">
              <a:buNone/>
              <a:defRPr sz="1500"/>
            </a:lvl6pPr>
            <a:lvl7pPr marL="2057674" indent="0">
              <a:buNone/>
              <a:defRPr sz="1500"/>
            </a:lvl7pPr>
            <a:lvl8pPr marL="2400620" indent="0">
              <a:buNone/>
              <a:defRPr sz="1500"/>
            </a:lvl8pPr>
            <a:lvl9pPr marL="2743566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3"/>
          </a:xfrm>
        </p:spPr>
        <p:txBody>
          <a:bodyPr/>
          <a:lstStyle>
            <a:lvl1pPr marL="0" indent="0">
              <a:buNone/>
              <a:defRPr sz="1100"/>
            </a:lvl1pPr>
            <a:lvl2pPr marL="342946" indent="0">
              <a:buNone/>
              <a:defRPr sz="900"/>
            </a:lvl2pPr>
            <a:lvl3pPr marL="685891" indent="0">
              <a:buNone/>
              <a:defRPr sz="800"/>
            </a:lvl3pPr>
            <a:lvl4pPr marL="1028837" indent="0">
              <a:buNone/>
              <a:defRPr sz="700"/>
            </a:lvl4pPr>
            <a:lvl5pPr marL="1371783" indent="0">
              <a:buNone/>
              <a:defRPr sz="700"/>
            </a:lvl5pPr>
            <a:lvl6pPr marL="1714729" indent="0">
              <a:buNone/>
              <a:defRPr sz="700"/>
            </a:lvl6pPr>
            <a:lvl7pPr marL="2057674" indent="0">
              <a:buNone/>
              <a:defRPr sz="700"/>
            </a:lvl7pPr>
            <a:lvl8pPr marL="2400620" indent="0">
              <a:buNone/>
              <a:defRPr sz="700"/>
            </a:lvl8pPr>
            <a:lvl9pPr marL="274356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926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4520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1" y="304800"/>
            <a:ext cx="5676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947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file://localhost/Users/ranja/Documents/5-resources/ppt/2018%20ppt-with%20R/new/working%20files/graphics_4x3-M-gold.png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68589" tIns="34295" rIns="68589" bIns="3429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52600"/>
            <a:ext cx="777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68589" tIns="34295" rIns="68589" bIns="34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graphics_4x3-M-gold.png" descr="/Users/ranja/Documents/5-resources/ppt/2018 ppt-with R/new/working files/graphics_4x3-M-gold.png"/>
          <p:cNvPicPr>
            <a:picLocks noChangeAspect="1"/>
          </p:cNvPicPr>
          <p:nvPr/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87041"/>
            <a:ext cx="9144000" cy="4663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0">
          <a:solidFill>
            <a:srgbClr val="7A0019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5pPr>
      <a:lvl6pPr marL="342946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6pPr>
      <a:lvl7pPr marL="685891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7pPr>
      <a:lvl8pPr marL="1028837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8pPr>
      <a:lvl9pPr marL="1371783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257209" indent="-257209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•"/>
        <a:defRPr sz="24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557287" indent="-214341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–"/>
        <a:defRPr sz="2100">
          <a:solidFill>
            <a:srgbClr val="595959"/>
          </a:solidFill>
          <a:latin typeface="+mn-lt"/>
          <a:ea typeface="ＭＳ Ｐゴシック" charset="0"/>
        </a:defRPr>
      </a:lvl2pPr>
      <a:lvl3pPr marL="857364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•"/>
        <a:defRPr sz="1800">
          <a:solidFill>
            <a:srgbClr val="595959"/>
          </a:solidFill>
          <a:latin typeface="+mn-lt"/>
          <a:ea typeface="ＭＳ Ｐゴシック" charset="0"/>
        </a:defRPr>
      </a:lvl3pPr>
      <a:lvl4pPr marL="1200310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–"/>
        <a:defRPr sz="1500">
          <a:solidFill>
            <a:srgbClr val="595959"/>
          </a:solidFill>
          <a:latin typeface="+mn-lt"/>
          <a:ea typeface="ＭＳ Ｐゴシック" charset="0"/>
        </a:defRPr>
      </a:lvl4pPr>
      <a:lvl5pPr marL="1543256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rgbClr val="595959"/>
          </a:solidFill>
          <a:latin typeface="+mn-lt"/>
          <a:ea typeface="ＭＳ Ｐゴシック" charset="0"/>
        </a:defRPr>
      </a:lvl5pPr>
      <a:lvl6pPr marL="1886201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9147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2093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5039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46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91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37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83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729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74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620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566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norton.com/college/psych/psychsci/media/rosenberg.ht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5C8C-CF70-CF3F-9392-E243431AEC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tillium Web" panose="020F0502020204030204" pitchFamily="2" charset="0"/>
              </a:rPr>
              <a:t>EPSY 5244: Survey Design, Sampling, and Implementation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6C380-3DF9-E998-2C27-3E061F31EA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Wenchao Ma</a:t>
            </a:r>
          </a:p>
          <a:p>
            <a:r>
              <a:rPr lang="en-US" dirty="0"/>
              <a:t>University of Minnesota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68A85-7F52-262F-2784-53D0D2E9D0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11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7945B-3886-A6A3-A1D0-66BC4332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F072-2473-1C85-D1E5-E4BAB60B6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concept is an idea, a general mental formulation summarizing specific occurrences</a:t>
            </a:r>
          </a:p>
          <a:p>
            <a:r>
              <a:rPr lang="en-US" dirty="0"/>
              <a:t>Objective concepts</a:t>
            </a:r>
          </a:p>
          <a:p>
            <a:pPr lvl="1"/>
            <a:r>
              <a:rPr lang="en-US" dirty="0"/>
              <a:t>Often “observable”</a:t>
            </a:r>
          </a:p>
          <a:p>
            <a:pPr lvl="1"/>
            <a:r>
              <a:rPr lang="en-US" dirty="0"/>
              <a:t>Can be quantified in some objective way</a:t>
            </a:r>
          </a:p>
          <a:p>
            <a:pPr lvl="1"/>
            <a:r>
              <a:rPr lang="en-US" dirty="0"/>
              <a:t>Examples: Age, academic major, years of teaching experience</a:t>
            </a:r>
          </a:p>
        </p:txBody>
      </p:sp>
    </p:spTree>
    <p:extLst>
      <p:ext uri="{BB962C8B-B14F-4D97-AF65-F5344CB8AC3E}">
        <p14:creationId xmlns:p14="http://schemas.microsoft.com/office/powerpoint/2010/main" val="118013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7945B-3886-A6A3-A1D0-66BC4332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F072-2473-1C85-D1E5-E4BAB60B6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concept is an idea, a general mental formulation summarizing specific occurrences</a:t>
            </a:r>
          </a:p>
          <a:p>
            <a:r>
              <a:rPr lang="en-US" dirty="0"/>
              <a:t>Subjective concepts</a:t>
            </a:r>
          </a:p>
          <a:p>
            <a:pPr lvl="1"/>
            <a:r>
              <a:rPr lang="en-US" dirty="0"/>
              <a:t>Also referred to as “(psychological) constructs”</a:t>
            </a:r>
          </a:p>
          <a:p>
            <a:pPr lvl="1"/>
            <a:r>
              <a:rPr lang="en-US" dirty="0"/>
              <a:t>an underlying, unobservable personal attributes, traits, or characteristics of an individual</a:t>
            </a:r>
          </a:p>
          <a:p>
            <a:pPr lvl="1"/>
            <a:r>
              <a:rPr lang="en-US" dirty="0"/>
              <a:t>a label for a cluster or domain of related behaviors</a:t>
            </a:r>
          </a:p>
          <a:p>
            <a:pPr lvl="1"/>
            <a:r>
              <a:rPr lang="en-US" dirty="0"/>
              <a:t>often assumed to be an underlying cause of a cluster or domain of related behaviors</a:t>
            </a:r>
          </a:p>
          <a:p>
            <a:pPr lvl="1"/>
            <a:r>
              <a:rPr lang="en-US" dirty="0"/>
              <a:t>are hypothetical</a:t>
            </a:r>
          </a:p>
          <a:p>
            <a:pPr lvl="1"/>
            <a:r>
              <a:rPr lang="en-US" dirty="0"/>
              <a:t>Examples: Happiness, love, satisfaction, self esteem, agreeableness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5661-2ECD-4F68-63B8-AF3C05BA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10DD6-5A55-356D-9F9C-D7D9EDDE4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Concepts must be defined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96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787B-8815-0E77-2271-8EFE6E00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5915A-FAD9-B075-1D59-A9BC7EBBF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“Unemployment” defined?</a:t>
            </a:r>
          </a:p>
          <a:p>
            <a:r>
              <a:rPr lang="en-US" dirty="0"/>
              <a:t>People are classified as unemployed if they do not have a job, have actively looked for work in the prior 4 weeks, and are currently available for work. </a:t>
            </a:r>
          </a:p>
          <a:p>
            <a:r>
              <a:rPr lang="en-US" dirty="0"/>
              <a:t>Actively looking for work may consist of any of the following activities:</a:t>
            </a:r>
          </a:p>
          <a:p>
            <a:pPr lvl="1"/>
            <a:r>
              <a:rPr lang="en-US" dirty="0"/>
              <a:t>Contacting an employer directly or having a job interview</a:t>
            </a:r>
          </a:p>
          <a:p>
            <a:pPr lvl="1"/>
            <a:r>
              <a:rPr lang="en-US" dirty="0"/>
              <a:t>Submitting resumes or filling out applications</a:t>
            </a:r>
          </a:p>
          <a:p>
            <a:pPr lvl="1"/>
            <a:r>
              <a:rPr lang="en-US" dirty="0"/>
              <a:t>Placing or answering job advertisements</a:t>
            </a:r>
          </a:p>
          <a:p>
            <a:pPr lvl="1"/>
            <a:r>
              <a:rPr lang="en-US" dirty="0"/>
              <a:t>Checking union or professional registers</a:t>
            </a:r>
          </a:p>
          <a:p>
            <a:pPr lvl="1"/>
            <a:r>
              <a:rPr lang="en-US" dirty="0"/>
              <a:t>Some other means of active job search</a:t>
            </a:r>
          </a:p>
        </p:txBody>
      </p:sp>
    </p:spTree>
    <p:extLst>
      <p:ext uri="{BB962C8B-B14F-4D97-AF65-F5344CB8AC3E}">
        <p14:creationId xmlns:p14="http://schemas.microsoft.com/office/powerpoint/2010/main" val="3720101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AB5F-AAD5-7892-AE8B-ED98093D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78B77-FEA1-F761-8834-0E2D06F6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Passive methods of job search do not have the potential to connect job seekers with potential employers and therefore do not qualify as active job search methods. </a:t>
            </a:r>
          </a:p>
          <a:p>
            <a:r>
              <a:rPr lang="en-US" dirty="0"/>
              <a:t>Examples of passive methods include attending a job training program or course, or merely reading about job openings that are posted in newspapers or on the Internet.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99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C700-92FA-734F-6015-9A287BDA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3939-33F4-C29C-50DA-FEAD51227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Workers expecting to be recalled from temporary layoff are counted as unemployed whether or not they have engaged in a specific job seeking activity. </a:t>
            </a:r>
          </a:p>
          <a:p>
            <a:r>
              <a:rPr lang="en-US" dirty="0"/>
              <a:t>In all other cases, the individual must have been engaged in at least one active job search activity in the 4 weeks preceding the interview and be available for work (except for temporary illness).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0793E-E72A-C9BC-72DA-FA3EF1B423A1}"/>
              </a:ext>
            </a:extLst>
          </p:cNvPr>
          <p:cNvSpPr txBox="1"/>
          <p:nvPr/>
        </p:nvSpPr>
        <p:spPr>
          <a:xfrm>
            <a:off x="2803738" y="6019800"/>
            <a:ext cx="6340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https://www.bls.gov/cps/cps_htgm.htm#unemployed</a:t>
            </a:r>
          </a:p>
        </p:txBody>
      </p:sp>
    </p:spTree>
    <p:extLst>
      <p:ext uri="{BB962C8B-B14F-4D97-AF65-F5344CB8AC3E}">
        <p14:creationId xmlns:p14="http://schemas.microsoft.com/office/powerpoint/2010/main" val="3045593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89D16-AD7D-79A5-4004-62F13B96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8F1AA-AFD8-0183-E9AD-BDF24E80B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  <a:latin typeface="Lato" panose="020F0502020204030203" pitchFamily="34" charset="0"/>
              </a:rPr>
              <a:t>How do we define “self-esteem?”</a:t>
            </a:r>
            <a:endParaRPr 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ato" panose="020F0502020204030203" pitchFamily="34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Self-esteem is defined as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a positive or negative orientation toward oneself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an overall evaluation of one's worth or value.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People are motivated to have high self-esteem, and having it indicates positive self-regard, not egotism.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Self-esteem is only one component of the self-concept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72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CACA-3A9B-C3B5-9102-E1FF0D94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C76E-C34F-CAE4-FB4B-4859992C9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Concepts must be operationalized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619E9-8ED0-87B8-05A4-D7FDC15D3D93}"/>
              </a:ext>
            </a:extLst>
          </p:cNvPr>
          <p:cNvSpPr/>
          <p:nvPr/>
        </p:nvSpPr>
        <p:spPr bwMode="auto">
          <a:xfrm>
            <a:off x="954156" y="2971800"/>
            <a:ext cx="6533323" cy="914400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To measure unemployment, can we directly ask people if they are unemployed?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C335C3-6CF6-2ADA-30E4-3846AC20F530}"/>
              </a:ext>
            </a:extLst>
          </p:cNvPr>
          <p:cNvSpPr/>
          <p:nvPr/>
        </p:nvSpPr>
        <p:spPr bwMode="auto">
          <a:xfrm>
            <a:off x="954155" y="4800600"/>
            <a:ext cx="6533323" cy="914400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To measure self-esteem, can we directly ask people their self-esteem level?</a:t>
            </a:r>
          </a:p>
        </p:txBody>
      </p:sp>
    </p:spTree>
    <p:extLst>
      <p:ext uri="{BB962C8B-B14F-4D97-AF65-F5344CB8AC3E}">
        <p14:creationId xmlns:p14="http://schemas.microsoft.com/office/powerpoint/2010/main" val="46958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DE7E-87C7-21A2-08B1-6EE4EEDD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Operationalization of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EF3AA-BA5C-4800-086F-EE2025F67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Does anyone in this household have a business or a farm?</a:t>
            </a:r>
          </a:p>
          <a:p>
            <a:r>
              <a:rPr lang="en-US" sz="2000" dirty="0"/>
              <a:t>Last week, did you do any work for (either) pay (or profit)?</a:t>
            </a:r>
          </a:p>
          <a:p>
            <a:r>
              <a:rPr lang="en-US" sz="2000" dirty="0"/>
              <a:t>If the answer to question 1 is "yes" and the answer to question 2 is "no," the next question is:</a:t>
            </a:r>
          </a:p>
          <a:p>
            <a:r>
              <a:rPr lang="en-US" sz="2000" dirty="0"/>
              <a:t>Last week, did you do any unpaid work in the family business or farm?</a:t>
            </a:r>
          </a:p>
          <a:p>
            <a:r>
              <a:rPr lang="en-US" sz="2000" dirty="0"/>
              <a:t>For those who reply "no" to both questions 2 and 3, the next key questions used to determine employment status are:</a:t>
            </a:r>
          </a:p>
          <a:p>
            <a:r>
              <a:rPr lang="en-US" sz="2000" dirty="0"/>
              <a:t>Last week, (in addition to the business) did you have a job, either full or part time? Include any job from which you were temporarily absent.</a:t>
            </a:r>
          </a:p>
          <a:p>
            <a:r>
              <a:rPr lang="en-US" sz="20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F6E8D-0386-0A97-0DC4-C16D605F4742}"/>
              </a:ext>
            </a:extLst>
          </p:cNvPr>
          <p:cNvSpPr txBox="1"/>
          <p:nvPr/>
        </p:nvSpPr>
        <p:spPr>
          <a:xfrm>
            <a:off x="2803738" y="6019800"/>
            <a:ext cx="6340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https://www.bls.gov/cps/cps_htgm.htm#unemployed</a:t>
            </a:r>
          </a:p>
        </p:txBody>
      </p:sp>
    </p:spTree>
    <p:extLst>
      <p:ext uri="{BB962C8B-B14F-4D97-AF65-F5344CB8AC3E}">
        <p14:creationId xmlns:p14="http://schemas.microsoft.com/office/powerpoint/2010/main" val="20023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3885-40B5-BA32-373A-353AC0CDD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Operationalization of Self-Esteem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49F6C-DE34-9BCF-7285-4F2B6FCC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https://wwnorton.com/college/psych/psychsci/media/rosenberg.htm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940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08E6A-0CB0-C7C8-AD70-8A31898A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5AB62-3E61-41F9-BE5F-760CB81F3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of numerals to objects or events according to rules</a:t>
            </a:r>
          </a:p>
          <a:p>
            <a:r>
              <a:rPr lang="en-US" dirty="0"/>
              <a:t>When measuring construct, one assigns numbers to individuals</a:t>
            </a:r>
          </a:p>
          <a:p>
            <a:r>
              <a:rPr lang="en-US" dirty="0"/>
              <a:t>The number assigned represents the level of the construct for the individual</a:t>
            </a:r>
          </a:p>
          <a:p>
            <a:r>
              <a:rPr lang="en-US" dirty="0"/>
              <a:t>Four levels</a:t>
            </a:r>
          </a:p>
          <a:p>
            <a:pPr lvl="1"/>
            <a:r>
              <a:rPr lang="en-US" dirty="0"/>
              <a:t>Nominal</a:t>
            </a:r>
          </a:p>
          <a:p>
            <a:pPr lvl="1"/>
            <a:r>
              <a:rPr lang="en-US" dirty="0"/>
              <a:t>Ordinal</a:t>
            </a:r>
          </a:p>
          <a:p>
            <a:pPr lvl="1"/>
            <a:r>
              <a:rPr lang="en-US" dirty="0"/>
              <a:t>Interval</a:t>
            </a:r>
          </a:p>
          <a:p>
            <a:pPr lvl="1"/>
            <a:r>
              <a:rPr lang="en-US" dirty="0"/>
              <a:t>Ratio</a:t>
            </a:r>
          </a:p>
        </p:txBody>
      </p:sp>
    </p:spTree>
    <p:extLst>
      <p:ext uri="{BB962C8B-B14F-4D97-AF65-F5344CB8AC3E}">
        <p14:creationId xmlns:p14="http://schemas.microsoft.com/office/powerpoint/2010/main" val="3811462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DB04-692A-499A-63D6-D29556B5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- Nominal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3EA5C-2301-0BE4-979F-FD1E1C1EA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numbers represent distinguish different categories</a:t>
            </a:r>
          </a:p>
          <a:p>
            <a:r>
              <a:rPr lang="en-US" dirty="0"/>
              <a:t>Numbers do not have any real numerical meaning</a:t>
            </a:r>
          </a:p>
          <a:p>
            <a:r>
              <a:rPr lang="en-US" dirty="0"/>
              <a:t>It is not appropriate to add, subtract, or otherwise manipulate them numerically.</a:t>
            </a:r>
          </a:p>
        </p:txBody>
      </p:sp>
    </p:spTree>
    <p:extLst>
      <p:ext uri="{BB962C8B-B14F-4D97-AF65-F5344CB8AC3E}">
        <p14:creationId xmlns:p14="http://schemas.microsoft.com/office/powerpoint/2010/main" val="1858141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5823-E11E-40AE-A3CB-9136355E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- Ordinal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2B126-B59D-CB3E-5231-9C66B36C4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Numbers represent a rank order of the properties of objects</a:t>
            </a:r>
          </a:p>
          <a:p>
            <a:r>
              <a:rPr lang="en-US" dirty="0"/>
              <a:t>Although the numbers used in ordinal measurement imply rank order, the intervals between adjacent scale points are not assumed to be equal</a:t>
            </a:r>
          </a:p>
          <a:p>
            <a:r>
              <a:rPr lang="en-US" dirty="0"/>
              <a:t>Ordinal measures can be transformed in any way that preserves the original order</a:t>
            </a:r>
          </a:p>
        </p:txBody>
      </p:sp>
    </p:spTree>
    <p:extLst>
      <p:ext uri="{BB962C8B-B14F-4D97-AF65-F5344CB8AC3E}">
        <p14:creationId xmlns:p14="http://schemas.microsoft.com/office/powerpoint/2010/main" val="664839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2E6E-56FE-F491-E483-76287175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- Interval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D18AE-8988-95E6-0E67-14586C5C4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true zero</a:t>
            </a:r>
          </a:p>
          <a:p>
            <a:r>
              <a:rPr lang="en-US" dirty="0"/>
              <a:t>Appropriate to calculate nearly all parametric statistics, such as the mean, standard deviation, and correlation from interval level data</a:t>
            </a:r>
          </a:p>
        </p:txBody>
      </p:sp>
    </p:spTree>
    <p:extLst>
      <p:ext uri="{BB962C8B-B14F-4D97-AF65-F5344CB8AC3E}">
        <p14:creationId xmlns:p14="http://schemas.microsoft.com/office/powerpoint/2010/main" val="3123369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010F-0FBB-C6C9-94DF-775425E9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- Ratio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1AEA3-871A-A557-AE8E-35B0BA3B0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Distinctiveness, order, equal intervals and true zero point</a:t>
            </a:r>
          </a:p>
          <a:p>
            <a:r>
              <a:rPr lang="en-US" dirty="0"/>
              <a:t>A true zero point is one that represents the absolute lack of the property being measured</a:t>
            </a:r>
          </a:p>
        </p:txBody>
      </p:sp>
    </p:spTree>
    <p:extLst>
      <p:ext uri="{BB962C8B-B14F-4D97-AF65-F5344CB8AC3E}">
        <p14:creationId xmlns:p14="http://schemas.microsoft.com/office/powerpoint/2010/main" val="942885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1219-E2BB-D1ED-C960-3A22FFD0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A5891-BDDD-3C2A-EBBE-C7E678038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measurement scale are “Unemployment” and “Self-Esteem” on?</a:t>
            </a:r>
          </a:p>
        </p:txBody>
      </p:sp>
    </p:spTree>
    <p:extLst>
      <p:ext uri="{BB962C8B-B14F-4D97-AF65-F5344CB8AC3E}">
        <p14:creationId xmlns:p14="http://schemas.microsoft.com/office/powerpoint/2010/main" val="153013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29ED-5D56-DAFB-23E7-A61E6AAF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can you find psychological tests?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D1B02-5B0B-4F9D-3DC2-9C4D45B2E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Mental measurements yearbook (MMY) can be accessed from UofM library.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12D9D-5142-6373-5A43-129EFBA4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504" y="2662785"/>
            <a:ext cx="5128591" cy="364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14406"/>
      </p:ext>
    </p:extLst>
  </p:cSld>
  <p:clrMapOvr>
    <a:masterClrMapping/>
  </p:clrMapOvr>
</p:sld>
</file>

<file path=ppt/theme/theme1.xml><?xml version="1.0" encoding="utf-8"?>
<a:theme xmlns:a="http://schemas.openxmlformats.org/drawingml/2006/main" name="UMN-yellow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D7D9D7"/>
      </a:lt2>
      <a:accent1>
        <a:srgbClr val="7A0019"/>
      </a:accent1>
      <a:accent2>
        <a:srgbClr val="FFCC33"/>
      </a:accent2>
      <a:accent3>
        <a:srgbClr val="C82936"/>
      </a:accent3>
      <a:accent4>
        <a:srgbClr val="003D4C"/>
      </a:accent4>
      <a:accent5>
        <a:srgbClr val="79C9C7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UMN-yellow" id="{DB2F7133-BA05-44A6-B8AE-F4ACBE427C16}" vid="{EB79D255-8E2F-4960-9A30-A0E24C4AC9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UMN-yellow</Template>
  <TotalTime>9297</TotalTime>
  <Words>1145</Words>
  <Application>Microsoft Office PowerPoint</Application>
  <PresentationFormat>On-screen Show (4:3)</PresentationFormat>
  <Paragraphs>106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RobotoCondensed-Regular</vt:lpstr>
      <vt:lpstr>Aptos</vt:lpstr>
      <vt:lpstr>Arial</vt:lpstr>
      <vt:lpstr>Corbel</vt:lpstr>
      <vt:lpstr>Lato</vt:lpstr>
      <vt:lpstr>Titillium Web</vt:lpstr>
      <vt:lpstr>UMN-yellow</vt:lpstr>
      <vt:lpstr>EPSY 5244: Survey Design, Sampling, and Implementation</vt:lpstr>
      <vt:lpstr>Concepts</vt:lpstr>
      <vt:lpstr>Concepts</vt:lpstr>
      <vt:lpstr>PowerPoint Presentation</vt:lpstr>
      <vt:lpstr>Concepts</vt:lpstr>
      <vt:lpstr>Concepts</vt:lpstr>
      <vt:lpstr>Concepts</vt:lpstr>
      <vt:lpstr>Concepts</vt:lpstr>
      <vt:lpstr>Concepts</vt:lpstr>
      <vt:lpstr>Operationalization of Unemployment</vt:lpstr>
      <vt:lpstr>Operationalization of Self-Esteem</vt:lpstr>
      <vt:lpstr>Measurement</vt:lpstr>
      <vt:lpstr>Measurement - Nominal </vt:lpstr>
      <vt:lpstr>Measurement - Ordinal </vt:lpstr>
      <vt:lpstr>Measurement - Interval </vt:lpstr>
      <vt:lpstr>Measurement - Ratio </vt:lpstr>
      <vt:lpstr>PowerPoint Presentation</vt:lpstr>
      <vt:lpstr>Where can you find psychological tests?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Wenchao Ma</dc:creator>
  <cp:lastModifiedBy>Wenchao Ma</cp:lastModifiedBy>
  <cp:revision>36</cp:revision>
  <dcterms:created xsi:type="dcterms:W3CDTF">2024-07-16T02:19:12Z</dcterms:created>
  <dcterms:modified xsi:type="dcterms:W3CDTF">2024-08-09T02:04:34Z</dcterms:modified>
</cp:coreProperties>
</file>