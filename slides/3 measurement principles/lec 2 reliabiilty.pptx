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301" r:id="rId4"/>
    <p:sldId id="595" r:id="rId5"/>
    <p:sldId id="596" r:id="rId6"/>
    <p:sldId id="258" r:id="rId7"/>
    <p:sldId id="315" r:id="rId8"/>
    <p:sldId id="271" r:id="rId9"/>
    <p:sldId id="597" r:id="rId10"/>
    <p:sldId id="309" r:id="rId11"/>
    <p:sldId id="311" r:id="rId12"/>
    <p:sldId id="275" r:id="rId13"/>
    <p:sldId id="280" r:id="rId14"/>
    <p:sldId id="598" r:id="rId15"/>
    <p:sldId id="599" r:id="rId16"/>
    <p:sldId id="281" r:id="rId17"/>
    <p:sldId id="282" r:id="rId18"/>
    <p:sldId id="316" r:id="rId19"/>
    <p:sldId id="283" r:id="rId20"/>
    <p:sldId id="284" r:id="rId21"/>
    <p:sldId id="279" r:id="rId22"/>
    <p:sldId id="285" r:id="rId23"/>
    <p:sldId id="600" r:id="rId24"/>
    <p:sldId id="286" r:id="rId25"/>
    <p:sldId id="292" r:id="rId26"/>
    <p:sldId id="586" r:id="rId27"/>
    <p:sldId id="588" r:id="rId28"/>
    <p:sldId id="287" r:id="rId29"/>
    <p:sldId id="601" r:id="rId30"/>
    <p:sldId id="602" r:id="rId31"/>
  </p:sldIdLst>
  <p:sldSz cx="9144000" cy="6858000" type="screen4x3"/>
  <p:notesSz cx="6858000" cy="9144000"/>
  <p:defaultTextStyle>
    <a:defPPr>
      <a:defRPr lang="en-US"/>
    </a:defPPr>
    <a:lvl1pPr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1pPr>
    <a:lvl2pPr marL="342946"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2pPr>
    <a:lvl3pPr marL="685891"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3pPr>
    <a:lvl4pPr marL="1028837"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4pPr>
    <a:lvl5pPr marL="1371783" algn="l" rtl="0" eaLnBrk="0" fontAlgn="base" hangingPunct="0">
      <a:spcBef>
        <a:spcPct val="0"/>
      </a:spcBef>
      <a:spcAft>
        <a:spcPct val="0"/>
      </a:spcAft>
      <a:defRPr sz="1800" kern="1200">
        <a:solidFill>
          <a:schemeClr val="tx1"/>
        </a:solidFill>
        <a:latin typeface="Arial" charset="0"/>
        <a:ea typeface="ＭＳ Ｐゴシック" charset="0"/>
        <a:cs typeface="ＭＳ Ｐゴシック" charset="0"/>
      </a:defRPr>
    </a:lvl5pPr>
    <a:lvl6pPr marL="1714729" algn="l" defTabSz="342946" rtl="0" eaLnBrk="1" latinLnBrk="0" hangingPunct="1">
      <a:defRPr sz="1800" kern="1200">
        <a:solidFill>
          <a:schemeClr val="tx1"/>
        </a:solidFill>
        <a:latin typeface="Arial" charset="0"/>
        <a:ea typeface="ＭＳ Ｐゴシック" charset="0"/>
        <a:cs typeface="ＭＳ Ｐゴシック" charset="0"/>
      </a:defRPr>
    </a:lvl6pPr>
    <a:lvl7pPr marL="2057674" algn="l" defTabSz="342946" rtl="0" eaLnBrk="1" latinLnBrk="0" hangingPunct="1">
      <a:defRPr sz="1800" kern="1200">
        <a:solidFill>
          <a:schemeClr val="tx1"/>
        </a:solidFill>
        <a:latin typeface="Arial" charset="0"/>
        <a:ea typeface="ＭＳ Ｐゴシック" charset="0"/>
        <a:cs typeface="ＭＳ Ｐゴシック" charset="0"/>
      </a:defRPr>
    </a:lvl7pPr>
    <a:lvl8pPr marL="2400620" algn="l" defTabSz="342946" rtl="0" eaLnBrk="1" latinLnBrk="0" hangingPunct="1">
      <a:defRPr sz="1800" kern="1200">
        <a:solidFill>
          <a:schemeClr val="tx1"/>
        </a:solidFill>
        <a:latin typeface="Arial" charset="0"/>
        <a:ea typeface="ＭＳ Ｐゴシック" charset="0"/>
        <a:cs typeface="ＭＳ Ｐゴシック" charset="0"/>
      </a:defRPr>
    </a:lvl8pPr>
    <a:lvl9pPr marL="2743566" algn="l" defTabSz="342946" rtl="0" eaLnBrk="1" latinLnBrk="0" hangingPunct="1">
      <a:defRPr sz="18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68493" autoAdjust="0"/>
  </p:normalViewPr>
  <p:slideViewPr>
    <p:cSldViewPr snapToGrid="0">
      <p:cViewPr varScale="1">
        <p:scale>
          <a:sx n="85" d="100"/>
          <a:sy n="85" d="100"/>
        </p:scale>
        <p:origin x="2984"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38100" cap="rnd">
              <a:noFill/>
              <a:round/>
            </a:ln>
            <a:effectLst/>
          </c:spPr>
          <c:marker>
            <c:symbol val="circle"/>
            <c:size val="5"/>
            <c:spPr>
              <a:solidFill>
                <a:schemeClr val="accent1"/>
              </a:solidFill>
              <a:ln w="9525">
                <a:solidFill>
                  <a:schemeClr val="accent1"/>
                </a:solidFill>
              </a:ln>
              <a:effectLst/>
            </c:spPr>
          </c:marker>
          <c:xVal>
            <c:numRef>
              <c:f>Sheet1!$A$2:$A$31</c:f>
              <c:numCache>
                <c:formatCode>General</c:formatCode>
                <c:ptCount val="30"/>
                <c:pt idx="0">
                  <c:v>1</c:v>
                </c:pt>
                <c:pt idx="1">
                  <c:v>2</c:v>
                </c:pt>
                <c:pt idx="2">
                  <c:v>3</c:v>
                </c:pt>
                <c:pt idx="3">
                  <c:v>4</c:v>
                </c:pt>
                <c:pt idx="4">
                  <c:v>5</c:v>
                </c:pt>
                <c:pt idx="5">
                  <c:v>6</c:v>
                </c:pt>
                <c:pt idx="6">
                  <c:v>7</c:v>
                </c:pt>
                <c:pt idx="7">
                  <c:v>8</c:v>
                </c:pt>
                <c:pt idx="8">
                  <c:v>9</c:v>
                </c:pt>
                <c:pt idx="9">
                  <c:v>10</c:v>
                </c:pt>
                <c:pt idx="10">
                  <c:v>1</c:v>
                </c:pt>
                <c:pt idx="11">
                  <c:v>2</c:v>
                </c:pt>
                <c:pt idx="12">
                  <c:v>3</c:v>
                </c:pt>
                <c:pt idx="13">
                  <c:v>4</c:v>
                </c:pt>
                <c:pt idx="14">
                  <c:v>5</c:v>
                </c:pt>
                <c:pt idx="15">
                  <c:v>6</c:v>
                </c:pt>
                <c:pt idx="16">
                  <c:v>7</c:v>
                </c:pt>
                <c:pt idx="17">
                  <c:v>8</c:v>
                </c:pt>
                <c:pt idx="18">
                  <c:v>9</c:v>
                </c:pt>
                <c:pt idx="19">
                  <c:v>10</c:v>
                </c:pt>
                <c:pt idx="20">
                  <c:v>1.8280087143091075</c:v>
                </c:pt>
                <c:pt idx="21">
                  <c:v>2.9598118682509655</c:v>
                </c:pt>
                <c:pt idx="22">
                  <c:v>3.1486200270781133</c:v>
                </c:pt>
                <c:pt idx="23">
                  <c:v>4.8836828690105749</c:v>
                </c:pt>
                <c:pt idx="24">
                  <c:v>5.0876850032240286</c:v>
                </c:pt>
                <c:pt idx="25">
                  <c:v>6.3941115935710728</c:v>
                </c:pt>
                <c:pt idx="26">
                  <c:v>7.7347886902956891</c:v>
                </c:pt>
                <c:pt idx="27">
                  <c:v>8.3841844446379969</c:v>
                </c:pt>
                <c:pt idx="28">
                  <c:v>9.5205516839626547</c:v>
                </c:pt>
                <c:pt idx="29">
                  <c:v>10.093886250640178</c:v>
                </c:pt>
              </c:numCache>
            </c:numRef>
          </c:xVal>
          <c:yVal>
            <c:numRef>
              <c:f>Sheet1!$B$2:$B$31</c:f>
              <c:numCache>
                <c:formatCode>General</c:formatCode>
                <c:ptCount val="30"/>
                <c:pt idx="0">
                  <c:v>1.5287814622178686</c:v>
                </c:pt>
                <c:pt idx="1">
                  <c:v>2.7653440624655552</c:v>
                </c:pt>
                <c:pt idx="2">
                  <c:v>3.9139268485305641</c:v>
                </c:pt>
                <c:pt idx="3">
                  <c:v>4.4528734142872377</c:v>
                </c:pt>
                <c:pt idx="4">
                  <c:v>5.6862224934032817</c:v>
                </c:pt>
                <c:pt idx="5">
                  <c:v>6.4421863567692537</c:v>
                </c:pt>
                <c:pt idx="6">
                  <c:v>7.9452073456231656</c:v>
                </c:pt>
                <c:pt idx="7">
                  <c:v>8.1964914047457391</c:v>
                </c:pt>
                <c:pt idx="8">
                  <c:v>9.1538443233138906</c:v>
                </c:pt>
                <c:pt idx="9">
                  <c:v>10.666153821260737</c:v>
                </c:pt>
                <c:pt idx="10">
                  <c:v>1.6461593232125897</c:v>
                </c:pt>
                <c:pt idx="11">
                  <c:v>2.5248195703546061</c:v>
                </c:pt>
                <c:pt idx="12">
                  <c:v>3.4169031616811578</c:v>
                </c:pt>
                <c:pt idx="13">
                  <c:v>4.3121912291842328</c:v>
                </c:pt>
                <c:pt idx="14">
                  <c:v>5.0626482717519457</c:v>
                </c:pt>
                <c:pt idx="15">
                  <c:v>6.3168643829481237</c:v>
                </c:pt>
                <c:pt idx="16">
                  <c:v>7.1071026948206244</c:v>
                </c:pt>
                <c:pt idx="17">
                  <c:v>8.2080364321652617</c:v>
                </c:pt>
                <c:pt idx="18">
                  <c:v>9.002150553951525</c:v>
                </c:pt>
                <c:pt idx="19">
                  <c:v>10.373975460862731</c:v>
                </c:pt>
                <c:pt idx="20">
                  <c:v>2.2046007713603655</c:v>
                </c:pt>
                <c:pt idx="21">
                  <c:v>3.9451056735059162</c:v>
                </c:pt>
                <c:pt idx="22">
                  <c:v>3.6461125575604183</c:v>
                </c:pt>
                <c:pt idx="23">
                  <c:v>5.3006695753246902</c:v>
                </c:pt>
                <c:pt idx="24">
                  <c:v>5.8058293646284369</c:v>
                </c:pt>
                <c:pt idx="25">
                  <c:v>6.6227578146203321</c:v>
                </c:pt>
                <c:pt idx="26">
                  <c:v>7.9049161338499294</c:v>
                </c:pt>
                <c:pt idx="27">
                  <c:v>8.9720536508852948</c:v>
                </c:pt>
                <c:pt idx="28">
                  <c:v>10.040715746133912</c:v>
                </c:pt>
                <c:pt idx="29">
                  <c:v>10.307088354321007</c:v>
                </c:pt>
              </c:numCache>
            </c:numRef>
          </c:yVal>
          <c:smooth val="0"/>
          <c:extLst>
            <c:ext xmlns:c16="http://schemas.microsoft.com/office/drawing/2014/chart" uri="{C3380CC4-5D6E-409C-BE32-E72D297353CC}">
              <c16:uniqueId val="{00000000-34A6-4087-A33E-86F66B19D3A2}"/>
            </c:ext>
          </c:extLst>
        </c:ser>
        <c:dLbls>
          <c:showLegendKey val="0"/>
          <c:showVal val="0"/>
          <c:showCatName val="0"/>
          <c:showSerName val="0"/>
          <c:showPercent val="0"/>
          <c:showBubbleSize val="0"/>
        </c:dLbls>
        <c:axId val="2051921568"/>
        <c:axId val="172860224"/>
      </c:scatterChart>
      <c:valAx>
        <c:axId val="205192156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True</a:t>
                </a:r>
                <a:r>
                  <a:rPr lang="en-US" baseline="0" dirty="0"/>
                  <a:t> score (</a:t>
                </a:r>
                <a:r>
                  <a:rPr lang="en-US" i="1" baseline="0" dirty="0"/>
                  <a:t>T</a:t>
                </a:r>
                <a:r>
                  <a:rPr lang="en-US" baseline="0" dirty="0"/>
                  <a:t>)</a:t>
                </a:r>
                <a:endParaRPr lang="en-US"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2860224"/>
        <c:crosses val="autoZero"/>
        <c:crossBetween val="midCat"/>
      </c:valAx>
      <c:valAx>
        <c:axId val="1728602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Observed score (</a:t>
                </a:r>
                <a:r>
                  <a:rPr lang="en-US" b="1" i="1" dirty="0"/>
                  <a:t>X</a:t>
                </a:r>
                <a:r>
                  <a:rPr lang="en-US" dirty="0"/>
                  <a:t>)</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519215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502BB0-23F5-6E4A-8391-C8FCA4782349}" type="doc">
      <dgm:prSet loTypeId="urn:microsoft.com/office/officeart/2005/8/layout/equation1" loCatId="" qsTypeId="urn:microsoft.com/office/officeart/2005/8/quickstyle/simple4" qsCatId="simple" csTypeId="urn:microsoft.com/office/officeart/2005/8/colors/accent1_2" csCatId="accent1" phldr="1"/>
      <dgm:spPr/>
    </dgm:pt>
    <dgm:pt modelId="{CAD0D0AB-52B4-214E-9B7E-FC1B6DB60EFE}">
      <dgm:prSet phldrT="[Text]"/>
      <dgm:spPr/>
      <dgm:t>
        <a:bodyPr/>
        <a:lstStyle/>
        <a:p>
          <a:r>
            <a:rPr lang="en-US" i="1" dirty="0"/>
            <a:t>X</a:t>
          </a:r>
        </a:p>
      </dgm:t>
    </dgm:pt>
    <dgm:pt modelId="{4C259A85-9816-CE49-B2DD-AA619334ED6C}" type="parTrans" cxnId="{F4428E4C-40C6-524C-AC44-7F8828B7A30E}">
      <dgm:prSet/>
      <dgm:spPr/>
      <dgm:t>
        <a:bodyPr/>
        <a:lstStyle/>
        <a:p>
          <a:endParaRPr lang="en-US"/>
        </a:p>
      </dgm:t>
    </dgm:pt>
    <dgm:pt modelId="{9026DF05-9925-5F4E-BA20-4AA2D9F57F08}" type="sibTrans" cxnId="{F4428E4C-40C6-524C-AC44-7F8828B7A30E}">
      <dgm:prSet/>
      <dgm:spPr/>
      <dgm:t>
        <a:bodyPr/>
        <a:lstStyle/>
        <a:p>
          <a:endParaRPr lang="en-US" dirty="0"/>
        </a:p>
      </dgm:t>
    </dgm:pt>
    <dgm:pt modelId="{ED7C9DA7-8623-1049-80C4-CC22DA7E6A4E}">
      <dgm:prSet phldrT="[Text]"/>
      <dgm:spPr/>
      <dgm:t>
        <a:bodyPr/>
        <a:lstStyle/>
        <a:p>
          <a:r>
            <a:rPr lang="en-US" i="1" dirty="0"/>
            <a:t>T</a:t>
          </a:r>
        </a:p>
      </dgm:t>
    </dgm:pt>
    <dgm:pt modelId="{95D43225-0CCC-F442-B1BF-04CA679E7A0D}" type="parTrans" cxnId="{E0C60A97-58D7-FD46-96AB-CCDF5065FD77}">
      <dgm:prSet/>
      <dgm:spPr/>
      <dgm:t>
        <a:bodyPr/>
        <a:lstStyle/>
        <a:p>
          <a:endParaRPr lang="en-US"/>
        </a:p>
      </dgm:t>
    </dgm:pt>
    <dgm:pt modelId="{A6B6C7E0-017B-9548-9FB1-EAFBC27FA8B6}" type="sibTrans" cxnId="{E0C60A97-58D7-FD46-96AB-CCDF5065FD77}">
      <dgm:prSet/>
      <dgm:spPr/>
      <dgm:t>
        <a:bodyPr/>
        <a:lstStyle/>
        <a:p>
          <a:endParaRPr lang="en-US" dirty="0"/>
        </a:p>
      </dgm:t>
    </dgm:pt>
    <dgm:pt modelId="{FA2F6BEE-02CC-AB45-B2F6-3AEE699A31A2}">
      <dgm:prSet phldrT="[Text]"/>
      <dgm:spPr/>
      <dgm:t>
        <a:bodyPr/>
        <a:lstStyle/>
        <a:p>
          <a:r>
            <a:rPr lang="en-US" i="1" dirty="0"/>
            <a:t>E</a:t>
          </a:r>
        </a:p>
      </dgm:t>
    </dgm:pt>
    <dgm:pt modelId="{63532A3F-C5DB-1848-B422-C0D9C11AC9EF}" type="parTrans" cxnId="{0F78AEA8-6AA0-664D-A394-98AE78DD026C}">
      <dgm:prSet/>
      <dgm:spPr/>
      <dgm:t>
        <a:bodyPr/>
        <a:lstStyle/>
        <a:p>
          <a:endParaRPr lang="en-US"/>
        </a:p>
      </dgm:t>
    </dgm:pt>
    <dgm:pt modelId="{E8A2030F-0D38-4742-894C-37FA0CED299B}" type="sibTrans" cxnId="{0F78AEA8-6AA0-664D-A394-98AE78DD026C}">
      <dgm:prSet/>
      <dgm:spPr/>
      <dgm:t>
        <a:bodyPr/>
        <a:lstStyle/>
        <a:p>
          <a:endParaRPr lang="en-US"/>
        </a:p>
      </dgm:t>
    </dgm:pt>
    <dgm:pt modelId="{920C3595-FEB5-6842-BA59-5D9F527329FA}" type="pres">
      <dgm:prSet presAssocID="{9B502BB0-23F5-6E4A-8391-C8FCA4782349}" presName="linearFlow" presStyleCnt="0">
        <dgm:presLayoutVars>
          <dgm:dir/>
          <dgm:resizeHandles val="exact"/>
        </dgm:presLayoutVars>
      </dgm:prSet>
      <dgm:spPr/>
    </dgm:pt>
    <dgm:pt modelId="{A153D6DB-ADC1-1041-ABAD-9FA297C35A51}" type="pres">
      <dgm:prSet presAssocID="{CAD0D0AB-52B4-214E-9B7E-FC1B6DB60EFE}" presName="node" presStyleLbl="node1" presStyleIdx="0" presStyleCnt="3">
        <dgm:presLayoutVars>
          <dgm:bulletEnabled val="1"/>
        </dgm:presLayoutVars>
      </dgm:prSet>
      <dgm:spPr/>
    </dgm:pt>
    <dgm:pt modelId="{B85FD462-6846-734A-A711-B6CC66890935}" type="pres">
      <dgm:prSet presAssocID="{9026DF05-9925-5F4E-BA20-4AA2D9F57F08}" presName="spacerL" presStyleCnt="0"/>
      <dgm:spPr/>
    </dgm:pt>
    <dgm:pt modelId="{D7A55BEF-90AE-4E4F-BEF5-C9C6FCE1F744}" type="pres">
      <dgm:prSet presAssocID="{9026DF05-9925-5F4E-BA20-4AA2D9F57F08}" presName="sibTrans" presStyleLbl="sibTrans2D1" presStyleIdx="0" presStyleCnt="2" custLinFactX="254895" custLinFactNeighborX="300000" custLinFactNeighborY="-8013"/>
      <dgm:spPr/>
    </dgm:pt>
    <dgm:pt modelId="{C94C90CF-AC32-EB4C-A013-F9650371FFAA}" type="pres">
      <dgm:prSet presAssocID="{9026DF05-9925-5F4E-BA20-4AA2D9F57F08}" presName="spacerR" presStyleCnt="0"/>
      <dgm:spPr/>
    </dgm:pt>
    <dgm:pt modelId="{EB5E5D3D-0567-2B4E-A7E0-8F3C16D878CE}" type="pres">
      <dgm:prSet presAssocID="{ED7C9DA7-8623-1049-80C4-CC22DA7E6A4E}" presName="node" presStyleLbl="node1" presStyleIdx="1" presStyleCnt="3">
        <dgm:presLayoutVars>
          <dgm:bulletEnabled val="1"/>
        </dgm:presLayoutVars>
      </dgm:prSet>
      <dgm:spPr/>
    </dgm:pt>
    <dgm:pt modelId="{B6C56093-6CEB-644E-A62D-912466E12354}" type="pres">
      <dgm:prSet presAssocID="{A6B6C7E0-017B-9548-9FB1-EAFBC27FA8B6}" presName="spacerL" presStyleCnt="0"/>
      <dgm:spPr/>
    </dgm:pt>
    <dgm:pt modelId="{13B891B2-059D-174D-8E08-E78FFEDDE494}" type="pres">
      <dgm:prSet presAssocID="{A6B6C7E0-017B-9548-9FB1-EAFBC27FA8B6}" presName="sibTrans" presStyleLbl="sibTrans2D1" presStyleIdx="1" presStyleCnt="2" custLinFactX="-261251" custLinFactNeighborX="-300000" custLinFactNeighborY="1656"/>
      <dgm:spPr/>
    </dgm:pt>
    <dgm:pt modelId="{22646196-33B4-194E-88AA-3DF51773D5DC}" type="pres">
      <dgm:prSet presAssocID="{A6B6C7E0-017B-9548-9FB1-EAFBC27FA8B6}" presName="spacerR" presStyleCnt="0"/>
      <dgm:spPr/>
    </dgm:pt>
    <dgm:pt modelId="{EE603BC4-9010-5D4B-9A03-E80A74EA2877}" type="pres">
      <dgm:prSet presAssocID="{FA2F6BEE-02CC-AB45-B2F6-3AEE699A31A2}" presName="node" presStyleLbl="node1" presStyleIdx="2" presStyleCnt="3">
        <dgm:presLayoutVars>
          <dgm:bulletEnabled val="1"/>
        </dgm:presLayoutVars>
      </dgm:prSet>
      <dgm:spPr/>
    </dgm:pt>
  </dgm:ptLst>
  <dgm:cxnLst>
    <dgm:cxn modelId="{1216972E-8DBE-2B41-BC38-EA67CEA20C52}" type="presOf" srcId="{CAD0D0AB-52B4-214E-9B7E-FC1B6DB60EFE}" destId="{A153D6DB-ADC1-1041-ABAD-9FA297C35A51}" srcOrd="0" destOrd="0" presId="urn:microsoft.com/office/officeart/2005/8/layout/equation1"/>
    <dgm:cxn modelId="{F4428E4C-40C6-524C-AC44-7F8828B7A30E}" srcId="{9B502BB0-23F5-6E4A-8391-C8FCA4782349}" destId="{CAD0D0AB-52B4-214E-9B7E-FC1B6DB60EFE}" srcOrd="0" destOrd="0" parTransId="{4C259A85-9816-CE49-B2DD-AA619334ED6C}" sibTransId="{9026DF05-9925-5F4E-BA20-4AA2D9F57F08}"/>
    <dgm:cxn modelId="{C6FDA57E-A866-8148-B7E2-3A57228809E6}" type="presOf" srcId="{FA2F6BEE-02CC-AB45-B2F6-3AEE699A31A2}" destId="{EE603BC4-9010-5D4B-9A03-E80A74EA2877}" srcOrd="0" destOrd="0" presId="urn:microsoft.com/office/officeart/2005/8/layout/equation1"/>
    <dgm:cxn modelId="{EEED6680-DABC-9E4E-B8F3-03E6DA273FE3}" type="presOf" srcId="{A6B6C7E0-017B-9548-9FB1-EAFBC27FA8B6}" destId="{13B891B2-059D-174D-8E08-E78FFEDDE494}" srcOrd="0" destOrd="0" presId="urn:microsoft.com/office/officeart/2005/8/layout/equation1"/>
    <dgm:cxn modelId="{E0C60A97-58D7-FD46-96AB-CCDF5065FD77}" srcId="{9B502BB0-23F5-6E4A-8391-C8FCA4782349}" destId="{ED7C9DA7-8623-1049-80C4-CC22DA7E6A4E}" srcOrd="1" destOrd="0" parTransId="{95D43225-0CCC-F442-B1BF-04CA679E7A0D}" sibTransId="{A6B6C7E0-017B-9548-9FB1-EAFBC27FA8B6}"/>
    <dgm:cxn modelId="{5543409E-A007-AF47-B360-DF0C2CDD3E4E}" type="presOf" srcId="{9026DF05-9925-5F4E-BA20-4AA2D9F57F08}" destId="{D7A55BEF-90AE-4E4F-BEF5-C9C6FCE1F744}" srcOrd="0" destOrd="0" presId="urn:microsoft.com/office/officeart/2005/8/layout/equation1"/>
    <dgm:cxn modelId="{0F78AEA8-6AA0-664D-A394-98AE78DD026C}" srcId="{9B502BB0-23F5-6E4A-8391-C8FCA4782349}" destId="{FA2F6BEE-02CC-AB45-B2F6-3AEE699A31A2}" srcOrd="2" destOrd="0" parTransId="{63532A3F-C5DB-1848-B422-C0D9C11AC9EF}" sibTransId="{E8A2030F-0D38-4742-894C-37FA0CED299B}"/>
    <dgm:cxn modelId="{FF419CE1-5018-224C-BF56-A69093EF85ED}" type="presOf" srcId="{ED7C9DA7-8623-1049-80C4-CC22DA7E6A4E}" destId="{EB5E5D3D-0567-2B4E-A7E0-8F3C16D878CE}" srcOrd="0" destOrd="0" presId="urn:microsoft.com/office/officeart/2005/8/layout/equation1"/>
    <dgm:cxn modelId="{59CA9EEA-902A-3C40-9CE2-E0F92FD845DB}" type="presOf" srcId="{9B502BB0-23F5-6E4A-8391-C8FCA4782349}" destId="{920C3595-FEB5-6842-BA59-5D9F527329FA}" srcOrd="0" destOrd="0" presId="urn:microsoft.com/office/officeart/2005/8/layout/equation1"/>
    <dgm:cxn modelId="{7EFBE727-C6E9-D64D-AB47-4165DDD8A319}" type="presParOf" srcId="{920C3595-FEB5-6842-BA59-5D9F527329FA}" destId="{A153D6DB-ADC1-1041-ABAD-9FA297C35A51}" srcOrd="0" destOrd="0" presId="urn:microsoft.com/office/officeart/2005/8/layout/equation1"/>
    <dgm:cxn modelId="{CA4A729B-CCAC-E846-966F-58F3DDBD1218}" type="presParOf" srcId="{920C3595-FEB5-6842-BA59-5D9F527329FA}" destId="{B85FD462-6846-734A-A711-B6CC66890935}" srcOrd="1" destOrd="0" presId="urn:microsoft.com/office/officeart/2005/8/layout/equation1"/>
    <dgm:cxn modelId="{49F7D01A-EFFE-4A41-8276-FFBE5CE3E5AC}" type="presParOf" srcId="{920C3595-FEB5-6842-BA59-5D9F527329FA}" destId="{D7A55BEF-90AE-4E4F-BEF5-C9C6FCE1F744}" srcOrd="2" destOrd="0" presId="urn:microsoft.com/office/officeart/2005/8/layout/equation1"/>
    <dgm:cxn modelId="{95B01B08-6FCC-8843-B804-07B9EAB7CF8B}" type="presParOf" srcId="{920C3595-FEB5-6842-BA59-5D9F527329FA}" destId="{C94C90CF-AC32-EB4C-A013-F9650371FFAA}" srcOrd="3" destOrd="0" presId="urn:microsoft.com/office/officeart/2005/8/layout/equation1"/>
    <dgm:cxn modelId="{4EBDA1B7-F45A-8A46-98C2-EA4E453EA66F}" type="presParOf" srcId="{920C3595-FEB5-6842-BA59-5D9F527329FA}" destId="{EB5E5D3D-0567-2B4E-A7E0-8F3C16D878CE}" srcOrd="4" destOrd="0" presId="urn:microsoft.com/office/officeart/2005/8/layout/equation1"/>
    <dgm:cxn modelId="{785647D1-B9F5-0346-BEA7-E6CC64C696B3}" type="presParOf" srcId="{920C3595-FEB5-6842-BA59-5D9F527329FA}" destId="{B6C56093-6CEB-644E-A62D-912466E12354}" srcOrd="5" destOrd="0" presId="urn:microsoft.com/office/officeart/2005/8/layout/equation1"/>
    <dgm:cxn modelId="{2A7ADF27-D643-354D-9DF2-F7FC7895FBAC}" type="presParOf" srcId="{920C3595-FEB5-6842-BA59-5D9F527329FA}" destId="{13B891B2-059D-174D-8E08-E78FFEDDE494}" srcOrd="6" destOrd="0" presId="urn:microsoft.com/office/officeart/2005/8/layout/equation1"/>
    <dgm:cxn modelId="{7B185554-C79D-5547-BD83-4FC68BF08A12}" type="presParOf" srcId="{920C3595-FEB5-6842-BA59-5D9F527329FA}" destId="{22646196-33B4-194E-88AA-3DF51773D5DC}" srcOrd="7" destOrd="0" presId="urn:microsoft.com/office/officeart/2005/8/layout/equation1"/>
    <dgm:cxn modelId="{E7CB75C9-0983-CC42-B89E-44E257084E77}" type="presParOf" srcId="{920C3595-FEB5-6842-BA59-5D9F527329FA}" destId="{EE603BC4-9010-5D4B-9A03-E80A74EA2877}" srcOrd="8" destOrd="0" presId="urn:microsoft.com/office/officeart/2005/8/layout/equati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64D59B-FDAE-D340-A9E6-DA58842CC32C}" type="doc">
      <dgm:prSet loTypeId="urn:microsoft.com/office/officeart/2005/8/layout/vList5" loCatId="" qsTypeId="urn:microsoft.com/office/officeart/2005/8/quickstyle/simple2" qsCatId="simple" csTypeId="urn:microsoft.com/office/officeart/2005/8/colors/colorful3" csCatId="colorful" phldr="1"/>
      <dgm:spPr/>
      <dgm:t>
        <a:bodyPr/>
        <a:lstStyle/>
        <a:p>
          <a:endParaRPr lang="en-US"/>
        </a:p>
      </dgm:t>
    </dgm:pt>
    <dgm:pt modelId="{341B6102-0F06-C845-AD32-4166D139A504}">
      <dgm:prSet phldrT="[Text]"/>
      <dgm:spPr/>
      <dgm:t>
        <a:bodyPr/>
        <a:lstStyle/>
        <a:p>
          <a:r>
            <a:rPr lang="en-US" dirty="0"/>
            <a:t>Random error</a:t>
          </a:r>
        </a:p>
      </dgm:t>
    </dgm:pt>
    <dgm:pt modelId="{3520556F-BF6A-FE46-BD5A-A8C2FF3FD7D4}" type="parTrans" cxnId="{E3410956-1ED5-824F-9049-A19DC3E9B274}">
      <dgm:prSet/>
      <dgm:spPr/>
      <dgm:t>
        <a:bodyPr/>
        <a:lstStyle/>
        <a:p>
          <a:endParaRPr lang="en-US"/>
        </a:p>
      </dgm:t>
    </dgm:pt>
    <dgm:pt modelId="{3FCA53CE-866B-0F41-8B51-E9D19E409EE3}" type="sibTrans" cxnId="{E3410956-1ED5-824F-9049-A19DC3E9B274}">
      <dgm:prSet/>
      <dgm:spPr/>
      <dgm:t>
        <a:bodyPr/>
        <a:lstStyle/>
        <a:p>
          <a:endParaRPr lang="en-US"/>
        </a:p>
      </dgm:t>
    </dgm:pt>
    <dgm:pt modelId="{7D2654D3-CE6D-7F4B-BB5E-F88C2BE85ED0}">
      <dgm:prSet phldrT="[Text]"/>
      <dgm:spPr/>
      <dgm:t>
        <a:bodyPr/>
        <a:lstStyle/>
        <a:p>
          <a:r>
            <a:rPr lang="en-US" dirty="0"/>
            <a:t>Systematic error</a:t>
          </a:r>
        </a:p>
      </dgm:t>
    </dgm:pt>
    <dgm:pt modelId="{BF80939B-3747-1C47-849D-3B0238ABF634}" type="parTrans" cxnId="{54D142F6-BC69-2344-A269-4F8C4E766B1D}">
      <dgm:prSet/>
      <dgm:spPr/>
      <dgm:t>
        <a:bodyPr/>
        <a:lstStyle/>
        <a:p>
          <a:endParaRPr lang="en-US"/>
        </a:p>
      </dgm:t>
    </dgm:pt>
    <dgm:pt modelId="{7CCA0EAD-A7FF-9543-A22B-BB48B1C5F065}" type="sibTrans" cxnId="{54D142F6-BC69-2344-A269-4F8C4E766B1D}">
      <dgm:prSet/>
      <dgm:spPr/>
      <dgm:t>
        <a:bodyPr/>
        <a:lstStyle/>
        <a:p>
          <a:endParaRPr lang="en-US"/>
        </a:p>
      </dgm:t>
    </dgm:pt>
    <dgm:pt modelId="{A3A68BAA-D678-564C-9392-1591437284FD}">
      <dgm:prSet phldrT="[Text]"/>
      <dgm:spPr/>
      <dgm:t>
        <a:bodyPr/>
        <a:lstStyle/>
        <a:p>
          <a:r>
            <a:rPr lang="en-US" dirty="0"/>
            <a:t>Random in nature</a:t>
          </a:r>
        </a:p>
      </dgm:t>
    </dgm:pt>
    <dgm:pt modelId="{9031FAC8-A9F7-324C-8A98-447130A7DACE}" type="parTrans" cxnId="{4753E822-4244-A743-B32E-6EFAA9B64BCE}">
      <dgm:prSet/>
      <dgm:spPr/>
      <dgm:t>
        <a:bodyPr/>
        <a:lstStyle/>
        <a:p>
          <a:endParaRPr lang="en-US"/>
        </a:p>
      </dgm:t>
    </dgm:pt>
    <dgm:pt modelId="{492DBC69-E6D9-D84C-B10C-617DC3549DCB}" type="sibTrans" cxnId="{4753E822-4244-A743-B32E-6EFAA9B64BCE}">
      <dgm:prSet/>
      <dgm:spPr/>
      <dgm:t>
        <a:bodyPr/>
        <a:lstStyle/>
        <a:p>
          <a:endParaRPr lang="en-US"/>
        </a:p>
      </dgm:t>
    </dgm:pt>
    <dgm:pt modelId="{443538B0-2FAE-B848-B95C-8663D18BC1F4}">
      <dgm:prSet phldrT="[Text]"/>
      <dgm:spPr/>
      <dgm:t>
        <a:bodyPr/>
        <a:lstStyle/>
        <a:p>
          <a:r>
            <a:rPr lang="en-US" dirty="0"/>
            <a:t>Occurs when source of error always increase or decrease a true score</a:t>
          </a:r>
        </a:p>
      </dgm:t>
    </dgm:pt>
    <dgm:pt modelId="{04A49004-F404-C141-8308-462B1DF5F9B6}" type="parTrans" cxnId="{B448B60C-6BE9-BA47-B7BE-8BEA5A6B74B6}">
      <dgm:prSet/>
      <dgm:spPr/>
      <dgm:t>
        <a:bodyPr/>
        <a:lstStyle/>
        <a:p>
          <a:endParaRPr lang="en-US"/>
        </a:p>
      </dgm:t>
    </dgm:pt>
    <dgm:pt modelId="{06C0A859-0501-3E42-8689-B51830DB2940}" type="sibTrans" cxnId="{B448B60C-6BE9-BA47-B7BE-8BEA5A6B74B6}">
      <dgm:prSet/>
      <dgm:spPr/>
      <dgm:t>
        <a:bodyPr/>
        <a:lstStyle/>
        <a:p>
          <a:endParaRPr lang="en-US"/>
        </a:p>
      </dgm:t>
    </dgm:pt>
    <dgm:pt modelId="{7F91351C-52D0-5349-B53E-20B2E2DD0669}">
      <dgm:prSet phldrT="[Text]"/>
      <dgm:spPr/>
      <dgm:t>
        <a:bodyPr/>
        <a:lstStyle/>
        <a:p>
          <a:r>
            <a:rPr lang="en-US" dirty="0"/>
            <a:t>Will increase and decrease a person’s score by exactly the same amount with infinite testing</a:t>
          </a:r>
        </a:p>
      </dgm:t>
    </dgm:pt>
    <dgm:pt modelId="{00417314-2FE5-BA46-94A0-1B09D1ED3C87}" type="parTrans" cxnId="{B0E1D04F-7916-CA46-A4A7-8EC68406E560}">
      <dgm:prSet/>
      <dgm:spPr/>
      <dgm:t>
        <a:bodyPr/>
        <a:lstStyle/>
        <a:p>
          <a:endParaRPr lang="en-US"/>
        </a:p>
      </dgm:t>
    </dgm:pt>
    <dgm:pt modelId="{DAC0D98D-2AB5-7649-94F9-6717A6419EFF}" type="sibTrans" cxnId="{B0E1D04F-7916-CA46-A4A7-8EC68406E560}">
      <dgm:prSet/>
      <dgm:spPr/>
      <dgm:t>
        <a:bodyPr/>
        <a:lstStyle/>
        <a:p>
          <a:endParaRPr lang="en-US"/>
        </a:p>
      </dgm:t>
    </dgm:pt>
    <dgm:pt modelId="{7FB59E44-EFA7-9249-8849-6AF1FCC81AD4}">
      <dgm:prSet phldrT="[Text]"/>
      <dgm:spPr/>
      <dgm:t>
        <a:bodyPr/>
        <a:lstStyle/>
        <a:p>
          <a:r>
            <a:rPr lang="en-US" dirty="0"/>
            <a:t>Cancels itself out </a:t>
          </a:r>
        </a:p>
      </dgm:t>
    </dgm:pt>
    <dgm:pt modelId="{CACE2275-40E7-F346-828C-4E7A30883100}" type="parTrans" cxnId="{FE47A2DF-1CA4-044A-8199-582F03876383}">
      <dgm:prSet/>
      <dgm:spPr/>
      <dgm:t>
        <a:bodyPr/>
        <a:lstStyle/>
        <a:p>
          <a:endParaRPr lang="en-US"/>
        </a:p>
      </dgm:t>
    </dgm:pt>
    <dgm:pt modelId="{98A16E4E-8689-F647-AFAB-34F95888C38A}" type="sibTrans" cxnId="{FE47A2DF-1CA4-044A-8199-582F03876383}">
      <dgm:prSet/>
      <dgm:spPr/>
      <dgm:t>
        <a:bodyPr/>
        <a:lstStyle/>
        <a:p>
          <a:endParaRPr lang="en-US"/>
        </a:p>
      </dgm:t>
    </dgm:pt>
    <dgm:pt modelId="{0F099E92-289E-954A-91C6-F4A7C0730C0C}">
      <dgm:prSet phldrT="[Text]"/>
      <dgm:spPr/>
      <dgm:t>
        <a:bodyPr/>
        <a:lstStyle/>
        <a:p>
          <a:r>
            <a:rPr lang="en-US" dirty="0"/>
            <a:t>Lowers reliability of a test</a:t>
          </a:r>
        </a:p>
      </dgm:t>
    </dgm:pt>
    <dgm:pt modelId="{48458A80-5318-9C42-85CB-E4E2647A71F1}" type="parTrans" cxnId="{DD9B9E40-8104-AD49-A4A9-566598BCBC53}">
      <dgm:prSet/>
      <dgm:spPr/>
      <dgm:t>
        <a:bodyPr/>
        <a:lstStyle/>
        <a:p>
          <a:endParaRPr lang="en-US"/>
        </a:p>
      </dgm:t>
    </dgm:pt>
    <dgm:pt modelId="{65E48057-EB8E-AE4D-A53C-B24E09B2CCD4}" type="sibTrans" cxnId="{DD9B9E40-8104-AD49-A4A9-566598BCBC53}">
      <dgm:prSet/>
      <dgm:spPr/>
      <dgm:t>
        <a:bodyPr/>
        <a:lstStyle/>
        <a:p>
          <a:endParaRPr lang="en-US"/>
        </a:p>
      </dgm:t>
    </dgm:pt>
    <dgm:pt modelId="{41F7CCCD-517E-644D-845A-E95EB40E74A5}">
      <dgm:prSet phldrT="[Text]"/>
      <dgm:spPr/>
      <dgm:t>
        <a:bodyPr/>
        <a:lstStyle/>
        <a:p>
          <a:r>
            <a:rPr lang="en-US" dirty="0"/>
            <a:t>Does not lower reliability of a test since the test is reliably inaccurate by the same amount each time</a:t>
          </a:r>
        </a:p>
      </dgm:t>
    </dgm:pt>
    <dgm:pt modelId="{8C2190E6-97E7-9546-AF18-B07523D82154}" type="parTrans" cxnId="{0056F58B-6EDA-114E-890B-7644F96B154C}">
      <dgm:prSet/>
      <dgm:spPr/>
      <dgm:t>
        <a:bodyPr/>
        <a:lstStyle/>
        <a:p>
          <a:endParaRPr lang="en-US"/>
        </a:p>
      </dgm:t>
    </dgm:pt>
    <dgm:pt modelId="{D755182F-6475-D740-A67A-F281434ED851}" type="sibTrans" cxnId="{0056F58B-6EDA-114E-890B-7644F96B154C}">
      <dgm:prSet/>
      <dgm:spPr/>
      <dgm:t>
        <a:bodyPr/>
        <a:lstStyle/>
        <a:p>
          <a:endParaRPr lang="en-US"/>
        </a:p>
      </dgm:t>
    </dgm:pt>
    <dgm:pt modelId="{B4F73723-4064-1D4C-BE90-C7947C5CD8C1}" type="pres">
      <dgm:prSet presAssocID="{4664D59B-FDAE-D340-A9E6-DA58842CC32C}" presName="Name0" presStyleCnt="0">
        <dgm:presLayoutVars>
          <dgm:dir/>
          <dgm:animLvl val="lvl"/>
          <dgm:resizeHandles val="exact"/>
        </dgm:presLayoutVars>
      </dgm:prSet>
      <dgm:spPr/>
    </dgm:pt>
    <dgm:pt modelId="{C22D3460-69EC-6F43-992E-BC6DCEBE983A}" type="pres">
      <dgm:prSet presAssocID="{341B6102-0F06-C845-AD32-4166D139A504}" presName="linNode" presStyleCnt="0"/>
      <dgm:spPr/>
    </dgm:pt>
    <dgm:pt modelId="{DBF00D34-2A22-2442-9666-08FE3167AF2B}" type="pres">
      <dgm:prSet presAssocID="{341B6102-0F06-C845-AD32-4166D139A504}" presName="parentText" presStyleLbl="node1" presStyleIdx="0" presStyleCnt="2">
        <dgm:presLayoutVars>
          <dgm:chMax val="1"/>
          <dgm:bulletEnabled val="1"/>
        </dgm:presLayoutVars>
      </dgm:prSet>
      <dgm:spPr/>
    </dgm:pt>
    <dgm:pt modelId="{5362558E-C959-2A44-BCB9-E90AC5B09049}" type="pres">
      <dgm:prSet presAssocID="{341B6102-0F06-C845-AD32-4166D139A504}" presName="descendantText" presStyleLbl="alignAccFollowNode1" presStyleIdx="0" presStyleCnt="2">
        <dgm:presLayoutVars>
          <dgm:bulletEnabled val="1"/>
        </dgm:presLayoutVars>
      </dgm:prSet>
      <dgm:spPr/>
    </dgm:pt>
    <dgm:pt modelId="{0A273DB2-C3E5-D649-9CE7-F6996CE6F248}" type="pres">
      <dgm:prSet presAssocID="{3FCA53CE-866B-0F41-8B51-E9D19E409EE3}" presName="sp" presStyleCnt="0"/>
      <dgm:spPr/>
    </dgm:pt>
    <dgm:pt modelId="{17D9ED59-F9F2-B949-9CE6-F7051F65BE2A}" type="pres">
      <dgm:prSet presAssocID="{7D2654D3-CE6D-7F4B-BB5E-F88C2BE85ED0}" presName="linNode" presStyleCnt="0"/>
      <dgm:spPr/>
    </dgm:pt>
    <dgm:pt modelId="{D81D5944-306B-5747-9C6B-AB469747919D}" type="pres">
      <dgm:prSet presAssocID="{7D2654D3-CE6D-7F4B-BB5E-F88C2BE85ED0}" presName="parentText" presStyleLbl="node1" presStyleIdx="1" presStyleCnt="2">
        <dgm:presLayoutVars>
          <dgm:chMax val="1"/>
          <dgm:bulletEnabled val="1"/>
        </dgm:presLayoutVars>
      </dgm:prSet>
      <dgm:spPr/>
    </dgm:pt>
    <dgm:pt modelId="{DEB6BF08-3E7E-7B4B-9464-C8E7C5089BA7}" type="pres">
      <dgm:prSet presAssocID="{7D2654D3-CE6D-7F4B-BB5E-F88C2BE85ED0}" presName="descendantText" presStyleLbl="alignAccFollowNode1" presStyleIdx="1" presStyleCnt="2">
        <dgm:presLayoutVars>
          <dgm:bulletEnabled val="1"/>
        </dgm:presLayoutVars>
      </dgm:prSet>
      <dgm:spPr/>
    </dgm:pt>
  </dgm:ptLst>
  <dgm:cxnLst>
    <dgm:cxn modelId="{1B31C10A-E191-2840-AD2C-EEB4DC98227A}" type="presOf" srcId="{7F91351C-52D0-5349-B53E-20B2E2DD0669}" destId="{5362558E-C959-2A44-BCB9-E90AC5B09049}" srcOrd="0" destOrd="1" presId="urn:microsoft.com/office/officeart/2005/8/layout/vList5"/>
    <dgm:cxn modelId="{B448B60C-6BE9-BA47-B7BE-8BEA5A6B74B6}" srcId="{7D2654D3-CE6D-7F4B-BB5E-F88C2BE85ED0}" destId="{443538B0-2FAE-B848-B95C-8663D18BC1F4}" srcOrd="0" destOrd="0" parTransId="{04A49004-F404-C141-8308-462B1DF5F9B6}" sibTransId="{06C0A859-0501-3E42-8689-B51830DB2940}"/>
    <dgm:cxn modelId="{3049EE11-FEB4-8D4A-BD43-850A3970E723}" type="presOf" srcId="{443538B0-2FAE-B848-B95C-8663D18BC1F4}" destId="{DEB6BF08-3E7E-7B4B-9464-C8E7C5089BA7}" srcOrd="0" destOrd="0" presId="urn:microsoft.com/office/officeart/2005/8/layout/vList5"/>
    <dgm:cxn modelId="{D6EB7822-6D48-EB44-A442-F1A9635C6865}" type="presOf" srcId="{7D2654D3-CE6D-7F4B-BB5E-F88C2BE85ED0}" destId="{D81D5944-306B-5747-9C6B-AB469747919D}" srcOrd="0" destOrd="0" presId="urn:microsoft.com/office/officeart/2005/8/layout/vList5"/>
    <dgm:cxn modelId="{4753E822-4244-A743-B32E-6EFAA9B64BCE}" srcId="{341B6102-0F06-C845-AD32-4166D139A504}" destId="{A3A68BAA-D678-564C-9392-1591437284FD}" srcOrd="0" destOrd="0" parTransId="{9031FAC8-A9F7-324C-8A98-447130A7DACE}" sibTransId="{492DBC69-E6D9-D84C-B10C-617DC3549DCB}"/>
    <dgm:cxn modelId="{DD9B9E40-8104-AD49-A4A9-566598BCBC53}" srcId="{341B6102-0F06-C845-AD32-4166D139A504}" destId="{0F099E92-289E-954A-91C6-F4A7C0730C0C}" srcOrd="3" destOrd="0" parTransId="{48458A80-5318-9C42-85CB-E4E2647A71F1}" sibTransId="{65E48057-EB8E-AE4D-A53C-B24E09B2CCD4}"/>
    <dgm:cxn modelId="{AFBCDA47-1EE1-C54F-A18F-EA0CEC6A3ADE}" type="presOf" srcId="{A3A68BAA-D678-564C-9392-1591437284FD}" destId="{5362558E-C959-2A44-BCB9-E90AC5B09049}" srcOrd="0" destOrd="0" presId="urn:microsoft.com/office/officeart/2005/8/layout/vList5"/>
    <dgm:cxn modelId="{B0E1D04F-7916-CA46-A4A7-8EC68406E560}" srcId="{341B6102-0F06-C845-AD32-4166D139A504}" destId="{7F91351C-52D0-5349-B53E-20B2E2DD0669}" srcOrd="1" destOrd="0" parTransId="{00417314-2FE5-BA46-94A0-1B09D1ED3C87}" sibTransId="{DAC0D98D-2AB5-7649-94F9-6717A6419EFF}"/>
    <dgm:cxn modelId="{E3410956-1ED5-824F-9049-A19DC3E9B274}" srcId="{4664D59B-FDAE-D340-A9E6-DA58842CC32C}" destId="{341B6102-0F06-C845-AD32-4166D139A504}" srcOrd="0" destOrd="0" parTransId="{3520556F-BF6A-FE46-BD5A-A8C2FF3FD7D4}" sibTransId="{3FCA53CE-866B-0F41-8B51-E9D19E409EE3}"/>
    <dgm:cxn modelId="{1831EA61-C00E-5B49-8EB9-E4746369DD95}" type="presOf" srcId="{341B6102-0F06-C845-AD32-4166D139A504}" destId="{DBF00D34-2A22-2442-9666-08FE3167AF2B}" srcOrd="0" destOrd="0" presId="urn:microsoft.com/office/officeart/2005/8/layout/vList5"/>
    <dgm:cxn modelId="{1B0F626A-2AEC-504C-A5F9-F1AAA898DA06}" type="presOf" srcId="{41F7CCCD-517E-644D-845A-E95EB40E74A5}" destId="{DEB6BF08-3E7E-7B4B-9464-C8E7C5089BA7}" srcOrd="0" destOrd="1" presId="urn:microsoft.com/office/officeart/2005/8/layout/vList5"/>
    <dgm:cxn modelId="{0056F58B-6EDA-114E-890B-7644F96B154C}" srcId="{7D2654D3-CE6D-7F4B-BB5E-F88C2BE85ED0}" destId="{41F7CCCD-517E-644D-845A-E95EB40E74A5}" srcOrd="1" destOrd="0" parTransId="{8C2190E6-97E7-9546-AF18-B07523D82154}" sibTransId="{D755182F-6475-D740-A67A-F281434ED851}"/>
    <dgm:cxn modelId="{7E6F53CA-C33E-CA49-B41A-75D03E9F6C8F}" type="presOf" srcId="{0F099E92-289E-954A-91C6-F4A7C0730C0C}" destId="{5362558E-C959-2A44-BCB9-E90AC5B09049}" srcOrd="0" destOrd="3" presId="urn:microsoft.com/office/officeart/2005/8/layout/vList5"/>
    <dgm:cxn modelId="{AC1D86D6-D28D-BE4B-BC44-683F012FB396}" type="presOf" srcId="{4664D59B-FDAE-D340-A9E6-DA58842CC32C}" destId="{B4F73723-4064-1D4C-BE90-C7947C5CD8C1}" srcOrd="0" destOrd="0" presId="urn:microsoft.com/office/officeart/2005/8/layout/vList5"/>
    <dgm:cxn modelId="{F09F50D7-4C9F-2848-8D91-95898920FB40}" type="presOf" srcId="{7FB59E44-EFA7-9249-8849-6AF1FCC81AD4}" destId="{5362558E-C959-2A44-BCB9-E90AC5B09049}" srcOrd="0" destOrd="2" presId="urn:microsoft.com/office/officeart/2005/8/layout/vList5"/>
    <dgm:cxn modelId="{FE47A2DF-1CA4-044A-8199-582F03876383}" srcId="{341B6102-0F06-C845-AD32-4166D139A504}" destId="{7FB59E44-EFA7-9249-8849-6AF1FCC81AD4}" srcOrd="2" destOrd="0" parTransId="{CACE2275-40E7-F346-828C-4E7A30883100}" sibTransId="{98A16E4E-8689-F647-AFAB-34F95888C38A}"/>
    <dgm:cxn modelId="{54D142F6-BC69-2344-A269-4F8C4E766B1D}" srcId="{4664D59B-FDAE-D340-A9E6-DA58842CC32C}" destId="{7D2654D3-CE6D-7F4B-BB5E-F88C2BE85ED0}" srcOrd="1" destOrd="0" parTransId="{BF80939B-3747-1C47-849D-3B0238ABF634}" sibTransId="{7CCA0EAD-A7FF-9543-A22B-BB48B1C5F065}"/>
    <dgm:cxn modelId="{4C4679C0-91AB-0A4D-A071-B2C6C576BFC4}" type="presParOf" srcId="{B4F73723-4064-1D4C-BE90-C7947C5CD8C1}" destId="{C22D3460-69EC-6F43-992E-BC6DCEBE983A}" srcOrd="0" destOrd="0" presId="urn:microsoft.com/office/officeart/2005/8/layout/vList5"/>
    <dgm:cxn modelId="{82E1342A-075C-544D-94E3-100F182C4C5B}" type="presParOf" srcId="{C22D3460-69EC-6F43-992E-BC6DCEBE983A}" destId="{DBF00D34-2A22-2442-9666-08FE3167AF2B}" srcOrd="0" destOrd="0" presId="urn:microsoft.com/office/officeart/2005/8/layout/vList5"/>
    <dgm:cxn modelId="{F1E8D495-8CEA-5647-95EC-1AF1E09B4598}" type="presParOf" srcId="{C22D3460-69EC-6F43-992E-BC6DCEBE983A}" destId="{5362558E-C959-2A44-BCB9-E90AC5B09049}" srcOrd="1" destOrd="0" presId="urn:microsoft.com/office/officeart/2005/8/layout/vList5"/>
    <dgm:cxn modelId="{D68EF82F-984B-5F49-BA31-F11BAE998595}" type="presParOf" srcId="{B4F73723-4064-1D4C-BE90-C7947C5CD8C1}" destId="{0A273DB2-C3E5-D649-9CE7-F6996CE6F248}" srcOrd="1" destOrd="0" presId="urn:microsoft.com/office/officeart/2005/8/layout/vList5"/>
    <dgm:cxn modelId="{CBE216E9-8B30-E547-9E0C-5719CB4EC711}" type="presParOf" srcId="{B4F73723-4064-1D4C-BE90-C7947C5CD8C1}" destId="{17D9ED59-F9F2-B949-9CE6-F7051F65BE2A}" srcOrd="2" destOrd="0" presId="urn:microsoft.com/office/officeart/2005/8/layout/vList5"/>
    <dgm:cxn modelId="{7F4D2641-0567-B246-A6A3-CBD2FBFE841E}" type="presParOf" srcId="{17D9ED59-F9F2-B949-9CE6-F7051F65BE2A}" destId="{D81D5944-306B-5747-9C6B-AB469747919D}" srcOrd="0" destOrd="0" presId="urn:microsoft.com/office/officeart/2005/8/layout/vList5"/>
    <dgm:cxn modelId="{2D06E66A-2DFD-4F48-8B14-9A2D30D76D58}" type="presParOf" srcId="{17D9ED59-F9F2-B949-9CE6-F7051F65BE2A}" destId="{DEB6BF08-3E7E-7B4B-9464-C8E7C5089BA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53D6DB-ADC1-1041-ABAD-9FA297C35A51}">
      <dsp:nvSpPr>
        <dsp:cNvPr id="0" name=""/>
        <dsp:cNvSpPr/>
      </dsp:nvSpPr>
      <dsp:spPr>
        <a:xfrm>
          <a:off x="157354" y="313"/>
          <a:ext cx="1229617" cy="1229617"/>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r>
            <a:rPr lang="en-US" sz="5500" i="1" kern="1200" dirty="0"/>
            <a:t>X</a:t>
          </a:r>
        </a:p>
      </dsp:txBody>
      <dsp:txXfrm>
        <a:off x="337427" y="180386"/>
        <a:ext cx="869471" cy="869471"/>
      </dsp:txXfrm>
    </dsp:sp>
    <dsp:sp modelId="{D7A55BEF-90AE-4E4F-BEF5-C9C6FCE1F744}">
      <dsp:nvSpPr>
        <dsp:cNvPr id="0" name=""/>
        <dsp:cNvSpPr/>
      </dsp:nvSpPr>
      <dsp:spPr>
        <a:xfrm>
          <a:off x="3604208" y="201385"/>
          <a:ext cx="713178" cy="713178"/>
        </a:xfrm>
        <a:prstGeom prst="mathPlus">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3698740" y="474104"/>
        <a:ext cx="524114" cy="167740"/>
      </dsp:txXfrm>
    </dsp:sp>
    <dsp:sp modelId="{EB5E5D3D-0567-2B4E-A7E0-8F3C16D878CE}">
      <dsp:nvSpPr>
        <dsp:cNvPr id="0" name=""/>
        <dsp:cNvSpPr/>
      </dsp:nvSpPr>
      <dsp:spPr>
        <a:xfrm>
          <a:off x="2299841" y="313"/>
          <a:ext cx="1229617" cy="1229617"/>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r>
            <a:rPr lang="en-US" sz="5500" i="1" kern="1200" dirty="0"/>
            <a:t>T</a:t>
          </a:r>
        </a:p>
      </dsp:txBody>
      <dsp:txXfrm>
        <a:off x="2479914" y="180386"/>
        <a:ext cx="869471" cy="869471"/>
      </dsp:txXfrm>
    </dsp:sp>
    <dsp:sp modelId="{13B891B2-059D-174D-8E08-E78FFEDDE494}">
      <dsp:nvSpPr>
        <dsp:cNvPr id="0" name=""/>
        <dsp:cNvSpPr/>
      </dsp:nvSpPr>
      <dsp:spPr>
        <a:xfrm>
          <a:off x="1466583" y="270343"/>
          <a:ext cx="713178" cy="713178"/>
        </a:xfrm>
        <a:prstGeom prst="mathEqual">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en-US" sz="3100" kern="1200" dirty="0"/>
        </a:p>
      </dsp:txBody>
      <dsp:txXfrm>
        <a:off x="1561115" y="417258"/>
        <a:ext cx="524114" cy="419348"/>
      </dsp:txXfrm>
    </dsp:sp>
    <dsp:sp modelId="{EE603BC4-9010-5D4B-9A03-E80A74EA2877}">
      <dsp:nvSpPr>
        <dsp:cNvPr id="0" name=""/>
        <dsp:cNvSpPr/>
      </dsp:nvSpPr>
      <dsp:spPr>
        <a:xfrm>
          <a:off x="4442327" y="313"/>
          <a:ext cx="1229617" cy="1229617"/>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r>
            <a:rPr lang="en-US" sz="5500" i="1" kern="1200" dirty="0"/>
            <a:t>E</a:t>
          </a:r>
        </a:p>
      </dsp:txBody>
      <dsp:txXfrm>
        <a:off x="4622400" y="180386"/>
        <a:ext cx="869471" cy="8694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2558E-C959-2A44-BCB9-E90AC5B09049}">
      <dsp:nvSpPr>
        <dsp:cNvPr id="0" name=""/>
        <dsp:cNvSpPr/>
      </dsp:nvSpPr>
      <dsp:spPr>
        <a:xfrm rot="5400000">
          <a:off x="3893117" y="-1378665"/>
          <a:ext cx="1163323" cy="4211557"/>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Random in nature</a:t>
          </a:r>
        </a:p>
        <a:p>
          <a:pPr marL="114300" lvl="1" indent="-114300" algn="l" defTabSz="577850">
            <a:lnSpc>
              <a:spcPct val="90000"/>
            </a:lnSpc>
            <a:spcBef>
              <a:spcPct val="0"/>
            </a:spcBef>
            <a:spcAft>
              <a:spcPct val="15000"/>
            </a:spcAft>
            <a:buChar char="•"/>
          </a:pPr>
          <a:r>
            <a:rPr lang="en-US" sz="1300" kern="1200" dirty="0"/>
            <a:t>Will increase and decrease a person’s score by exactly the same amount with infinite testing</a:t>
          </a:r>
        </a:p>
        <a:p>
          <a:pPr marL="114300" lvl="1" indent="-114300" algn="l" defTabSz="577850">
            <a:lnSpc>
              <a:spcPct val="90000"/>
            </a:lnSpc>
            <a:spcBef>
              <a:spcPct val="0"/>
            </a:spcBef>
            <a:spcAft>
              <a:spcPct val="15000"/>
            </a:spcAft>
            <a:buChar char="•"/>
          </a:pPr>
          <a:r>
            <a:rPr lang="en-US" sz="1300" kern="1200" dirty="0"/>
            <a:t>Cancels itself out </a:t>
          </a:r>
        </a:p>
        <a:p>
          <a:pPr marL="114300" lvl="1" indent="-114300" algn="l" defTabSz="577850">
            <a:lnSpc>
              <a:spcPct val="90000"/>
            </a:lnSpc>
            <a:spcBef>
              <a:spcPct val="0"/>
            </a:spcBef>
            <a:spcAft>
              <a:spcPct val="15000"/>
            </a:spcAft>
            <a:buChar char="•"/>
          </a:pPr>
          <a:r>
            <a:rPr lang="en-US" sz="1300" kern="1200" dirty="0"/>
            <a:t>Lowers reliability of a test</a:t>
          </a:r>
        </a:p>
      </dsp:txBody>
      <dsp:txXfrm rot="-5400000">
        <a:off x="2369001" y="202240"/>
        <a:ext cx="4154768" cy="1049745"/>
      </dsp:txXfrm>
    </dsp:sp>
    <dsp:sp modelId="{DBF00D34-2A22-2442-9666-08FE3167AF2B}">
      <dsp:nvSpPr>
        <dsp:cNvPr id="0" name=""/>
        <dsp:cNvSpPr/>
      </dsp:nvSpPr>
      <dsp:spPr>
        <a:xfrm>
          <a:off x="0" y="36"/>
          <a:ext cx="2369000" cy="1454153"/>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dirty="0"/>
            <a:t>Random error</a:t>
          </a:r>
        </a:p>
      </dsp:txBody>
      <dsp:txXfrm>
        <a:off x="70986" y="71022"/>
        <a:ext cx="2227028" cy="1312181"/>
      </dsp:txXfrm>
    </dsp:sp>
    <dsp:sp modelId="{DEB6BF08-3E7E-7B4B-9464-C8E7C5089BA7}">
      <dsp:nvSpPr>
        <dsp:cNvPr id="0" name=""/>
        <dsp:cNvSpPr/>
      </dsp:nvSpPr>
      <dsp:spPr>
        <a:xfrm rot="5400000">
          <a:off x="3893117" y="148196"/>
          <a:ext cx="1163323" cy="4211557"/>
        </a:xfrm>
        <a:prstGeom prst="round2SameRect">
          <a:avLst/>
        </a:prstGeom>
        <a:solidFill>
          <a:schemeClr val="accent3">
            <a:tint val="40000"/>
            <a:alpha val="90000"/>
            <a:hueOff val="-9431568"/>
            <a:satOff val="-38765"/>
            <a:lumOff val="-5615"/>
            <a:alphaOff val="0"/>
          </a:schemeClr>
        </a:solidFill>
        <a:ln w="25400" cap="flat" cmpd="sng" algn="ctr">
          <a:solidFill>
            <a:schemeClr val="accent3">
              <a:tint val="40000"/>
              <a:alpha val="90000"/>
              <a:hueOff val="-9431568"/>
              <a:satOff val="-38765"/>
              <a:lumOff val="-56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Occurs when source of error always increase or decrease a true score</a:t>
          </a:r>
        </a:p>
        <a:p>
          <a:pPr marL="114300" lvl="1" indent="-114300" algn="l" defTabSz="577850">
            <a:lnSpc>
              <a:spcPct val="90000"/>
            </a:lnSpc>
            <a:spcBef>
              <a:spcPct val="0"/>
            </a:spcBef>
            <a:spcAft>
              <a:spcPct val="15000"/>
            </a:spcAft>
            <a:buChar char="•"/>
          </a:pPr>
          <a:r>
            <a:rPr lang="en-US" sz="1300" kern="1200" dirty="0"/>
            <a:t>Does not lower reliability of a test since the test is reliably inaccurate by the same amount each time</a:t>
          </a:r>
        </a:p>
      </dsp:txBody>
      <dsp:txXfrm rot="-5400000">
        <a:off x="2369001" y="1729102"/>
        <a:ext cx="4154768" cy="1049745"/>
      </dsp:txXfrm>
    </dsp:sp>
    <dsp:sp modelId="{D81D5944-306B-5747-9C6B-AB469747919D}">
      <dsp:nvSpPr>
        <dsp:cNvPr id="0" name=""/>
        <dsp:cNvSpPr/>
      </dsp:nvSpPr>
      <dsp:spPr>
        <a:xfrm>
          <a:off x="0" y="1526897"/>
          <a:ext cx="2369000" cy="1454153"/>
        </a:xfrm>
        <a:prstGeom prst="roundRect">
          <a:avLst/>
        </a:prstGeom>
        <a:solidFill>
          <a:schemeClr val="accent3">
            <a:hueOff val="-9795232"/>
            <a:satOff val="34022"/>
            <a:lumOff val="-32352"/>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dirty="0"/>
            <a:t>Systematic error</a:t>
          </a:r>
        </a:p>
      </dsp:txBody>
      <dsp:txXfrm>
        <a:off x="70986" y="1597883"/>
        <a:ext cx="2227028" cy="1312181"/>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2EE1A-1E57-4A26-BEAD-BA0F11D4AB95}" type="datetimeFigureOut">
              <a:rPr lang="en-US" smtClean="0"/>
              <a:t>1/27/26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925CEA-CE71-402A-A3BD-05AB42F89E39}" type="slidenum">
              <a:rPr lang="en-US" smtClean="0"/>
              <a:t>‹#›</a:t>
            </a:fld>
            <a:endParaRPr lang="en-US"/>
          </a:p>
        </p:txBody>
      </p:sp>
    </p:spTree>
    <p:extLst>
      <p:ext uri="{BB962C8B-B14F-4D97-AF65-F5344CB8AC3E}">
        <p14:creationId xmlns:p14="http://schemas.microsoft.com/office/powerpoint/2010/main" val="179559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for survey research measurements to be accurate, they must be precise and stable. Validity and reliability are closely related research concepts. Validity asks, “Is this measurement truly representative of the concept under study?” Reliability asks “If we repeat this measurement multiple times, will we obtain consistent results?”</a:t>
            </a:r>
          </a:p>
          <a:p>
            <a:endParaRPr lang="en-US" dirty="0"/>
          </a:p>
          <a:p>
            <a:r>
              <a:rPr lang="en-US" dirty="0"/>
              <a:t>However, they are not all-or-nothing concepts; rather, they comprise a spectrum from low to high, and it is in fact rare that any item on a survey is 100% valid and reliable. </a:t>
            </a:r>
          </a:p>
        </p:txBody>
      </p:sp>
      <p:sp>
        <p:nvSpPr>
          <p:cNvPr id="4" name="Slide Number Placeholder 3"/>
          <p:cNvSpPr>
            <a:spLocks noGrp="1"/>
          </p:cNvSpPr>
          <p:nvPr>
            <p:ph type="sldNum" sz="quarter" idx="5"/>
          </p:nvPr>
        </p:nvSpPr>
        <p:spPr/>
        <p:txBody>
          <a:bodyPr/>
          <a:lstStyle/>
          <a:p>
            <a:fld id="{E0925CEA-CE71-402A-A3BD-05AB42F89E39}" type="slidenum">
              <a:rPr lang="en-US" smtClean="0"/>
              <a:t>1</a:t>
            </a:fld>
            <a:endParaRPr lang="en-US"/>
          </a:p>
        </p:txBody>
      </p:sp>
    </p:spTree>
    <p:extLst>
      <p:ext uri="{BB962C8B-B14F-4D97-AF65-F5344CB8AC3E}">
        <p14:creationId xmlns:p14="http://schemas.microsoft.com/office/powerpoint/2010/main" val="331495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baseline="0" dirty="0">
                <a:solidFill>
                  <a:schemeClr val="tx1"/>
                </a:solidFill>
                <a:latin typeface="+mn-lt"/>
                <a:ea typeface="+mn-ea"/>
                <a:cs typeface="+mn-cs"/>
              </a:rPr>
              <a:t>X </a:t>
            </a:r>
            <a:r>
              <a:rPr lang="en-US" sz="1200" b="0" i="0" u="none" strike="noStrike" kern="1200" baseline="0" dirty="0">
                <a:solidFill>
                  <a:schemeClr val="tx1"/>
                </a:solidFill>
                <a:latin typeface="+mn-lt"/>
                <a:ea typeface="+mn-ea"/>
                <a:cs typeface="+mn-cs"/>
              </a:rPr>
              <a:t>represents the observed score. The term </a:t>
            </a:r>
            <a:r>
              <a:rPr lang="en-US" sz="1200" b="0" i="1" u="none" strike="noStrike" kern="1200" baseline="0" dirty="0">
                <a:solidFill>
                  <a:schemeClr val="tx1"/>
                </a:solidFill>
                <a:latin typeface="+mn-lt"/>
                <a:ea typeface="+mn-ea"/>
                <a:cs typeface="+mn-cs"/>
              </a:rPr>
              <a:t>observed </a:t>
            </a:r>
            <a:r>
              <a:rPr lang="en-US" sz="1200" b="0" i="0" u="none" strike="noStrike" kern="1200" baseline="0" dirty="0">
                <a:solidFill>
                  <a:schemeClr val="tx1"/>
                </a:solidFill>
                <a:latin typeface="+mn-lt"/>
                <a:ea typeface="+mn-ea"/>
                <a:cs typeface="+mn-cs"/>
              </a:rPr>
              <a:t>does not mean that we can literally observe the value of, for example, a person’s level of depression by looking at them. Instead it refers to the values that have been assigned on the basis of the measurement instrument being used. the observed scores are simply the values, or scores, we have obtained with our measurement instrument.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term </a:t>
            </a:r>
            <a:r>
              <a:rPr lang="en-US" sz="1200" b="0" i="1" u="none" strike="noStrike" kern="1200" baseline="0" dirty="0">
                <a:solidFill>
                  <a:schemeClr val="tx1"/>
                </a:solidFill>
                <a:latin typeface="+mn-lt"/>
                <a:ea typeface="+mn-ea"/>
                <a:cs typeface="+mn-cs"/>
              </a:rPr>
              <a:t>E </a:t>
            </a:r>
            <a:r>
              <a:rPr lang="en-US" sz="1200" b="0" i="0" u="none" strike="noStrike" kern="1200" baseline="0" dirty="0">
                <a:solidFill>
                  <a:schemeClr val="tx1"/>
                </a:solidFill>
                <a:latin typeface="+mn-lt"/>
                <a:ea typeface="+mn-ea"/>
                <a:cs typeface="+mn-cs"/>
              </a:rPr>
              <a:t>represents the part of the score that is due to error or to inconsistencies in measurement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term </a:t>
            </a:r>
            <a:r>
              <a:rPr lang="en-US" sz="1200" b="0" i="1" u="none" strike="noStrike" kern="1200" baseline="0" dirty="0">
                <a:solidFill>
                  <a:schemeClr val="tx1"/>
                </a:solidFill>
                <a:latin typeface="+mn-lt"/>
                <a:ea typeface="+mn-ea"/>
                <a:cs typeface="+mn-cs"/>
              </a:rPr>
              <a:t>T </a:t>
            </a:r>
            <a:r>
              <a:rPr lang="en-US" sz="1200" b="0" i="0" u="none" strike="noStrike" kern="1200" baseline="0" dirty="0">
                <a:solidFill>
                  <a:schemeClr val="tx1"/>
                </a:solidFill>
                <a:latin typeface="+mn-lt"/>
                <a:ea typeface="+mn-ea"/>
                <a:cs typeface="+mn-cs"/>
              </a:rPr>
              <a:t>refers to a respondent’s </a:t>
            </a:r>
            <a:r>
              <a:rPr lang="en-US" sz="1200" b="0" i="1" u="none" strike="noStrike" kern="1200" baseline="0" dirty="0">
                <a:solidFill>
                  <a:schemeClr val="tx1"/>
                </a:solidFill>
                <a:latin typeface="+mn-lt"/>
                <a:ea typeface="+mn-ea"/>
                <a:cs typeface="+mn-cs"/>
              </a:rPr>
              <a:t>true score. </a:t>
            </a:r>
            <a:r>
              <a:rPr lang="en-US" sz="1200" b="0" i="0" u="none" strike="noStrike" kern="1200" baseline="0" dirty="0">
                <a:solidFill>
                  <a:schemeClr val="tx1"/>
                </a:solidFill>
                <a:latin typeface="+mn-lt"/>
                <a:ea typeface="+mn-ea"/>
                <a:cs typeface="+mn-cs"/>
              </a:rPr>
              <a:t>The true score is an important, though hypothetical, entity in classical test theory. It represents the score a respondent would obtain if our measurements were free of all error. The fact that measurements are never completely free of error is what makes the true score hypothetical rather than observed.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a respondent’s observed score is made up of two parts: the true score and the error score. The true score can be conceptualized as the average score that would be obtained if we were able to give a test to a respondent hundreds of times, wiping out her or his memory after each testing. Because the error scores are assumed to be random, some errors would cause the observed score to be higher than the true score, but some would cause it to be lower.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Concerns over reliability and validity are really concerns about error: Any strategy that decreases measurement error will improve both the reliability and validity of the measure.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F418D19-80CC-47AD-B225-A53B1FFCCAA5}" type="slidenum">
              <a:rPr lang="en-US" smtClean="0"/>
              <a:t>2</a:t>
            </a:fld>
            <a:endParaRPr lang="en-US"/>
          </a:p>
        </p:txBody>
      </p:sp>
    </p:spTree>
    <p:extLst>
      <p:ext uri="{BB962C8B-B14F-4D97-AF65-F5344CB8AC3E}">
        <p14:creationId xmlns:p14="http://schemas.microsoft.com/office/powerpoint/2010/main" val="2141942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pPr marL="228600" indent="-228600">
              <a:buFont typeface="+mj-lt"/>
              <a:buNone/>
            </a:pPr>
            <a:r>
              <a:rPr lang="en-US" sz="1200" dirty="0"/>
              <a:t>In order to be reliable, a measurement must be dependable, replicable, and consistent. In other words, the measurement must minimize random error. Random error occurs in two ways: (1) when an individual randomly guesses a response, perhaps because the question is poorly worded or has misleading directions, and (2) when an individual accidentally chooses a response unintentionally. In both cases, the response given is not reflective of a “true” value; it is not an accurate response,</a:t>
            </a:r>
          </a:p>
        </p:txBody>
      </p:sp>
      <p:sp>
        <p:nvSpPr>
          <p:cNvPr id="5" name="Slide Image Placeholder 4"/>
          <p:cNvSpPr>
            <a:spLocks noGrp="1" noRot="1" noChangeAspect="1"/>
          </p:cNvSpPr>
          <p:nvPr>
            <p:ph type="sldImg"/>
          </p:nvPr>
        </p:nvSpPr>
        <p:spPr>
          <a:xfrm>
            <a:off x="538163" y="503238"/>
            <a:ext cx="3146425" cy="2359025"/>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will probably suffer low reliability, since very few people will know much about Madigan v. Levin. Therefore, a question of this nature may be prone to a guessed response (which means it is not a very reliable measure). One solution would be to include a “don’t know” response. This might improve reliability, but the researchers would still not know what the population under study feels about age discrimination in the workplace. </a:t>
            </a:r>
          </a:p>
        </p:txBody>
      </p:sp>
      <p:sp>
        <p:nvSpPr>
          <p:cNvPr id="4" name="Slide Number Placeholder 3"/>
          <p:cNvSpPr>
            <a:spLocks noGrp="1"/>
          </p:cNvSpPr>
          <p:nvPr>
            <p:ph type="sldNum" sz="quarter" idx="5"/>
          </p:nvPr>
        </p:nvSpPr>
        <p:spPr/>
        <p:txBody>
          <a:bodyPr/>
          <a:lstStyle/>
          <a:p>
            <a:fld id="{E0925CEA-CE71-402A-A3BD-05AB42F89E39}" type="slidenum">
              <a:rPr lang="en-US" smtClean="0"/>
              <a:t>4</a:t>
            </a:fld>
            <a:endParaRPr lang="en-US"/>
          </a:p>
        </p:txBody>
      </p:sp>
    </p:spTree>
    <p:extLst>
      <p:ext uri="{BB962C8B-B14F-4D97-AF65-F5344CB8AC3E}">
        <p14:creationId xmlns:p14="http://schemas.microsoft.com/office/powerpoint/2010/main" val="4151746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is likely to be a more reliable question, because it does not assume that an individual has knowledge about a specific legal case, and many people have opinions on workplace discrimination. Individuals will thus be less likely to randomly guess, so we may count on a more consistent response to this question.</a:t>
            </a:r>
          </a:p>
        </p:txBody>
      </p:sp>
      <p:sp>
        <p:nvSpPr>
          <p:cNvPr id="4" name="Slide Number Placeholder 3"/>
          <p:cNvSpPr>
            <a:spLocks noGrp="1"/>
          </p:cNvSpPr>
          <p:nvPr>
            <p:ph type="sldNum" sz="quarter" idx="5"/>
          </p:nvPr>
        </p:nvSpPr>
        <p:spPr/>
        <p:txBody>
          <a:bodyPr/>
          <a:lstStyle/>
          <a:p>
            <a:fld id="{E0925CEA-CE71-402A-A3BD-05AB42F89E39}" type="slidenum">
              <a:rPr lang="en-US" smtClean="0"/>
              <a:t>5</a:t>
            </a:fld>
            <a:endParaRPr lang="en-US"/>
          </a:p>
        </p:txBody>
      </p:sp>
    </p:spTree>
    <p:extLst>
      <p:ext uri="{BB962C8B-B14F-4D97-AF65-F5344CB8AC3E}">
        <p14:creationId xmlns:p14="http://schemas.microsoft.com/office/powerpoint/2010/main" val="4263147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200" b="0" i="0" u="none" strike="noStrike" kern="1200" baseline="0" dirty="0">
                <a:solidFill>
                  <a:schemeClr val="tx1">
                    <a:lumMod val="50000"/>
                  </a:schemeClr>
                </a:solidFill>
                <a:latin typeface="+mn-lt"/>
                <a:ea typeface="+mn-ea"/>
                <a:cs typeface="+mn-cs"/>
              </a:rPr>
              <a:t>The reliability coefficients discussed thus far are useful for summarizing the reliability of a set of test scores for a group of people. But they do not provide direct information about how accurate an individual’s observed score might be. we can use the reliability coefficient to estimate the amount of error in a score. This information is provided by the </a:t>
            </a:r>
            <a:r>
              <a:rPr lang="en-US" sz="1200" b="0" i="1" u="none" strike="noStrike" kern="1200" baseline="0" dirty="0">
                <a:solidFill>
                  <a:schemeClr val="tx1">
                    <a:lumMod val="50000"/>
                  </a:schemeClr>
                </a:solidFill>
                <a:latin typeface="+mn-lt"/>
                <a:ea typeface="+mn-ea"/>
                <a:cs typeface="+mn-cs"/>
              </a:rPr>
              <a:t>standard error of measurement (SEM), </a:t>
            </a:r>
            <a:r>
              <a:rPr lang="en-US" sz="1200" b="0" i="0" u="none" strike="noStrike" kern="1200" baseline="0" dirty="0">
                <a:solidFill>
                  <a:schemeClr val="tx1">
                    <a:lumMod val="50000"/>
                  </a:schemeClr>
                </a:solidFill>
                <a:latin typeface="+mn-lt"/>
                <a:ea typeface="+mn-ea"/>
                <a:cs typeface="+mn-cs"/>
              </a:rPr>
              <a:t>defined as the standard deviation of an individual’s observed scores around their true score.</a:t>
            </a:r>
          </a:p>
          <a:p>
            <a:pPr marL="228600" marR="0" lvl="0" indent="-228600" algn="l" defTabSz="914400" rtl="0" eaLnBrk="1" fontAlgn="auto" latinLnBrk="0" hangingPunct="1">
              <a:lnSpc>
                <a:spcPct val="100000"/>
              </a:lnSpc>
              <a:spcBef>
                <a:spcPts val="0"/>
              </a:spcBef>
              <a:spcAft>
                <a:spcPts val="0"/>
              </a:spcAft>
              <a:buClrTx/>
              <a:buSzTx/>
              <a:buFont typeface="+mj-lt"/>
              <a:buNone/>
              <a:tabLst/>
              <a:defRPr/>
            </a:pPr>
            <a:endParaRPr lang="en-US" sz="1200" b="0" i="0" u="none" strike="noStrike" kern="1200" baseline="0" dirty="0">
              <a:solidFill>
                <a:schemeClr val="tx1">
                  <a:lumMod val="50000"/>
                </a:schemeClr>
              </a:solidFill>
              <a:latin typeface="+mn-lt"/>
              <a:ea typeface="+mn-ea"/>
              <a:cs typeface="+mn-cs"/>
            </a:endParaRPr>
          </a:p>
          <a:p>
            <a:pPr marL="228600" indent="-228600">
              <a:buFont typeface="+mj-lt"/>
              <a:buNone/>
            </a:pPr>
            <a:endParaRPr lang="en-US" sz="1200" dirty="0"/>
          </a:p>
        </p:txBody>
      </p:sp>
      <p:sp>
        <p:nvSpPr>
          <p:cNvPr id="5" name="Slide Image Placeholder 4"/>
          <p:cNvSpPr>
            <a:spLocks noGrp="1" noRot="1" noChangeAspect="1"/>
          </p:cNvSpPr>
          <p:nvPr>
            <p:ph type="sldImg"/>
          </p:nvPr>
        </p:nvSpPr>
        <p:spPr>
          <a:xfrm>
            <a:off x="538163" y="503238"/>
            <a:ext cx="3146425" cy="2359025"/>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numCol="2" spcCol="182880">
            <a:noAutofit/>
          </a:bodyPr>
          <a:lstStyle/>
          <a:p>
            <a:pPr marL="228600" indent="-228600">
              <a:buFont typeface="+mj-lt"/>
              <a:buNone/>
            </a:pPr>
            <a:endParaRPr lang="en-US" sz="1200" dirty="0"/>
          </a:p>
        </p:txBody>
      </p:sp>
      <p:sp>
        <p:nvSpPr>
          <p:cNvPr id="5" name="Slide Image Placeholder 4"/>
          <p:cNvSpPr>
            <a:spLocks noGrp="1" noRot="1" noChangeAspect="1"/>
          </p:cNvSpPr>
          <p:nvPr>
            <p:ph type="sldImg"/>
          </p:nvPr>
        </p:nvSpPr>
        <p:spPr>
          <a:xfrm>
            <a:off x="538163" y="503238"/>
            <a:ext cx="3146425" cy="2359025"/>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kern="1200" baseline="0">
                <a:solidFill>
                  <a:schemeClr val="tx1">
                    <a:lumMod val="50000"/>
                  </a:schemeClr>
                </a:solidFill>
                <a:latin typeface="+mn-lt"/>
                <a:ea typeface="+mn-ea"/>
                <a:cs typeface="+mn-cs"/>
              </a:rPr>
              <a:t>Test–retest reliability </a:t>
            </a:r>
            <a:r>
              <a:rPr lang="en-US" sz="1200" b="0" i="0" u="none" strike="noStrike" kern="1200" baseline="0">
                <a:solidFill>
                  <a:schemeClr val="tx1">
                    <a:lumMod val="50000"/>
                  </a:schemeClr>
                </a:solidFill>
                <a:latin typeface="+mn-lt"/>
                <a:ea typeface="+mn-ea"/>
                <a:cs typeface="+mn-cs"/>
              </a:rPr>
              <a:t>measures, sometimes called </a:t>
            </a:r>
            <a:r>
              <a:rPr lang="en-US" sz="1200" b="0" i="1" u="none" strike="noStrike" kern="1200" baseline="0">
                <a:solidFill>
                  <a:schemeClr val="tx1">
                    <a:lumMod val="50000"/>
                  </a:schemeClr>
                </a:solidFill>
                <a:latin typeface="+mn-lt"/>
                <a:ea typeface="+mn-ea"/>
                <a:cs typeface="+mn-cs"/>
              </a:rPr>
              <a:t>coefficients of stability, </a:t>
            </a:r>
            <a:r>
              <a:rPr lang="en-US" sz="1200" b="0" i="0" u="none" strike="noStrike" kern="1200" baseline="0">
                <a:solidFill>
                  <a:schemeClr val="tx1">
                    <a:lumMod val="50000"/>
                  </a:schemeClr>
                </a:solidFill>
                <a:latin typeface="+mn-lt"/>
                <a:ea typeface="+mn-ea"/>
                <a:cs typeface="+mn-cs"/>
              </a:rPr>
              <a:t>are obtained when the researcher is concerned with consistency of scores over time. </a:t>
            </a:r>
            <a:r>
              <a:rPr lang="en-US" sz="1200" b="0" i="1" u="none" strike="noStrike" kern="1200" baseline="0">
                <a:solidFill>
                  <a:schemeClr val="tx1">
                    <a:lumMod val="50000"/>
                  </a:schemeClr>
                </a:solidFill>
                <a:latin typeface="+mn-lt"/>
                <a:ea typeface="+mn-ea"/>
                <a:cs typeface="+mn-cs"/>
              </a:rPr>
              <a:t>Alternate forms reliability </a:t>
            </a:r>
            <a:r>
              <a:rPr lang="en-US" sz="1200" b="0" i="0" u="none" strike="noStrike" kern="1200" baseline="0">
                <a:solidFill>
                  <a:schemeClr val="tx1">
                    <a:lumMod val="50000"/>
                  </a:schemeClr>
                </a:solidFill>
                <a:latin typeface="+mn-lt"/>
                <a:ea typeface="+mn-ea"/>
                <a:cs typeface="+mn-cs"/>
              </a:rPr>
              <a:t>measures, or </a:t>
            </a:r>
            <a:r>
              <a:rPr lang="en-US" sz="1200" b="0" i="1" u="none" strike="noStrike" kern="1200" baseline="0">
                <a:solidFill>
                  <a:schemeClr val="tx1">
                    <a:lumMod val="50000"/>
                  </a:schemeClr>
                </a:solidFill>
                <a:latin typeface="+mn-lt"/>
                <a:ea typeface="+mn-ea"/>
                <a:cs typeface="+mn-cs"/>
              </a:rPr>
              <a:t>coefficients of equivalence, </a:t>
            </a:r>
            <a:r>
              <a:rPr lang="en-US" sz="1200" b="0" i="0" u="none" strike="noStrike" kern="1200" baseline="0">
                <a:solidFill>
                  <a:schemeClr val="tx1">
                    <a:lumMod val="50000"/>
                  </a:schemeClr>
                </a:solidFill>
                <a:latin typeface="+mn-lt"/>
                <a:ea typeface="+mn-ea"/>
                <a:cs typeface="+mn-cs"/>
              </a:rPr>
              <a:t>are of interest for situations in which there are multiple test forms designed to provide equivalent scores. </a:t>
            </a:r>
            <a:r>
              <a:rPr lang="en-US" sz="1200" b="0" i="1" u="none" strike="noStrike" kern="1200" baseline="0">
                <a:solidFill>
                  <a:schemeClr val="tx1">
                    <a:lumMod val="50000"/>
                  </a:schemeClr>
                </a:solidFill>
                <a:latin typeface="+mn-lt"/>
                <a:ea typeface="+mn-ea"/>
                <a:cs typeface="+mn-cs"/>
              </a:rPr>
              <a:t>Internal consistency </a:t>
            </a:r>
            <a:r>
              <a:rPr lang="en-US" sz="1200" b="0" i="0" u="none" strike="noStrike" kern="1200" baseline="0">
                <a:solidFill>
                  <a:schemeClr val="tx1">
                    <a:lumMod val="50000"/>
                  </a:schemeClr>
                </a:solidFill>
                <a:latin typeface="+mn-lt"/>
                <a:ea typeface="+mn-ea"/>
                <a:cs typeface="+mn-cs"/>
              </a:rPr>
              <a:t>measures of reliability reflect the degree to which the items on a test are interrelated. Internal consistency is important for any test that contains multiple items that will be summed or averaged to obtain a total score. These coefficients are discussed in Chapter 8. Finally, measures of </a:t>
            </a:r>
            <a:r>
              <a:rPr lang="en-US" sz="1200" b="0" i="1" u="none" strike="noStrike" kern="1200" baseline="0">
                <a:solidFill>
                  <a:schemeClr val="tx1">
                    <a:lumMod val="50000"/>
                  </a:schemeClr>
                </a:solidFill>
                <a:latin typeface="+mn-lt"/>
                <a:ea typeface="+mn-ea"/>
                <a:cs typeface="+mn-cs"/>
              </a:rPr>
              <a:t>interrater agreement, </a:t>
            </a:r>
            <a:r>
              <a:rPr lang="en-US" sz="1200" b="0" i="0" u="none" strike="noStrike" kern="1200" baseline="0">
                <a:solidFill>
                  <a:schemeClr val="tx1">
                    <a:lumMod val="50000"/>
                  </a:schemeClr>
                </a:solidFill>
                <a:latin typeface="+mn-lt"/>
                <a:ea typeface="+mn-ea"/>
                <a:cs typeface="+mn-cs"/>
              </a:rPr>
              <a:t>discussed in Chapter 9, assess the degree to which scores are consistent across raters.</a:t>
            </a:r>
          </a:p>
          <a:p>
            <a:endParaRPr lang="en-US"/>
          </a:p>
        </p:txBody>
      </p:sp>
      <p:sp>
        <p:nvSpPr>
          <p:cNvPr id="4" name="Slide Number Placeholder 3"/>
          <p:cNvSpPr>
            <a:spLocks noGrp="1"/>
          </p:cNvSpPr>
          <p:nvPr>
            <p:ph type="sldNum" sz="quarter" idx="5"/>
          </p:nvPr>
        </p:nvSpPr>
        <p:spPr/>
        <p:txBody>
          <a:bodyPr/>
          <a:lstStyle/>
          <a:p>
            <a:fld id="{69C971FF-EF28-4195-A575-329446EFAA55}" type="slidenum">
              <a:rPr lang="en-US" smtClean="0"/>
              <a:t>12</a:t>
            </a:fld>
            <a:endParaRPr lang="en-US"/>
          </a:p>
        </p:txBody>
      </p:sp>
    </p:spTree>
    <p:extLst>
      <p:ext uri="{BB962C8B-B14F-4D97-AF65-F5344CB8AC3E}">
        <p14:creationId xmlns:p14="http://schemas.microsoft.com/office/powerpoint/2010/main" val="2178939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lumMod val="50000"/>
                  </a:schemeClr>
                </a:solidFill>
                <a:latin typeface="+mn-lt"/>
                <a:ea typeface="+mn-ea"/>
                <a:cs typeface="+mn-cs"/>
              </a:rPr>
              <a:t>This type of reliability is important for situations in which scores will be obtained at different times and compared, such as in a pre–posttest situation. Test–retest reliability information is also important for situations in which test scores will be used for diagnosis, selection, or placement decisions. When test scores are used in making such decisions, the outcome, in the form of a treatment or placement, does not typically occur immediately but is delayed to some extent.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lumMod val="50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lumMod val="50000"/>
                  </a:schemeClr>
                </a:solidFill>
                <a:latin typeface="+mn-lt"/>
                <a:ea typeface="+mn-ea"/>
                <a:cs typeface="+mn-cs"/>
              </a:rPr>
              <a:t>assume a respondent is asked, “How many individuals live in your household?” at two different time points (with the second point coming a week or so after the first). The coefficient measuring the correlation between the two answers (Measure 1 and Measure 2) will indicate the level of consistency between the scores. </a:t>
            </a:r>
          </a:p>
          <a:p>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13</a:t>
            </a:fld>
            <a:endParaRPr lang="en-US"/>
          </a:p>
        </p:txBody>
      </p:sp>
    </p:spTree>
    <p:extLst>
      <p:ext uri="{BB962C8B-B14F-4D97-AF65-F5344CB8AC3E}">
        <p14:creationId xmlns:p14="http://schemas.microsoft.com/office/powerpoint/2010/main" val="2465919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this measurement for religiosity at two points in time will likely produce low reliability, given that the question is assessing religious service attendance over the course of an individual’s entire life—a very long and difficult time span to consider. </a:t>
            </a:r>
          </a:p>
        </p:txBody>
      </p:sp>
      <p:sp>
        <p:nvSpPr>
          <p:cNvPr id="4" name="Slide Number Placeholder 3"/>
          <p:cNvSpPr>
            <a:spLocks noGrp="1"/>
          </p:cNvSpPr>
          <p:nvPr>
            <p:ph type="sldNum" sz="quarter" idx="5"/>
          </p:nvPr>
        </p:nvSpPr>
        <p:spPr/>
        <p:txBody>
          <a:bodyPr/>
          <a:lstStyle/>
          <a:p>
            <a:fld id="{E0925CEA-CE71-402A-A3BD-05AB42F89E39}" type="slidenum">
              <a:rPr lang="en-US" smtClean="0"/>
              <a:t>14</a:t>
            </a:fld>
            <a:endParaRPr lang="en-US"/>
          </a:p>
        </p:txBody>
      </p:sp>
    </p:spTree>
    <p:extLst>
      <p:ext uri="{BB962C8B-B14F-4D97-AF65-F5344CB8AC3E}">
        <p14:creationId xmlns:p14="http://schemas.microsoft.com/office/powerpoint/2010/main" val="2052718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recasting the question to cover a much shorter, more finite, and more recent time period, this question makes a much more reasonable demand on respondents’ recall. </a:t>
            </a:r>
          </a:p>
        </p:txBody>
      </p:sp>
      <p:sp>
        <p:nvSpPr>
          <p:cNvPr id="4" name="Slide Number Placeholder 3"/>
          <p:cNvSpPr>
            <a:spLocks noGrp="1"/>
          </p:cNvSpPr>
          <p:nvPr>
            <p:ph type="sldNum" sz="quarter" idx="5"/>
          </p:nvPr>
        </p:nvSpPr>
        <p:spPr/>
        <p:txBody>
          <a:bodyPr/>
          <a:lstStyle/>
          <a:p>
            <a:fld id="{E0925CEA-CE71-402A-A3BD-05AB42F89E39}" type="slidenum">
              <a:rPr lang="en-US" smtClean="0"/>
              <a:t>15</a:t>
            </a:fld>
            <a:endParaRPr lang="en-US"/>
          </a:p>
        </p:txBody>
      </p:sp>
    </p:spTree>
    <p:extLst>
      <p:ext uri="{BB962C8B-B14F-4D97-AF65-F5344CB8AC3E}">
        <p14:creationId xmlns:p14="http://schemas.microsoft.com/office/powerpoint/2010/main" val="1944609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tx1">
                    <a:lumMod val="50000"/>
                  </a:schemeClr>
                </a:solidFill>
                <a:latin typeface="+mn-lt"/>
                <a:ea typeface="+mn-ea"/>
                <a:cs typeface="+mn-cs"/>
              </a:rPr>
              <a:t>How high should stability coefficients be? The higher the better,</a:t>
            </a:r>
          </a:p>
          <a:p>
            <a:endParaRPr lang="en-US"/>
          </a:p>
        </p:txBody>
      </p:sp>
      <p:sp>
        <p:nvSpPr>
          <p:cNvPr id="4" name="Slide Number Placeholder 3"/>
          <p:cNvSpPr>
            <a:spLocks noGrp="1"/>
          </p:cNvSpPr>
          <p:nvPr>
            <p:ph type="sldNum" sz="quarter" idx="5"/>
          </p:nvPr>
        </p:nvSpPr>
        <p:spPr/>
        <p:txBody>
          <a:bodyPr/>
          <a:lstStyle/>
          <a:p>
            <a:fld id="{69C971FF-EF28-4195-A575-329446EFAA55}" type="slidenum">
              <a:rPr lang="en-US" smtClean="0"/>
              <a:t>16</a:t>
            </a:fld>
            <a:endParaRPr lang="en-US"/>
          </a:p>
        </p:txBody>
      </p:sp>
    </p:spTree>
    <p:extLst>
      <p:ext uri="{BB962C8B-B14F-4D97-AF65-F5344CB8AC3E}">
        <p14:creationId xmlns:p14="http://schemas.microsoft.com/office/powerpoint/2010/main" val="3256949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tx1">
                    <a:lumMod val="50000"/>
                  </a:schemeClr>
                </a:solidFill>
                <a:latin typeface="+mn-lt"/>
                <a:ea typeface="+mn-ea"/>
                <a:cs typeface="+mn-cs"/>
              </a:rPr>
              <a:t>In many situations, more than one version of a test is available. These versions are designed to be interchangeable, such that the particular version taken does not influence respondents’ scores. Such </a:t>
            </a:r>
            <a:r>
              <a:rPr lang="en-US" sz="1200" b="0" i="1" u="none" strike="noStrike" kern="1200" baseline="0">
                <a:solidFill>
                  <a:schemeClr val="tx1">
                    <a:lumMod val="50000"/>
                  </a:schemeClr>
                </a:solidFill>
                <a:latin typeface="+mn-lt"/>
                <a:ea typeface="+mn-ea"/>
                <a:cs typeface="+mn-cs"/>
              </a:rPr>
              <a:t>alternate forms </a:t>
            </a:r>
            <a:r>
              <a:rPr lang="en-US" sz="1200" b="0" i="0" u="none" strike="noStrike" kern="1200" baseline="0">
                <a:solidFill>
                  <a:schemeClr val="tx1">
                    <a:lumMod val="50000"/>
                  </a:schemeClr>
                </a:solidFill>
                <a:latin typeface="+mn-lt"/>
                <a:ea typeface="+mn-ea"/>
                <a:cs typeface="+mn-cs"/>
              </a:rPr>
              <a:t>of tests are perhaps most common in educational testing, in which multiple forms of tests are often prepared in an effort to prevent cheating.</a:t>
            </a:r>
          </a:p>
          <a:p>
            <a:endParaRPr lang="en-US"/>
          </a:p>
        </p:txBody>
      </p:sp>
      <p:sp>
        <p:nvSpPr>
          <p:cNvPr id="4" name="Slide Number Placeholder 3"/>
          <p:cNvSpPr>
            <a:spLocks noGrp="1"/>
          </p:cNvSpPr>
          <p:nvPr>
            <p:ph type="sldNum" sz="quarter" idx="5"/>
          </p:nvPr>
        </p:nvSpPr>
        <p:spPr/>
        <p:txBody>
          <a:bodyPr/>
          <a:lstStyle/>
          <a:p>
            <a:fld id="{69C971FF-EF28-4195-A575-329446EFAA55}" type="slidenum">
              <a:rPr lang="en-US" smtClean="0"/>
              <a:t>17</a:t>
            </a:fld>
            <a:endParaRPr lang="en-US"/>
          </a:p>
        </p:txBody>
      </p:sp>
    </p:spTree>
    <p:extLst>
      <p:ext uri="{BB962C8B-B14F-4D97-AF65-F5344CB8AC3E}">
        <p14:creationId xmlns:p14="http://schemas.microsoft.com/office/powerpoint/2010/main" val="2629993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tx1">
                    <a:lumMod val="50000"/>
                  </a:schemeClr>
                </a:solidFill>
                <a:latin typeface="+mn-lt"/>
                <a:ea typeface="+mn-ea"/>
                <a:cs typeface="+mn-cs"/>
              </a:rPr>
              <a:t>Estimates of equivalence coefficients are obtained by administering the two forms of interest to the same respondents and then correlating the two sets of scores.</a:t>
            </a:r>
          </a:p>
          <a:p>
            <a:endParaRPr lang="en-US"/>
          </a:p>
        </p:txBody>
      </p:sp>
      <p:sp>
        <p:nvSpPr>
          <p:cNvPr id="4" name="Slide Number Placeholder 3"/>
          <p:cNvSpPr>
            <a:spLocks noGrp="1"/>
          </p:cNvSpPr>
          <p:nvPr>
            <p:ph type="sldNum" sz="quarter" idx="5"/>
          </p:nvPr>
        </p:nvSpPr>
        <p:spPr/>
        <p:txBody>
          <a:bodyPr/>
          <a:lstStyle/>
          <a:p>
            <a:fld id="{69C971FF-EF28-4195-A575-329446EFAA55}" type="slidenum">
              <a:rPr lang="en-US" smtClean="0"/>
              <a:t>18</a:t>
            </a:fld>
            <a:endParaRPr lang="en-US"/>
          </a:p>
        </p:txBody>
      </p:sp>
    </p:spTree>
    <p:extLst>
      <p:ext uri="{BB962C8B-B14F-4D97-AF65-F5344CB8AC3E}">
        <p14:creationId xmlns:p14="http://schemas.microsoft.com/office/powerpoint/2010/main" val="2590335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tx1">
                    <a:lumMod val="50000"/>
                  </a:schemeClr>
                </a:solidFill>
                <a:latin typeface="+mn-lt"/>
                <a:ea typeface="+mn-ea"/>
                <a:cs typeface="+mn-cs"/>
              </a:rPr>
              <a:t>The correlation between scores from the two administrations is the coefficient of interest, sometimes referred to as a </a:t>
            </a:r>
            <a:r>
              <a:rPr lang="en-US" sz="1200" b="0" i="1" u="none" strike="noStrike" kern="1200" baseline="0">
                <a:solidFill>
                  <a:schemeClr val="tx1">
                    <a:lumMod val="50000"/>
                  </a:schemeClr>
                </a:solidFill>
                <a:latin typeface="+mn-lt"/>
                <a:ea typeface="+mn-ea"/>
                <a:cs typeface="+mn-cs"/>
              </a:rPr>
              <a:t>coefficient of stability and equivalence.</a:t>
            </a:r>
            <a:endParaRPr lang="en-US" sz="1200" b="0" i="0" u="none" strike="noStrike" kern="1200" baseline="0">
              <a:solidFill>
                <a:schemeClr val="tx1">
                  <a:lumMod val="50000"/>
                </a:schemeClr>
              </a:solidFill>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69C971FF-EF28-4195-A575-329446EFAA55}" type="slidenum">
              <a:rPr lang="en-US" smtClean="0"/>
              <a:t>21</a:t>
            </a:fld>
            <a:endParaRPr lang="en-US"/>
          </a:p>
        </p:txBody>
      </p:sp>
    </p:spTree>
    <p:extLst>
      <p:ext uri="{BB962C8B-B14F-4D97-AF65-F5344CB8AC3E}">
        <p14:creationId xmlns:p14="http://schemas.microsoft.com/office/powerpoint/2010/main" val="784141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consider a set of questions measuring similar concept. Internal consistency asks, “How well do all of the items on a religiosity scale correspond with each other?” The measure is thus not related to a single item but rather assesses how a whole group of conceptually similar questions hang together. </a:t>
            </a:r>
          </a:p>
        </p:txBody>
      </p:sp>
      <p:sp>
        <p:nvSpPr>
          <p:cNvPr id="4" name="Slide Number Placeholder 3"/>
          <p:cNvSpPr>
            <a:spLocks noGrp="1"/>
          </p:cNvSpPr>
          <p:nvPr>
            <p:ph type="sldNum" sz="quarter" idx="5"/>
          </p:nvPr>
        </p:nvSpPr>
        <p:spPr/>
        <p:txBody>
          <a:bodyPr/>
          <a:lstStyle/>
          <a:p>
            <a:fld id="{E0925CEA-CE71-402A-A3BD-05AB42F89E39}" type="slidenum">
              <a:rPr lang="en-US" smtClean="0"/>
              <a:t>23</a:t>
            </a:fld>
            <a:endParaRPr lang="en-US"/>
          </a:p>
        </p:txBody>
      </p:sp>
    </p:spTree>
    <p:extLst>
      <p:ext uri="{BB962C8B-B14F-4D97-AF65-F5344CB8AC3E}">
        <p14:creationId xmlns:p14="http://schemas.microsoft.com/office/powerpoint/2010/main" val="1726104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tx1">
                    <a:lumMod val="50000"/>
                  </a:schemeClr>
                </a:solidFill>
                <a:latin typeface="+mn-lt"/>
                <a:ea typeface="+mn-ea"/>
                <a:cs typeface="+mn-cs"/>
              </a:rPr>
              <a:t>Measurement error may be caused by confusing wording, items that are irrelevant to the construct, vocabulary that is unfamiliar to respondents, or cognitive items that have more than one answer. Problems such as these will result in inconsistent responses for two reasons. First, not all respondents will be affected in the same manner by such wording. Second, such wording interferes with respondents’ ability to express their true level of the construct. Internal consistency coefficients assess the degree to which responses are consistent across items within a scale.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a:solidFill>
                <a:schemeClr val="tx1">
                  <a:lumMod val="50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tx1">
                    <a:lumMod val="50000"/>
                  </a:schemeClr>
                </a:solidFill>
                <a:latin typeface="+mn-lt"/>
                <a:ea typeface="+mn-ea"/>
                <a:cs typeface="+mn-cs"/>
              </a:rPr>
              <a:t>This approach mimics that of correlating scores on two parallel forms of a test, or on two scores from the same test obtained at different times, but it can be used in situations where neither scores from two test forms nor scores from two test administrations are available.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a:solidFill>
                <a:schemeClr val="tx1">
                  <a:lumMod val="50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a:solidFill>
                <a:schemeClr val="tx1">
                  <a:lumMod val="50000"/>
                </a:schemeClr>
              </a:solidFill>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69C971FF-EF28-4195-A575-329446EFAA55}" type="slidenum">
              <a:rPr lang="en-US" smtClean="0"/>
              <a:t>24</a:t>
            </a:fld>
            <a:endParaRPr lang="en-US"/>
          </a:p>
        </p:txBody>
      </p:sp>
    </p:spTree>
    <p:extLst>
      <p:ext uri="{BB962C8B-B14F-4D97-AF65-F5344CB8AC3E}">
        <p14:creationId xmlns:p14="http://schemas.microsoft.com/office/powerpoint/2010/main" val="1077890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000000"/>
                </a:solidFill>
                <a:effectLst/>
                <a:latin typeface="Times New Roman" panose="02020603050405020304" pitchFamily="18" charset="0"/>
              </a:rPr>
              <a:t>when the items are unidimensional (measuring the same latent trait), the sample coefficient alpha yields consistent estimate of reliability only when all the items have equal covariance with the true score, called tau-equivalence. But this assumption is seldom met in practice with educational and psychological scales.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000000"/>
              </a:solidFill>
              <a:effectLst/>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000000"/>
                </a:solidFill>
                <a:effectLst/>
                <a:latin typeface="Times New Roman" panose="02020603050405020304" pitchFamily="18" charset="0"/>
              </a:rPr>
              <a:t>A measure that overcomes the deficiencies of alpha is coefficient omega, which is based on a one-factor model. In particular, when the covariance among the items can be approximately accounted for by a one-factor model, the formulation of coefficient omega closely matches the definition of reliability</a:t>
            </a:r>
            <a:endParaRPr lang="en-US"/>
          </a:p>
        </p:txBody>
      </p:sp>
      <p:sp>
        <p:nvSpPr>
          <p:cNvPr id="4" name="Slide Number Placeholder 3"/>
          <p:cNvSpPr>
            <a:spLocks noGrp="1"/>
          </p:cNvSpPr>
          <p:nvPr>
            <p:ph type="sldNum" sz="quarter" idx="5"/>
          </p:nvPr>
        </p:nvSpPr>
        <p:spPr/>
        <p:txBody>
          <a:bodyPr/>
          <a:lstStyle/>
          <a:p>
            <a:fld id="{69C971FF-EF28-4195-A575-329446EFAA55}" type="slidenum">
              <a:rPr lang="en-US" smtClean="0"/>
              <a:t>25</a:t>
            </a:fld>
            <a:endParaRPr lang="en-US"/>
          </a:p>
        </p:txBody>
      </p:sp>
    </p:spTree>
    <p:extLst>
      <p:ext uri="{BB962C8B-B14F-4D97-AF65-F5344CB8AC3E}">
        <p14:creationId xmlns:p14="http://schemas.microsoft.com/office/powerpoint/2010/main" val="3789772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tx1">
                    <a:lumMod val="50000"/>
                  </a:schemeClr>
                </a:solidFill>
                <a:latin typeface="+mn-lt"/>
                <a:ea typeface="+mn-ea"/>
                <a:cs typeface="+mn-cs"/>
              </a:rPr>
              <a:t>The higher values for clinical decisions reflect the serious consequences of such decisions and the need for correspondingly higher standards.</a:t>
            </a:r>
          </a:p>
          <a:p>
            <a:endParaRPr lang="en-US"/>
          </a:p>
        </p:txBody>
      </p:sp>
      <p:sp>
        <p:nvSpPr>
          <p:cNvPr id="4" name="Slide Number Placeholder 3"/>
          <p:cNvSpPr>
            <a:spLocks noGrp="1"/>
          </p:cNvSpPr>
          <p:nvPr>
            <p:ph type="sldNum" sz="quarter" idx="5"/>
          </p:nvPr>
        </p:nvSpPr>
        <p:spPr/>
        <p:txBody>
          <a:bodyPr/>
          <a:lstStyle/>
          <a:p>
            <a:fld id="{69C971FF-EF28-4195-A575-329446EFAA55}" type="slidenum">
              <a:rPr lang="en-US" smtClean="0"/>
              <a:t>28</a:t>
            </a:fld>
            <a:endParaRPr lang="en-US"/>
          </a:p>
        </p:txBody>
      </p:sp>
    </p:spTree>
    <p:extLst>
      <p:ext uri="{BB962C8B-B14F-4D97-AF65-F5344CB8AC3E}">
        <p14:creationId xmlns:p14="http://schemas.microsoft.com/office/powerpoint/2010/main" val="1226039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this example, which compares a question with few response options to another version with many response options and to a third version with open-ended questions with unlimited response options. The question with the fewest response options will have the more reliability, given it requires less concentration and memory.</a:t>
            </a:r>
          </a:p>
        </p:txBody>
      </p:sp>
      <p:sp>
        <p:nvSpPr>
          <p:cNvPr id="4" name="Slide Number Placeholder 3"/>
          <p:cNvSpPr>
            <a:spLocks noGrp="1"/>
          </p:cNvSpPr>
          <p:nvPr>
            <p:ph type="sldNum" sz="quarter" idx="5"/>
          </p:nvPr>
        </p:nvSpPr>
        <p:spPr/>
        <p:txBody>
          <a:bodyPr/>
          <a:lstStyle/>
          <a:p>
            <a:fld id="{E0925CEA-CE71-402A-A3BD-05AB42F89E39}" type="slidenum">
              <a:rPr lang="en-US" smtClean="0"/>
              <a:t>30</a:t>
            </a:fld>
            <a:endParaRPr lang="en-US"/>
          </a:p>
        </p:txBody>
      </p:sp>
    </p:spTree>
    <p:extLst>
      <p:ext uri="{BB962C8B-B14F-4D97-AF65-F5344CB8AC3E}">
        <p14:creationId xmlns:p14="http://schemas.microsoft.com/office/powerpoint/2010/main" val="38561288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localhost/Users/ranja/Documents/5-resources/ppt/2018%20ppt-with%20R/new/working%20files/graphics_4x3-M-gold.png"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787400"/>
            <a:ext cx="8001000" cy="1143000"/>
          </a:xfrm>
        </p:spPr>
        <p:txBody>
          <a:bodyPr/>
          <a:lstStyle>
            <a:lvl1pPr algn="l">
              <a:defRPr>
                <a:solidFill>
                  <a:srgbClr val="7A0019"/>
                </a:solidFill>
              </a:defRPr>
            </a:lvl1pPr>
          </a:lstStyle>
          <a:p>
            <a:pPr lvl="0"/>
            <a:r>
              <a:rPr lang="en-US" noProof="0"/>
              <a:t>Click to edit Master title style</a:t>
            </a:r>
            <a:endParaRPr lang="en-US" noProof="0" dirty="0"/>
          </a:p>
        </p:txBody>
      </p:sp>
      <p:sp>
        <p:nvSpPr>
          <p:cNvPr id="6" name="Text Placeholder 5"/>
          <p:cNvSpPr>
            <a:spLocks noGrp="1"/>
          </p:cNvSpPr>
          <p:nvPr>
            <p:ph type="body" sz="quarter" idx="10" hasCustomPrompt="1"/>
          </p:nvPr>
        </p:nvSpPr>
        <p:spPr>
          <a:xfrm>
            <a:off x="685800" y="2921000"/>
            <a:ext cx="8001000" cy="609600"/>
          </a:xfrm>
        </p:spPr>
        <p:txBody>
          <a:bodyPr/>
          <a:lstStyle>
            <a:lvl1pPr marL="0" indent="0">
              <a:buNone/>
              <a:defRPr sz="1800">
                <a:solidFill>
                  <a:schemeClr val="tx1">
                    <a:lumMod val="65000"/>
                    <a:lumOff val="35000"/>
                  </a:schemeClr>
                </a:solidFill>
              </a:defRPr>
            </a:lvl1pPr>
            <a:lvl2pPr marL="342946" indent="0">
              <a:buNone/>
              <a:defRPr sz="1800">
                <a:solidFill>
                  <a:srgbClr val="FFFFFF"/>
                </a:solidFill>
              </a:defRPr>
            </a:lvl2pPr>
            <a:lvl3pPr marL="685891" indent="0">
              <a:buNone/>
              <a:defRPr sz="1800">
                <a:solidFill>
                  <a:srgbClr val="FFFFFF"/>
                </a:solidFill>
              </a:defRPr>
            </a:lvl3pPr>
            <a:lvl4pPr marL="1028837" indent="0">
              <a:buNone/>
              <a:defRPr sz="1800">
                <a:solidFill>
                  <a:srgbClr val="FFFFFF"/>
                </a:solidFill>
              </a:defRPr>
            </a:lvl4pPr>
            <a:lvl5pPr marL="1371783" indent="0">
              <a:buNone/>
              <a:defRPr sz="1800">
                <a:solidFill>
                  <a:srgbClr val="FFFFFF"/>
                </a:solidFill>
              </a:defRPr>
            </a:lvl5pPr>
          </a:lstStyle>
          <a:p>
            <a:pPr lvl="0"/>
            <a:r>
              <a:rPr lang="en-US" dirty="0"/>
              <a:t>Presenter/unit/department name</a:t>
            </a:r>
          </a:p>
        </p:txBody>
      </p:sp>
      <p:sp>
        <p:nvSpPr>
          <p:cNvPr id="10" name="Text Placeholder 9"/>
          <p:cNvSpPr>
            <a:spLocks noGrp="1"/>
          </p:cNvSpPr>
          <p:nvPr>
            <p:ph type="body" sz="quarter" idx="12" hasCustomPrompt="1"/>
          </p:nvPr>
        </p:nvSpPr>
        <p:spPr>
          <a:xfrm>
            <a:off x="685800" y="3530600"/>
            <a:ext cx="8001000" cy="508000"/>
          </a:xfrm>
        </p:spPr>
        <p:txBody>
          <a:bodyPr/>
          <a:lstStyle>
            <a:lvl1pPr marL="0" indent="0">
              <a:buNone/>
              <a:defRPr sz="1200">
                <a:solidFill>
                  <a:schemeClr val="tx1">
                    <a:lumMod val="65000"/>
                    <a:lumOff val="35000"/>
                  </a:schemeClr>
                </a:solidFill>
              </a:defRPr>
            </a:lvl1pPr>
            <a:lvl2pPr marL="342946" indent="0">
              <a:buNone/>
              <a:defRPr sz="1200">
                <a:solidFill>
                  <a:srgbClr val="FFFFFF"/>
                </a:solidFill>
              </a:defRPr>
            </a:lvl2pPr>
            <a:lvl3pPr marL="685891" indent="0">
              <a:buNone/>
              <a:defRPr sz="1200">
                <a:solidFill>
                  <a:srgbClr val="FFFFFF"/>
                </a:solidFill>
              </a:defRPr>
            </a:lvl3pPr>
            <a:lvl4pPr marL="1028837" indent="0">
              <a:buNone/>
              <a:defRPr sz="1200">
                <a:solidFill>
                  <a:srgbClr val="FFFFFF"/>
                </a:solidFill>
              </a:defRPr>
            </a:lvl4pPr>
            <a:lvl5pPr marL="1371783" indent="0">
              <a:buNone/>
              <a:defRPr sz="1200">
                <a:solidFill>
                  <a:srgbClr val="FFFFFF"/>
                </a:solidFill>
              </a:defRPr>
            </a:lvl5pPr>
          </a:lstStyle>
          <a:p>
            <a:pPr lvl="0"/>
            <a:r>
              <a:rPr lang="en-US" dirty="0"/>
              <a:t>Date</a:t>
            </a:r>
          </a:p>
        </p:txBody>
      </p:sp>
      <p:pic>
        <p:nvPicPr>
          <p:cNvPr id="8" name="graphics_4x3-M-gold.png" descr="/Users/ranja/Documents/5-resources/ppt/2018 ppt-with R/new/working files/graphics_4x3-M-gold.png">
            <a:extLst>
              <a:ext uri="{FF2B5EF4-FFF2-40B4-BE49-F238E27FC236}">
                <a16:creationId xmlns:a16="http://schemas.microsoft.com/office/drawing/2014/main" id="{BD85783E-02E7-AD5B-1B73-2B1DBD3BD5B1}"/>
              </a:ext>
            </a:extLst>
          </p:cNvPr>
          <p:cNvPicPr>
            <a:picLocks noChangeAspect="1"/>
          </p:cNvPicPr>
          <p:nvPr/>
        </p:nvPicPr>
        <p:blipFill rotWithShape="1">
          <a:blip r:embed="rId2" r:link="rId3" cstate="print">
            <a:extLst>
              <a:ext uri="{28A0092B-C50C-407E-A947-70E740481C1C}">
                <a14:useLocalDpi xmlns:a14="http://schemas.microsoft.com/office/drawing/2010/main"/>
              </a:ext>
            </a:extLst>
          </a:blip>
          <a:srcRect r="10000"/>
          <a:stretch>
            <a:fillRect/>
          </a:stretch>
        </p:blipFill>
        <p:spPr>
          <a:xfrm>
            <a:off x="0" y="6387041"/>
            <a:ext cx="9144000" cy="466344"/>
          </a:xfrm>
          <a:prstGeom prst="rect">
            <a:avLst/>
          </a:prstGeom>
        </p:spPr>
      </p:pic>
      <p:pic>
        <p:nvPicPr>
          <p:cNvPr id="5" name="Picture 4" descr="A cartoon of a beaver with a large letter&#10;&#10;Description automatically generated">
            <a:extLst>
              <a:ext uri="{FF2B5EF4-FFF2-40B4-BE49-F238E27FC236}">
                <a16:creationId xmlns:a16="http://schemas.microsoft.com/office/drawing/2014/main" id="{2A03D404-5F99-3C9D-E8C4-48EF1EA452C9}"/>
              </a:ext>
            </a:extLst>
          </p:cNvPr>
          <p:cNvPicPr>
            <a:picLocks noChangeAspect="1"/>
          </p:cNvPicPr>
          <p:nvPr/>
        </p:nvPicPr>
        <p:blipFill>
          <a:blip r:embed="rId4"/>
          <a:stretch>
            <a:fillRect/>
          </a:stretch>
        </p:blipFill>
        <p:spPr>
          <a:xfrm>
            <a:off x="6400794" y="4956044"/>
            <a:ext cx="2743206" cy="1901956"/>
          </a:xfrm>
          <a:prstGeom prst="rect">
            <a:avLst/>
          </a:prstGeom>
        </p:spPr>
      </p:pic>
    </p:spTree>
    <p:extLst>
      <p:ext uri="{BB962C8B-B14F-4D97-AF65-F5344CB8AC3E}">
        <p14:creationId xmlns:p14="http://schemas.microsoft.com/office/powerpoint/2010/main" val="2770702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0150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5"/>
            <a:ext cx="7772400" cy="1362075"/>
          </a:xfrm>
        </p:spPr>
        <p:txBody>
          <a:bodyPr anchor="t"/>
          <a:lstStyle>
            <a:lvl1pPr algn="l">
              <a:defRPr sz="3000" b="0" i="0" cap="none"/>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46" indent="0">
              <a:buNone/>
              <a:defRPr sz="1400"/>
            </a:lvl2pPr>
            <a:lvl3pPr marL="685891" indent="0">
              <a:buNone/>
              <a:defRPr sz="1200"/>
            </a:lvl3pPr>
            <a:lvl4pPr marL="1028837" indent="0">
              <a:buNone/>
              <a:defRPr sz="1100"/>
            </a:lvl4pPr>
            <a:lvl5pPr marL="1371783" indent="0">
              <a:buNone/>
              <a:defRPr sz="1100"/>
            </a:lvl5pPr>
            <a:lvl6pPr marL="1714729" indent="0">
              <a:buNone/>
              <a:defRPr sz="1100"/>
            </a:lvl6pPr>
            <a:lvl7pPr marL="2057674" indent="0">
              <a:buNone/>
              <a:defRPr sz="1100"/>
            </a:lvl7pPr>
            <a:lvl8pPr marL="2400620" indent="0">
              <a:buNone/>
              <a:defRPr sz="1100"/>
            </a:lvl8pPr>
            <a:lvl9pPr marL="2743566" indent="0">
              <a:buNone/>
              <a:defRPr sz="1100"/>
            </a:lvl9pPr>
          </a:lstStyle>
          <a:p>
            <a:pPr lvl="0"/>
            <a:r>
              <a:rPr lang="en-US"/>
              <a:t>Click to edit Master text styles</a:t>
            </a:r>
          </a:p>
        </p:txBody>
      </p:sp>
    </p:spTree>
    <p:extLst>
      <p:ext uri="{BB962C8B-B14F-4D97-AF65-F5344CB8AC3E}">
        <p14:creationId xmlns:p14="http://schemas.microsoft.com/office/powerpoint/2010/main" val="3738933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4658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7"/>
            <a:ext cx="4041775" cy="639763"/>
          </a:xfrm>
        </p:spPr>
        <p:txBody>
          <a:bodyPr anchor="b"/>
          <a:lstStyle>
            <a:lvl1pPr marL="0" indent="0">
              <a:buNone/>
              <a:defRPr sz="1800" b="1"/>
            </a:lvl1pPr>
            <a:lvl2pPr marL="342946" indent="0">
              <a:buNone/>
              <a:defRPr sz="1500" b="1"/>
            </a:lvl2pPr>
            <a:lvl3pPr marL="685891" indent="0">
              <a:buNone/>
              <a:defRPr sz="1400" b="1"/>
            </a:lvl3pPr>
            <a:lvl4pPr marL="1028837" indent="0">
              <a:buNone/>
              <a:defRPr sz="1200" b="1"/>
            </a:lvl4pPr>
            <a:lvl5pPr marL="1371783" indent="0">
              <a:buNone/>
              <a:defRPr sz="1200" b="1"/>
            </a:lvl5pPr>
            <a:lvl6pPr marL="1714729" indent="0">
              <a:buNone/>
              <a:defRPr sz="1200" b="1"/>
            </a:lvl6pPr>
            <a:lvl7pPr marL="2057674" indent="0">
              <a:buNone/>
              <a:defRPr sz="1200" b="1"/>
            </a:lvl7pPr>
            <a:lvl8pPr marL="2400620" indent="0">
              <a:buNone/>
              <a:defRPr sz="1200" b="1"/>
            </a:lvl8pPr>
            <a:lvl9pPr marL="274356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4390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8065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295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3"/>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7"/>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435104"/>
            <a:ext cx="3008313" cy="46910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1709548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46" indent="0">
              <a:buNone/>
              <a:defRPr sz="2100"/>
            </a:lvl2pPr>
            <a:lvl3pPr marL="685891" indent="0">
              <a:buNone/>
              <a:defRPr sz="1800"/>
            </a:lvl3pPr>
            <a:lvl4pPr marL="1028837" indent="0">
              <a:buNone/>
              <a:defRPr sz="1500"/>
            </a:lvl4pPr>
            <a:lvl5pPr marL="1371783" indent="0">
              <a:buNone/>
              <a:defRPr sz="1500"/>
            </a:lvl5pPr>
            <a:lvl6pPr marL="1714729" indent="0">
              <a:buNone/>
              <a:defRPr sz="1500"/>
            </a:lvl6pPr>
            <a:lvl7pPr marL="2057674" indent="0">
              <a:buNone/>
              <a:defRPr sz="1500"/>
            </a:lvl7pPr>
            <a:lvl8pPr marL="2400620" indent="0">
              <a:buNone/>
              <a:defRPr sz="1500"/>
            </a:lvl8pPr>
            <a:lvl9pPr marL="2743566"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42"/>
            <a:ext cx="5486400" cy="804863"/>
          </a:xfrm>
        </p:spPr>
        <p:txBody>
          <a:bodyPr/>
          <a:lstStyle>
            <a:lvl1pPr marL="0" indent="0">
              <a:buNone/>
              <a:defRPr sz="1100"/>
            </a:lvl1pPr>
            <a:lvl2pPr marL="342946" indent="0">
              <a:buNone/>
              <a:defRPr sz="900"/>
            </a:lvl2pPr>
            <a:lvl3pPr marL="685891" indent="0">
              <a:buNone/>
              <a:defRPr sz="800"/>
            </a:lvl3pPr>
            <a:lvl4pPr marL="1028837" indent="0">
              <a:buNone/>
              <a:defRPr sz="700"/>
            </a:lvl4pPr>
            <a:lvl5pPr marL="1371783" indent="0">
              <a:buNone/>
              <a:defRPr sz="700"/>
            </a:lvl5pPr>
            <a:lvl6pPr marL="1714729" indent="0">
              <a:buNone/>
              <a:defRPr sz="700"/>
            </a:lvl6pPr>
            <a:lvl7pPr marL="2057674" indent="0">
              <a:buNone/>
              <a:defRPr sz="700"/>
            </a:lvl7pPr>
            <a:lvl8pPr marL="2400620" indent="0">
              <a:buNone/>
              <a:defRPr sz="700"/>
            </a:lvl8pPr>
            <a:lvl9pPr marL="2743566" indent="0">
              <a:buNone/>
              <a:defRPr sz="700"/>
            </a:lvl9pPr>
          </a:lstStyle>
          <a:p>
            <a:pPr lvl="0"/>
            <a:r>
              <a:rPr lang="en-US"/>
              <a:t>Click to edit Master text styles</a:t>
            </a:r>
          </a:p>
        </p:txBody>
      </p:sp>
    </p:spTree>
    <p:extLst>
      <p:ext uri="{BB962C8B-B14F-4D97-AF65-F5344CB8AC3E}">
        <p14:creationId xmlns:p14="http://schemas.microsoft.com/office/powerpoint/2010/main" val="4099265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4520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1" y="3048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9472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file://localhost/Users/ranja/Documents/5-resources/ppt/2018%20ppt-with%20R/new/working%20files/graphics_4x3-M-gold.pn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68589" tIns="34295" rIns="68589" bIns="34295" numCol="1" anchor="ctr" anchorCtr="0" compatLnSpc="1">
            <a:prstTxWarp prst="textNoShape">
              <a:avLst/>
            </a:prstTxWarp>
          </a:bodyPr>
          <a:lstStyle/>
          <a:p>
            <a:pPr lvl="0"/>
            <a:r>
              <a:rPr lang="en-US"/>
              <a:t>Click to edit Master title style</a:t>
            </a:r>
            <a:endParaRPr lang="en-US" dirty="0"/>
          </a:p>
        </p:txBody>
      </p:sp>
      <p:sp>
        <p:nvSpPr>
          <p:cNvPr id="1027" name="Rectangle 3"/>
          <p:cNvSpPr>
            <a:spLocks noGrp="1" noChangeArrowheads="1"/>
          </p:cNvSpPr>
          <p:nvPr>
            <p:ph type="body" idx="1"/>
          </p:nvPr>
        </p:nvSpPr>
        <p:spPr bwMode="auto">
          <a:xfrm>
            <a:off x="685800" y="1752600"/>
            <a:ext cx="7772400" cy="39624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68589" tIns="34295" rIns="68589" bIns="3429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graphics_4x3-M-gold.png" descr="/Users/ranja/Documents/5-resources/ppt/2018 ppt-with R/new/working files/graphics_4x3-M-gold.png"/>
          <p:cNvPicPr>
            <a:picLocks noChangeAspect="1"/>
          </p:cNvPicPr>
          <p:nvPr/>
        </p:nvPicPr>
        <p:blipFill>
          <a:blip r:embed="rId13" r:link="rId14" cstate="print">
            <a:extLst>
              <a:ext uri="{28A0092B-C50C-407E-A947-70E740481C1C}">
                <a14:useLocalDpi xmlns:a14="http://schemas.microsoft.com/office/drawing/2010/main"/>
              </a:ext>
            </a:extLst>
          </a:blip>
          <a:stretch>
            <a:fillRect/>
          </a:stretch>
        </p:blipFill>
        <p:spPr>
          <a:xfrm>
            <a:off x="0" y="6387041"/>
            <a:ext cx="9144000" cy="466344"/>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1" fontAlgn="base" hangingPunct="1">
        <a:spcBef>
          <a:spcPct val="0"/>
        </a:spcBef>
        <a:spcAft>
          <a:spcPct val="0"/>
        </a:spcAft>
        <a:defRPr sz="3300" b="0">
          <a:solidFill>
            <a:srgbClr val="7A0019"/>
          </a:solidFill>
          <a:latin typeface="+mj-lt"/>
          <a:ea typeface="ＭＳ Ｐゴシック" charset="0"/>
          <a:cs typeface="ＭＳ Ｐゴシック" charset="0"/>
        </a:defRPr>
      </a:lvl1pPr>
      <a:lvl2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Corbel" charset="0"/>
          <a:ea typeface="ＭＳ Ｐゴシック" charset="0"/>
          <a:cs typeface="ＭＳ Ｐゴシック" charset="0"/>
        </a:defRPr>
      </a:lvl5pPr>
      <a:lvl6pPr marL="34294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891"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837"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209" indent="-257209" algn="l" rtl="0" eaLnBrk="1" fontAlgn="base" hangingPunct="1">
        <a:spcBef>
          <a:spcPct val="20000"/>
        </a:spcBef>
        <a:spcAft>
          <a:spcPct val="0"/>
        </a:spcAft>
        <a:buClr>
          <a:srgbClr val="7A0019"/>
        </a:buClr>
        <a:buChar char="•"/>
        <a:defRPr sz="2400">
          <a:solidFill>
            <a:srgbClr val="595959"/>
          </a:solidFill>
          <a:latin typeface="+mn-lt"/>
          <a:ea typeface="ＭＳ Ｐゴシック" charset="0"/>
          <a:cs typeface="ＭＳ Ｐゴシック" charset="0"/>
        </a:defRPr>
      </a:lvl1pPr>
      <a:lvl2pPr marL="557287" indent="-214341" algn="l" rtl="0" eaLnBrk="1" fontAlgn="base" hangingPunct="1">
        <a:spcBef>
          <a:spcPct val="20000"/>
        </a:spcBef>
        <a:spcAft>
          <a:spcPct val="0"/>
        </a:spcAft>
        <a:buClr>
          <a:srgbClr val="7A0019"/>
        </a:buClr>
        <a:buChar char="–"/>
        <a:defRPr sz="2100">
          <a:solidFill>
            <a:srgbClr val="595959"/>
          </a:solidFill>
          <a:latin typeface="+mn-lt"/>
          <a:ea typeface="ＭＳ Ｐゴシック" charset="0"/>
        </a:defRPr>
      </a:lvl2pPr>
      <a:lvl3pPr marL="857364" indent="-171473" algn="l" rtl="0" eaLnBrk="1" fontAlgn="base" hangingPunct="1">
        <a:spcBef>
          <a:spcPct val="20000"/>
        </a:spcBef>
        <a:spcAft>
          <a:spcPct val="0"/>
        </a:spcAft>
        <a:buClr>
          <a:srgbClr val="7A0019"/>
        </a:buClr>
        <a:buChar char="•"/>
        <a:defRPr sz="1800">
          <a:solidFill>
            <a:srgbClr val="595959"/>
          </a:solidFill>
          <a:latin typeface="+mn-lt"/>
          <a:ea typeface="ＭＳ Ｐゴシック" charset="0"/>
        </a:defRPr>
      </a:lvl3pPr>
      <a:lvl4pPr marL="1200310"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4pPr>
      <a:lvl5pPr marL="1543256" indent="-171473" algn="l" rtl="0" eaLnBrk="1" fontAlgn="base" hangingPunct="1">
        <a:spcBef>
          <a:spcPct val="20000"/>
        </a:spcBef>
        <a:spcAft>
          <a:spcPct val="0"/>
        </a:spcAft>
        <a:buClr>
          <a:srgbClr val="7A0019"/>
        </a:buClr>
        <a:buChar char="»"/>
        <a:defRPr sz="1500">
          <a:solidFill>
            <a:srgbClr val="595959"/>
          </a:solidFill>
          <a:latin typeface="+mn-lt"/>
          <a:ea typeface="ＭＳ Ｐゴシック" charset="0"/>
        </a:defRPr>
      </a:lvl5pPr>
      <a:lvl6pPr marL="1886201" indent="-171473"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9147" indent="-171473"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2093" indent="-171473"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5039" indent="-171473"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946" rtl="0" eaLnBrk="1" latinLnBrk="0" hangingPunct="1">
        <a:defRPr sz="1400" kern="1200">
          <a:solidFill>
            <a:schemeClr val="tx1"/>
          </a:solidFill>
          <a:latin typeface="+mn-lt"/>
          <a:ea typeface="+mn-ea"/>
          <a:cs typeface="+mn-cs"/>
        </a:defRPr>
      </a:lvl1pPr>
      <a:lvl2pPr marL="342946" algn="l" defTabSz="342946" rtl="0" eaLnBrk="1" latinLnBrk="0" hangingPunct="1">
        <a:defRPr sz="1400" kern="1200">
          <a:solidFill>
            <a:schemeClr val="tx1"/>
          </a:solidFill>
          <a:latin typeface="+mn-lt"/>
          <a:ea typeface="+mn-ea"/>
          <a:cs typeface="+mn-cs"/>
        </a:defRPr>
      </a:lvl2pPr>
      <a:lvl3pPr marL="685891" algn="l" defTabSz="342946" rtl="0" eaLnBrk="1" latinLnBrk="0" hangingPunct="1">
        <a:defRPr sz="1400" kern="1200">
          <a:solidFill>
            <a:schemeClr val="tx1"/>
          </a:solidFill>
          <a:latin typeface="+mn-lt"/>
          <a:ea typeface="+mn-ea"/>
          <a:cs typeface="+mn-cs"/>
        </a:defRPr>
      </a:lvl3pPr>
      <a:lvl4pPr marL="1028837" algn="l" defTabSz="342946" rtl="0" eaLnBrk="1" latinLnBrk="0" hangingPunct="1">
        <a:defRPr sz="1400" kern="1200">
          <a:solidFill>
            <a:schemeClr val="tx1"/>
          </a:solidFill>
          <a:latin typeface="+mn-lt"/>
          <a:ea typeface="+mn-ea"/>
          <a:cs typeface="+mn-cs"/>
        </a:defRPr>
      </a:lvl4pPr>
      <a:lvl5pPr marL="1371783" algn="l" defTabSz="342946" rtl="0" eaLnBrk="1" latinLnBrk="0" hangingPunct="1">
        <a:defRPr sz="1400" kern="1200">
          <a:solidFill>
            <a:schemeClr val="tx1"/>
          </a:solidFill>
          <a:latin typeface="+mn-lt"/>
          <a:ea typeface="+mn-ea"/>
          <a:cs typeface="+mn-cs"/>
        </a:defRPr>
      </a:lvl5pPr>
      <a:lvl6pPr marL="1714729" algn="l" defTabSz="342946" rtl="0" eaLnBrk="1" latinLnBrk="0" hangingPunct="1">
        <a:defRPr sz="1400" kern="1200">
          <a:solidFill>
            <a:schemeClr val="tx1"/>
          </a:solidFill>
          <a:latin typeface="+mn-lt"/>
          <a:ea typeface="+mn-ea"/>
          <a:cs typeface="+mn-cs"/>
        </a:defRPr>
      </a:lvl6pPr>
      <a:lvl7pPr marL="2057674" algn="l" defTabSz="342946" rtl="0" eaLnBrk="1" latinLnBrk="0" hangingPunct="1">
        <a:defRPr sz="1400" kern="1200">
          <a:solidFill>
            <a:schemeClr val="tx1"/>
          </a:solidFill>
          <a:latin typeface="+mn-lt"/>
          <a:ea typeface="+mn-ea"/>
          <a:cs typeface="+mn-cs"/>
        </a:defRPr>
      </a:lvl7pPr>
      <a:lvl8pPr marL="2400620" algn="l" defTabSz="342946" rtl="0" eaLnBrk="1" latinLnBrk="0" hangingPunct="1">
        <a:defRPr sz="1400" kern="1200">
          <a:solidFill>
            <a:schemeClr val="tx1"/>
          </a:solidFill>
          <a:latin typeface="+mn-lt"/>
          <a:ea typeface="+mn-ea"/>
          <a:cs typeface="+mn-cs"/>
        </a:defRPr>
      </a:lvl8pPr>
      <a:lvl9pPr marL="2743566" algn="l" defTabSz="34294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65C8C-CF70-CF3F-9392-E243431AEC0B}"/>
              </a:ext>
            </a:extLst>
          </p:cNvPr>
          <p:cNvSpPr>
            <a:spLocks noGrp="1"/>
          </p:cNvSpPr>
          <p:nvPr>
            <p:ph type="ctrTitle"/>
          </p:nvPr>
        </p:nvSpPr>
        <p:spPr/>
        <p:txBody>
          <a:bodyPr/>
          <a:lstStyle/>
          <a:p>
            <a:r>
              <a:rPr lang="en-US" b="0" i="0" dirty="0">
                <a:solidFill>
                  <a:srgbClr val="333333"/>
                </a:solidFill>
                <a:effectLst/>
                <a:highlight>
                  <a:srgbClr val="FFFFFF"/>
                </a:highlight>
                <a:latin typeface="Titillium Web" panose="020F0502020204030204" pitchFamily="2" charset="0"/>
              </a:rPr>
              <a:t>Reliability</a:t>
            </a:r>
            <a:endParaRPr lang="en-US" dirty="0"/>
          </a:p>
        </p:txBody>
      </p:sp>
      <p:sp>
        <p:nvSpPr>
          <p:cNvPr id="3" name="Text Placeholder 2">
            <a:extLst>
              <a:ext uri="{FF2B5EF4-FFF2-40B4-BE49-F238E27FC236}">
                <a16:creationId xmlns:a16="http://schemas.microsoft.com/office/drawing/2014/main" id="{54B6C380-3DF9-E998-2C27-3E061F31EA79}"/>
              </a:ext>
            </a:extLst>
          </p:cNvPr>
          <p:cNvSpPr>
            <a:spLocks noGrp="1"/>
          </p:cNvSpPr>
          <p:nvPr>
            <p:ph type="body" sz="quarter" idx="10"/>
          </p:nvPr>
        </p:nvSpPr>
        <p:spPr/>
        <p:txBody>
          <a:bodyPr/>
          <a:lstStyle/>
          <a:p>
            <a:r>
              <a:rPr lang="en-US" dirty="0"/>
              <a:t>Wenchao Ma</a:t>
            </a:r>
          </a:p>
          <a:p>
            <a:r>
              <a:rPr lang="en-US" dirty="0"/>
              <a:t>University of Minnesota</a:t>
            </a:r>
          </a:p>
          <a:p>
            <a:endParaRPr lang="en-US" dirty="0"/>
          </a:p>
        </p:txBody>
      </p:sp>
      <p:sp>
        <p:nvSpPr>
          <p:cNvPr id="4" name="Text Placeholder 3">
            <a:extLst>
              <a:ext uri="{FF2B5EF4-FFF2-40B4-BE49-F238E27FC236}">
                <a16:creationId xmlns:a16="http://schemas.microsoft.com/office/drawing/2014/main" id="{9D768A85-7F52-262F-2784-53D0D2E9D002}"/>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66811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5C5AE-C0C3-476B-A46A-057FBA14785D}"/>
              </a:ext>
            </a:extLst>
          </p:cNvPr>
          <p:cNvSpPr>
            <a:spLocks noGrp="1"/>
          </p:cNvSpPr>
          <p:nvPr>
            <p:ph type="title"/>
          </p:nvPr>
        </p:nvSpPr>
        <p:spPr/>
        <p:txBody>
          <a:bodyPr/>
          <a:lstStyle/>
          <a:p>
            <a:r>
              <a:rPr lang="en-US" altLang="zh-CN" dirty="0"/>
              <a:t>Classical Test Theory</a:t>
            </a:r>
            <a:endParaRPr lang="en-US" dirty="0"/>
          </a:p>
        </p:txBody>
      </p:sp>
      <p:sp>
        <p:nvSpPr>
          <p:cNvPr id="3" name="Content Placeholder 2">
            <a:extLst>
              <a:ext uri="{FF2B5EF4-FFF2-40B4-BE49-F238E27FC236}">
                <a16:creationId xmlns:a16="http://schemas.microsoft.com/office/drawing/2014/main" id="{171C753C-59A1-4D99-ACCE-47AF11CDA8FB}"/>
              </a:ext>
            </a:extLst>
          </p:cNvPr>
          <p:cNvSpPr>
            <a:spLocks noGrp="1"/>
          </p:cNvSpPr>
          <p:nvPr>
            <p:ph idx="1"/>
          </p:nvPr>
        </p:nvSpPr>
        <p:spPr/>
        <p:txBody>
          <a:bodyPr/>
          <a:lstStyle/>
          <a:p>
            <a:endParaRPr lang="en-US"/>
          </a:p>
        </p:txBody>
      </p:sp>
      <p:graphicFrame>
        <p:nvGraphicFramePr>
          <p:cNvPr id="4" name="Diagram 3">
            <a:extLst>
              <a:ext uri="{FF2B5EF4-FFF2-40B4-BE49-F238E27FC236}">
                <a16:creationId xmlns:a16="http://schemas.microsoft.com/office/drawing/2014/main" id="{A96BDC11-0263-41E9-A56F-4F28874F6936}"/>
              </a:ext>
            </a:extLst>
          </p:cNvPr>
          <p:cNvGraphicFramePr/>
          <p:nvPr/>
        </p:nvGraphicFramePr>
        <p:xfrm>
          <a:off x="1866900" y="2813878"/>
          <a:ext cx="5829300" cy="12302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569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942975" y="2343387"/>
          <a:ext cx="6580558" cy="2981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a:extLst>
              <a:ext uri="{FF2B5EF4-FFF2-40B4-BE49-F238E27FC236}">
                <a16:creationId xmlns:a16="http://schemas.microsoft.com/office/drawing/2014/main" id="{6CB1FB7F-B936-43C3-A267-6DA68226D96B}"/>
              </a:ext>
            </a:extLst>
          </p:cNvPr>
          <p:cNvSpPr>
            <a:spLocks noGrp="1"/>
          </p:cNvSpPr>
          <p:nvPr>
            <p:ph type="title"/>
          </p:nvPr>
        </p:nvSpPr>
        <p:spPr>
          <a:xfrm>
            <a:off x="822960" y="1072204"/>
            <a:ext cx="7543800" cy="1088068"/>
          </a:xfrm>
        </p:spPr>
        <p:txBody>
          <a:bodyPr/>
          <a:lstStyle/>
          <a:p>
            <a:r>
              <a:rPr lang="en-US" altLang="zh-CN" dirty="0"/>
              <a:t>Classical Test Theory</a:t>
            </a:r>
            <a:endParaRPr lang="en-US" dirty="0"/>
          </a:p>
        </p:txBody>
      </p:sp>
    </p:spTree>
    <p:extLst>
      <p:ext uri="{BB962C8B-B14F-4D97-AF65-F5344CB8AC3E}">
        <p14:creationId xmlns:p14="http://schemas.microsoft.com/office/powerpoint/2010/main" val="65978250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F466A-3D86-D2F1-2C50-E6C83A115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6B6FF-6987-1128-57F8-EB0E5694B985}"/>
              </a:ext>
            </a:extLst>
          </p:cNvPr>
          <p:cNvSpPr>
            <a:spLocks noGrp="1"/>
          </p:cNvSpPr>
          <p:nvPr>
            <p:ph type="title"/>
          </p:nvPr>
        </p:nvSpPr>
        <p:spPr/>
        <p:txBody>
          <a:bodyPr/>
          <a:lstStyle/>
          <a:p>
            <a:r>
              <a:rPr lang="en-US" dirty="0"/>
              <a:t>Reliability in Survey</a:t>
            </a:r>
          </a:p>
        </p:txBody>
      </p:sp>
      <p:sp>
        <p:nvSpPr>
          <p:cNvPr id="3" name="Content Placeholder 2">
            <a:extLst>
              <a:ext uri="{FF2B5EF4-FFF2-40B4-BE49-F238E27FC236}">
                <a16:creationId xmlns:a16="http://schemas.microsoft.com/office/drawing/2014/main" id="{308E437D-4453-0FA7-B3FB-0EC984ADAFF5}"/>
              </a:ext>
            </a:extLst>
          </p:cNvPr>
          <p:cNvSpPr>
            <a:spLocks noGrp="1"/>
          </p:cNvSpPr>
          <p:nvPr>
            <p:ph idx="1"/>
          </p:nvPr>
        </p:nvSpPr>
        <p:spPr/>
        <p:txBody>
          <a:bodyPr/>
          <a:lstStyle/>
          <a:p>
            <a:pPr marL="0" indent="0">
              <a:buNone/>
            </a:pPr>
            <a:r>
              <a:rPr lang="en-US" dirty="0"/>
              <a:t>If researchers are trying to determine how an individual feels about age discrimination in the workplace, they might ask this question:</a:t>
            </a:r>
          </a:p>
        </p:txBody>
      </p:sp>
      <p:pic>
        <p:nvPicPr>
          <p:cNvPr id="6" name="Picture 5">
            <a:extLst>
              <a:ext uri="{FF2B5EF4-FFF2-40B4-BE49-F238E27FC236}">
                <a16:creationId xmlns:a16="http://schemas.microsoft.com/office/drawing/2014/main" id="{C5240419-5B00-85A5-6369-AC3EC6427AF0}"/>
              </a:ext>
            </a:extLst>
          </p:cNvPr>
          <p:cNvPicPr>
            <a:picLocks noChangeAspect="1"/>
          </p:cNvPicPr>
          <p:nvPr/>
        </p:nvPicPr>
        <p:blipFill>
          <a:blip r:embed="rId3"/>
          <a:stretch>
            <a:fillRect/>
          </a:stretch>
        </p:blipFill>
        <p:spPr>
          <a:xfrm>
            <a:off x="1723869" y="3159502"/>
            <a:ext cx="5244423" cy="3106386"/>
          </a:xfrm>
          <a:prstGeom prst="rect">
            <a:avLst/>
          </a:prstGeom>
        </p:spPr>
      </p:pic>
    </p:spTree>
    <p:extLst>
      <p:ext uri="{BB962C8B-B14F-4D97-AF65-F5344CB8AC3E}">
        <p14:creationId xmlns:p14="http://schemas.microsoft.com/office/powerpoint/2010/main" val="1432426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A805F-F12E-0EBB-2E18-58656F5BD4F9}"/>
              </a:ext>
            </a:extLst>
          </p:cNvPr>
          <p:cNvSpPr>
            <a:spLocks noGrp="1"/>
          </p:cNvSpPr>
          <p:nvPr>
            <p:ph type="title"/>
          </p:nvPr>
        </p:nvSpPr>
        <p:spPr/>
        <p:txBody>
          <a:bodyPr/>
          <a:lstStyle/>
          <a:p>
            <a:r>
              <a:rPr lang="en-US" dirty="0"/>
              <a:t>Reliability in Survey</a:t>
            </a:r>
          </a:p>
        </p:txBody>
      </p:sp>
      <p:sp>
        <p:nvSpPr>
          <p:cNvPr id="3" name="Content Placeholder 2">
            <a:extLst>
              <a:ext uri="{FF2B5EF4-FFF2-40B4-BE49-F238E27FC236}">
                <a16:creationId xmlns:a16="http://schemas.microsoft.com/office/drawing/2014/main" id="{3B251664-699A-CFD0-3340-3F2E71D90CAA}"/>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43C7A53-B26D-EB99-4B28-D37E1064EAFF}"/>
              </a:ext>
            </a:extLst>
          </p:cNvPr>
          <p:cNvPicPr>
            <a:picLocks noChangeAspect="1"/>
          </p:cNvPicPr>
          <p:nvPr/>
        </p:nvPicPr>
        <p:blipFill>
          <a:blip r:embed="rId3"/>
          <a:stretch>
            <a:fillRect/>
          </a:stretch>
        </p:blipFill>
        <p:spPr>
          <a:xfrm>
            <a:off x="1316584" y="1965270"/>
            <a:ext cx="6510832" cy="3560791"/>
          </a:xfrm>
          <a:prstGeom prst="rect">
            <a:avLst/>
          </a:prstGeom>
        </p:spPr>
      </p:pic>
    </p:spTree>
    <p:extLst>
      <p:ext uri="{BB962C8B-B14F-4D97-AF65-F5344CB8AC3E}">
        <p14:creationId xmlns:p14="http://schemas.microsoft.com/office/powerpoint/2010/main" val="620745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22271-60D7-431B-93A2-51DBA8333C15}"/>
              </a:ext>
            </a:extLst>
          </p:cNvPr>
          <p:cNvSpPr>
            <a:spLocks noGrp="1"/>
          </p:cNvSpPr>
          <p:nvPr>
            <p:ph type="title"/>
          </p:nvPr>
        </p:nvSpPr>
        <p:spPr/>
        <p:txBody>
          <a:bodyPr/>
          <a:lstStyle/>
          <a:p>
            <a:r>
              <a:rPr lang="en-US" altLang="zh-CN" dirty="0"/>
              <a:t>Estimating reliability</a:t>
            </a:r>
            <a:endParaRPr lang="en-US" dirty="0"/>
          </a:p>
        </p:txBody>
      </p:sp>
      <p:graphicFrame>
        <p:nvGraphicFramePr>
          <p:cNvPr id="7" name="Content Placeholder 6">
            <a:extLst>
              <a:ext uri="{FF2B5EF4-FFF2-40B4-BE49-F238E27FC236}">
                <a16:creationId xmlns:a16="http://schemas.microsoft.com/office/drawing/2014/main" id="{171FEEB5-E0CB-48B6-9B03-A0B4AAE4F634}"/>
              </a:ext>
            </a:extLst>
          </p:cNvPr>
          <p:cNvGraphicFramePr>
            <a:graphicFrameLocks noGrp="1"/>
          </p:cNvGraphicFramePr>
          <p:nvPr>
            <p:ph idx="1"/>
            <p:extLst>
              <p:ext uri="{D42A27DB-BD31-4B8C-83A1-F6EECF244321}">
                <p14:modId xmlns:p14="http://schemas.microsoft.com/office/powerpoint/2010/main" val="3505362070"/>
              </p:ext>
            </p:extLst>
          </p:nvPr>
        </p:nvGraphicFramePr>
        <p:xfrm>
          <a:off x="1919282" y="2618938"/>
          <a:ext cx="5305436" cy="301323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D56D2256-3687-4310-A514-5613A15D0635}"/>
              </a:ext>
            </a:extLst>
          </p:cNvPr>
          <p:cNvSpPr txBox="1"/>
          <p:nvPr/>
        </p:nvSpPr>
        <p:spPr>
          <a:xfrm>
            <a:off x="3953448" y="2053780"/>
            <a:ext cx="2852086" cy="415498"/>
          </a:xfrm>
          <a:prstGeom prst="rect">
            <a:avLst/>
          </a:prstGeom>
          <a:noFill/>
        </p:spPr>
        <p:txBody>
          <a:bodyPr wrap="square" rtlCol="0">
            <a:spAutoFit/>
          </a:bodyPr>
          <a:lstStyle/>
          <a:p>
            <a:r>
              <a:rPr lang="en-US" sz="2100" i="1" dirty="0"/>
              <a:t>X=T+E</a:t>
            </a:r>
          </a:p>
        </p:txBody>
      </p:sp>
    </p:spTree>
    <p:extLst>
      <p:ext uri="{BB962C8B-B14F-4D97-AF65-F5344CB8AC3E}">
        <p14:creationId xmlns:p14="http://schemas.microsoft.com/office/powerpoint/2010/main" val="1031923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090B-D412-439A-B434-AC843C10BE00}"/>
              </a:ext>
            </a:extLst>
          </p:cNvPr>
          <p:cNvSpPr>
            <a:spLocks noGrp="1"/>
          </p:cNvSpPr>
          <p:nvPr>
            <p:ph type="title"/>
          </p:nvPr>
        </p:nvSpPr>
        <p:spPr/>
        <p:txBody>
          <a:bodyPr/>
          <a:lstStyle/>
          <a:p>
            <a:r>
              <a:rPr lang="en-US" dirty="0"/>
              <a:t>Estimating Reliability</a:t>
            </a:r>
          </a:p>
        </p:txBody>
      </p:sp>
      <p:sp>
        <p:nvSpPr>
          <p:cNvPr id="3" name="Content Placeholder 2">
            <a:extLst>
              <a:ext uri="{FF2B5EF4-FFF2-40B4-BE49-F238E27FC236}">
                <a16:creationId xmlns:a16="http://schemas.microsoft.com/office/drawing/2014/main" id="{8AF53352-3B41-467F-A8E6-8DFE16A5DF70}"/>
              </a:ext>
            </a:extLst>
          </p:cNvPr>
          <p:cNvSpPr>
            <a:spLocks noGrp="1"/>
          </p:cNvSpPr>
          <p:nvPr>
            <p:ph idx="1"/>
          </p:nvPr>
        </p:nvSpPr>
        <p:spPr/>
        <p:txBody>
          <a:bodyPr/>
          <a:lstStyle/>
          <a:p>
            <a:r>
              <a:rPr lang="en-US" dirty="0"/>
              <a:t>The theoretical reliability coefficient is not practical; we do not know each person’s true score. </a:t>
            </a:r>
          </a:p>
          <a:p>
            <a:r>
              <a:rPr lang="en-US" dirty="0"/>
              <a:t>Nevertheless, we can estimate the theoretical coefficient with the sample correlation between scores on two parallel tests.</a:t>
            </a:r>
          </a:p>
        </p:txBody>
      </p:sp>
    </p:spTree>
    <p:extLst>
      <p:ext uri="{BB962C8B-B14F-4D97-AF65-F5344CB8AC3E}">
        <p14:creationId xmlns:p14="http://schemas.microsoft.com/office/powerpoint/2010/main" val="839765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Reliability</a:t>
            </a:r>
          </a:p>
        </p:txBody>
      </p:sp>
      <p:sp>
        <p:nvSpPr>
          <p:cNvPr id="3" name="Content Placeholder 2"/>
          <p:cNvSpPr>
            <a:spLocks noGrp="1"/>
          </p:cNvSpPr>
          <p:nvPr>
            <p:ph idx="1"/>
          </p:nvPr>
        </p:nvSpPr>
        <p:spPr/>
        <p:txBody>
          <a:bodyPr/>
          <a:lstStyle/>
          <a:p>
            <a:r>
              <a:rPr lang="en-US"/>
              <a:t>Reliability refers to the precision of the measurements, or the consistency of scores produced by a test.</a:t>
            </a:r>
          </a:p>
          <a:p>
            <a:r>
              <a:rPr lang="en-US"/>
              <a:t>Reliability is not a property of the test, but that of scores.</a:t>
            </a:r>
          </a:p>
          <a:p>
            <a:r>
              <a:rPr lang="en-US"/>
              <a:t>If scores are consistent, the measurement is reliable.</a:t>
            </a:r>
          </a:p>
          <a:p>
            <a:r>
              <a:rPr lang="en-US"/>
              <a:t>Scores could be inconsistent in varied ways – reliability should be assessed accordingly</a:t>
            </a:r>
          </a:p>
        </p:txBody>
      </p:sp>
    </p:spTree>
    <p:extLst>
      <p:ext uri="{BB962C8B-B14F-4D97-AF65-F5344CB8AC3E}">
        <p14:creationId xmlns:p14="http://schemas.microsoft.com/office/powerpoint/2010/main" val="293697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EDA21-C809-1BBD-8159-FA0D5031D785}"/>
              </a:ext>
            </a:extLst>
          </p:cNvPr>
          <p:cNvSpPr>
            <a:spLocks noGrp="1"/>
          </p:cNvSpPr>
          <p:nvPr>
            <p:ph type="title"/>
          </p:nvPr>
        </p:nvSpPr>
        <p:spPr/>
        <p:txBody>
          <a:bodyPr/>
          <a:lstStyle/>
          <a:p>
            <a:r>
              <a:rPr lang="en-US" altLang="zh-CN" dirty="0"/>
              <a:t>Estimating reliability</a:t>
            </a:r>
            <a:endParaRPr lang="en-US" dirty="0"/>
          </a:p>
        </p:txBody>
      </p:sp>
      <p:sp>
        <p:nvSpPr>
          <p:cNvPr id="3" name="Content Placeholder 2">
            <a:extLst>
              <a:ext uri="{FF2B5EF4-FFF2-40B4-BE49-F238E27FC236}">
                <a16:creationId xmlns:a16="http://schemas.microsoft.com/office/drawing/2014/main" id="{0ABA08C4-3055-C87F-644B-222E02E0EA9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5EF5E52-4E51-7686-B157-4C08F5AA8BD1}"/>
              </a:ext>
            </a:extLst>
          </p:cNvPr>
          <p:cNvPicPr>
            <a:picLocks noChangeAspect="1"/>
          </p:cNvPicPr>
          <p:nvPr/>
        </p:nvPicPr>
        <p:blipFill>
          <a:blip r:embed="rId2"/>
          <a:stretch>
            <a:fillRect/>
          </a:stretch>
        </p:blipFill>
        <p:spPr>
          <a:xfrm>
            <a:off x="685800" y="1305670"/>
            <a:ext cx="7772400" cy="4246659"/>
          </a:xfrm>
          <a:prstGeom prst="rect">
            <a:avLst/>
          </a:prstGeom>
        </p:spPr>
      </p:pic>
    </p:spTree>
    <p:extLst>
      <p:ext uri="{BB962C8B-B14F-4D97-AF65-F5344CB8AC3E}">
        <p14:creationId xmlns:p14="http://schemas.microsoft.com/office/powerpoint/2010/main" val="3498121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1083564"/>
            <a:ext cx="6974586" cy="1088136"/>
          </a:xfrm>
        </p:spPr>
        <p:txBody>
          <a:bodyPr>
            <a:noAutofit/>
          </a:bodyPr>
          <a:lstStyle/>
          <a:p>
            <a:r>
              <a:rPr lang="en-US" dirty="0"/>
              <a:t>Interpreting Reliability Coefficients</a:t>
            </a:r>
          </a:p>
        </p:txBody>
      </p:sp>
      <p:sp>
        <p:nvSpPr>
          <p:cNvPr id="3" name="TextBox 2"/>
          <p:cNvSpPr txBox="1"/>
          <p:nvPr/>
        </p:nvSpPr>
        <p:spPr>
          <a:xfrm>
            <a:off x="1376243" y="2348529"/>
            <a:ext cx="5772150" cy="784830"/>
          </a:xfrm>
          <a:prstGeom prst="rect">
            <a:avLst/>
          </a:prstGeom>
          <a:noFill/>
          <a:ln>
            <a:solidFill>
              <a:schemeClr val="accent1"/>
            </a:solidFill>
          </a:ln>
        </p:spPr>
        <p:txBody>
          <a:bodyPr wrap="square" rtlCol="0">
            <a:spAutoFit/>
          </a:bodyPr>
          <a:lstStyle/>
          <a:p>
            <a:pPr algn="ctr"/>
            <a:r>
              <a:rPr lang="en-US" sz="1500" b="1" dirty="0"/>
              <a:t>Standard error of measurement</a:t>
            </a:r>
            <a:r>
              <a:rPr lang="en-US" sz="1500" dirty="0"/>
              <a:t> is an index of the amount of uncertainty or error expected in an individual’s observed test score</a:t>
            </a:r>
          </a:p>
        </p:txBody>
      </p:sp>
      <p:sp>
        <p:nvSpPr>
          <p:cNvPr id="12" name="TextBox 11"/>
          <p:cNvSpPr txBox="1"/>
          <p:nvPr/>
        </p:nvSpPr>
        <p:spPr>
          <a:xfrm>
            <a:off x="1376243" y="3163543"/>
            <a:ext cx="5772150" cy="553998"/>
          </a:xfrm>
          <a:prstGeom prst="rect">
            <a:avLst/>
          </a:prstGeom>
          <a:noFill/>
          <a:ln>
            <a:solidFill>
              <a:schemeClr val="accent1"/>
            </a:solidFill>
          </a:ln>
        </p:spPr>
        <p:txBody>
          <a:bodyPr wrap="square" rtlCol="0">
            <a:spAutoFit/>
          </a:bodyPr>
          <a:lstStyle/>
          <a:p>
            <a:pPr algn="ctr"/>
            <a:r>
              <a:rPr lang="en-US" sz="1500" dirty="0"/>
              <a:t>Allows us to quantify the amount of variation in a person’s observed score that measurement error would most likely cause</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0084" y="3848434"/>
            <a:ext cx="1464469" cy="592931"/>
          </a:xfrm>
          <a:prstGeom prst="rect">
            <a:avLst/>
          </a:prstGeom>
        </p:spPr>
      </p:pic>
      <p:pic>
        <p:nvPicPr>
          <p:cNvPr id="7" name="Picture 6"/>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863804" y="4295538"/>
            <a:ext cx="5284589" cy="1205257"/>
          </a:xfrm>
          <a:prstGeom prst="rect">
            <a:avLst/>
          </a:prstGeom>
        </p:spPr>
      </p:pic>
      <p:sp>
        <p:nvSpPr>
          <p:cNvPr id="4" name="Footer Placeholder 3"/>
          <p:cNvSpPr>
            <a:spLocks noGrp="1"/>
          </p:cNvSpPr>
          <p:nvPr>
            <p:ph type="ftr" sz="quarter" idx="4294967295"/>
          </p:nvPr>
        </p:nvSpPr>
        <p:spPr>
          <a:xfrm>
            <a:off x="3686185" y="6459787"/>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0042423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1771650" y="2365749"/>
            <a:ext cx="5772150" cy="669414"/>
          </a:xfrm>
          <a:prstGeom prst="rect">
            <a:avLst/>
          </a:prstGeom>
          <a:noFill/>
          <a:ln>
            <a:solidFill>
              <a:schemeClr val="accent1"/>
            </a:solidFill>
          </a:ln>
        </p:spPr>
        <p:txBody>
          <a:bodyPr wrap="square" rtlCol="0">
            <a:spAutoFit/>
          </a:bodyPr>
          <a:lstStyle/>
          <a:p>
            <a:pPr algn="ctr"/>
            <a:r>
              <a:rPr lang="en-US" sz="1875" b="1" dirty="0"/>
              <a:t>Confidence interval</a:t>
            </a:r>
            <a:r>
              <a:rPr lang="en-US" sz="1875" dirty="0"/>
              <a:t> is a range of scores that we feel confident about test taker’s true score</a:t>
            </a:r>
            <a:endParaRPr lang="en-US" sz="15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7594" y="3239692"/>
            <a:ext cx="2328863" cy="378619"/>
          </a:xfrm>
          <a:prstGeom prst="rect">
            <a:avLst/>
          </a:prstGeom>
        </p:spPr>
      </p:pic>
      <p:pic>
        <p:nvPicPr>
          <p:cNvPr id="7" name="Picture 6"/>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885952" y="3771902"/>
            <a:ext cx="5993114" cy="1397389"/>
          </a:xfrm>
          <a:prstGeom prst="rect">
            <a:avLst/>
          </a:prstGeom>
        </p:spPr>
      </p:pic>
      <p:sp>
        <p:nvSpPr>
          <p:cNvPr id="5" name="Footer Placeholder 4"/>
          <p:cNvSpPr>
            <a:spLocks noGrp="1"/>
          </p:cNvSpPr>
          <p:nvPr>
            <p:ph type="ftr" sz="quarter" idx="4294967295"/>
          </p:nvPr>
        </p:nvSpPr>
        <p:spPr>
          <a:xfrm>
            <a:off x="3686185" y="6459787"/>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0" name="Title 1">
            <a:extLst>
              <a:ext uri="{FF2B5EF4-FFF2-40B4-BE49-F238E27FC236}">
                <a16:creationId xmlns:a16="http://schemas.microsoft.com/office/drawing/2014/main" id="{66E114AB-5729-4BA3-B585-C651E8C98C7D}"/>
              </a:ext>
            </a:extLst>
          </p:cNvPr>
          <p:cNvSpPr>
            <a:spLocks noGrp="1"/>
          </p:cNvSpPr>
          <p:nvPr>
            <p:ph type="title"/>
          </p:nvPr>
        </p:nvSpPr>
        <p:spPr>
          <a:xfrm>
            <a:off x="857250" y="1083564"/>
            <a:ext cx="6974586" cy="1088136"/>
          </a:xfrm>
        </p:spPr>
        <p:txBody>
          <a:bodyPr>
            <a:noAutofit/>
          </a:bodyPr>
          <a:lstStyle/>
          <a:p>
            <a:r>
              <a:rPr lang="en-US" dirty="0"/>
              <a:t>Interpreting Reliability Coefficients</a:t>
            </a:r>
          </a:p>
        </p:txBody>
      </p:sp>
    </p:spTree>
    <p:extLst>
      <p:ext uri="{BB962C8B-B14F-4D97-AF65-F5344CB8AC3E}">
        <p14:creationId xmlns:p14="http://schemas.microsoft.com/office/powerpoint/2010/main" val="301749229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449B-37E8-4F4D-96E7-84A2B2D1D15B}"/>
              </a:ext>
            </a:extLst>
          </p:cNvPr>
          <p:cNvSpPr>
            <a:spLocks noGrp="1"/>
          </p:cNvSpPr>
          <p:nvPr>
            <p:ph type="title"/>
          </p:nvPr>
        </p:nvSpPr>
        <p:spPr/>
        <p:txBody>
          <a:bodyPr/>
          <a:lstStyle/>
          <a:p>
            <a:r>
              <a:rPr lang="en-US"/>
              <a:t>Types of reliability</a:t>
            </a:r>
          </a:p>
        </p:txBody>
      </p:sp>
      <p:sp>
        <p:nvSpPr>
          <p:cNvPr id="3" name="Content Placeholder 2">
            <a:extLst>
              <a:ext uri="{FF2B5EF4-FFF2-40B4-BE49-F238E27FC236}">
                <a16:creationId xmlns:a16="http://schemas.microsoft.com/office/drawing/2014/main" id="{A13A3B9E-37B7-4839-9499-BCCD1508B5CF}"/>
              </a:ext>
            </a:extLst>
          </p:cNvPr>
          <p:cNvSpPr>
            <a:spLocks noGrp="1"/>
          </p:cNvSpPr>
          <p:nvPr>
            <p:ph idx="1"/>
          </p:nvPr>
        </p:nvSpPr>
        <p:spPr/>
        <p:txBody>
          <a:bodyPr>
            <a:normAutofit/>
          </a:bodyPr>
          <a:lstStyle/>
          <a:p>
            <a:r>
              <a:rPr lang="en-US"/>
              <a:t>Test–retest reliability</a:t>
            </a:r>
          </a:p>
          <a:p>
            <a:pPr lvl="1"/>
            <a:r>
              <a:rPr lang="en-US"/>
              <a:t>consistency of scores over time</a:t>
            </a:r>
          </a:p>
          <a:p>
            <a:r>
              <a:rPr lang="en-US"/>
              <a:t>Alternate forms reliability</a:t>
            </a:r>
          </a:p>
          <a:p>
            <a:pPr lvl="1"/>
            <a:r>
              <a:rPr lang="en-US"/>
              <a:t>consistency of scores over multiple test forms</a:t>
            </a:r>
          </a:p>
          <a:p>
            <a:r>
              <a:rPr lang="en-US"/>
              <a:t>Internal consistency</a:t>
            </a:r>
          </a:p>
          <a:p>
            <a:pPr lvl="1"/>
            <a:r>
              <a:rPr lang="en-US"/>
              <a:t>consistency of scores across test items</a:t>
            </a:r>
          </a:p>
          <a:p>
            <a:r>
              <a:rPr lang="en-US"/>
              <a:t>Interrater agreement</a:t>
            </a:r>
          </a:p>
          <a:p>
            <a:pPr lvl="1"/>
            <a:r>
              <a:rPr lang="en-US"/>
              <a:t>consistency of scores across raters</a:t>
            </a:r>
          </a:p>
          <a:p>
            <a:endParaRPr lang="en-US"/>
          </a:p>
          <a:p>
            <a:endParaRPr lang="en-US"/>
          </a:p>
        </p:txBody>
      </p:sp>
    </p:spTree>
    <p:extLst>
      <p:ext uri="{BB962C8B-B14F-4D97-AF65-F5344CB8AC3E}">
        <p14:creationId xmlns:p14="http://schemas.microsoft.com/office/powerpoint/2010/main" val="521064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52C13-3697-4FCC-9965-EE77101D9768}"/>
              </a:ext>
            </a:extLst>
          </p:cNvPr>
          <p:cNvSpPr>
            <a:spLocks noGrp="1"/>
          </p:cNvSpPr>
          <p:nvPr>
            <p:ph type="title"/>
          </p:nvPr>
        </p:nvSpPr>
        <p:spPr/>
        <p:txBody>
          <a:bodyPr/>
          <a:lstStyle/>
          <a:p>
            <a:r>
              <a:rPr lang="en-US"/>
              <a:t>Test–retest reliability</a:t>
            </a:r>
          </a:p>
        </p:txBody>
      </p:sp>
      <p:sp>
        <p:nvSpPr>
          <p:cNvPr id="5" name="Content Placeholder 4">
            <a:extLst>
              <a:ext uri="{FF2B5EF4-FFF2-40B4-BE49-F238E27FC236}">
                <a16:creationId xmlns:a16="http://schemas.microsoft.com/office/drawing/2014/main" id="{A1162E2D-74B3-4D08-8443-2092F96F5E18}"/>
              </a:ext>
            </a:extLst>
          </p:cNvPr>
          <p:cNvSpPr>
            <a:spLocks noGrp="1"/>
          </p:cNvSpPr>
          <p:nvPr>
            <p:ph idx="1"/>
          </p:nvPr>
        </p:nvSpPr>
        <p:spPr/>
        <p:txBody>
          <a:bodyPr/>
          <a:lstStyle/>
          <a:p>
            <a:r>
              <a:rPr lang="en-US" dirty="0"/>
              <a:t>Test–retest reliability is concerned with the consistency, or stability, of test scores across different time points.</a:t>
            </a:r>
          </a:p>
          <a:p>
            <a:r>
              <a:rPr lang="en-US" dirty="0"/>
              <a:t>Test scores can change across time because of </a:t>
            </a:r>
          </a:p>
          <a:p>
            <a:pPr marL="536737" lvl="1" indent="-385865">
              <a:buFont typeface="+mj-lt"/>
              <a:buAutoNum type="arabicParenR"/>
            </a:pPr>
            <a:r>
              <a:rPr lang="en-US" dirty="0"/>
              <a:t>lack of reliability of the measure being used, </a:t>
            </a:r>
          </a:p>
          <a:p>
            <a:pPr marL="536737" lvl="1" indent="-385865">
              <a:buFont typeface="+mj-lt"/>
              <a:buAutoNum type="arabicParenR"/>
            </a:pPr>
            <a:r>
              <a:rPr lang="en-US" dirty="0"/>
              <a:t>changes in respondents’ true levels of the construct being measured, or </a:t>
            </a:r>
          </a:p>
          <a:p>
            <a:pPr marL="536737" lvl="1" indent="-385865">
              <a:buFont typeface="+mj-lt"/>
              <a:buAutoNum type="arabicParenR"/>
            </a:pPr>
            <a:r>
              <a:rPr lang="en-US" dirty="0"/>
              <a:t>a combination of these.</a:t>
            </a:r>
          </a:p>
          <a:p>
            <a:endParaRPr lang="en-US" dirty="0"/>
          </a:p>
        </p:txBody>
      </p:sp>
    </p:spTree>
    <p:extLst>
      <p:ext uri="{BB962C8B-B14F-4D97-AF65-F5344CB8AC3E}">
        <p14:creationId xmlns:p14="http://schemas.microsoft.com/office/powerpoint/2010/main" val="1682122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E2A5B-DD2C-2633-CFD4-AE4CBC4044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86D2CB-987B-A850-C233-0ECF95DE95CF}"/>
              </a:ext>
            </a:extLst>
          </p:cNvPr>
          <p:cNvSpPr>
            <a:spLocks noGrp="1"/>
          </p:cNvSpPr>
          <p:nvPr>
            <p:ph idx="1"/>
          </p:nvPr>
        </p:nvSpPr>
        <p:spPr/>
        <p:txBody>
          <a:bodyPr/>
          <a:lstStyle/>
          <a:p>
            <a:endParaRPr lang="en-US" dirty="0"/>
          </a:p>
          <a:p>
            <a:endParaRPr lang="en-US" dirty="0"/>
          </a:p>
          <a:p>
            <a:r>
              <a:rPr lang="en-US" dirty="0"/>
              <a:t>How many times have you attended religious services in your entire life? ______ (T1/T2)</a:t>
            </a:r>
          </a:p>
        </p:txBody>
      </p:sp>
    </p:spTree>
    <p:extLst>
      <p:ext uri="{BB962C8B-B14F-4D97-AF65-F5344CB8AC3E}">
        <p14:creationId xmlns:p14="http://schemas.microsoft.com/office/powerpoint/2010/main" val="1476275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036E2-3F57-201F-1D61-9189C17782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440B12-31A1-F417-71EE-AB9D4EF300F4}"/>
              </a:ext>
            </a:extLst>
          </p:cNvPr>
          <p:cNvSpPr>
            <a:spLocks noGrp="1"/>
          </p:cNvSpPr>
          <p:nvPr>
            <p:ph idx="1"/>
          </p:nvPr>
        </p:nvSpPr>
        <p:spPr/>
        <p:txBody>
          <a:bodyPr/>
          <a:lstStyle/>
          <a:p>
            <a:r>
              <a:rPr lang="en-US" dirty="0"/>
              <a:t>In the previous month, how many times have you attended religious services? (T1/T2)</a:t>
            </a:r>
          </a:p>
          <a:p>
            <a:pPr lvl="1"/>
            <a:r>
              <a:rPr lang="en-US" dirty="0"/>
              <a:t>0</a:t>
            </a:r>
          </a:p>
          <a:p>
            <a:pPr lvl="1"/>
            <a:r>
              <a:rPr lang="en-US" dirty="0"/>
              <a:t>1–2</a:t>
            </a:r>
          </a:p>
          <a:p>
            <a:pPr lvl="1"/>
            <a:r>
              <a:rPr lang="en-US" dirty="0"/>
              <a:t>3–4</a:t>
            </a:r>
          </a:p>
          <a:p>
            <a:pPr lvl="1"/>
            <a:r>
              <a:rPr lang="en-US" dirty="0"/>
              <a:t>5 or more</a:t>
            </a:r>
          </a:p>
        </p:txBody>
      </p:sp>
    </p:spTree>
    <p:extLst>
      <p:ext uri="{BB962C8B-B14F-4D97-AF65-F5344CB8AC3E}">
        <p14:creationId xmlns:p14="http://schemas.microsoft.com/office/powerpoint/2010/main" val="3774516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9C7E5-C839-447F-BDE3-8AA5CCEE6E6C}"/>
              </a:ext>
            </a:extLst>
          </p:cNvPr>
          <p:cNvSpPr>
            <a:spLocks noGrp="1"/>
          </p:cNvSpPr>
          <p:nvPr>
            <p:ph type="title"/>
          </p:nvPr>
        </p:nvSpPr>
        <p:spPr/>
        <p:txBody>
          <a:bodyPr/>
          <a:lstStyle/>
          <a:p>
            <a:r>
              <a:rPr lang="en-US"/>
              <a:t>Recommended Values for Coefficients of Stability</a:t>
            </a:r>
          </a:p>
        </p:txBody>
      </p:sp>
      <p:sp>
        <p:nvSpPr>
          <p:cNvPr id="3" name="Content Placeholder 2">
            <a:extLst>
              <a:ext uri="{FF2B5EF4-FFF2-40B4-BE49-F238E27FC236}">
                <a16:creationId xmlns:a16="http://schemas.microsoft.com/office/drawing/2014/main" id="{CD607406-CEDE-43B3-AC6B-A0611AFB4EC2}"/>
              </a:ext>
            </a:extLst>
          </p:cNvPr>
          <p:cNvSpPr>
            <a:spLocks noGrp="1"/>
          </p:cNvSpPr>
          <p:nvPr>
            <p:ph idx="1"/>
          </p:nvPr>
        </p:nvSpPr>
        <p:spPr/>
        <p:txBody>
          <a:bodyPr/>
          <a:lstStyle/>
          <a:p>
            <a:r>
              <a:rPr lang="en-US"/>
              <a:t>Crocker and </a:t>
            </a:r>
            <a:r>
              <a:rPr lang="en-US" err="1"/>
              <a:t>Algina</a:t>
            </a:r>
            <a:r>
              <a:rPr lang="en-US"/>
              <a:t> (1986, p. 133) state that “well-constructed” noncognitive scales can yield scores with coefficients in the .80s, and scores from aptitude tests can have values into the .90s.</a:t>
            </a:r>
          </a:p>
          <a:p>
            <a:r>
              <a:rPr lang="en-US"/>
              <a:t>Coefficients of stability would likely be higher if the time interval had been shorter, and lower if the time interval had been longer.</a:t>
            </a:r>
          </a:p>
          <a:p>
            <a:endParaRPr lang="en-US"/>
          </a:p>
          <a:p>
            <a:endParaRPr lang="en-US"/>
          </a:p>
          <a:p>
            <a:endParaRPr lang="en-US"/>
          </a:p>
        </p:txBody>
      </p:sp>
    </p:spTree>
    <p:extLst>
      <p:ext uri="{BB962C8B-B14F-4D97-AF65-F5344CB8AC3E}">
        <p14:creationId xmlns:p14="http://schemas.microsoft.com/office/powerpoint/2010/main" val="356380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52C13-3697-4FCC-9965-EE77101D9768}"/>
              </a:ext>
            </a:extLst>
          </p:cNvPr>
          <p:cNvSpPr>
            <a:spLocks noGrp="1"/>
          </p:cNvSpPr>
          <p:nvPr>
            <p:ph type="title"/>
          </p:nvPr>
        </p:nvSpPr>
        <p:spPr/>
        <p:txBody>
          <a:bodyPr/>
          <a:lstStyle/>
          <a:p>
            <a:r>
              <a:rPr lang="en-US"/>
              <a:t>Alternative forms reliability</a:t>
            </a:r>
          </a:p>
        </p:txBody>
      </p:sp>
      <p:sp>
        <p:nvSpPr>
          <p:cNvPr id="5" name="Content Placeholder 4">
            <a:extLst>
              <a:ext uri="{FF2B5EF4-FFF2-40B4-BE49-F238E27FC236}">
                <a16:creationId xmlns:a16="http://schemas.microsoft.com/office/drawing/2014/main" id="{8E58B8D0-F11F-4D00-BF01-46A911B56C95}"/>
              </a:ext>
            </a:extLst>
          </p:cNvPr>
          <p:cNvSpPr>
            <a:spLocks noGrp="1"/>
          </p:cNvSpPr>
          <p:nvPr>
            <p:ph idx="1"/>
          </p:nvPr>
        </p:nvSpPr>
        <p:spPr/>
        <p:txBody>
          <a:bodyPr/>
          <a:lstStyle/>
          <a:p>
            <a:r>
              <a:rPr lang="en-US"/>
              <a:t>In many situations, more than one version of a test is available.</a:t>
            </a:r>
          </a:p>
          <a:p>
            <a:r>
              <a:rPr lang="en-US"/>
              <a:t>These versions are designed to be interchangeable.</a:t>
            </a:r>
          </a:p>
          <a:p>
            <a:endParaRPr lang="en-US"/>
          </a:p>
        </p:txBody>
      </p:sp>
    </p:spTree>
    <p:extLst>
      <p:ext uri="{BB962C8B-B14F-4D97-AF65-F5344CB8AC3E}">
        <p14:creationId xmlns:p14="http://schemas.microsoft.com/office/powerpoint/2010/main" val="24666020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52C13-3697-4FCC-9965-EE77101D9768}"/>
              </a:ext>
            </a:extLst>
          </p:cNvPr>
          <p:cNvSpPr>
            <a:spLocks noGrp="1"/>
          </p:cNvSpPr>
          <p:nvPr>
            <p:ph type="title"/>
          </p:nvPr>
        </p:nvSpPr>
        <p:spPr/>
        <p:txBody>
          <a:bodyPr/>
          <a:lstStyle/>
          <a:p>
            <a:r>
              <a:rPr lang="en-US"/>
              <a:t>Alternative forms reliability</a:t>
            </a:r>
          </a:p>
        </p:txBody>
      </p:sp>
      <p:graphicFrame>
        <p:nvGraphicFramePr>
          <p:cNvPr id="4" name="Table 4">
            <a:extLst>
              <a:ext uri="{FF2B5EF4-FFF2-40B4-BE49-F238E27FC236}">
                <a16:creationId xmlns:a16="http://schemas.microsoft.com/office/drawing/2014/main" id="{BF907D50-7A65-4FA1-A16C-7B7DBE64041A}"/>
              </a:ext>
            </a:extLst>
          </p:cNvPr>
          <p:cNvGraphicFramePr>
            <a:graphicFrameLocks noGrp="1"/>
          </p:cNvGraphicFramePr>
          <p:nvPr>
            <p:ph idx="1"/>
          </p:nvPr>
        </p:nvGraphicFramePr>
        <p:xfrm>
          <a:off x="913448" y="2228538"/>
          <a:ext cx="4916181" cy="3144064"/>
        </p:xfrm>
        <a:graphic>
          <a:graphicData uri="http://schemas.openxmlformats.org/drawingml/2006/table">
            <a:tbl>
              <a:tblPr firstRow="1" bandRow="1">
                <a:tableStyleId>{073A0DAA-6AF3-43AB-8588-CEC1D06C72B9}</a:tableStyleId>
              </a:tblPr>
              <a:tblGrid>
                <a:gridCol w="1638727">
                  <a:extLst>
                    <a:ext uri="{9D8B030D-6E8A-4147-A177-3AD203B41FA5}">
                      <a16:colId xmlns:a16="http://schemas.microsoft.com/office/drawing/2014/main" val="1305736042"/>
                    </a:ext>
                  </a:extLst>
                </a:gridCol>
                <a:gridCol w="1638727">
                  <a:extLst>
                    <a:ext uri="{9D8B030D-6E8A-4147-A177-3AD203B41FA5}">
                      <a16:colId xmlns:a16="http://schemas.microsoft.com/office/drawing/2014/main" val="2588618361"/>
                    </a:ext>
                  </a:extLst>
                </a:gridCol>
                <a:gridCol w="1638727">
                  <a:extLst>
                    <a:ext uri="{9D8B030D-6E8A-4147-A177-3AD203B41FA5}">
                      <a16:colId xmlns:a16="http://schemas.microsoft.com/office/drawing/2014/main" val="3448748739"/>
                    </a:ext>
                  </a:extLst>
                </a:gridCol>
              </a:tblGrid>
              <a:tr h="449152">
                <a:tc>
                  <a:txBody>
                    <a:bodyPr/>
                    <a:lstStyle/>
                    <a:p>
                      <a:pPr algn="ctr"/>
                      <a:endParaRPr lang="en-US" sz="1100">
                        <a:latin typeface="Times New Roman" panose="02020603050405020304" pitchFamily="18" charset="0"/>
                        <a:cs typeface="Times New Roman" panose="02020603050405020304" pitchFamily="18" charset="0"/>
                      </a:endParaRP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Form A</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Form B</a:t>
                      </a:r>
                    </a:p>
                  </a:txBody>
                  <a:tcPr marL="68598" marR="68598" marT="34299" marB="34299" anchor="ctr"/>
                </a:tc>
                <a:extLst>
                  <a:ext uri="{0D108BD9-81ED-4DB2-BD59-A6C34878D82A}">
                    <a16:rowId xmlns:a16="http://schemas.microsoft.com/office/drawing/2014/main" val="2865194987"/>
                  </a:ext>
                </a:extLst>
              </a:tr>
              <a:tr h="449152">
                <a:tc>
                  <a:txBody>
                    <a:bodyPr/>
                    <a:lstStyle/>
                    <a:p>
                      <a:pPr algn="ctr"/>
                      <a:r>
                        <a:rPr lang="en-US" sz="1100">
                          <a:latin typeface="Times New Roman" panose="02020603050405020304" pitchFamily="18" charset="0"/>
                          <a:cs typeface="Times New Roman" panose="02020603050405020304" pitchFamily="18" charset="0"/>
                        </a:rPr>
                        <a:t>Student #1</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80</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86</a:t>
                      </a:r>
                    </a:p>
                  </a:txBody>
                  <a:tcPr marL="68598" marR="68598" marT="34299" marB="34299" anchor="ctr"/>
                </a:tc>
                <a:extLst>
                  <a:ext uri="{0D108BD9-81ED-4DB2-BD59-A6C34878D82A}">
                    <a16:rowId xmlns:a16="http://schemas.microsoft.com/office/drawing/2014/main" val="2524619827"/>
                  </a:ext>
                </a:extLst>
              </a:tr>
              <a:tr h="449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Student #2</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98</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96</a:t>
                      </a:r>
                    </a:p>
                  </a:txBody>
                  <a:tcPr marL="68598" marR="68598" marT="34299" marB="34299" anchor="ctr"/>
                </a:tc>
                <a:extLst>
                  <a:ext uri="{0D108BD9-81ED-4DB2-BD59-A6C34878D82A}">
                    <a16:rowId xmlns:a16="http://schemas.microsoft.com/office/drawing/2014/main" val="64668570"/>
                  </a:ext>
                </a:extLst>
              </a:tr>
              <a:tr h="449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Student #3</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67</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75</a:t>
                      </a:r>
                    </a:p>
                  </a:txBody>
                  <a:tcPr marL="68598" marR="68598" marT="34299" marB="34299" anchor="ctr"/>
                </a:tc>
                <a:extLst>
                  <a:ext uri="{0D108BD9-81ED-4DB2-BD59-A6C34878D82A}">
                    <a16:rowId xmlns:a16="http://schemas.microsoft.com/office/drawing/2014/main" val="3364620702"/>
                  </a:ext>
                </a:extLst>
              </a:tr>
              <a:tr h="449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Student #4</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89</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84</a:t>
                      </a:r>
                    </a:p>
                  </a:txBody>
                  <a:tcPr marL="68598" marR="68598" marT="34299" marB="34299" anchor="ctr"/>
                </a:tc>
                <a:extLst>
                  <a:ext uri="{0D108BD9-81ED-4DB2-BD59-A6C34878D82A}">
                    <a16:rowId xmlns:a16="http://schemas.microsoft.com/office/drawing/2014/main" val="2117945019"/>
                  </a:ext>
                </a:extLst>
              </a:tr>
              <a:tr h="449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Student #5</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73</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69</a:t>
                      </a:r>
                    </a:p>
                  </a:txBody>
                  <a:tcPr marL="68598" marR="68598" marT="34299" marB="34299" anchor="ctr"/>
                </a:tc>
                <a:extLst>
                  <a:ext uri="{0D108BD9-81ED-4DB2-BD59-A6C34878D82A}">
                    <a16:rowId xmlns:a16="http://schemas.microsoft.com/office/drawing/2014/main" val="4212398412"/>
                  </a:ext>
                </a:extLst>
              </a:tr>
              <a:tr h="449152">
                <a:tc>
                  <a:txBody>
                    <a:bodyPr/>
                    <a:lstStyle/>
                    <a:p>
                      <a:pPr algn="ctr"/>
                      <a:r>
                        <a:rPr lang="en-US" sz="1100">
                          <a:latin typeface="Times New Roman" panose="02020603050405020304" pitchFamily="18" charset="0"/>
                          <a:cs typeface="Times New Roman" panose="02020603050405020304" pitchFamily="18" charset="0"/>
                        </a:rPr>
                        <a:t>…</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a:t>
                      </a:r>
                    </a:p>
                  </a:txBody>
                  <a:tcPr marL="68598" marR="68598" marT="34299" marB="34299" anchor="ctr"/>
                </a:tc>
                <a:extLst>
                  <a:ext uri="{0D108BD9-81ED-4DB2-BD59-A6C34878D82A}">
                    <a16:rowId xmlns:a16="http://schemas.microsoft.com/office/drawing/2014/main" val="3836756536"/>
                  </a:ext>
                </a:extLst>
              </a:tr>
            </a:tbl>
          </a:graphicData>
        </a:graphic>
      </p:graphicFrame>
      <p:sp>
        <p:nvSpPr>
          <p:cNvPr id="6" name="TextBox 5">
            <a:extLst>
              <a:ext uri="{FF2B5EF4-FFF2-40B4-BE49-F238E27FC236}">
                <a16:creationId xmlns:a16="http://schemas.microsoft.com/office/drawing/2014/main" id="{786D3206-BBAB-4915-835D-D20A2455BA5B}"/>
              </a:ext>
            </a:extLst>
          </p:cNvPr>
          <p:cNvSpPr txBox="1"/>
          <p:nvPr/>
        </p:nvSpPr>
        <p:spPr>
          <a:xfrm>
            <a:off x="6058287" y="2320716"/>
            <a:ext cx="2515255" cy="2308324"/>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To assess alternate forms or equivalent forms reliability, one can use</a:t>
            </a:r>
          </a:p>
          <a:p>
            <a:r>
              <a:rPr lang="en-US" i="1">
                <a:latin typeface="Times New Roman" panose="02020603050405020304" pitchFamily="18" charset="0"/>
                <a:cs typeface="Times New Roman" panose="02020603050405020304" pitchFamily="18" charset="0"/>
              </a:rPr>
              <a:t>coefficient of equivalence, </a:t>
            </a:r>
            <a:r>
              <a:rPr lang="en-US">
                <a:latin typeface="Times New Roman" panose="02020603050405020304" pitchFamily="18" charset="0"/>
                <a:cs typeface="Times New Roman" panose="02020603050405020304" pitchFamily="18" charset="0"/>
              </a:rPr>
              <a:t>which</a:t>
            </a:r>
            <a:r>
              <a:rPr lang="en-US" i="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is simply the correlation between the two scores.</a:t>
            </a:r>
          </a:p>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2198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64145-4405-4D6F-A72F-68AC1F2E6114}"/>
              </a:ext>
            </a:extLst>
          </p:cNvPr>
          <p:cNvSpPr>
            <a:spLocks noGrp="1"/>
          </p:cNvSpPr>
          <p:nvPr>
            <p:ph type="title"/>
          </p:nvPr>
        </p:nvSpPr>
        <p:spPr/>
        <p:txBody>
          <a:bodyPr>
            <a:normAutofit/>
          </a:bodyPr>
          <a:lstStyle/>
          <a:p>
            <a:r>
              <a:rPr lang="en-US"/>
              <a:t>Recommended Values for Coefficients of Equivalence</a:t>
            </a:r>
          </a:p>
        </p:txBody>
      </p:sp>
      <p:sp>
        <p:nvSpPr>
          <p:cNvPr id="3" name="Content Placeholder 2">
            <a:extLst>
              <a:ext uri="{FF2B5EF4-FFF2-40B4-BE49-F238E27FC236}">
                <a16:creationId xmlns:a16="http://schemas.microsoft.com/office/drawing/2014/main" id="{B7CAEE02-4039-4854-9811-2E8E5D330C35}"/>
              </a:ext>
            </a:extLst>
          </p:cNvPr>
          <p:cNvSpPr>
            <a:spLocks noGrp="1"/>
          </p:cNvSpPr>
          <p:nvPr>
            <p:ph idx="1"/>
          </p:nvPr>
        </p:nvSpPr>
        <p:spPr/>
        <p:txBody>
          <a:bodyPr/>
          <a:lstStyle/>
          <a:p>
            <a:r>
              <a:rPr lang="en-US"/>
              <a:t>Coefficients of equivalence are generally quite high. </a:t>
            </a:r>
          </a:p>
          <a:p>
            <a:r>
              <a:rPr lang="en-US" err="1"/>
              <a:t>Raykov</a:t>
            </a:r>
            <a:r>
              <a:rPr lang="en-US"/>
              <a:t> and </a:t>
            </a:r>
            <a:r>
              <a:rPr lang="en-US" err="1"/>
              <a:t>Marcoulides</a:t>
            </a:r>
            <a:r>
              <a:rPr lang="en-US"/>
              <a:t> (2011) state that values should be at least .80 and preferably in the .90s.</a:t>
            </a:r>
          </a:p>
          <a:p>
            <a:endParaRPr lang="en-US"/>
          </a:p>
        </p:txBody>
      </p:sp>
    </p:spTree>
    <p:extLst>
      <p:ext uri="{BB962C8B-B14F-4D97-AF65-F5344CB8AC3E}">
        <p14:creationId xmlns:p14="http://schemas.microsoft.com/office/powerpoint/2010/main" val="26333738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E5B24-A044-49A5-B095-CD5ACE53831D}"/>
              </a:ext>
            </a:extLst>
          </p:cNvPr>
          <p:cNvSpPr>
            <a:spLocks noGrp="1"/>
          </p:cNvSpPr>
          <p:nvPr>
            <p:ph type="title"/>
          </p:nvPr>
        </p:nvSpPr>
        <p:spPr/>
        <p:txBody>
          <a:bodyPr>
            <a:normAutofit/>
          </a:bodyPr>
          <a:lstStyle/>
          <a:p>
            <a:r>
              <a:rPr lang="en-US"/>
              <a:t>Combining Alternate Forms and Test–Retest Reliability</a:t>
            </a:r>
          </a:p>
        </p:txBody>
      </p:sp>
      <p:sp>
        <p:nvSpPr>
          <p:cNvPr id="3" name="Content Placeholder 2">
            <a:extLst>
              <a:ext uri="{FF2B5EF4-FFF2-40B4-BE49-F238E27FC236}">
                <a16:creationId xmlns:a16="http://schemas.microsoft.com/office/drawing/2014/main" id="{7E6650F1-AE93-4A79-AA80-2CF47B978D84}"/>
              </a:ext>
            </a:extLst>
          </p:cNvPr>
          <p:cNvSpPr>
            <a:spLocks noGrp="1"/>
          </p:cNvSpPr>
          <p:nvPr>
            <p:ph idx="1"/>
          </p:nvPr>
        </p:nvSpPr>
        <p:spPr/>
        <p:txBody>
          <a:bodyPr/>
          <a:lstStyle/>
          <a:p>
            <a:r>
              <a:rPr lang="en-US"/>
              <a:t>Researchers may be interested in using different forms of an instrument at different time points.</a:t>
            </a:r>
          </a:p>
          <a:p>
            <a:r>
              <a:rPr lang="en-US"/>
              <a:t>To obtain information on the extent of these combined sources of measurement error, the two forms should be administered to the same sample of respondents at two occasions that are separated by the time interval of interest.</a:t>
            </a:r>
          </a:p>
          <a:p>
            <a:endParaRPr lang="en-US"/>
          </a:p>
          <a:p>
            <a:endParaRPr lang="en-US"/>
          </a:p>
        </p:txBody>
      </p:sp>
    </p:spTree>
    <p:extLst>
      <p:ext uri="{BB962C8B-B14F-4D97-AF65-F5344CB8AC3E}">
        <p14:creationId xmlns:p14="http://schemas.microsoft.com/office/powerpoint/2010/main" val="38945840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52C13-3697-4FCC-9965-EE77101D9768}"/>
              </a:ext>
            </a:extLst>
          </p:cNvPr>
          <p:cNvSpPr>
            <a:spLocks noGrp="1"/>
          </p:cNvSpPr>
          <p:nvPr>
            <p:ph type="title"/>
          </p:nvPr>
        </p:nvSpPr>
        <p:spPr/>
        <p:txBody>
          <a:bodyPr/>
          <a:lstStyle/>
          <a:p>
            <a:r>
              <a:rPr lang="en-US"/>
              <a:t>Combining Alternate Forms and Test–Retest Reliability</a:t>
            </a:r>
          </a:p>
        </p:txBody>
      </p:sp>
      <p:graphicFrame>
        <p:nvGraphicFramePr>
          <p:cNvPr id="4" name="Table 4">
            <a:extLst>
              <a:ext uri="{FF2B5EF4-FFF2-40B4-BE49-F238E27FC236}">
                <a16:creationId xmlns:a16="http://schemas.microsoft.com/office/drawing/2014/main" id="{BF907D50-7A65-4FA1-A16C-7B7DBE64041A}"/>
              </a:ext>
            </a:extLst>
          </p:cNvPr>
          <p:cNvGraphicFramePr>
            <a:graphicFrameLocks noGrp="1"/>
          </p:cNvGraphicFramePr>
          <p:nvPr>
            <p:ph idx="1"/>
          </p:nvPr>
        </p:nvGraphicFramePr>
        <p:xfrm>
          <a:off x="913448" y="2228538"/>
          <a:ext cx="4916181" cy="3144064"/>
        </p:xfrm>
        <a:graphic>
          <a:graphicData uri="http://schemas.openxmlformats.org/drawingml/2006/table">
            <a:tbl>
              <a:tblPr firstRow="1" bandRow="1">
                <a:tableStyleId>{073A0DAA-6AF3-43AB-8588-CEC1D06C72B9}</a:tableStyleId>
              </a:tblPr>
              <a:tblGrid>
                <a:gridCol w="1638727">
                  <a:extLst>
                    <a:ext uri="{9D8B030D-6E8A-4147-A177-3AD203B41FA5}">
                      <a16:colId xmlns:a16="http://schemas.microsoft.com/office/drawing/2014/main" val="1305736042"/>
                    </a:ext>
                  </a:extLst>
                </a:gridCol>
                <a:gridCol w="1638727">
                  <a:extLst>
                    <a:ext uri="{9D8B030D-6E8A-4147-A177-3AD203B41FA5}">
                      <a16:colId xmlns:a16="http://schemas.microsoft.com/office/drawing/2014/main" val="2588618361"/>
                    </a:ext>
                  </a:extLst>
                </a:gridCol>
                <a:gridCol w="1638727">
                  <a:extLst>
                    <a:ext uri="{9D8B030D-6E8A-4147-A177-3AD203B41FA5}">
                      <a16:colId xmlns:a16="http://schemas.microsoft.com/office/drawing/2014/main" val="3448748739"/>
                    </a:ext>
                  </a:extLst>
                </a:gridCol>
              </a:tblGrid>
              <a:tr h="449152">
                <a:tc>
                  <a:txBody>
                    <a:bodyPr/>
                    <a:lstStyle/>
                    <a:p>
                      <a:pPr algn="ctr"/>
                      <a:endParaRPr lang="en-US" sz="1100">
                        <a:latin typeface="Times New Roman" panose="02020603050405020304" pitchFamily="18" charset="0"/>
                        <a:cs typeface="Times New Roman" panose="02020603050405020304" pitchFamily="18" charset="0"/>
                      </a:endParaRP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Form A at Time 1</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Form B at Time 2</a:t>
                      </a:r>
                    </a:p>
                  </a:txBody>
                  <a:tcPr marL="68598" marR="68598" marT="34299" marB="34299" anchor="ctr"/>
                </a:tc>
                <a:extLst>
                  <a:ext uri="{0D108BD9-81ED-4DB2-BD59-A6C34878D82A}">
                    <a16:rowId xmlns:a16="http://schemas.microsoft.com/office/drawing/2014/main" val="2865194987"/>
                  </a:ext>
                </a:extLst>
              </a:tr>
              <a:tr h="449152">
                <a:tc>
                  <a:txBody>
                    <a:bodyPr/>
                    <a:lstStyle/>
                    <a:p>
                      <a:pPr algn="ctr"/>
                      <a:r>
                        <a:rPr lang="en-US" sz="1100">
                          <a:latin typeface="Times New Roman" panose="02020603050405020304" pitchFamily="18" charset="0"/>
                          <a:cs typeface="Times New Roman" panose="02020603050405020304" pitchFamily="18" charset="0"/>
                        </a:rPr>
                        <a:t>Student #1</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80</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86</a:t>
                      </a:r>
                    </a:p>
                  </a:txBody>
                  <a:tcPr marL="68598" marR="68598" marT="34299" marB="34299" anchor="ctr"/>
                </a:tc>
                <a:extLst>
                  <a:ext uri="{0D108BD9-81ED-4DB2-BD59-A6C34878D82A}">
                    <a16:rowId xmlns:a16="http://schemas.microsoft.com/office/drawing/2014/main" val="2524619827"/>
                  </a:ext>
                </a:extLst>
              </a:tr>
              <a:tr h="449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Student #2</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98</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96</a:t>
                      </a:r>
                    </a:p>
                  </a:txBody>
                  <a:tcPr marL="68598" marR="68598" marT="34299" marB="34299" anchor="ctr"/>
                </a:tc>
                <a:extLst>
                  <a:ext uri="{0D108BD9-81ED-4DB2-BD59-A6C34878D82A}">
                    <a16:rowId xmlns:a16="http://schemas.microsoft.com/office/drawing/2014/main" val="64668570"/>
                  </a:ext>
                </a:extLst>
              </a:tr>
              <a:tr h="449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Student #3</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67</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75</a:t>
                      </a:r>
                    </a:p>
                  </a:txBody>
                  <a:tcPr marL="68598" marR="68598" marT="34299" marB="34299" anchor="ctr"/>
                </a:tc>
                <a:extLst>
                  <a:ext uri="{0D108BD9-81ED-4DB2-BD59-A6C34878D82A}">
                    <a16:rowId xmlns:a16="http://schemas.microsoft.com/office/drawing/2014/main" val="3364620702"/>
                  </a:ext>
                </a:extLst>
              </a:tr>
              <a:tr h="449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Student #4</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89</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84</a:t>
                      </a:r>
                    </a:p>
                  </a:txBody>
                  <a:tcPr marL="68598" marR="68598" marT="34299" marB="34299" anchor="ctr"/>
                </a:tc>
                <a:extLst>
                  <a:ext uri="{0D108BD9-81ED-4DB2-BD59-A6C34878D82A}">
                    <a16:rowId xmlns:a16="http://schemas.microsoft.com/office/drawing/2014/main" val="2117945019"/>
                  </a:ext>
                </a:extLst>
              </a:tr>
              <a:tr h="4491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Student #5</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73</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69</a:t>
                      </a:r>
                    </a:p>
                  </a:txBody>
                  <a:tcPr marL="68598" marR="68598" marT="34299" marB="34299" anchor="ctr"/>
                </a:tc>
                <a:extLst>
                  <a:ext uri="{0D108BD9-81ED-4DB2-BD59-A6C34878D82A}">
                    <a16:rowId xmlns:a16="http://schemas.microsoft.com/office/drawing/2014/main" val="4212398412"/>
                  </a:ext>
                </a:extLst>
              </a:tr>
              <a:tr h="449152">
                <a:tc>
                  <a:txBody>
                    <a:bodyPr/>
                    <a:lstStyle/>
                    <a:p>
                      <a:pPr algn="ctr"/>
                      <a:r>
                        <a:rPr lang="en-US" sz="1100">
                          <a:latin typeface="Times New Roman" panose="02020603050405020304" pitchFamily="18" charset="0"/>
                          <a:cs typeface="Times New Roman" panose="02020603050405020304" pitchFamily="18" charset="0"/>
                        </a:rPr>
                        <a:t>…</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a:t>
                      </a:r>
                    </a:p>
                  </a:txBody>
                  <a:tcPr marL="68598" marR="68598" marT="34299" marB="34299" anchor="ctr"/>
                </a:tc>
                <a:tc>
                  <a:txBody>
                    <a:bodyPr/>
                    <a:lstStyle/>
                    <a:p>
                      <a:pPr algn="ctr"/>
                      <a:r>
                        <a:rPr lang="en-US" sz="1100">
                          <a:latin typeface="Times New Roman" panose="02020603050405020304" pitchFamily="18" charset="0"/>
                          <a:cs typeface="Times New Roman" panose="02020603050405020304" pitchFamily="18" charset="0"/>
                        </a:rPr>
                        <a:t>…</a:t>
                      </a:r>
                    </a:p>
                  </a:txBody>
                  <a:tcPr marL="68598" marR="68598" marT="34299" marB="34299" anchor="ctr"/>
                </a:tc>
                <a:extLst>
                  <a:ext uri="{0D108BD9-81ED-4DB2-BD59-A6C34878D82A}">
                    <a16:rowId xmlns:a16="http://schemas.microsoft.com/office/drawing/2014/main" val="3836756536"/>
                  </a:ext>
                </a:extLst>
              </a:tr>
            </a:tbl>
          </a:graphicData>
        </a:graphic>
      </p:graphicFrame>
      <p:sp>
        <p:nvSpPr>
          <p:cNvPr id="5" name="TextBox 4">
            <a:extLst>
              <a:ext uri="{FF2B5EF4-FFF2-40B4-BE49-F238E27FC236}">
                <a16:creationId xmlns:a16="http://schemas.microsoft.com/office/drawing/2014/main" id="{71DF107D-892D-45E0-B139-0F027A924206}"/>
              </a:ext>
            </a:extLst>
          </p:cNvPr>
          <p:cNvSpPr txBox="1"/>
          <p:nvPr/>
        </p:nvSpPr>
        <p:spPr>
          <a:xfrm>
            <a:off x="6058287" y="2320716"/>
            <a:ext cx="2515255" cy="2308324"/>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To assess alternate forms and test-retest reliability, one can use</a:t>
            </a:r>
          </a:p>
          <a:p>
            <a:r>
              <a:rPr lang="en-US" i="1">
                <a:latin typeface="Times New Roman" panose="02020603050405020304" pitchFamily="18" charset="0"/>
                <a:cs typeface="Times New Roman" panose="02020603050405020304" pitchFamily="18" charset="0"/>
              </a:rPr>
              <a:t>coefficient of stability and equivalence, </a:t>
            </a:r>
            <a:r>
              <a:rPr lang="en-US">
                <a:latin typeface="Times New Roman" panose="02020603050405020304" pitchFamily="18" charset="0"/>
                <a:cs typeface="Times New Roman" panose="02020603050405020304" pitchFamily="18" charset="0"/>
              </a:rPr>
              <a:t>which</a:t>
            </a:r>
            <a:r>
              <a:rPr lang="en-US" i="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is simply the correlation between the two scores.</a:t>
            </a:r>
          </a:p>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9445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64145-4405-4D6F-A72F-68AC1F2E6114}"/>
              </a:ext>
            </a:extLst>
          </p:cNvPr>
          <p:cNvSpPr>
            <a:spLocks noGrp="1"/>
          </p:cNvSpPr>
          <p:nvPr>
            <p:ph type="title"/>
          </p:nvPr>
        </p:nvSpPr>
        <p:spPr/>
        <p:txBody>
          <a:bodyPr>
            <a:normAutofit/>
          </a:bodyPr>
          <a:lstStyle/>
          <a:p>
            <a:r>
              <a:rPr lang="en-US"/>
              <a:t>Recommended Values for Coefficients of Stability and Equivalence</a:t>
            </a:r>
          </a:p>
        </p:txBody>
      </p:sp>
      <p:sp>
        <p:nvSpPr>
          <p:cNvPr id="3" name="Content Placeholder 2">
            <a:extLst>
              <a:ext uri="{FF2B5EF4-FFF2-40B4-BE49-F238E27FC236}">
                <a16:creationId xmlns:a16="http://schemas.microsoft.com/office/drawing/2014/main" id="{B7CAEE02-4039-4854-9811-2E8E5D330C35}"/>
              </a:ext>
            </a:extLst>
          </p:cNvPr>
          <p:cNvSpPr>
            <a:spLocks noGrp="1"/>
          </p:cNvSpPr>
          <p:nvPr>
            <p:ph idx="1"/>
          </p:nvPr>
        </p:nvSpPr>
        <p:spPr/>
        <p:txBody>
          <a:bodyPr/>
          <a:lstStyle/>
          <a:p>
            <a:r>
              <a:rPr lang="en-US"/>
              <a:t>Estimated values for coefficients of equivalence and stability are typically lower than those for either stability or equivalence alone because they combine the two sources of score inconsistencies.</a:t>
            </a:r>
          </a:p>
          <a:p>
            <a:r>
              <a:rPr lang="en-US"/>
              <a:t>Values for coefficients of equivalence and stability should be at least .70, and values of .80 are not unreasonable.</a:t>
            </a:r>
          </a:p>
          <a:p>
            <a:endParaRPr lang="en-US"/>
          </a:p>
        </p:txBody>
      </p:sp>
    </p:spTree>
    <p:extLst>
      <p:ext uri="{BB962C8B-B14F-4D97-AF65-F5344CB8AC3E}">
        <p14:creationId xmlns:p14="http://schemas.microsoft.com/office/powerpoint/2010/main" val="7999103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01B2AE-DA8A-F9D2-67A1-684547E7FECA}"/>
              </a:ext>
            </a:extLst>
          </p:cNvPr>
          <p:cNvSpPr>
            <a:spLocks noGrp="1"/>
          </p:cNvSpPr>
          <p:nvPr>
            <p:ph idx="1"/>
          </p:nvPr>
        </p:nvSpPr>
        <p:spPr>
          <a:xfrm>
            <a:off x="3642610" y="629587"/>
            <a:ext cx="4815590" cy="5085413"/>
          </a:xfrm>
        </p:spPr>
        <p:txBody>
          <a:bodyPr/>
          <a:lstStyle/>
          <a:p>
            <a:r>
              <a:rPr lang="en-US" dirty="0"/>
              <a:t>I consider myself to be</a:t>
            </a:r>
          </a:p>
          <a:p>
            <a:pPr lvl="1"/>
            <a:r>
              <a:rPr lang="en-US" dirty="0"/>
              <a:t>Not very religious</a:t>
            </a:r>
          </a:p>
          <a:p>
            <a:pPr lvl="1"/>
            <a:r>
              <a:rPr lang="en-US" dirty="0"/>
              <a:t>Somewhat religious</a:t>
            </a:r>
          </a:p>
          <a:p>
            <a:pPr lvl="1"/>
            <a:r>
              <a:rPr lang="en-US" dirty="0"/>
              <a:t>Very religious</a:t>
            </a:r>
          </a:p>
          <a:p>
            <a:r>
              <a:rPr lang="en-US" dirty="0"/>
              <a:t>I attend religious services</a:t>
            </a:r>
          </a:p>
          <a:p>
            <a:pPr lvl="1"/>
            <a:r>
              <a:rPr lang="en-US" dirty="0"/>
              <a:t>Not very often</a:t>
            </a:r>
          </a:p>
          <a:p>
            <a:pPr lvl="1"/>
            <a:r>
              <a:rPr lang="en-US" dirty="0"/>
              <a:t>Somewhat often</a:t>
            </a:r>
          </a:p>
          <a:p>
            <a:pPr lvl="1"/>
            <a:r>
              <a:rPr lang="en-US" dirty="0"/>
              <a:t>Very often</a:t>
            </a:r>
          </a:p>
          <a:p>
            <a:r>
              <a:rPr lang="en-US" dirty="0"/>
              <a:t>I read religious texts</a:t>
            </a:r>
          </a:p>
          <a:p>
            <a:pPr lvl="1"/>
            <a:r>
              <a:rPr lang="en-US" dirty="0"/>
              <a:t>Not very often</a:t>
            </a:r>
          </a:p>
          <a:p>
            <a:pPr lvl="1"/>
            <a:r>
              <a:rPr lang="en-US" dirty="0"/>
              <a:t>Somewhat often</a:t>
            </a:r>
          </a:p>
          <a:p>
            <a:pPr lvl="1"/>
            <a:r>
              <a:rPr lang="en-US" dirty="0"/>
              <a:t>Very often</a:t>
            </a:r>
          </a:p>
        </p:txBody>
      </p:sp>
      <p:sp>
        <p:nvSpPr>
          <p:cNvPr id="4" name="Title 1">
            <a:extLst>
              <a:ext uri="{FF2B5EF4-FFF2-40B4-BE49-F238E27FC236}">
                <a16:creationId xmlns:a16="http://schemas.microsoft.com/office/drawing/2014/main" id="{41F9DDF8-7423-815B-B34E-301F1F6B0652}"/>
              </a:ext>
            </a:extLst>
          </p:cNvPr>
          <p:cNvSpPr>
            <a:spLocks noGrp="1"/>
          </p:cNvSpPr>
          <p:nvPr>
            <p:ph type="title"/>
          </p:nvPr>
        </p:nvSpPr>
        <p:spPr>
          <a:xfrm>
            <a:off x="685799" y="629587"/>
            <a:ext cx="3241623" cy="4761875"/>
          </a:xfrm>
        </p:spPr>
        <p:txBody>
          <a:bodyPr/>
          <a:lstStyle/>
          <a:p>
            <a:r>
              <a:rPr lang="en-US" dirty="0"/>
              <a:t>Internal Consistency</a:t>
            </a:r>
          </a:p>
        </p:txBody>
      </p:sp>
    </p:spTree>
    <p:extLst>
      <p:ext uri="{BB962C8B-B14F-4D97-AF65-F5344CB8AC3E}">
        <p14:creationId xmlns:p14="http://schemas.microsoft.com/office/powerpoint/2010/main" val="1212925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2A3EF-3217-4EC1-A563-1E02406E9ADB}"/>
              </a:ext>
            </a:extLst>
          </p:cNvPr>
          <p:cNvSpPr>
            <a:spLocks noGrp="1"/>
          </p:cNvSpPr>
          <p:nvPr>
            <p:ph type="title"/>
          </p:nvPr>
        </p:nvSpPr>
        <p:spPr/>
        <p:txBody>
          <a:bodyPr/>
          <a:lstStyle/>
          <a:p>
            <a:r>
              <a:rPr lang="en-US" dirty="0"/>
              <a:t>Internal Consistency</a:t>
            </a:r>
          </a:p>
        </p:txBody>
      </p:sp>
      <p:sp>
        <p:nvSpPr>
          <p:cNvPr id="3" name="Content Placeholder 2">
            <a:extLst>
              <a:ext uri="{FF2B5EF4-FFF2-40B4-BE49-F238E27FC236}">
                <a16:creationId xmlns:a16="http://schemas.microsoft.com/office/drawing/2014/main" id="{5ADBFAEE-516B-43CC-9755-4F7A797199FB}"/>
              </a:ext>
            </a:extLst>
          </p:cNvPr>
          <p:cNvSpPr>
            <a:spLocks noGrp="1"/>
          </p:cNvSpPr>
          <p:nvPr>
            <p:ph idx="1"/>
          </p:nvPr>
        </p:nvSpPr>
        <p:spPr/>
        <p:txBody>
          <a:bodyPr/>
          <a:lstStyle/>
          <a:p>
            <a:r>
              <a:rPr lang="en-US"/>
              <a:t>Internal Consistency concerns about the source of error from the items of the test.</a:t>
            </a:r>
          </a:p>
          <a:p>
            <a:r>
              <a:rPr lang="en-US"/>
              <a:t>An early approach to estimating the internal reliability of a test was to split the test into two halves and correlate the resulting two scores, followed by an adjustment.</a:t>
            </a:r>
          </a:p>
          <a:p>
            <a:r>
              <a:rPr lang="en-US" u="sng"/>
              <a:t>Coefficient alpha </a:t>
            </a:r>
            <a:r>
              <a:rPr lang="en-US"/>
              <a:t>is one of the more popular measures for internal consistency; equivalent to the average of all possible split halves of a test</a:t>
            </a:r>
          </a:p>
          <a:p>
            <a:endParaRPr lang="en-US"/>
          </a:p>
          <a:p>
            <a:endParaRPr lang="en-US"/>
          </a:p>
        </p:txBody>
      </p:sp>
    </p:spTree>
    <p:extLst>
      <p:ext uri="{BB962C8B-B14F-4D97-AF65-F5344CB8AC3E}">
        <p14:creationId xmlns:p14="http://schemas.microsoft.com/office/powerpoint/2010/main" val="159991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2A3EF-3217-4EC1-A563-1E02406E9ADB}"/>
              </a:ext>
            </a:extLst>
          </p:cNvPr>
          <p:cNvSpPr>
            <a:spLocks noGrp="1"/>
          </p:cNvSpPr>
          <p:nvPr>
            <p:ph type="title"/>
          </p:nvPr>
        </p:nvSpPr>
        <p:spPr/>
        <p:txBody>
          <a:bodyPr/>
          <a:lstStyle/>
          <a:p>
            <a:r>
              <a:rPr lang="en-US"/>
              <a:t>Internal Consistency</a:t>
            </a:r>
          </a:p>
        </p:txBody>
      </p:sp>
      <p:sp>
        <p:nvSpPr>
          <p:cNvPr id="3" name="Content Placeholder 2">
            <a:extLst>
              <a:ext uri="{FF2B5EF4-FFF2-40B4-BE49-F238E27FC236}">
                <a16:creationId xmlns:a16="http://schemas.microsoft.com/office/drawing/2014/main" id="{5ADBFAEE-516B-43CC-9755-4F7A797199FB}"/>
              </a:ext>
            </a:extLst>
          </p:cNvPr>
          <p:cNvSpPr>
            <a:spLocks noGrp="1"/>
          </p:cNvSpPr>
          <p:nvPr>
            <p:ph idx="1"/>
          </p:nvPr>
        </p:nvSpPr>
        <p:spPr/>
        <p:txBody>
          <a:bodyPr/>
          <a:lstStyle/>
          <a:p>
            <a:r>
              <a:rPr lang="en-US" dirty="0"/>
              <a:t>Coefficient alpha is only suitable under some strong assumptions, which are hard to met in practice</a:t>
            </a:r>
          </a:p>
          <a:p>
            <a:r>
              <a:rPr lang="en-US" dirty="0"/>
              <a:t>Coefficient omega can often overcome the deficiencies of coefficient alpha</a:t>
            </a:r>
          </a:p>
          <a:p>
            <a:endParaRPr lang="en-US" dirty="0"/>
          </a:p>
          <a:p>
            <a:endParaRPr lang="en-US" dirty="0"/>
          </a:p>
        </p:txBody>
      </p:sp>
    </p:spTree>
    <p:extLst>
      <p:ext uri="{BB962C8B-B14F-4D97-AF65-F5344CB8AC3E}">
        <p14:creationId xmlns:p14="http://schemas.microsoft.com/office/powerpoint/2010/main" val="150776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Misconceptions about Coefficient Alpha</a:t>
            </a:r>
          </a:p>
        </p:txBody>
      </p:sp>
      <p:sp>
        <p:nvSpPr>
          <p:cNvPr id="3" name="Content Placeholder 2"/>
          <p:cNvSpPr>
            <a:spLocks noGrp="1"/>
          </p:cNvSpPr>
          <p:nvPr>
            <p:ph idx="1"/>
          </p:nvPr>
        </p:nvSpPr>
        <p:spPr/>
        <p:txBody>
          <a:bodyPr/>
          <a:lstStyle/>
          <a:p>
            <a:r>
              <a:rPr lang="el-GR" i="1" dirty="0"/>
              <a:t>α</a:t>
            </a:r>
            <a:r>
              <a:rPr lang="en-US" dirty="0"/>
              <a:t> is one of the most popular psychometric indices</a:t>
            </a:r>
          </a:p>
          <a:p>
            <a:r>
              <a:rPr lang="en-US" dirty="0"/>
              <a:t>There are several common misconceptions about its interpretation</a:t>
            </a:r>
          </a:p>
          <a:p>
            <a:pPr lvl="1"/>
            <a:r>
              <a:rPr lang="en-US" dirty="0"/>
              <a:t>Let’s talk about what </a:t>
            </a:r>
            <a:r>
              <a:rPr lang="el-GR" i="1" dirty="0"/>
              <a:t>α</a:t>
            </a:r>
            <a:r>
              <a:rPr lang="el-GR" dirty="0"/>
              <a:t> </a:t>
            </a:r>
            <a:r>
              <a:rPr lang="en-US" dirty="0"/>
              <a:t>actually is and what it is not</a:t>
            </a:r>
          </a:p>
        </p:txBody>
      </p:sp>
      <p:sp>
        <p:nvSpPr>
          <p:cNvPr id="4" name="Footer Placeholder 3"/>
          <p:cNvSpPr>
            <a:spLocks noGrp="1"/>
          </p:cNvSpPr>
          <p:nvPr>
            <p:ph type="ftr" sz="quarter" idx="11"/>
          </p:nvPr>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BER603</a:t>
            </a:r>
          </a:p>
        </p:txBody>
      </p:sp>
      <p:sp>
        <p:nvSpPr>
          <p:cNvPr id="5" name="Slide Number Placeholder 4"/>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B741BE-657E-C04A-A8D2-32E5EC01F083}" type="slidenum">
              <a:rPr lang="en-US" smtClean="0"/>
              <a:pPr/>
              <a:t>26</a:t>
            </a:fld>
            <a:endParaRPr lang="en-US"/>
          </a:p>
        </p:txBody>
      </p:sp>
    </p:spTree>
    <p:extLst>
      <p:ext uri="{BB962C8B-B14F-4D97-AF65-F5344CB8AC3E}">
        <p14:creationId xmlns:p14="http://schemas.microsoft.com/office/powerpoint/2010/main" val="108458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t>
            </a:r>
            <a:r>
              <a:rPr lang="el-GR" dirty="0"/>
              <a:t>α </a:t>
            </a:r>
            <a:r>
              <a:rPr lang="en-US" dirty="0"/>
              <a:t>is; What </a:t>
            </a:r>
            <a:r>
              <a:rPr lang="el-GR" dirty="0"/>
              <a:t>α </a:t>
            </a:r>
            <a:r>
              <a:rPr lang="en-US" dirty="0"/>
              <a:t>is not</a:t>
            </a:r>
          </a:p>
        </p:txBody>
      </p:sp>
      <p:graphicFrame>
        <p:nvGraphicFramePr>
          <p:cNvPr id="6" name="Content Placeholder 5"/>
          <p:cNvGraphicFramePr>
            <a:graphicFrameLocks noGrp="1"/>
          </p:cNvGraphicFramePr>
          <p:nvPr>
            <p:ph idx="1"/>
          </p:nvPr>
        </p:nvGraphicFramePr>
        <p:xfrm>
          <a:off x="1568208" y="2257319"/>
          <a:ext cx="6172200" cy="356616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3086100">
                  <a:extLst>
                    <a:ext uri="{9D8B030D-6E8A-4147-A177-3AD203B41FA5}">
                      <a16:colId xmlns:a16="http://schemas.microsoft.com/office/drawing/2014/main" val="20001"/>
                    </a:ext>
                  </a:extLst>
                </a:gridCol>
              </a:tblGrid>
              <a:tr h="434340">
                <a:tc>
                  <a:txBody>
                    <a:bodyPr/>
                    <a:lstStyle/>
                    <a:p>
                      <a:pPr algn="ctr"/>
                      <a:r>
                        <a:rPr lang="en-US" sz="2400" dirty="0"/>
                        <a:t>What </a:t>
                      </a:r>
                      <a:r>
                        <a:rPr lang="el-GR" sz="2400" i="1" dirty="0"/>
                        <a:t>α</a:t>
                      </a:r>
                      <a:r>
                        <a:rPr lang="el-GR" sz="2400" dirty="0"/>
                        <a:t> </a:t>
                      </a:r>
                      <a:r>
                        <a:rPr lang="en-US" sz="2400" dirty="0"/>
                        <a:t>is</a:t>
                      </a:r>
                    </a:p>
                  </a:txBody>
                  <a:tcPr marL="68580" marR="68580" marT="34290" marB="34290"/>
                </a:tc>
                <a:tc>
                  <a:txBody>
                    <a:bodyPr/>
                    <a:lstStyle/>
                    <a:p>
                      <a:pPr algn="ctr"/>
                      <a:r>
                        <a:rPr lang="en-US" sz="2400" dirty="0"/>
                        <a:t>What </a:t>
                      </a:r>
                      <a:r>
                        <a:rPr lang="el-GR" sz="2400" i="1" dirty="0"/>
                        <a:t>α</a:t>
                      </a:r>
                      <a:r>
                        <a:rPr lang="en-US" sz="2400" dirty="0"/>
                        <a:t> is not</a:t>
                      </a:r>
                    </a:p>
                  </a:txBody>
                  <a:tcPr marL="68580" marR="68580" marT="34290" marB="34290"/>
                </a:tc>
                <a:extLst>
                  <a:ext uri="{0D108BD9-81ED-4DB2-BD59-A6C34878D82A}">
                    <a16:rowId xmlns:a16="http://schemas.microsoft.com/office/drawing/2014/main" val="10000"/>
                  </a:ext>
                </a:extLst>
              </a:tr>
              <a:tr h="800100">
                <a:tc>
                  <a:txBody>
                    <a:bodyPr/>
                    <a:lstStyle/>
                    <a:p>
                      <a:r>
                        <a:rPr lang="en-US" sz="2400" dirty="0"/>
                        <a:t>1. Index of internal consistency</a:t>
                      </a:r>
                    </a:p>
                  </a:txBody>
                  <a:tcPr marL="68580" marR="68580" marT="34290" marB="34290"/>
                </a:tc>
                <a:tc>
                  <a:txBody>
                    <a:bodyPr/>
                    <a:lstStyle/>
                    <a:p>
                      <a:r>
                        <a:rPr lang="en-US" sz="2400" dirty="0"/>
                        <a:t>1. Indicator of dimensionality</a:t>
                      </a:r>
                    </a:p>
                  </a:txBody>
                  <a:tcPr marL="68580" marR="68580" marT="34290" marB="34290"/>
                </a:tc>
                <a:extLst>
                  <a:ext uri="{0D108BD9-81ED-4DB2-BD59-A6C34878D82A}">
                    <a16:rowId xmlns:a16="http://schemas.microsoft.com/office/drawing/2014/main" val="10001"/>
                  </a:ext>
                </a:extLst>
              </a:tr>
              <a:tr h="1165860">
                <a:tc>
                  <a:txBody>
                    <a:bodyPr/>
                    <a:lstStyle/>
                    <a:p>
                      <a:r>
                        <a:rPr lang="en-US" sz="2400" dirty="0"/>
                        <a:t>2. Mean of all possible split-half</a:t>
                      </a:r>
                      <a:r>
                        <a:rPr lang="en-US" sz="2400" baseline="0" dirty="0"/>
                        <a:t> reliability coefficients</a:t>
                      </a:r>
                      <a:endParaRPr lang="en-US" sz="2400" dirty="0"/>
                    </a:p>
                  </a:txBody>
                  <a:tcPr marL="68580" marR="68580" marT="34290" marB="34290"/>
                </a:tc>
                <a:tc>
                  <a:txBody>
                    <a:bodyPr/>
                    <a:lstStyle/>
                    <a:p>
                      <a:r>
                        <a:rPr lang="en-US" sz="2400" dirty="0"/>
                        <a:t>2. Lower-bound of reliability</a:t>
                      </a:r>
                    </a:p>
                  </a:txBody>
                  <a:tcPr marL="68580" marR="68580" marT="34290" marB="34290"/>
                </a:tc>
                <a:extLst>
                  <a:ext uri="{0D108BD9-81ED-4DB2-BD59-A6C34878D82A}">
                    <a16:rowId xmlns:a16="http://schemas.microsoft.com/office/drawing/2014/main" val="10002"/>
                  </a:ext>
                </a:extLst>
              </a:tr>
              <a:tr h="1165860">
                <a:tc>
                  <a:txBody>
                    <a:bodyPr/>
                    <a:lstStyle/>
                    <a:p>
                      <a:r>
                        <a:rPr lang="en-US" sz="2400" dirty="0"/>
                        <a:t>3. Estimate of reliability in certain circumstances</a:t>
                      </a:r>
                    </a:p>
                  </a:txBody>
                  <a:tcPr marL="68580" marR="68580" marT="34290" marB="34290"/>
                </a:tc>
                <a:tc>
                  <a:txBody>
                    <a:bodyPr/>
                    <a:lstStyle/>
                    <a:p>
                      <a:endParaRPr lang="en-US" sz="2400" dirty="0"/>
                    </a:p>
                  </a:txBody>
                  <a:tcPr marL="68580" marR="68580"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77046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45E54-297B-4263-8235-FD0541C8831E}"/>
              </a:ext>
            </a:extLst>
          </p:cNvPr>
          <p:cNvSpPr>
            <a:spLocks noGrp="1"/>
          </p:cNvSpPr>
          <p:nvPr>
            <p:ph type="title"/>
          </p:nvPr>
        </p:nvSpPr>
        <p:spPr/>
        <p:txBody>
          <a:bodyPr>
            <a:normAutofit/>
          </a:bodyPr>
          <a:lstStyle/>
          <a:p>
            <a:r>
              <a:rPr lang="en-US"/>
              <a:t>Recommended Values for Internal Consistency Indices</a:t>
            </a:r>
          </a:p>
        </p:txBody>
      </p:sp>
      <p:sp>
        <p:nvSpPr>
          <p:cNvPr id="3" name="Content Placeholder 2">
            <a:extLst>
              <a:ext uri="{FF2B5EF4-FFF2-40B4-BE49-F238E27FC236}">
                <a16:creationId xmlns:a16="http://schemas.microsoft.com/office/drawing/2014/main" id="{45880B1D-7E42-4C05-BFAB-9CE0349BC7BB}"/>
              </a:ext>
            </a:extLst>
          </p:cNvPr>
          <p:cNvSpPr>
            <a:spLocks noGrp="1"/>
          </p:cNvSpPr>
          <p:nvPr>
            <p:ph idx="1"/>
          </p:nvPr>
        </p:nvSpPr>
        <p:spPr/>
        <p:txBody>
          <a:bodyPr>
            <a:normAutofit/>
          </a:bodyPr>
          <a:lstStyle/>
          <a:p>
            <a:r>
              <a:rPr lang="en-US" err="1"/>
              <a:t>Raykov</a:t>
            </a:r>
            <a:r>
              <a:rPr lang="en-US"/>
              <a:t> and </a:t>
            </a:r>
            <a:r>
              <a:rPr lang="en-US" err="1"/>
              <a:t>Marcoulides</a:t>
            </a:r>
            <a:r>
              <a:rPr lang="en-US"/>
              <a:t> (2011) recommend values of at least .80. </a:t>
            </a:r>
          </a:p>
          <a:p>
            <a:r>
              <a:rPr lang="en-US"/>
              <a:t>Nunnally’s (1978) provides the following guidelines: </a:t>
            </a:r>
          </a:p>
          <a:p>
            <a:pPr lvl="1"/>
            <a:r>
              <a:rPr lang="en-US"/>
              <a:t>.70 for scales in the initial stages of development; </a:t>
            </a:r>
          </a:p>
          <a:p>
            <a:pPr lvl="1"/>
            <a:r>
              <a:rPr lang="en-US"/>
              <a:t>.80 for “basic research scales,” and </a:t>
            </a:r>
          </a:p>
          <a:p>
            <a:pPr lvl="1"/>
            <a:r>
              <a:rPr lang="en-US"/>
              <a:t>.90 as minimum for use in clinical settings. </a:t>
            </a:r>
          </a:p>
          <a:p>
            <a:r>
              <a:rPr lang="en-US"/>
              <a:t>Kaplan and </a:t>
            </a:r>
            <a:r>
              <a:rPr lang="en-US" err="1"/>
              <a:t>Sarcuzzo</a:t>
            </a:r>
            <a:r>
              <a:rPr lang="en-US"/>
              <a:t> (2001) suggest values of up to .95 for clinical settings.</a:t>
            </a:r>
          </a:p>
          <a:p>
            <a:endParaRPr lang="en-US"/>
          </a:p>
        </p:txBody>
      </p:sp>
    </p:spTree>
    <p:extLst>
      <p:ext uri="{BB962C8B-B14F-4D97-AF65-F5344CB8AC3E}">
        <p14:creationId xmlns:p14="http://schemas.microsoft.com/office/powerpoint/2010/main" val="298627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917A6-285A-EAD7-8532-EAFCCDE6A832}"/>
              </a:ext>
            </a:extLst>
          </p:cNvPr>
          <p:cNvSpPr>
            <a:spLocks noGrp="1"/>
          </p:cNvSpPr>
          <p:nvPr>
            <p:ph type="title"/>
          </p:nvPr>
        </p:nvSpPr>
        <p:spPr/>
        <p:txBody>
          <a:bodyPr/>
          <a:lstStyle/>
          <a:p>
            <a:r>
              <a:rPr lang="en-US" dirty="0"/>
              <a:t>How to improve reliability?</a:t>
            </a:r>
          </a:p>
        </p:txBody>
      </p:sp>
      <p:sp>
        <p:nvSpPr>
          <p:cNvPr id="3" name="Content Placeholder 2">
            <a:extLst>
              <a:ext uri="{FF2B5EF4-FFF2-40B4-BE49-F238E27FC236}">
                <a16:creationId xmlns:a16="http://schemas.microsoft.com/office/drawing/2014/main" id="{767E855C-515A-BA8F-CF54-9E469234A9D1}"/>
              </a:ext>
            </a:extLst>
          </p:cNvPr>
          <p:cNvSpPr>
            <a:spLocks noGrp="1"/>
          </p:cNvSpPr>
          <p:nvPr>
            <p:ph idx="1"/>
          </p:nvPr>
        </p:nvSpPr>
        <p:spPr/>
        <p:txBody>
          <a:bodyPr/>
          <a:lstStyle/>
          <a:p>
            <a:r>
              <a:rPr lang="en-US" dirty="0"/>
              <a:t>Clarity: Clearly written surveys that avoid ambiguous language in questions and response options are much more reliable sources of data than less carefully constructed instruments</a:t>
            </a:r>
          </a:p>
          <a:p>
            <a:r>
              <a:rPr lang="en-US" dirty="0"/>
              <a:t>Brevity: Not only the language, but the mere number of possible response options can strongly influence how an individual is going to respond</a:t>
            </a:r>
          </a:p>
          <a:p>
            <a:r>
              <a:rPr lang="en-US" dirty="0"/>
              <a:t>Length: reliability is usually increased as test length increases.</a:t>
            </a:r>
          </a:p>
        </p:txBody>
      </p:sp>
    </p:spTree>
    <p:extLst>
      <p:ext uri="{BB962C8B-B14F-4D97-AF65-F5344CB8AC3E}">
        <p14:creationId xmlns:p14="http://schemas.microsoft.com/office/powerpoint/2010/main" val="1773496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6BF677-F10A-85A8-F89A-4FE86FCA8A35}"/>
              </a:ext>
            </a:extLst>
          </p:cNvPr>
          <p:cNvSpPr>
            <a:spLocks noGrp="1"/>
          </p:cNvSpPr>
          <p:nvPr>
            <p:ph idx="1"/>
          </p:nvPr>
        </p:nvSpPr>
        <p:spPr>
          <a:xfrm>
            <a:off x="685800" y="164892"/>
            <a:ext cx="7772400" cy="5550108"/>
          </a:xfrm>
        </p:spPr>
        <p:txBody>
          <a:bodyPr/>
          <a:lstStyle/>
          <a:p>
            <a:r>
              <a:rPr lang="en-US" dirty="0"/>
              <a:t>1a. How many times have you attended religious services in the past year? ______</a:t>
            </a:r>
          </a:p>
          <a:p>
            <a:r>
              <a:rPr lang="en-US" dirty="0"/>
              <a:t>1b. How many times have you attended religious services in the past year?</a:t>
            </a:r>
          </a:p>
          <a:p>
            <a:pPr lvl="1"/>
            <a:r>
              <a:rPr lang="en-US" dirty="0"/>
              <a:t>0</a:t>
            </a:r>
          </a:p>
          <a:p>
            <a:pPr lvl="1"/>
            <a:r>
              <a:rPr lang="en-US" dirty="0"/>
              <a:t>1–3</a:t>
            </a:r>
          </a:p>
          <a:p>
            <a:pPr lvl="1"/>
            <a:r>
              <a:rPr lang="en-US" dirty="0"/>
              <a:t>4–6</a:t>
            </a:r>
          </a:p>
          <a:p>
            <a:pPr lvl="1"/>
            <a:r>
              <a:rPr lang="en-US" dirty="0"/>
              <a:t>7–10</a:t>
            </a:r>
          </a:p>
          <a:p>
            <a:pPr lvl="1"/>
            <a:r>
              <a:rPr lang="en-US" dirty="0"/>
              <a:t>10–12</a:t>
            </a:r>
          </a:p>
          <a:p>
            <a:pPr lvl="1"/>
            <a:r>
              <a:rPr lang="en-US" dirty="0"/>
              <a:t>13 or more</a:t>
            </a:r>
          </a:p>
          <a:p>
            <a:r>
              <a:rPr lang="en-US" dirty="0"/>
              <a:t>1c. How many times have you attended religious services in the past year?</a:t>
            </a:r>
          </a:p>
          <a:p>
            <a:pPr lvl="1"/>
            <a:r>
              <a:rPr lang="en-US" dirty="0"/>
              <a:t>0</a:t>
            </a:r>
          </a:p>
          <a:p>
            <a:pPr lvl="1"/>
            <a:r>
              <a:rPr lang="en-US" dirty="0"/>
              <a:t>1–3</a:t>
            </a:r>
          </a:p>
          <a:p>
            <a:pPr lvl="1"/>
            <a:r>
              <a:rPr lang="en-US" dirty="0"/>
              <a:t>4–5</a:t>
            </a:r>
          </a:p>
          <a:p>
            <a:pPr lvl="1"/>
            <a:r>
              <a:rPr lang="en-US" dirty="0"/>
              <a:t>6 or more</a:t>
            </a:r>
          </a:p>
        </p:txBody>
      </p:sp>
    </p:spTree>
    <p:extLst>
      <p:ext uri="{BB962C8B-B14F-4D97-AF65-F5344CB8AC3E}">
        <p14:creationId xmlns:p14="http://schemas.microsoft.com/office/powerpoint/2010/main" val="1287017222"/>
      </p:ext>
    </p:extLst>
  </p:cSld>
  <p:clrMapOvr>
    <a:masterClrMapping/>
  </p:clrMapOvr>
</p:sld>
</file>

<file path=ppt/theme/theme1.xml><?xml version="1.0" encoding="utf-8"?>
<a:theme xmlns:a="http://schemas.openxmlformats.org/drawingml/2006/main" name="UMN-yellow">
  <a:themeElements>
    <a:clrScheme name="Custom 1">
      <a:dk1>
        <a:sysClr val="windowText" lastClr="000000"/>
      </a:dk1>
      <a:lt1>
        <a:sysClr val="window" lastClr="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MN-yellow" id="{DB2F7133-BA05-44A6-B8AE-F4ACBE427C16}" vid="{EB79D255-8E2F-4960-9A30-A0E24C4AC9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UMN-yellow</Template>
  <TotalTime>9422</TotalTime>
  <Words>2807</Words>
  <Application>Microsoft Macintosh PowerPoint</Application>
  <PresentationFormat>On-screen Show (4:3)</PresentationFormat>
  <Paragraphs>236</Paragraphs>
  <Slides>30</Slides>
  <Notes>20</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Corbel</vt:lpstr>
      <vt:lpstr>Times New Roman</vt:lpstr>
      <vt:lpstr>Titillium Web</vt:lpstr>
      <vt:lpstr>UMN-yellow</vt:lpstr>
      <vt:lpstr>Reliability</vt:lpstr>
      <vt:lpstr>Classical Test Theory</vt:lpstr>
      <vt:lpstr>Classical Test Theory</vt:lpstr>
      <vt:lpstr>Reliability in Survey</vt:lpstr>
      <vt:lpstr>Reliability in Survey</vt:lpstr>
      <vt:lpstr>Estimating reliability</vt:lpstr>
      <vt:lpstr>Estimating Reliability</vt:lpstr>
      <vt:lpstr>Reliability</vt:lpstr>
      <vt:lpstr>Estimating reliability</vt:lpstr>
      <vt:lpstr>Interpreting Reliability Coefficients</vt:lpstr>
      <vt:lpstr>Interpreting Reliability Coefficients</vt:lpstr>
      <vt:lpstr>Types of reliability</vt:lpstr>
      <vt:lpstr>Test–retest reliability</vt:lpstr>
      <vt:lpstr>PowerPoint Presentation</vt:lpstr>
      <vt:lpstr>PowerPoint Presentation</vt:lpstr>
      <vt:lpstr>Recommended Values for Coefficients of Stability</vt:lpstr>
      <vt:lpstr>Alternative forms reliability</vt:lpstr>
      <vt:lpstr>Alternative forms reliability</vt:lpstr>
      <vt:lpstr>Recommended Values for Coefficients of Equivalence</vt:lpstr>
      <vt:lpstr>Combining Alternate Forms and Test–Retest Reliability</vt:lpstr>
      <vt:lpstr>Combining Alternate Forms and Test–Retest Reliability</vt:lpstr>
      <vt:lpstr>Recommended Values for Coefficients of Stability and Equivalence</vt:lpstr>
      <vt:lpstr>Internal Consistency</vt:lpstr>
      <vt:lpstr>Internal Consistency</vt:lpstr>
      <vt:lpstr>Internal Consistency</vt:lpstr>
      <vt:lpstr>Misconceptions about Coefficient Alpha</vt:lpstr>
      <vt:lpstr>What α is; What α is not</vt:lpstr>
      <vt:lpstr>Recommended Values for Internal Consistency Indices</vt:lpstr>
      <vt:lpstr>How to improve reliability?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Wenchao Ma</dc:creator>
  <cp:lastModifiedBy>Wenchao Ma</cp:lastModifiedBy>
  <cp:revision>38</cp:revision>
  <dcterms:created xsi:type="dcterms:W3CDTF">2024-07-16T02:19:12Z</dcterms:created>
  <dcterms:modified xsi:type="dcterms:W3CDTF">2026-01-27T22:03:37Z</dcterms:modified>
</cp:coreProperties>
</file>