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6858000" type="screen4x3"/>
  <p:notesSz cx="6858000" cy="9144000"/>
  <p:embeddedFontLst>
    <p:embeddedFont>
      <p:font typeface="DM Sans" pitchFamily="2" charset="77"/>
      <p:regular r:id="rId43"/>
      <p:bold r:id="rId44"/>
      <p:italic r:id="rId45"/>
      <p:boldItalic r:id="rId46"/>
    </p:embeddedFont>
    <p:embeddedFont>
      <p:font typeface="Roboto" panose="020000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jmrbbYi3H9LLFd3Sn00GOj46/wg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1944"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aim when creating a survey is to produce the best possible items that measure the attributes of interest. Even if the items are on target, they must be presented in a format that is readily understandable so that people are motivated and are able to provide the best possible answers. To ensure that respondents interpret items as intended and the survey is presented properly, we pilot test the survey.</a:t>
            </a:r>
            <a:endParaRPr/>
          </a:p>
        </p:txBody>
      </p:sp>
      <p:sp>
        <p:nvSpPr>
          <p:cNvPr id="55" name="Google Shape;55;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highlight>
                  <a:srgbClr val="FFFFFF"/>
                </a:highlight>
                <a:latin typeface="DM Sans"/>
                <a:ea typeface="DM Sans"/>
                <a:cs typeface="DM Sans"/>
                <a:sym typeface="DM Sans"/>
              </a:rPr>
              <a:t>Once you have a complete draft of your survey, a pretest is a necessary next component of the research process. Pretesting your survey is an important way to pinpoint problem areas, reduce measurement error, reduce respondent burden, determine whether or not respondents are interpreting questions correctly, and ensure that the order of questions is not influencing the way a respondent answers. In other words, a pretest is a critical examination of your survey instrument that will help determine if your survey will function properly as a valid and reliable social science research tool</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63" name="Google Shape;6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d784785c6d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d784785c6d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050">
                <a:solidFill>
                  <a:srgbClr val="1F1F1F"/>
                </a:solidFill>
                <a:latin typeface="Roboto"/>
                <a:ea typeface="Roboto"/>
                <a:cs typeface="Roboto"/>
                <a:sym typeface="Roboto"/>
              </a:rPr>
              <a:t>A </a:t>
            </a:r>
            <a:r>
              <a:rPr lang="en-US" sz="1050" b="1">
                <a:solidFill>
                  <a:srgbClr val="1F1F1F"/>
                </a:solidFill>
                <a:latin typeface="Roboto"/>
                <a:ea typeface="Roboto"/>
                <a:cs typeface="Roboto"/>
                <a:sym typeface="Roboto"/>
              </a:rPr>
              <a:t>Pilot Study</a:t>
            </a:r>
            <a:r>
              <a:rPr lang="en-US" sz="1050">
                <a:solidFill>
                  <a:srgbClr val="1F1F1F"/>
                </a:solidFill>
                <a:latin typeface="Roboto"/>
                <a:ea typeface="Roboto"/>
                <a:cs typeface="Roboto"/>
                <a:sym typeface="Roboto"/>
              </a:rPr>
              <a:t> is a small-scale dry run of the </a:t>
            </a:r>
            <a:r>
              <a:rPr lang="en-US" sz="1050" i="1">
                <a:solidFill>
                  <a:srgbClr val="1F1F1F"/>
                </a:solidFill>
                <a:latin typeface="Roboto"/>
                <a:ea typeface="Roboto"/>
                <a:cs typeface="Roboto"/>
                <a:sym typeface="Roboto"/>
              </a:rPr>
              <a:t>entire</a:t>
            </a:r>
            <a:r>
              <a:rPr lang="en-US" sz="1050">
                <a:solidFill>
                  <a:srgbClr val="1F1F1F"/>
                </a:solidFill>
                <a:latin typeface="Roboto"/>
                <a:ea typeface="Roboto"/>
                <a:cs typeface="Roboto"/>
                <a:sym typeface="Roboto"/>
              </a:rPr>
              <a:t> experiment or survey administration, whereas </a:t>
            </a:r>
            <a:r>
              <a:rPr lang="en-US" sz="1050" b="1">
                <a:solidFill>
                  <a:srgbClr val="1F1F1F"/>
                </a:solidFill>
                <a:latin typeface="Roboto"/>
                <a:ea typeface="Roboto"/>
                <a:cs typeface="Roboto"/>
                <a:sym typeface="Roboto"/>
              </a:rPr>
              <a:t>Pre-testing</a:t>
            </a:r>
            <a:r>
              <a:rPr lang="en-US" sz="1050">
                <a:solidFill>
                  <a:srgbClr val="1F1F1F"/>
                </a:solidFill>
                <a:latin typeface="Roboto"/>
                <a:ea typeface="Roboto"/>
                <a:cs typeface="Roboto"/>
                <a:sym typeface="Roboto"/>
              </a:rPr>
              <a:t> is specifically the "trying out" of the </a:t>
            </a:r>
            <a:r>
              <a:rPr lang="en-US" sz="1050" i="1">
                <a:solidFill>
                  <a:srgbClr val="1F1F1F"/>
                </a:solidFill>
                <a:latin typeface="Roboto"/>
                <a:ea typeface="Roboto"/>
                <a:cs typeface="Roboto"/>
                <a:sym typeface="Roboto"/>
              </a:rPr>
              <a:t>questionnaire/instrument</a:t>
            </a:r>
            <a:r>
              <a:rPr lang="en-US" sz="1050">
                <a:solidFill>
                  <a:srgbClr val="1F1F1F"/>
                </a:solidFill>
                <a:latin typeface="Roboto"/>
                <a:ea typeface="Roboto"/>
                <a:cs typeface="Roboto"/>
                <a:sym typeface="Roboto"/>
              </a:rPr>
              <a:t> itself. </a:t>
            </a:r>
            <a:endParaRPr sz="1050">
              <a:solidFill>
                <a:srgbClr val="1F1F1F"/>
              </a:solidFill>
              <a:latin typeface="Roboto"/>
              <a:ea typeface="Roboto"/>
              <a:cs typeface="Roboto"/>
              <a:sym typeface="Roboto"/>
            </a:endParaRPr>
          </a:p>
          <a:p>
            <a:pPr marL="0" lvl="0" indent="0" algn="l" rtl="0">
              <a:spcBef>
                <a:spcPts val="0"/>
              </a:spcBef>
              <a:spcAft>
                <a:spcPts val="0"/>
              </a:spcAft>
              <a:buNone/>
            </a:pPr>
            <a:endParaRPr sz="1050">
              <a:solidFill>
                <a:srgbClr val="1F1F1F"/>
              </a:solidFill>
              <a:latin typeface="Roboto"/>
              <a:ea typeface="Roboto"/>
              <a:cs typeface="Roboto"/>
              <a:sym typeface="Roboto"/>
            </a:endParaRPr>
          </a:p>
          <a:p>
            <a:pPr marL="0" lvl="0" indent="0" algn="l" rtl="0">
              <a:spcBef>
                <a:spcPts val="0"/>
              </a:spcBef>
              <a:spcAft>
                <a:spcPts val="0"/>
              </a:spcAft>
              <a:buNone/>
            </a:pPr>
            <a:r>
              <a:rPr lang="en-US" sz="1050">
                <a:solidFill>
                  <a:srgbClr val="1F1F1F"/>
                </a:solidFill>
                <a:latin typeface="Roboto"/>
                <a:ea typeface="Roboto"/>
                <a:cs typeface="Roboto"/>
                <a:sym typeface="Roboto"/>
              </a:rPr>
              <a:t>Pre-testing is often considered a crucial element or a key phase that occurs </a:t>
            </a:r>
            <a:r>
              <a:rPr lang="en-US" sz="1050" i="1">
                <a:solidFill>
                  <a:srgbClr val="1F1F1F"/>
                </a:solidFill>
                <a:latin typeface="Roboto"/>
                <a:ea typeface="Roboto"/>
                <a:cs typeface="Roboto"/>
                <a:sym typeface="Roboto"/>
              </a:rPr>
              <a:t>within</a:t>
            </a:r>
            <a:r>
              <a:rPr lang="en-US" sz="1050">
                <a:solidFill>
                  <a:srgbClr val="1F1F1F"/>
                </a:solidFill>
                <a:latin typeface="Roboto"/>
                <a:ea typeface="Roboto"/>
                <a:cs typeface="Roboto"/>
                <a:sym typeface="Roboto"/>
              </a:rPr>
              <a:t> the broader Pilot Study.</a:t>
            </a:r>
            <a:endParaRPr/>
          </a:p>
        </p:txBody>
      </p:sp>
      <p:sp>
        <p:nvSpPr>
          <p:cNvPr id="70" name="Google Shape;70;g3d784785c6d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Gather input and gain perspective.</a:t>
            </a:r>
            <a:endParaRPr/>
          </a:p>
          <a:p>
            <a:pPr marL="0" lvl="0" indent="0" algn="l" rtl="0">
              <a:spcBef>
                <a:spcPts val="0"/>
              </a:spcBef>
              <a:spcAft>
                <a:spcPts val="0"/>
              </a:spcAft>
              <a:buNone/>
            </a:pPr>
            <a:r>
              <a:rPr lang="en-US"/>
              <a:t>It is easy for researchers writing their own surveys to become “too close” to the work and be unable to see problems that might be obvious to others. Pretesting questions, whether formally or informally, can provide the researcher with a new perspective, seeing the questions or entire survey tool through another’s eyes.</a:t>
            </a:r>
            <a:endParaRPr/>
          </a:p>
          <a:p>
            <a:pPr marL="0" lvl="0" indent="0" algn="l" rtl="0">
              <a:spcBef>
                <a:spcPts val="0"/>
              </a:spcBef>
              <a:spcAft>
                <a:spcPts val="0"/>
              </a:spcAft>
              <a:buNone/>
            </a:pPr>
            <a:endParaRPr/>
          </a:p>
          <a:p>
            <a:pPr marL="0" lvl="0" indent="0" algn="l" rtl="0">
              <a:spcBef>
                <a:spcPts val="0"/>
              </a:spcBef>
              <a:spcAft>
                <a:spcPts val="0"/>
              </a:spcAft>
              <a:buNone/>
            </a:pPr>
            <a:r>
              <a:rPr lang="en-US"/>
              <a:t>By asking potential respondents and/or informants who are familiar with potential respondents for their feedback, and by exploring their thinking when making sense of and responding to questions, researchers can gain a great deal of empathy for and understanding of respondents.</a:t>
            </a:r>
            <a:endParaRPr/>
          </a:p>
          <a:p>
            <a:pPr marL="0" lvl="0" indent="0" algn="l" rtl="0">
              <a:spcBef>
                <a:spcPts val="0"/>
              </a:spcBef>
              <a:spcAft>
                <a:spcPts val="0"/>
              </a:spcAft>
              <a:buNone/>
            </a:pPr>
            <a:endParaRPr/>
          </a:p>
          <a:p>
            <a:pPr marL="0" lvl="0" indent="0" algn="l" rtl="0">
              <a:spcBef>
                <a:spcPts val="0"/>
              </a:spcBef>
              <a:spcAft>
                <a:spcPts val="0"/>
              </a:spcAft>
              <a:buNone/>
            </a:pPr>
            <a:r>
              <a:rPr lang="en-US"/>
              <a:t>Pretesting questions is particularly helpful in ensuring that problematic questions, such as those that are leading or loaded, are avoided. Examining responses collected during pretesting can sometimes make potentially problematic questions immediately obvious, but researchers can also identify and troubleshoot such questions by asking respondents pretesting the survey to notify them directly when they notice such a question. </a:t>
            </a:r>
            <a:endParaRPr/>
          </a:p>
          <a:p>
            <a:pPr marL="0" lvl="0" indent="0" algn="l" rtl="0">
              <a:spcBef>
                <a:spcPts val="0"/>
              </a:spcBef>
              <a:spcAft>
                <a:spcPts val="0"/>
              </a:spcAft>
              <a:buNone/>
            </a:pPr>
            <a:endParaRPr/>
          </a:p>
          <a:p>
            <a:pPr marL="0" lvl="0" indent="0" algn="l" rtl="0">
              <a:spcBef>
                <a:spcPts val="0"/>
              </a:spcBef>
              <a:spcAft>
                <a:spcPts val="0"/>
              </a:spcAft>
              <a:buNone/>
            </a:pPr>
            <a:r>
              <a:rPr lang="en-US"/>
              <a:t>A simple but very effective use of pretesting is to confirm that response options are sufficient and appropriate for the specific respondents identified for the survey. Pretesting may identify a need for additional response options that weren’t originally anticipated or may uncover instances where there are too many response options, overlapping options, or options that are problematic in some other unanticipated way.</a:t>
            </a:r>
            <a:endParaRPr/>
          </a:p>
        </p:txBody>
      </p:sp>
      <p:sp>
        <p:nvSpPr>
          <p:cNvPr id="77" name="Google Shape;7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survey question with validity is one that measures what it is intended to measure. A question with face validity is one that appears (to researchers, experts, colleagues, and/or respondents) to measure what it is intended to measure.</a:t>
            </a:r>
            <a:endParaRPr/>
          </a:p>
          <a:p>
            <a:pPr marL="0" lvl="0" indent="0" algn="l" rtl="0">
              <a:spcBef>
                <a:spcPts val="0"/>
              </a:spcBef>
              <a:spcAft>
                <a:spcPts val="0"/>
              </a:spcAft>
              <a:buNone/>
            </a:pPr>
            <a:endParaRPr/>
          </a:p>
          <a:p>
            <a:pPr marL="0" lvl="0" indent="0" algn="l" rtl="0">
              <a:spcBef>
                <a:spcPts val="0"/>
              </a:spcBef>
              <a:spcAft>
                <a:spcPts val="0"/>
              </a:spcAft>
              <a:buNone/>
            </a:pPr>
            <a:r>
              <a:rPr lang="en-US"/>
              <a:t>In some cases, pretesting can be used to explore reliability as well. Survey reliability refers to whether survey questions are answered consistently. That is to say, with a reliable survey, respondents answer similar questions in appropriately similar ways, or that results from survey administration efforts with similar populations are appropriately similar. Exploring reliability through pretesting is most likely to be accomplished through a pilot test in which enough data are collected to explore whether problematic patterns may be surfacing. There are three good indicators that survey questions may not produce reliable responses. Problems with reliability can surface when</a:t>
            </a:r>
            <a:endParaRPr/>
          </a:p>
          <a:p>
            <a:pPr marL="0" lvl="0" indent="0" algn="l" rtl="0">
              <a:spcBef>
                <a:spcPts val="0"/>
              </a:spcBef>
              <a:spcAft>
                <a:spcPts val="0"/>
              </a:spcAft>
              <a:buNone/>
            </a:pPr>
            <a:endParaRPr/>
          </a:p>
          <a:p>
            <a:pPr marL="0" lvl="0" indent="0" algn="l" rtl="0">
              <a:spcBef>
                <a:spcPts val="0"/>
              </a:spcBef>
              <a:spcAft>
                <a:spcPts val="0"/>
              </a:spcAft>
              <a:buNone/>
            </a:pPr>
            <a:r>
              <a:rPr lang="en-US"/>
              <a:t>a group of testers a researcher expects would answer the same way do not, in fact, answer in the same way;</a:t>
            </a:r>
            <a:endParaRPr/>
          </a:p>
          <a:p>
            <a:pPr marL="0" lvl="0" indent="0" algn="l" rtl="0">
              <a:spcBef>
                <a:spcPts val="0"/>
              </a:spcBef>
              <a:spcAft>
                <a:spcPts val="0"/>
              </a:spcAft>
              <a:buNone/>
            </a:pPr>
            <a:r>
              <a:rPr lang="en-US"/>
              <a:t>testers provide different answers to similar questions; or</a:t>
            </a:r>
            <a:endParaRPr/>
          </a:p>
          <a:p>
            <a:pPr marL="0" lvl="0" indent="0" algn="l" rtl="0">
              <a:spcBef>
                <a:spcPts val="0"/>
              </a:spcBef>
              <a:spcAft>
                <a:spcPts val="0"/>
              </a:spcAft>
              <a:buNone/>
            </a:pPr>
            <a:r>
              <a:rPr lang="en-US"/>
              <a:t>testers provide different answers to the same question asked at different times.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Gathering responses to draft survey questions through pretesting can also help researchers anticipate how to work with the data that will eventually be captured through a finalized survey. Sometimes the best way to set up a survey question for ease of response actually results in a more complicated analysis scenario. For example, “check all that apply” answer options are often the reasonable, or even ideal, choice, but this question type can present challenges for response analysis. Seeing how respondents answer these questions in a pilot effort, or learning how they think about their answers, may provide hints to the researcher about how best to analyze (or even eventually present) results. </a:t>
            </a:r>
            <a:endParaRPr/>
          </a:p>
          <a:p>
            <a:pPr marL="0" lvl="0" indent="0" algn="l" rtl="0">
              <a:spcBef>
                <a:spcPts val="0"/>
              </a:spcBef>
              <a:spcAft>
                <a:spcPts val="0"/>
              </a:spcAft>
              <a:buNone/>
            </a:pPr>
            <a:endParaRPr/>
          </a:p>
          <a:p>
            <a:pPr marL="0" lvl="0" indent="0" algn="l" rtl="0">
              <a:spcBef>
                <a:spcPts val="0"/>
              </a:spcBef>
              <a:spcAft>
                <a:spcPts val="0"/>
              </a:spcAft>
              <a:buNone/>
            </a:pPr>
            <a:r>
              <a:rPr lang="en-US"/>
              <a:t>More formal approaches to pretesting surveys, such as pilot testing, offer an opportunity to test the logistics and mechanics of the survey tool in an approximation of the expected survey conditions</a:t>
            </a:r>
            <a:endParaRPr/>
          </a:p>
        </p:txBody>
      </p:sp>
      <p:sp>
        <p:nvSpPr>
          <p:cNvPr id="84" name="Google Shape;8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Although we have ordered item review methods by whether they are primarily quantitative in nature or qualitative, since qualitative data can be quantified and some quantitative data can yield textual information, the distinction between these two types of data is somewhat arbitrary.</a:t>
            </a:r>
            <a:endParaRPr/>
          </a:p>
        </p:txBody>
      </p:sp>
      <p:sp>
        <p:nvSpPr>
          <p:cNvPr id="91" name="Google Shape;9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all methods, our presumptive hypothesis is that the respondent interprets the item in the manner intended by the survey developer. We collect data to support or refute that broad hypothesis. Item review methods address problems in an item that cause the respondent not to interpret the item as intended. </a:t>
            </a:r>
            <a:endParaRPr/>
          </a:p>
          <a:p>
            <a:pPr marL="0" lvl="0" indent="0" algn="l" rtl="0">
              <a:spcBef>
                <a:spcPts val="0"/>
              </a:spcBef>
              <a:spcAft>
                <a:spcPts val="0"/>
              </a:spcAft>
              <a:buNone/>
            </a:pPr>
            <a:endParaRPr/>
          </a:p>
          <a:p>
            <a:pPr marL="0" lvl="0" indent="0" algn="l" rtl="0">
              <a:spcBef>
                <a:spcPts val="0"/>
              </a:spcBef>
              <a:spcAft>
                <a:spcPts val="0"/>
              </a:spcAft>
              <a:buNone/>
            </a:pPr>
            <a:r>
              <a:rPr lang="en-US"/>
              <a:t>The goal of reviewing items is twofold. First, item review is used to identify if there is a problem and pinpoint what the problem is. Some item review methods are better than others in performing this function. A second goal, probably less common though not uncommon, is to understand how respondents interpret items and hence why there is a problem.</a:t>
            </a:r>
            <a:endParaRPr/>
          </a:p>
        </p:txBody>
      </p:sp>
      <p:sp>
        <p:nvSpPr>
          <p:cNvPr id="124" name="Google Shape;12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 this example, housework may be interpreted differently by men and women or by different individuals.</a:t>
            </a:r>
            <a:endParaRPr/>
          </a:p>
          <a:p>
            <a:pPr marL="0" lvl="0" indent="0" algn="l" rtl="0">
              <a:spcBef>
                <a:spcPts val="0"/>
              </a:spcBef>
              <a:spcAft>
                <a:spcPts val="0"/>
              </a:spcAft>
              <a:buNone/>
            </a:pPr>
            <a:endParaRPr/>
          </a:p>
          <a:p>
            <a:pPr marL="0" lvl="0" indent="0" algn="l" rtl="0">
              <a:spcBef>
                <a:spcPts val="0"/>
              </a:spcBef>
              <a:spcAft>
                <a:spcPts val="0"/>
              </a:spcAft>
              <a:buNone/>
            </a:pPr>
            <a:r>
              <a:rPr lang="en-US"/>
              <a:t>different respondents interpreted the phrase “half a day” to mean at least 4 hours, at least 5 hours, or at least 6 hours (p. 119);</a:t>
            </a:r>
            <a:endParaRPr/>
          </a:p>
          <a:p>
            <a:pPr marL="0" lvl="0" indent="0" algn="l" rtl="0">
              <a:spcBef>
                <a:spcPts val="0"/>
              </a:spcBef>
              <a:spcAft>
                <a:spcPts val="0"/>
              </a:spcAft>
              <a:buNone/>
            </a:pPr>
            <a:r>
              <a:rPr lang="en-US"/>
              <a:t>different respondents interpreted “children” to mean those 5–10 years old, 5–15 years old, or 5–20 years old (p. 119);</a:t>
            </a:r>
            <a:endParaRPr/>
          </a:p>
        </p:txBody>
      </p:sp>
      <p:sp>
        <p:nvSpPr>
          <p:cNvPr id="138" name="Google Shape;13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CIs are conducted one-on-one in a laboratory setting or on-line. They are labor-intensive and so are expensive if we need to hire interviewers and pay interviewees. Data generated by CIs are often not formally analyzed, but results can be quantified by counting the number of problems encountered with a question.</a:t>
            </a:r>
            <a:endParaRPr/>
          </a:p>
        </p:txBody>
      </p:sp>
      <p:sp>
        <p:nvSpPr>
          <p:cNvPr id="151" name="Google Shape;15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During the interview, interviewers instruct and encourage participants to simply “talk,” and once the participants start to talk, the interviewers let the participants respond to all items in the survey without interruption or probing from the interviewers.</a:t>
            </a:r>
            <a:endParaRPr/>
          </a:p>
        </p:txBody>
      </p:sp>
      <p:sp>
        <p:nvSpPr>
          <p:cNvPr id="158" name="Google Shape;15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Verbal probing can be done concurrently or retrospectively. Concurrent verbal probing involves presenting the participants the cognitive probing questions immediately after each item or a series of items (e.g., background questions or scale items). Retrospective verbal probing requires each participant to complete the whole survey (respond to all the survey questions) first and then go back through the survey questions again to respond to questions in the probing protocol. Willis (2004) pointed out that concurrent probing is more frequently used than retrospective probing. The latter is chosen only when (1) the purpose of testing is mainly to determine the subject’s ability to manage a self-completion instrument unaided and/or (2) the researcher wants to simulate a field procedure.</a:t>
            </a:r>
            <a:endParaRPr/>
          </a:p>
        </p:txBody>
      </p:sp>
      <p:sp>
        <p:nvSpPr>
          <p:cNvPr id="172" name="Google Shape;17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On the basis of probing, several details emerge beyond simplythe initial answer of “three”: (i) The subject assumes that walking to a shopis intended to count (which may not necessarily ﬁt the researcher’s intent);and (ii) he/she is making a judgment based on usual behavior, as opposed torecalling enumerated episodes.</a:t>
            </a:r>
            <a:endParaRPr/>
          </a:p>
        </p:txBody>
      </p:sp>
      <p:sp>
        <p:nvSpPr>
          <p:cNvPr id="183" name="Google Shape;18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From this point on, probing (and presumably, subject responses) couldunfold just as for the example involving concurrent probing. Note thefundamental diﬀerence introduced by the debrieﬁng approach: (i) Theinterviewer must re-read (or otherwise present) each question to be probed; and (ii) as the response is no longer in the subject’s short-term memory, theinterviewer must then either ask again for the previous answer, or else remindthe subject of it. P</a:t>
            </a:r>
            <a:endParaRPr/>
          </a:p>
        </p:txBody>
      </p:sp>
      <p:sp>
        <p:nvSpPr>
          <p:cNvPr id="190" name="Google Shape;190;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Pros of the think-aloud method include freedom from bias imposed by frequent interviewer interruption and minimal interviewer training. Cons include a need for some interviewee training in the method, interviewees may not be comfortable or facile in reporting their thinking processes, and interviewees may bias descriptions of their mental processing. If respondents are well-trained to think aloud, the think-aloud interview provides a good window into how questions are understood and answers generated. However, as respondents vary in how well they can think aloud, some might have difficulty verbalizing their cognitive process while people with more formal education might have less difficulty.</a:t>
            </a:r>
            <a:endParaRPr/>
          </a:p>
          <a:p>
            <a:pPr marL="0" lvl="0" indent="0" algn="l" rtl="0">
              <a:spcBef>
                <a:spcPts val="0"/>
              </a:spcBef>
              <a:spcAft>
                <a:spcPts val="0"/>
              </a:spcAft>
              <a:buNone/>
            </a:pPr>
            <a:endParaRPr/>
          </a:p>
          <a:p>
            <a:pPr marL="0" lvl="0" indent="0" algn="l" rtl="0">
              <a:spcBef>
                <a:spcPts val="0"/>
              </a:spcBef>
              <a:spcAft>
                <a:spcPts val="0"/>
              </a:spcAft>
              <a:buNone/>
            </a:pPr>
            <a:r>
              <a:rPr lang="en-US"/>
              <a:t>Unlike the think-aloud procedure, verbal probing simulates the manner in which questionnaires administered face-to-face are typically completed (in which the researcher simply asks questions and the interviewee answers them), and it requires minimal or no training and practice by the participants. In addition, interviewers have better control of the interview, albeit potential bias could be introduced through selection of probes. Retrospective probing may be simpler but respondents may not remember what they were thinking when they answered an item.</a:t>
            </a:r>
            <a:endParaRPr/>
          </a:p>
        </p:txBody>
      </p:sp>
      <p:sp>
        <p:nvSpPr>
          <p:cNvPr id="227" name="Google Shape;227;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Results of CIs provide detailed depictions of the processes and difficulties respondents encounter in understanding and responding to items. For example, through verbal probing, respondents state in their own words what the question means to them and state in their own words how they construct a response or choose one response option instead of another. The primary goal of CI is to gain an understanding of whether respondents consistently understand the questions in the manner intended by the researcher, whether the question elicits an accurate response—do respondents possess the information needed to answer and are willing to do so—and so are the responses provided likely to be valid.</a:t>
            </a:r>
            <a:endParaRPr/>
          </a:p>
        </p:txBody>
      </p:sp>
      <p:sp>
        <p:nvSpPr>
          <p:cNvPr id="242" name="Google Shape;242;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a:t>Expert review is also used to assess surveys, typically with a small number (3–6) of experts being asked to identify item flaws in content, wording, or response options. Reviews may be less or more structured; Expert review can be conducted with varying levels of organization and rigor. On the low (and quick) end of the spectrum, a read-through of a draft questionnaire by an experienced subject matter export or survey methodologist can identify issues with question wording or administration that may lead to measurement error. On the more formal and rigorous end of the spectrum are methods such as RTI's Question Appraisal System (QAS).</a:t>
            </a:r>
            <a:endParaRPr/>
          </a:p>
          <a:p>
            <a:pPr marL="0" lvl="0" indent="0" algn="l" rtl="0">
              <a:spcBef>
                <a:spcPts val="0"/>
              </a:spcBef>
              <a:spcAft>
                <a:spcPts val="0"/>
              </a:spcAft>
              <a:buNone/>
            </a:pPr>
            <a:endParaRPr/>
          </a:p>
        </p:txBody>
      </p:sp>
      <p:sp>
        <p:nvSpPr>
          <p:cNvPr id="249" name="Google Shape;249;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Respondent debriefing involves informal or specific, structured, and standardized follow-up questions with the purpose of understanding how respondents interpreted the survey items after the respondent completes the survey. The debriefing questions are usually asked by an interviewer, although the debriefing can also be self-administered either on paper or on-line. </a:t>
            </a:r>
            <a:endParaRPr/>
          </a:p>
          <a:p>
            <a:pPr marL="0" lvl="0" indent="0" algn="l" rtl="0">
              <a:spcBef>
                <a:spcPts val="0"/>
              </a:spcBef>
              <a:spcAft>
                <a:spcPts val="0"/>
              </a:spcAft>
              <a:buNone/>
            </a:pPr>
            <a:endParaRPr/>
          </a:p>
          <a:p>
            <a:pPr marL="0" lvl="0" indent="0" algn="l" rtl="0">
              <a:spcBef>
                <a:spcPts val="0"/>
              </a:spcBef>
              <a:spcAft>
                <a:spcPts val="0"/>
              </a:spcAft>
              <a:buNone/>
            </a:pPr>
            <a:r>
              <a:rPr lang="en-US"/>
              <a:t>CI is more typically used at an earlier stage of the survey development process while debriefing follows development of a semi-final survey version. Debriefing questions can yield information about misunderstood words or phrases which helps the survey designer to rephrase questions, add instructions, etc.</a:t>
            </a:r>
            <a:endParaRPr/>
          </a:p>
          <a:p>
            <a:pPr marL="0" lvl="0" indent="0" algn="l" rtl="0">
              <a:spcBef>
                <a:spcPts val="0"/>
              </a:spcBef>
              <a:spcAft>
                <a:spcPts val="0"/>
              </a:spcAft>
              <a:buNone/>
            </a:pPr>
            <a:endParaRPr/>
          </a:p>
          <a:p>
            <a:pPr marL="0" lvl="0" indent="0" algn="l" rtl="0">
              <a:spcBef>
                <a:spcPts val="0"/>
              </a:spcBef>
              <a:spcAft>
                <a:spcPts val="0"/>
              </a:spcAft>
              <a:buNone/>
            </a:pPr>
            <a:r>
              <a:rPr lang="en-US"/>
              <a:t>We can conduct respondent debriefing individually, or we might opt to use a standardized form administered on-line, for instance, to an entire group of participants, or some subset of participants who have already completed the survey.</a:t>
            </a:r>
            <a:endParaRPr/>
          </a:p>
          <a:p>
            <a:pPr marL="0" lvl="0" indent="0" algn="l" rtl="0">
              <a:spcBef>
                <a:spcPts val="0"/>
              </a:spcBef>
              <a:spcAft>
                <a:spcPts val="0"/>
              </a:spcAft>
              <a:buNone/>
            </a:pPr>
            <a:endParaRPr/>
          </a:p>
          <a:p>
            <a:pPr marL="0" lvl="0" indent="0" algn="l" rtl="0">
              <a:spcBef>
                <a:spcPts val="0"/>
              </a:spcBef>
              <a:spcAft>
                <a:spcPts val="0"/>
              </a:spcAft>
              <a:buNone/>
            </a:pPr>
            <a:r>
              <a:rPr lang="en-US"/>
              <a:t>Those who responded to the survey were asked about their initial impressions of the envelope, whether any questions were difficult or sensitive, who completed the form, and whether they had a favorable or unfavorable impression of the form. Nonrespondents were asked whether the envelope was ever opened, whether the survey was ever started, whether any questions were difficult or sensitive, and why the household chose not to respond.</a:t>
            </a:r>
            <a:endParaRPr/>
          </a:p>
        </p:txBody>
      </p:sp>
      <p:sp>
        <p:nvSpPr>
          <p:cNvPr id="280" name="Google Shape;280;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a:t>Too-small groups are easily dominated by one or two members. Too large a group lacks cohesion and may break up into side conversations, or people may become frustrated if they have to wait their turn to respond or to get involved.</a:t>
            </a:r>
            <a:endParaRPr/>
          </a:p>
          <a:p>
            <a:pPr marL="0" lvl="0" indent="0" algn="l" rtl="0">
              <a:spcBef>
                <a:spcPts val="0"/>
              </a:spcBef>
              <a:spcAft>
                <a:spcPts val="0"/>
              </a:spcAft>
              <a:buNone/>
            </a:pPr>
            <a:endParaRPr/>
          </a:p>
          <a:p>
            <a:pPr marL="0" lvl="0" indent="0" algn="l" rtl="0">
              <a:spcBef>
                <a:spcPts val="0"/>
              </a:spcBef>
              <a:spcAft>
                <a:spcPts val="0"/>
              </a:spcAft>
              <a:buNone/>
            </a:pPr>
            <a:r>
              <a:rPr lang="en-US"/>
              <a:t>Care needs to be taken to ensure that people who know each other are not recruited into the sam e sessions. People are generally more open and less guarded with people they don’t know and don’t have to worry about ever seeing again. Absolutely never put people together who are in som e chain of command (e.g., supervisors with employees, teachers with students, etc.).</a:t>
            </a:r>
            <a:endParaRPr/>
          </a:p>
        </p:txBody>
      </p:sp>
      <p:sp>
        <p:nvSpPr>
          <p:cNvPr id="293" name="Google Shape;293;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These data are either by-products of computerized on-line survey administration systems (audit trails, use of function keys such as F1 to access a help screen in an on-line survey administration, and interviewer observations and notes), or are collected as part of the operational running of surveys (time taken to complete a survey on-line, number of callbacks to schedule a phone interview, eye movement tracking, mode of communication, whether the respondent was reluctant to answer questions, and administration process)</a:t>
            </a:r>
            <a:endParaRPr/>
          </a:p>
          <a:p>
            <a:pPr marL="0" lvl="0" indent="0" algn="l" rtl="0">
              <a:spcBef>
                <a:spcPts val="0"/>
              </a:spcBef>
              <a:spcAft>
                <a:spcPts val="0"/>
              </a:spcAft>
              <a:buNone/>
            </a:pPr>
            <a:endParaRPr/>
          </a:p>
          <a:p>
            <a:pPr marL="0" lvl="0" indent="0" algn="l" rtl="0">
              <a:spcBef>
                <a:spcPts val="0"/>
              </a:spcBef>
              <a:spcAft>
                <a:spcPts val="0"/>
              </a:spcAft>
              <a:buNone/>
            </a:pPr>
            <a:r>
              <a:rPr lang="en-US"/>
              <a:t>On-line survey platforms (e.g., Qualtrics and SurveyMonkey) can automatically record and output response latencies if set up to do so.</a:t>
            </a:r>
            <a:endParaRPr/>
          </a:p>
        </p:txBody>
      </p:sp>
      <p:sp>
        <p:nvSpPr>
          <p:cNvPr id="354" name="Google Shape;354;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3"/>
        <p:cNvGrpSpPr/>
        <p:nvPr/>
      </p:nvGrpSpPr>
      <p:grpSpPr>
        <a:xfrm>
          <a:off x="0" y="0"/>
          <a:ext cx="0" cy="0"/>
          <a:chOff x="0" y="0"/>
          <a:chExt cx="0" cy="0"/>
        </a:xfrm>
      </p:grpSpPr>
      <p:sp>
        <p:nvSpPr>
          <p:cNvPr id="14" name="Google Shape;14;p41"/>
          <p:cNvSpPr txBox="1">
            <a:spLocks noGrp="1"/>
          </p:cNvSpPr>
          <p:nvPr>
            <p:ph type="ctrTitle"/>
          </p:nvPr>
        </p:nvSpPr>
        <p:spPr>
          <a:xfrm>
            <a:off x="685800" y="787400"/>
            <a:ext cx="80010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solidFill>
                  <a:srgbClr val="7A0019"/>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 name="Google Shape;15;p41"/>
          <p:cNvSpPr txBox="1">
            <a:spLocks noGrp="1"/>
          </p:cNvSpPr>
          <p:nvPr>
            <p:ph type="body" idx="1"/>
          </p:nvPr>
        </p:nvSpPr>
        <p:spPr>
          <a:xfrm>
            <a:off x="685800" y="2921000"/>
            <a:ext cx="8001000" cy="609600"/>
          </a:xfrm>
          <a:prstGeom prst="rect">
            <a:avLst/>
          </a:prstGeom>
          <a:noFill/>
          <a:ln>
            <a:noFill/>
          </a:ln>
        </p:spPr>
        <p:txBody>
          <a:bodyPr spcFirstLastPara="1" wrap="square" lIns="68575" tIns="34275" rIns="68575" bIns="34275" anchor="t" anchorCtr="0">
            <a:noAutofit/>
          </a:bodyPr>
          <a:lstStyle>
            <a:lvl1pPr marL="457200" lvl="0" indent="-228600" algn="l">
              <a:spcBef>
                <a:spcPts val="360"/>
              </a:spcBef>
              <a:spcAft>
                <a:spcPts val="0"/>
              </a:spcAft>
              <a:buSzPts val="1800"/>
              <a:buFont typeface="Arial"/>
              <a:buNone/>
              <a:defRPr sz="1800">
                <a:solidFill>
                  <a:srgbClr val="595959"/>
                </a:solidFill>
              </a:defRPr>
            </a:lvl1pPr>
            <a:lvl2pPr marL="914400" lvl="1" indent="-228600" algn="l">
              <a:spcBef>
                <a:spcPts val="360"/>
              </a:spcBef>
              <a:spcAft>
                <a:spcPts val="0"/>
              </a:spcAft>
              <a:buSzPts val="1800"/>
              <a:buFont typeface="Arial"/>
              <a:buNone/>
              <a:defRPr sz="1800">
                <a:solidFill>
                  <a:srgbClr val="FFFFFF"/>
                </a:solidFill>
              </a:defRPr>
            </a:lvl2pPr>
            <a:lvl3pPr marL="1371600" lvl="2" indent="-228600" algn="l">
              <a:spcBef>
                <a:spcPts val="360"/>
              </a:spcBef>
              <a:spcAft>
                <a:spcPts val="0"/>
              </a:spcAft>
              <a:buSzPts val="1800"/>
              <a:buFont typeface="Arial"/>
              <a:buNone/>
              <a:defRPr sz="1800">
                <a:solidFill>
                  <a:srgbClr val="FFFFFF"/>
                </a:solidFill>
              </a:defRPr>
            </a:lvl3pPr>
            <a:lvl4pPr marL="1828800" lvl="3" indent="-228600" algn="l">
              <a:spcBef>
                <a:spcPts val="360"/>
              </a:spcBef>
              <a:spcAft>
                <a:spcPts val="0"/>
              </a:spcAft>
              <a:buSzPts val="1800"/>
              <a:buFont typeface="Arial"/>
              <a:buNone/>
              <a:defRPr sz="1800">
                <a:solidFill>
                  <a:srgbClr val="FFFFFF"/>
                </a:solidFill>
              </a:defRPr>
            </a:lvl4pPr>
            <a:lvl5pPr marL="2286000" lvl="4" indent="-228600" algn="l">
              <a:spcBef>
                <a:spcPts val="360"/>
              </a:spcBef>
              <a:spcAft>
                <a:spcPts val="0"/>
              </a:spcAft>
              <a:buSzPts val="1800"/>
              <a:buFont typeface="Arial"/>
              <a:buNone/>
              <a:defRPr sz="1800">
                <a:solidFill>
                  <a:srgbClr val="FFFFFF"/>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6" name="Google Shape;16;p41"/>
          <p:cNvSpPr txBox="1">
            <a:spLocks noGrp="1"/>
          </p:cNvSpPr>
          <p:nvPr>
            <p:ph type="body" idx="2"/>
          </p:nvPr>
        </p:nvSpPr>
        <p:spPr>
          <a:xfrm>
            <a:off x="685800" y="3530600"/>
            <a:ext cx="8001000" cy="508000"/>
          </a:xfrm>
          <a:prstGeom prst="rect">
            <a:avLst/>
          </a:prstGeom>
          <a:noFill/>
          <a:ln>
            <a:noFill/>
          </a:ln>
        </p:spPr>
        <p:txBody>
          <a:bodyPr spcFirstLastPara="1" wrap="square" lIns="68575" tIns="34275" rIns="68575" bIns="34275" anchor="t" anchorCtr="0">
            <a:noAutofit/>
          </a:bodyPr>
          <a:lstStyle>
            <a:lvl1pPr marL="457200" lvl="0" indent="-228600" algn="l">
              <a:spcBef>
                <a:spcPts val="240"/>
              </a:spcBef>
              <a:spcAft>
                <a:spcPts val="0"/>
              </a:spcAft>
              <a:buSzPts val="1200"/>
              <a:buFont typeface="Arial"/>
              <a:buNone/>
              <a:defRPr sz="1200">
                <a:solidFill>
                  <a:srgbClr val="595959"/>
                </a:solidFill>
              </a:defRPr>
            </a:lvl1pPr>
            <a:lvl2pPr marL="914400" lvl="1" indent="-228600" algn="l">
              <a:spcBef>
                <a:spcPts val="240"/>
              </a:spcBef>
              <a:spcAft>
                <a:spcPts val="0"/>
              </a:spcAft>
              <a:buSzPts val="1200"/>
              <a:buFont typeface="Arial"/>
              <a:buNone/>
              <a:defRPr sz="1200">
                <a:solidFill>
                  <a:srgbClr val="FFFFFF"/>
                </a:solidFill>
              </a:defRPr>
            </a:lvl2pPr>
            <a:lvl3pPr marL="1371600" lvl="2" indent="-228600" algn="l">
              <a:spcBef>
                <a:spcPts val="240"/>
              </a:spcBef>
              <a:spcAft>
                <a:spcPts val="0"/>
              </a:spcAft>
              <a:buSzPts val="1200"/>
              <a:buFont typeface="Arial"/>
              <a:buNone/>
              <a:defRPr sz="1200">
                <a:solidFill>
                  <a:srgbClr val="FFFFFF"/>
                </a:solidFill>
              </a:defRPr>
            </a:lvl3pPr>
            <a:lvl4pPr marL="1828800" lvl="3" indent="-228600" algn="l">
              <a:spcBef>
                <a:spcPts val="240"/>
              </a:spcBef>
              <a:spcAft>
                <a:spcPts val="0"/>
              </a:spcAft>
              <a:buSzPts val="1200"/>
              <a:buFont typeface="Arial"/>
              <a:buNone/>
              <a:defRPr sz="1200">
                <a:solidFill>
                  <a:srgbClr val="FFFFFF"/>
                </a:solidFill>
              </a:defRPr>
            </a:lvl4pPr>
            <a:lvl5pPr marL="2286000" lvl="4" indent="-228600" algn="l">
              <a:spcBef>
                <a:spcPts val="240"/>
              </a:spcBef>
              <a:spcAft>
                <a:spcPts val="0"/>
              </a:spcAft>
              <a:buSzPts val="1200"/>
              <a:buFont typeface="Arial"/>
              <a:buNone/>
              <a:defRPr sz="1200">
                <a:solidFill>
                  <a:srgbClr val="FFFFFF"/>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pic>
        <p:nvPicPr>
          <p:cNvPr id="17" name="Google Shape;17;p41" descr="/Users/ranja/Documents/5-resources/ppt/2018 ppt-with R/new/working files/graphics_4x3-M-gold.png"/>
          <p:cNvPicPr preferRelativeResize="0"/>
          <p:nvPr/>
        </p:nvPicPr>
        <p:blipFill rotWithShape="1">
          <a:blip r:embed="rId2">
            <a:alphaModFix/>
          </a:blip>
          <a:srcRect r="10000"/>
          <a:stretch/>
        </p:blipFill>
        <p:spPr>
          <a:xfrm>
            <a:off x="0" y="6387041"/>
            <a:ext cx="9144000" cy="466344"/>
          </a:xfrm>
          <a:prstGeom prst="rect">
            <a:avLst/>
          </a:prstGeom>
          <a:noFill/>
          <a:ln>
            <a:noFill/>
          </a:ln>
        </p:spPr>
      </p:pic>
      <p:pic>
        <p:nvPicPr>
          <p:cNvPr id="18" name="Google Shape;18;p41" descr="A cartoon of a beaver with a large letter&#10;&#10;Description automatically generated"/>
          <p:cNvPicPr preferRelativeResize="0"/>
          <p:nvPr/>
        </p:nvPicPr>
        <p:blipFill rotWithShape="1">
          <a:blip r:embed="rId3">
            <a:alphaModFix/>
          </a:blip>
          <a:srcRect/>
          <a:stretch/>
        </p:blipFill>
        <p:spPr>
          <a:xfrm>
            <a:off x="6400794" y="4956044"/>
            <a:ext cx="2743206" cy="190195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42"/>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 name="Google Shape;21;p42"/>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p43"/>
          <p:cNvSpPr txBox="1">
            <a:spLocks noGrp="1"/>
          </p:cNvSpPr>
          <p:nvPr>
            <p:ph type="title"/>
          </p:nvPr>
        </p:nvSpPr>
        <p:spPr>
          <a:xfrm>
            <a:off x="722313" y="4406905"/>
            <a:ext cx="7772400" cy="1362075"/>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400"/>
              <a:buNone/>
              <a:defRPr sz="3000" b="0" i="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4" name="Google Shape;24;p43"/>
          <p:cNvSpPr txBox="1">
            <a:spLocks noGrp="1"/>
          </p:cNvSpPr>
          <p:nvPr>
            <p:ph type="body" idx="1"/>
          </p:nvPr>
        </p:nvSpPr>
        <p:spPr>
          <a:xfrm>
            <a:off x="722313" y="2906713"/>
            <a:ext cx="7772400" cy="1500187"/>
          </a:xfrm>
          <a:prstGeom prst="rect">
            <a:avLst/>
          </a:prstGeom>
          <a:noFill/>
          <a:ln>
            <a:noFill/>
          </a:ln>
        </p:spPr>
        <p:txBody>
          <a:bodyPr spcFirstLastPara="1" wrap="square" lIns="68575" tIns="34275" rIns="68575" bIns="34275" anchor="b" anchorCtr="0">
            <a:noAutofit/>
          </a:bodyPr>
          <a:lstStyle>
            <a:lvl1pPr marL="457200" lvl="0" indent="-228600" algn="l">
              <a:spcBef>
                <a:spcPts val="300"/>
              </a:spcBef>
              <a:spcAft>
                <a:spcPts val="0"/>
              </a:spcAft>
              <a:buSzPts val="1500"/>
              <a:buFont typeface="Arial"/>
              <a:buNone/>
              <a:defRPr sz="1500"/>
            </a:lvl1pPr>
            <a:lvl2pPr marL="914400" lvl="1" indent="-228600" algn="l">
              <a:spcBef>
                <a:spcPts val="280"/>
              </a:spcBef>
              <a:spcAft>
                <a:spcPts val="0"/>
              </a:spcAft>
              <a:buSzPts val="1400"/>
              <a:buFont typeface="Arial"/>
              <a:buNone/>
              <a:defRPr sz="1400"/>
            </a:lvl2pPr>
            <a:lvl3pPr marL="1371600" lvl="2" indent="-228600" algn="l">
              <a:spcBef>
                <a:spcPts val="240"/>
              </a:spcBef>
              <a:spcAft>
                <a:spcPts val="0"/>
              </a:spcAft>
              <a:buSzPts val="1200"/>
              <a:buFont typeface="Arial"/>
              <a:buNone/>
              <a:defRPr sz="1200"/>
            </a:lvl3pPr>
            <a:lvl4pPr marL="1828800" lvl="3" indent="-228600" algn="l">
              <a:spcBef>
                <a:spcPts val="220"/>
              </a:spcBef>
              <a:spcAft>
                <a:spcPts val="0"/>
              </a:spcAft>
              <a:buSzPts val="1100"/>
              <a:buFont typeface="Arial"/>
              <a:buNone/>
              <a:defRPr sz="1100"/>
            </a:lvl4pPr>
            <a:lvl5pPr marL="2286000" lvl="4" indent="-228600" algn="l">
              <a:spcBef>
                <a:spcPts val="220"/>
              </a:spcBef>
              <a:spcAft>
                <a:spcPts val="0"/>
              </a:spcAft>
              <a:buSzPts val="1100"/>
              <a:buFont typeface="Arial"/>
              <a:buNone/>
              <a:defRPr sz="1100"/>
            </a:lvl5pPr>
            <a:lvl6pPr marL="2743200" lvl="5" indent="-228600" algn="l">
              <a:spcBef>
                <a:spcPts val="220"/>
              </a:spcBef>
              <a:spcAft>
                <a:spcPts val="0"/>
              </a:spcAft>
              <a:buSzPts val="1100"/>
              <a:buFont typeface="Arial"/>
              <a:buNone/>
              <a:defRPr sz="1100"/>
            </a:lvl6pPr>
            <a:lvl7pPr marL="3200400" lvl="6" indent="-228600" algn="l">
              <a:spcBef>
                <a:spcPts val="220"/>
              </a:spcBef>
              <a:spcAft>
                <a:spcPts val="0"/>
              </a:spcAft>
              <a:buSzPts val="1100"/>
              <a:buFont typeface="Arial"/>
              <a:buNone/>
              <a:defRPr sz="1100"/>
            </a:lvl7pPr>
            <a:lvl8pPr marL="3657600" lvl="7" indent="-228600" algn="l">
              <a:spcBef>
                <a:spcPts val="220"/>
              </a:spcBef>
              <a:spcAft>
                <a:spcPts val="0"/>
              </a:spcAft>
              <a:buSzPts val="1100"/>
              <a:buFont typeface="Arial"/>
              <a:buNone/>
              <a:defRPr sz="1100"/>
            </a:lvl8pPr>
            <a:lvl9pPr marL="4114800" lvl="8" indent="-228600" algn="l">
              <a:spcBef>
                <a:spcPts val="220"/>
              </a:spcBef>
              <a:spcAft>
                <a:spcPts val="0"/>
              </a:spcAft>
              <a:buSzPts val="1100"/>
              <a:buFont typeface="Arial"/>
              <a:buNone/>
              <a:defRPr sz="1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
        <p:cNvGrpSpPr/>
        <p:nvPr/>
      </p:nvGrpSpPr>
      <p:grpSpPr>
        <a:xfrm>
          <a:off x="0" y="0"/>
          <a:ext cx="0" cy="0"/>
          <a:chOff x="0" y="0"/>
          <a:chExt cx="0" cy="0"/>
        </a:xfrm>
      </p:grpSpPr>
      <p:sp>
        <p:nvSpPr>
          <p:cNvPr id="26" name="Google Shape;26;p44"/>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7" name="Google Shape;27;p44"/>
          <p:cNvSpPr txBox="1">
            <a:spLocks noGrp="1"/>
          </p:cNvSpPr>
          <p:nvPr>
            <p:ph type="body" idx="1"/>
          </p:nvPr>
        </p:nvSpPr>
        <p:spPr>
          <a:xfrm>
            <a:off x="685800" y="1752600"/>
            <a:ext cx="3810000" cy="3962400"/>
          </a:xfrm>
          <a:prstGeom prst="rect">
            <a:avLst/>
          </a:prstGeom>
          <a:noFill/>
          <a:ln>
            <a:noFill/>
          </a:ln>
        </p:spPr>
        <p:txBody>
          <a:bodyPr spcFirstLastPara="1" wrap="square" lIns="68575" tIns="34275" rIns="68575" bIns="34275" anchor="t" anchorCtr="0">
            <a:noAutofit/>
          </a:bodyPr>
          <a:lstStyle>
            <a:lvl1pPr marL="457200" lvl="0" indent="-361950" algn="l">
              <a:spcBef>
                <a:spcPts val="420"/>
              </a:spcBef>
              <a:spcAft>
                <a:spcPts val="0"/>
              </a:spcAft>
              <a:buSzPts val="2100"/>
              <a:buFont typeface="Arial"/>
              <a:buChar char="•"/>
              <a:defRPr sz="2100"/>
            </a:lvl1pPr>
            <a:lvl2pPr marL="914400" lvl="1" indent="-342900" algn="l">
              <a:spcBef>
                <a:spcPts val="360"/>
              </a:spcBef>
              <a:spcAft>
                <a:spcPts val="0"/>
              </a:spcAft>
              <a:buSzPts val="1800"/>
              <a:buFont typeface="Arial"/>
              <a:buChar char="–"/>
              <a:defRPr sz="1800"/>
            </a:lvl2pPr>
            <a:lvl3pPr marL="1371600" lvl="2" indent="-323850" algn="l">
              <a:spcBef>
                <a:spcPts val="300"/>
              </a:spcBef>
              <a:spcAft>
                <a:spcPts val="0"/>
              </a:spcAft>
              <a:buSzPts val="1500"/>
              <a:buFont typeface="Arial"/>
              <a:buChar char="•"/>
              <a:defRPr sz="1500"/>
            </a:lvl3pPr>
            <a:lvl4pPr marL="1828800" lvl="3" indent="-317500" algn="l">
              <a:spcBef>
                <a:spcPts val="280"/>
              </a:spcBef>
              <a:spcAft>
                <a:spcPts val="0"/>
              </a:spcAft>
              <a:buSzPts val="1400"/>
              <a:buFont typeface="Arial"/>
              <a:buChar char="–"/>
              <a:defRPr sz="1400"/>
            </a:lvl4pPr>
            <a:lvl5pPr marL="2286000" lvl="4" indent="-317500" algn="l">
              <a:spcBef>
                <a:spcPts val="280"/>
              </a:spcBef>
              <a:spcAft>
                <a:spcPts val="0"/>
              </a:spcAft>
              <a:buSzPts val="1400"/>
              <a:buFont typeface="Arial"/>
              <a:buChar char="»"/>
              <a:defRPr sz="1400"/>
            </a:lvl5pPr>
            <a:lvl6pPr marL="2743200" lvl="5" indent="-317500" algn="l">
              <a:spcBef>
                <a:spcPts val="280"/>
              </a:spcBef>
              <a:spcAft>
                <a:spcPts val="0"/>
              </a:spcAft>
              <a:buSzPts val="1400"/>
              <a:buFont typeface="Arial"/>
              <a:buChar char="»"/>
              <a:defRPr sz="1400"/>
            </a:lvl6pPr>
            <a:lvl7pPr marL="3200400" lvl="6" indent="-317500" algn="l">
              <a:spcBef>
                <a:spcPts val="280"/>
              </a:spcBef>
              <a:spcAft>
                <a:spcPts val="0"/>
              </a:spcAft>
              <a:buSzPts val="1400"/>
              <a:buFont typeface="Arial"/>
              <a:buChar char="»"/>
              <a:defRPr sz="1400"/>
            </a:lvl7pPr>
            <a:lvl8pPr marL="3657600" lvl="7" indent="-317500" algn="l">
              <a:spcBef>
                <a:spcPts val="280"/>
              </a:spcBef>
              <a:spcAft>
                <a:spcPts val="0"/>
              </a:spcAft>
              <a:buSzPts val="1400"/>
              <a:buFont typeface="Arial"/>
              <a:buChar char="»"/>
              <a:defRPr sz="1400"/>
            </a:lvl8pPr>
            <a:lvl9pPr marL="4114800" lvl="8" indent="-317500" algn="l">
              <a:spcBef>
                <a:spcPts val="280"/>
              </a:spcBef>
              <a:spcAft>
                <a:spcPts val="0"/>
              </a:spcAft>
              <a:buSzPts val="1400"/>
              <a:buFont typeface="Arial"/>
              <a:buChar char="»"/>
              <a:defRPr sz="1400"/>
            </a:lvl9pPr>
          </a:lstStyle>
          <a:p>
            <a:endParaRPr/>
          </a:p>
        </p:txBody>
      </p:sp>
      <p:sp>
        <p:nvSpPr>
          <p:cNvPr id="28" name="Google Shape;28;p44"/>
          <p:cNvSpPr txBox="1">
            <a:spLocks noGrp="1"/>
          </p:cNvSpPr>
          <p:nvPr>
            <p:ph type="body" idx="2"/>
          </p:nvPr>
        </p:nvSpPr>
        <p:spPr>
          <a:xfrm>
            <a:off x="4648200" y="1752600"/>
            <a:ext cx="3810000" cy="3962400"/>
          </a:xfrm>
          <a:prstGeom prst="rect">
            <a:avLst/>
          </a:prstGeom>
          <a:noFill/>
          <a:ln>
            <a:noFill/>
          </a:ln>
        </p:spPr>
        <p:txBody>
          <a:bodyPr spcFirstLastPara="1" wrap="square" lIns="68575" tIns="34275" rIns="68575" bIns="34275" anchor="t" anchorCtr="0">
            <a:noAutofit/>
          </a:bodyPr>
          <a:lstStyle>
            <a:lvl1pPr marL="457200" lvl="0" indent="-361950" algn="l">
              <a:spcBef>
                <a:spcPts val="420"/>
              </a:spcBef>
              <a:spcAft>
                <a:spcPts val="0"/>
              </a:spcAft>
              <a:buSzPts val="2100"/>
              <a:buFont typeface="Arial"/>
              <a:buChar char="•"/>
              <a:defRPr sz="2100"/>
            </a:lvl1pPr>
            <a:lvl2pPr marL="914400" lvl="1" indent="-342900" algn="l">
              <a:spcBef>
                <a:spcPts val="360"/>
              </a:spcBef>
              <a:spcAft>
                <a:spcPts val="0"/>
              </a:spcAft>
              <a:buSzPts val="1800"/>
              <a:buFont typeface="Arial"/>
              <a:buChar char="–"/>
              <a:defRPr sz="1800"/>
            </a:lvl2pPr>
            <a:lvl3pPr marL="1371600" lvl="2" indent="-323850" algn="l">
              <a:spcBef>
                <a:spcPts val="300"/>
              </a:spcBef>
              <a:spcAft>
                <a:spcPts val="0"/>
              </a:spcAft>
              <a:buSzPts val="1500"/>
              <a:buFont typeface="Arial"/>
              <a:buChar char="•"/>
              <a:defRPr sz="1500"/>
            </a:lvl3pPr>
            <a:lvl4pPr marL="1828800" lvl="3" indent="-317500" algn="l">
              <a:spcBef>
                <a:spcPts val="280"/>
              </a:spcBef>
              <a:spcAft>
                <a:spcPts val="0"/>
              </a:spcAft>
              <a:buSzPts val="1400"/>
              <a:buFont typeface="Arial"/>
              <a:buChar char="–"/>
              <a:defRPr sz="1400"/>
            </a:lvl4pPr>
            <a:lvl5pPr marL="2286000" lvl="4" indent="-317500" algn="l">
              <a:spcBef>
                <a:spcPts val="280"/>
              </a:spcBef>
              <a:spcAft>
                <a:spcPts val="0"/>
              </a:spcAft>
              <a:buSzPts val="1400"/>
              <a:buFont typeface="Arial"/>
              <a:buChar char="»"/>
              <a:defRPr sz="1400"/>
            </a:lvl5pPr>
            <a:lvl6pPr marL="2743200" lvl="5" indent="-317500" algn="l">
              <a:spcBef>
                <a:spcPts val="280"/>
              </a:spcBef>
              <a:spcAft>
                <a:spcPts val="0"/>
              </a:spcAft>
              <a:buSzPts val="1400"/>
              <a:buFont typeface="Arial"/>
              <a:buChar char="»"/>
              <a:defRPr sz="1400"/>
            </a:lvl6pPr>
            <a:lvl7pPr marL="3200400" lvl="6" indent="-317500" algn="l">
              <a:spcBef>
                <a:spcPts val="280"/>
              </a:spcBef>
              <a:spcAft>
                <a:spcPts val="0"/>
              </a:spcAft>
              <a:buSzPts val="1400"/>
              <a:buFont typeface="Arial"/>
              <a:buChar char="»"/>
              <a:defRPr sz="1400"/>
            </a:lvl7pPr>
            <a:lvl8pPr marL="3657600" lvl="7" indent="-317500" algn="l">
              <a:spcBef>
                <a:spcPts val="280"/>
              </a:spcBef>
              <a:spcAft>
                <a:spcPts val="0"/>
              </a:spcAft>
              <a:buSzPts val="1400"/>
              <a:buFont typeface="Arial"/>
              <a:buChar char="»"/>
              <a:defRPr sz="1400"/>
            </a:lvl8pPr>
            <a:lvl9pPr marL="4114800" lvl="8" indent="-317500" algn="l">
              <a:spcBef>
                <a:spcPts val="280"/>
              </a:spcBef>
              <a:spcAft>
                <a:spcPts val="0"/>
              </a:spcAft>
              <a:buSzPts val="1400"/>
              <a:buFont typeface="Arial"/>
              <a:buChar char="»"/>
              <a:defRPr sz="1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9"/>
        <p:cNvGrpSpPr/>
        <p:nvPr/>
      </p:nvGrpSpPr>
      <p:grpSpPr>
        <a:xfrm>
          <a:off x="0" y="0"/>
          <a:ext cx="0" cy="0"/>
          <a:chOff x="0" y="0"/>
          <a:chExt cx="0" cy="0"/>
        </a:xfrm>
      </p:grpSpPr>
      <p:sp>
        <p:nvSpPr>
          <p:cNvPr id="30" name="Google Shape;30;p45"/>
          <p:cNvSpPr txBox="1">
            <a:spLocks noGrp="1"/>
          </p:cNvSpPr>
          <p:nvPr>
            <p:ph type="title"/>
          </p:nvPr>
        </p:nvSpPr>
        <p:spPr>
          <a:xfrm>
            <a:off x="457200" y="274639"/>
            <a:ext cx="82296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 name="Google Shape;31;p45"/>
          <p:cNvSpPr txBox="1">
            <a:spLocks noGrp="1"/>
          </p:cNvSpPr>
          <p:nvPr>
            <p:ph type="body" idx="1"/>
          </p:nvPr>
        </p:nvSpPr>
        <p:spPr>
          <a:xfrm>
            <a:off x="457200" y="1535117"/>
            <a:ext cx="4040188" cy="639763"/>
          </a:xfrm>
          <a:prstGeom prst="rect">
            <a:avLst/>
          </a:prstGeom>
          <a:noFill/>
          <a:ln>
            <a:noFill/>
          </a:ln>
        </p:spPr>
        <p:txBody>
          <a:bodyPr spcFirstLastPara="1" wrap="square" lIns="68575" tIns="34275" rIns="68575" bIns="34275" anchor="b" anchorCtr="0">
            <a:noAutofit/>
          </a:bodyPr>
          <a:lstStyle>
            <a:lvl1pPr marL="457200" lvl="0" indent="-228600" algn="l">
              <a:spcBef>
                <a:spcPts val="360"/>
              </a:spcBef>
              <a:spcAft>
                <a:spcPts val="0"/>
              </a:spcAft>
              <a:buSzPts val="1800"/>
              <a:buFont typeface="Arial"/>
              <a:buNone/>
              <a:defRPr sz="1800" b="1"/>
            </a:lvl1pPr>
            <a:lvl2pPr marL="914400" lvl="1" indent="-228600" algn="l">
              <a:spcBef>
                <a:spcPts val="300"/>
              </a:spcBef>
              <a:spcAft>
                <a:spcPts val="0"/>
              </a:spcAft>
              <a:buSzPts val="1500"/>
              <a:buFont typeface="Arial"/>
              <a:buNone/>
              <a:defRPr sz="1500" b="1"/>
            </a:lvl2pPr>
            <a:lvl3pPr marL="1371600" lvl="2" indent="-228600" algn="l">
              <a:spcBef>
                <a:spcPts val="280"/>
              </a:spcBef>
              <a:spcAft>
                <a:spcPts val="0"/>
              </a:spcAft>
              <a:buSzPts val="1400"/>
              <a:buFont typeface="Arial"/>
              <a:buNone/>
              <a:defRPr sz="1400" b="1"/>
            </a:lvl3pPr>
            <a:lvl4pPr marL="1828800" lvl="3" indent="-228600" algn="l">
              <a:spcBef>
                <a:spcPts val="240"/>
              </a:spcBef>
              <a:spcAft>
                <a:spcPts val="0"/>
              </a:spcAft>
              <a:buSzPts val="1200"/>
              <a:buFont typeface="Arial"/>
              <a:buNone/>
              <a:defRPr sz="1200" b="1"/>
            </a:lvl4pPr>
            <a:lvl5pPr marL="2286000" lvl="4" indent="-228600" algn="l">
              <a:spcBef>
                <a:spcPts val="240"/>
              </a:spcBef>
              <a:spcAft>
                <a:spcPts val="0"/>
              </a:spcAft>
              <a:buSzPts val="1200"/>
              <a:buFont typeface="Arial"/>
              <a:buNone/>
              <a:defRPr sz="1200" b="1"/>
            </a:lvl5pPr>
            <a:lvl6pPr marL="2743200" lvl="5" indent="-228600" algn="l">
              <a:spcBef>
                <a:spcPts val="240"/>
              </a:spcBef>
              <a:spcAft>
                <a:spcPts val="0"/>
              </a:spcAft>
              <a:buSzPts val="1200"/>
              <a:buFont typeface="Arial"/>
              <a:buNone/>
              <a:defRPr sz="1200" b="1"/>
            </a:lvl6pPr>
            <a:lvl7pPr marL="3200400" lvl="6" indent="-228600" algn="l">
              <a:spcBef>
                <a:spcPts val="240"/>
              </a:spcBef>
              <a:spcAft>
                <a:spcPts val="0"/>
              </a:spcAft>
              <a:buSzPts val="1200"/>
              <a:buFont typeface="Arial"/>
              <a:buNone/>
              <a:defRPr sz="1200" b="1"/>
            </a:lvl7pPr>
            <a:lvl8pPr marL="3657600" lvl="7" indent="-228600" algn="l">
              <a:spcBef>
                <a:spcPts val="240"/>
              </a:spcBef>
              <a:spcAft>
                <a:spcPts val="0"/>
              </a:spcAft>
              <a:buSzPts val="1200"/>
              <a:buFont typeface="Arial"/>
              <a:buNone/>
              <a:defRPr sz="1200" b="1"/>
            </a:lvl8pPr>
            <a:lvl9pPr marL="4114800" lvl="8" indent="-228600" algn="l">
              <a:spcBef>
                <a:spcPts val="240"/>
              </a:spcBef>
              <a:spcAft>
                <a:spcPts val="0"/>
              </a:spcAft>
              <a:buSzPts val="1200"/>
              <a:buFont typeface="Arial"/>
              <a:buNone/>
              <a:defRPr sz="1200" b="1"/>
            </a:lvl9pPr>
          </a:lstStyle>
          <a:p>
            <a:endParaRPr/>
          </a:p>
        </p:txBody>
      </p:sp>
      <p:sp>
        <p:nvSpPr>
          <p:cNvPr id="32" name="Google Shape;32;p45"/>
          <p:cNvSpPr txBox="1">
            <a:spLocks noGrp="1"/>
          </p:cNvSpPr>
          <p:nvPr>
            <p:ph type="body" idx="2"/>
          </p:nvPr>
        </p:nvSpPr>
        <p:spPr>
          <a:xfrm>
            <a:off x="457200" y="2174875"/>
            <a:ext cx="4040188" cy="3951288"/>
          </a:xfrm>
          <a:prstGeom prst="rect">
            <a:avLst/>
          </a:prstGeom>
          <a:noFill/>
          <a:ln>
            <a:noFill/>
          </a:ln>
        </p:spPr>
        <p:txBody>
          <a:bodyPr spcFirstLastPara="1" wrap="square" lIns="68575" tIns="34275" rIns="68575" bIns="34275" anchor="t" anchorCtr="0">
            <a:noAutofit/>
          </a:bodyPr>
          <a:lstStyle>
            <a:lvl1pPr marL="457200" lvl="0" indent="-342900" algn="l">
              <a:spcBef>
                <a:spcPts val="360"/>
              </a:spcBef>
              <a:spcAft>
                <a:spcPts val="0"/>
              </a:spcAft>
              <a:buSzPts val="1800"/>
              <a:buFont typeface="Arial"/>
              <a:buChar char="•"/>
              <a:defRPr sz="1800"/>
            </a:lvl1pPr>
            <a:lvl2pPr marL="914400" lvl="1" indent="-323850" algn="l">
              <a:spcBef>
                <a:spcPts val="300"/>
              </a:spcBef>
              <a:spcAft>
                <a:spcPts val="0"/>
              </a:spcAft>
              <a:buSzPts val="1500"/>
              <a:buFont typeface="Arial"/>
              <a:buChar char="–"/>
              <a:defRPr sz="1500"/>
            </a:lvl2pPr>
            <a:lvl3pPr marL="1371600" lvl="2" indent="-317500" algn="l">
              <a:spcBef>
                <a:spcPts val="280"/>
              </a:spcBef>
              <a:spcAft>
                <a:spcPts val="0"/>
              </a:spcAft>
              <a:buSzPts val="1400"/>
              <a:buFont typeface="Arial"/>
              <a:buChar char="•"/>
              <a:defRPr sz="1400"/>
            </a:lvl3pPr>
            <a:lvl4pPr marL="1828800" lvl="3" indent="-304800" algn="l">
              <a:spcBef>
                <a:spcPts val="240"/>
              </a:spcBef>
              <a:spcAft>
                <a:spcPts val="0"/>
              </a:spcAft>
              <a:buSzPts val="1200"/>
              <a:buFont typeface="Arial"/>
              <a:buChar char="–"/>
              <a:defRPr sz="1200"/>
            </a:lvl4pPr>
            <a:lvl5pPr marL="2286000" lvl="4" indent="-304800" algn="l">
              <a:spcBef>
                <a:spcPts val="240"/>
              </a:spcBef>
              <a:spcAft>
                <a:spcPts val="0"/>
              </a:spcAft>
              <a:buSzPts val="1200"/>
              <a:buFont typeface="Arial"/>
              <a:buChar char="»"/>
              <a:defRPr sz="1200"/>
            </a:lvl5pPr>
            <a:lvl6pPr marL="2743200" lvl="5" indent="-304800" algn="l">
              <a:spcBef>
                <a:spcPts val="240"/>
              </a:spcBef>
              <a:spcAft>
                <a:spcPts val="0"/>
              </a:spcAft>
              <a:buSzPts val="1200"/>
              <a:buFont typeface="Arial"/>
              <a:buChar char="»"/>
              <a:defRPr sz="1200"/>
            </a:lvl6pPr>
            <a:lvl7pPr marL="3200400" lvl="6" indent="-304800" algn="l">
              <a:spcBef>
                <a:spcPts val="240"/>
              </a:spcBef>
              <a:spcAft>
                <a:spcPts val="0"/>
              </a:spcAft>
              <a:buSzPts val="1200"/>
              <a:buFont typeface="Arial"/>
              <a:buChar char="»"/>
              <a:defRPr sz="1200"/>
            </a:lvl7pPr>
            <a:lvl8pPr marL="3657600" lvl="7" indent="-304800" algn="l">
              <a:spcBef>
                <a:spcPts val="240"/>
              </a:spcBef>
              <a:spcAft>
                <a:spcPts val="0"/>
              </a:spcAft>
              <a:buSzPts val="1200"/>
              <a:buFont typeface="Arial"/>
              <a:buChar char="»"/>
              <a:defRPr sz="1200"/>
            </a:lvl8pPr>
            <a:lvl9pPr marL="4114800" lvl="8" indent="-304800" algn="l">
              <a:spcBef>
                <a:spcPts val="240"/>
              </a:spcBef>
              <a:spcAft>
                <a:spcPts val="0"/>
              </a:spcAft>
              <a:buSzPts val="1200"/>
              <a:buFont typeface="Arial"/>
              <a:buChar char="»"/>
              <a:defRPr sz="1200"/>
            </a:lvl9pPr>
          </a:lstStyle>
          <a:p>
            <a:endParaRPr/>
          </a:p>
        </p:txBody>
      </p:sp>
      <p:sp>
        <p:nvSpPr>
          <p:cNvPr id="33" name="Google Shape;33;p45"/>
          <p:cNvSpPr txBox="1">
            <a:spLocks noGrp="1"/>
          </p:cNvSpPr>
          <p:nvPr>
            <p:ph type="body" idx="3"/>
          </p:nvPr>
        </p:nvSpPr>
        <p:spPr>
          <a:xfrm>
            <a:off x="4645028" y="1535117"/>
            <a:ext cx="4041775" cy="639763"/>
          </a:xfrm>
          <a:prstGeom prst="rect">
            <a:avLst/>
          </a:prstGeom>
          <a:noFill/>
          <a:ln>
            <a:noFill/>
          </a:ln>
        </p:spPr>
        <p:txBody>
          <a:bodyPr spcFirstLastPara="1" wrap="square" lIns="68575" tIns="34275" rIns="68575" bIns="34275" anchor="b" anchorCtr="0">
            <a:noAutofit/>
          </a:bodyPr>
          <a:lstStyle>
            <a:lvl1pPr marL="457200" lvl="0" indent="-228600" algn="l">
              <a:spcBef>
                <a:spcPts val="360"/>
              </a:spcBef>
              <a:spcAft>
                <a:spcPts val="0"/>
              </a:spcAft>
              <a:buSzPts val="1800"/>
              <a:buFont typeface="Arial"/>
              <a:buNone/>
              <a:defRPr sz="1800" b="1"/>
            </a:lvl1pPr>
            <a:lvl2pPr marL="914400" lvl="1" indent="-228600" algn="l">
              <a:spcBef>
                <a:spcPts val="300"/>
              </a:spcBef>
              <a:spcAft>
                <a:spcPts val="0"/>
              </a:spcAft>
              <a:buSzPts val="1500"/>
              <a:buFont typeface="Arial"/>
              <a:buNone/>
              <a:defRPr sz="1500" b="1"/>
            </a:lvl2pPr>
            <a:lvl3pPr marL="1371600" lvl="2" indent="-228600" algn="l">
              <a:spcBef>
                <a:spcPts val="280"/>
              </a:spcBef>
              <a:spcAft>
                <a:spcPts val="0"/>
              </a:spcAft>
              <a:buSzPts val="1400"/>
              <a:buFont typeface="Arial"/>
              <a:buNone/>
              <a:defRPr sz="1400" b="1"/>
            </a:lvl3pPr>
            <a:lvl4pPr marL="1828800" lvl="3" indent="-228600" algn="l">
              <a:spcBef>
                <a:spcPts val="240"/>
              </a:spcBef>
              <a:spcAft>
                <a:spcPts val="0"/>
              </a:spcAft>
              <a:buSzPts val="1200"/>
              <a:buFont typeface="Arial"/>
              <a:buNone/>
              <a:defRPr sz="1200" b="1"/>
            </a:lvl4pPr>
            <a:lvl5pPr marL="2286000" lvl="4" indent="-228600" algn="l">
              <a:spcBef>
                <a:spcPts val="240"/>
              </a:spcBef>
              <a:spcAft>
                <a:spcPts val="0"/>
              </a:spcAft>
              <a:buSzPts val="1200"/>
              <a:buFont typeface="Arial"/>
              <a:buNone/>
              <a:defRPr sz="1200" b="1"/>
            </a:lvl5pPr>
            <a:lvl6pPr marL="2743200" lvl="5" indent="-228600" algn="l">
              <a:spcBef>
                <a:spcPts val="240"/>
              </a:spcBef>
              <a:spcAft>
                <a:spcPts val="0"/>
              </a:spcAft>
              <a:buSzPts val="1200"/>
              <a:buFont typeface="Arial"/>
              <a:buNone/>
              <a:defRPr sz="1200" b="1"/>
            </a:lvl6pPr>
            <a:lvl7pPr marL="3200400" lvl="6" indent="-228600" algn="l">
              <a:spcBef>
                <a:spcPts val="240"/>
              </a:spcBef>
              <a:spcAft>
                <a:spcPts val="0"/>
              </a:spcAft>
              <a:buSzPts val="1200"/>
              <a:buFont typeface="Arial"/>
              <a:buNone/>
              <a:defRPr sz="1200" b="1"/>
            </a:lvl7pPr>
            <a:lvl8pPr marL="3657600" lvl="7" indent="-228600" algn="l">
              <a:spcBef>
                <a:spcPts val="240"/>
              </a:spcBef>
              <a:spcAft>
                <a:spcPts val="0"/>
              </a:spcAft>
              <a:buSzPts val="1200"/>
              <a:buFont typeface="Arial"/>
              <a:buNone/>
              <a:defRPr sz="1200" b="1"/>
            </a:lvl8pPr>
            <a:lvl9pPr marL="4114800" lvl="8" indent="-228600" algn="l">
              <a:spcBef>
                <a:spcPts val="240"/>
              </a:spcBef>
              <a:spcAft>
                <a:spcPts val="0"/>
              </a:spcAft>
              <a:buSzPts val="1200"/>
              <a:buFont typeface="Arial"/>
              <a:buNone/>
              <a:defRPr sz="1200" b="1"/>
            </a:lvl9pPr>
          </a:lstStyle>
          <a:p>
            <a:endParaRPr/>
          </a:p>
        </p:txBody>
      </p:sp>
      <p:sp>
        <p:nvSpPr>
          <p:cNvPr id="34" name="Google Shape;34;p45"/>
          <p:cNvSpPr txBox="1">
            <a:spLocks noGrp="1"/>
          </p:cNvSpPr>
          <p:nvPr>
            <p:ph type="body" idx="4"/>
          </p:nvPr>
        </p:nvSpPr>
        <p:spPr>
          <a:xfrm>
            <a:off x="4645028" y="2174875"/>
            <a:ext cx="4041775" cy="3951288"/>
          </a:xfrm>
          <a:prstGeom prst="rect">
            <a:avLst/>
          </a:prstGeom>
          <a:noFill/>
          <a:ln>
            <a:noFill/>
          </a:ln>
        </p:spPr>
        <p:txBody>
          <a:bodyPr spcFirstLastPara="1" wrap="square" lIns="68575" tIns="34275" rIns="68575" bIns="34275" anchor="t" anchorCtr="0">
            <a:noAutofit/>
          </a:bodyPr>
          <a:lstStyle>
            <a:lvl1pPr marL="457200" lvl="0" indent="-342900" algn="l">
              <a:spcBef>
                <a:spcPts val="360"/>
              </a:spcBef>
              <a:spcAft>
                <a:spcPts val="0"/>
              </a:spcAft>
              <a:buSzPts val="1800"/>
              <a:buFont typeface="Arial"/>
              <a:buChar char="•"/>
              <a:defRPr sz="1800"/>
            </a:lvl1pPr>
            <a:lvl2pPr marL="914400" lvl="1" indent="-323850" algn="l">
              <a:spcBef>
                <a:spcPts val="300"/>
              </a:spcBef>
              <a:spcAft>
                <a:spcPts val="0"/>
              </a:spcAft>
              <a:buSzPts val="1500"/>
              <a:buFont typeface="Arial"/>
              <a:buChar char="–"/>
              <a:defRPr sz="1500"/>
            </a:lvl2pPr>
            <a:lvl3pPr marL="1371600" lvl="2" indent="-317500" algn="l">
              <a:spcBef>
                <a:spcPts val="280"/>
              </a:spcBef>
              <a:spcAft>
                <a:spcPts val="0"/>
              </a:spcAft>
              <a:buSzPts val="1400"/>
              <a:buFont typeface="Arial"/>
              <a:buChar char="•"/>
              <a:defRPr sz="1400"/>
            </a:lvl3pPr>
            <a:lvl4pPr marL="1828800" lvl="3" indent="-304800" algn="l">
              <a:spcBef>
                <a:spcPts val="240"/>
              </a:spcBef>
              <a:spcAft>
                <a:spcPts val="0"/>
              </a:spcAft>
              <a:buSzPts val="1200"/>
              <a:buFont typeface="Arial"/>
              <a:buChar char="–"/>
              <a:defRPr sz="1200"/>
            </a:lvl4pPr>
            <a:lvl5pPr marL="2286000" lvl="4" indent="-304800" algn="l">
              <a:spcBef>
                <a:spcPts val="240"/>
              </a:spcBef>
              <a:spcAft>
                <a:spcPts val="0"/>
              </a:spcAft>
              <a:buSzPts val="1200"/>
              <a:buFont typeface="Arial"/>
              <a:buChar char="»"/>
              <a:defRPr sz="1200"/>
            </a:lvl5pPr>
            <a:lvl6pPr marL="2743200" lvl="5" indent="-304800" algn="l">
              <a:spcBef>
                <a:spcPts val="240"/>
              </a:spcBef>
              <a:spcAft>
                <a:spcPts val="0"/>
              </a:spcAft>
              <a:buSzPts val="1200"/>
              <a:buFont typeface="Arial"/>
              <a:buChar char="»"/>
              <a:defRPr sz="1200"/>
            </a:lvl6pPr>
            <a:lvl7pPr marL="3200400" lvl="6" indent="-304800" algn="l">
              <a:spcBef>
                <a:spcPts val="240"/>
              </a:spcBef>
              <a:spcAft>
                <a:spcPts val="0"/>
              </a:spcAft>
              <a:buSzPts val="1200"/>
              <a:buFont typeface="Arial"/>
              <a:buChar char="»"/>
              <a:defRPr sz="1200"/>
            </a:lvl7pPr>
            <a:lvl8pPr marL="3657600" lvl="7" indent="-304800" algn="l">
              <a:spcBef>
                <a:spcPts val="240"/>
              </a:spcBef>
              <a:spcAft>
                <a:spcPts val="0"/>
              </a:spcAft>
              <a:buSzPts val="1200"/>
              <a:buFont typeface="Arial"/>
              <a:buChar char="»"/>
              <a:defRPr sz="1200"/>
            </a:lvl8pPr>
            <a:lvl9pPr marL="4114800" lvl="8" indent="-304800" algn="l">
              <a:spcBef>
                <a:spcPts val="240"/>
              </a:spcBef>
              <a:spcAft>
                <a:spcPts val="0"/>
              </a:spcAft>
              <a:buSzPts val="1200"/>
              <a:buFont typeface="Arial"/>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46"/>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8"/>
        <p:cNvGrpSpPr/>
        <p:nvPr/>
      </p:nvGrpSpPr>
      <p:grpSpPr>
        <a:xfrm>
          <a:off x="0" y="0"/>
          <a:ext cx="0" cy="0"/>
          <a:chOff x="0" y="0"/>
          <a:chExt cx="0" cy="0"/>
        </a:xfrm>
      </p:grpSpPr>
      <p:sp>
        <p:nvSpPr>
          <p:cNvPr id="39" name="Google Shape;39;p48"/>
          <p:cNvSpPr txBox="1">
            <a:spLocks noGrp="1"/>
          </p:cNvSpPr>
          <p:nvPr>
            <p:ph type="title"/>
          </p:nvPr>
        </p:nvSpPr>
        <p:spPr>
          <a:xfrm>
            <a:off x="457205" y="273053"/>
            <a:ext cx="3008313" cy="1162051"/>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400"/>
              <a:buNone/>
              <a:defRPr sz="15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48"/>
          <p:cNvSpPr txBox="1">
            <a:spLocks noGrp="1"/>
          </p:cNvSpPr>
          <p:nvPr>
            <p:ph type="body" idx="1"/>
          </p:nvPr>
        </p:nvSpPr>
        <p:spPr>
          <a:xfrm>
            <a:off x="3575050" y="273057"/>
            <a:ext cx="5111750" cy="5853113"/>
          </a:xfrm>
          <a:prstGeom prst="rect">
            <a:avLst/>
          </a:prstGeom>
          <a:noFill/>
          <a:ln>
            <a:noFill/>
          </a:ln>
        </p:spPr>
        <p:txBody>
          <a:bodyPr spcFirstLastPara="1" wrap="square" lIns="68575" tIns="34275" rIns="68575" bIns="34275" anchor="t" anchorCtr="0">
            <a:noAutofit/>
          </a:bodyPr>
          <a:lstStyle>
            <a:lvl1pPr marL="457200" lvl="0" indent="-381000" algn="l">
              <a:spcBef>
                <a:spcPts val="480"/>
              </a:spcBef>
              <a:spcAft>
                <a:spcPts val="0"/>
              </a:spcAft>
              <a:buSzPts val="2400"/>
              <a:buFont typeface="Arial"/>
              <a:buChar char="•"/>
              <a:defRPr sz="2400"/>
            </a:lvl1pPr>
            <a:lvl2pPr marL="914400" lvl="1" indent="-361950" algn="l">
              <a:spcBef>
                <a:spcPts val="420"/>
              </a:spcBef>
              <a:spcAft>
                <a:spcPts val="0"/>
              </a:spcAft>
              <a:buSzPts val="2100"/>
              <a:buFont typeface="Arial"/>
              <a:buChar char="–"/>
              <a:defRPr sz="2100"/>
            </a:lvl2pPr>
            <a:lvl3pPr marL="1371600" lvl="2" indent="-342900" algn="l">
              <a:spcBef>
                <a:spcPts val="360"/>
              </a:spcBef>
              <a:spcAft>
                <a:spcPts val="0"/>
              </a:spcAft>
              <a:buSzPts val="1800"/>
              <a:buFont typeface="Arial"/>
              <a:buChar char="•"/>
              <a:defRPr sz="1800"/>
            </a:lvl3pPr>
            <a:lvl4pPr marL="1828800" lvl="3" indent="-323850" algn="l">
              <a:spcBef>
                <a:spcPts val="300"/>
              </a:spcBef>
              <a:spcAft>
                <a:spcPts val="0"/>
              </a:spcAft>
              <a:buSzPts val="1500"/>
              <a:buFont typeface="Arial"/>
              <a:buChar char="–"/>
              <a:defRPr sz="1500"/>
            </a:lvl4pPr>
            <a:lvl5pPr marL="2286000" lvl="4" indent="-323850" algn="l">
              <a:spcBef>
                <a:spcPts val="300"/>
              </a:spcBef>
              <a:spcAft>
                <a:spcPts val="0"/>
              </a:spcAft>
              <a:buSzPts val="1500"/>
              <a:buFont typeface="Arial"/>
              <a:buChar char="»"/>
              <a:defRPr sz="1500"/>
            </a:lvl5pPr>
            <a:lvl6pPr marL="2743200" lvl="5" indent="-323850" algn="l">
              <a:spcBef>
                <a:spcPts val="300"/>
              </a:spcBef>
              <a:spcAft>
                <a:spcPts val="0"/>
              </a:spcAft>
              <a:buSzPts val="1500"/>
              <a:buFont typeface="Arial"/>
              <a:buChar char="»"/>
              <a:defRPr sz="1500"/>
            </a:lvl6pPr>
            <a:lvl7pPr marL="3200400" lvl="6" indent="-323850" algn="l">
              <a:spcBef>
                <a:spcPts val="300"/>
              </a:spcBef>
              <a:spcAft>
                <a:spcPts val="0"/>
              </a:spcAft>
              <a:buSzPts val="1500"/>
              <a:buFont typeface="Arial"/>
              <a:buChar char="»"/>
              <a:defRPr sz="1500"/>
            </a:lvl7pPr>
            <a:lvl8pPr marL="3657600" lvl="7" indent="-323850" algn="l">
              <a:spcBef>
                <a:spcPts val="300"/>
              </a:spcBef>
              <a:spcAft>
                <a:spcPts val="0"/>
              </a:spcAft>
              <a:buSzPts val="1500"/>
              <a:buFont typeface="Arial"/>
              <a:buChar char="»"/>
              <a:defRPr sz="1500"/>
            </a:lvl8pPr>
            <a:lvl9pPr marL="4114800" lvl="8" indent="-323850" algn="l">
              <a:spcBef>
                <a:spcPts val="300"/>
              </a:spcBef>
              <a:spcAft>
                <a:spcPts val="0"/>
              </a:spcAft>
              <a:buSzPts val="1500"/>
              <a:buFont typeface="Arial"/>
              <a:buChar char="»"/>
              <a:defRPr sz="1500"/>
            </a:lvl9pPr>
          </a:lstStyle>
          <a:p>
            <a:endParaRPr/>
          </a:p>
        </p:txBody>
      </p:sp>
      <p:sp>
        <p:nvSpPr>
          <p:cNvPr id="41" name="Google Shape;41;p48"/>
          <p:cNvSpPr txBox="1">
            <a:spLocks noGrp="1"/>
          </p:cNvSpPr>
          <p:nvPr>
            <p:ph type="body" idx="2"/>
          </p:nvPr>
        </p:nvSpPr>
        <p:spPr>
          <a:xfrm>
            <a:off x="457205" y="1435104"/>
            <a:ext cx="3008313" cy="4691063"/>
          </a:xfrm>
          <a:prstGeom prst="rect">
            <a:avLst/>
          </a:prstGeom>
          <a:noFill/>
          <a:ln>
            <a:noFill/>
          </a:ln>
        </p:spPr>
        <p:txBody>
          <a:bodyPr spcFirstLastPara="1" wrap="square" lIns="68575" tIns="34275" rIns="68575" bIns="34275" anchor="t" anchorCtr="0">
            <a:noAutofit/>
          </a:bodyPr>
          <a:lstStyle>
            <a:lvl1pPr marL="457200" lvl="0" indent="-228600" algn="l">
              <a:spcBef>
                <a:spcPts val="220"/>
              </a:spcBef>
              <a:spcAft>
                <a:spcPts val="0"/>
              </a:spcAft>
              <a:buSzPts val="1100"/>
              <a:buFont typeface="Arial"/>
              <a:buNone/>
              <a:defRPr sz="1100"/>
            </a:lvl1pPr>
            <a:lvl2pPr marL="914400" lvl="1" indent="-228600" algn="l">
              <a:spcBef>
                <a:spcPts val="180"/>
              </a:spcBef>
              <a:spcAft>
                <a:spcPts val="0"/>
              </a:spcAft>
              <a:buSzPts val="900"/>
              <a:buFont typeface="Arial"/>
              <a:buNone/>
              <a:defRPr sz="900"/>
            </a:lvl2pPr>
            <a:lvl3pPr marL="1371600" lvl="2" indent="-228600" algn="l">
              <a:spcBef>
                <a:spcPts val="160"/>
              </a:spcBef>
              <a:spcAft>
                <a:spcPts val="0"/>
              </a:spcAft>
              <a:buSzPts val="800"/>
              <a:buFont typeface="Arial"/>
              <a:buNone/>
              <a:defRPr sz="800"/>
            </a:lvl3pPr>
            <a:lvl4pPr marL="1828800" lvl="3" indent="-228600" algn="l">
              <a:spcBef>
                <a:spcPts val="140"/>
              </a:spcBef>
              <a:spcAft>
                <a:spcPts val="0"/>
              </a:spcAft>
              <a:buSzPts val="700"/>
              <a:buFont typeface="Arial"/>
              <a:buNone/>
              <a:defRPr sz="700"/>
            </a:lvl4pPr>
            <a:lvl5pPr marL="2286000" lvl="4" indent="-228600" algn="l">
              <a:spcBef>
                <a:spcPts val="140"/>
              </a:spcBef>
              <a:spcAft>
                <a:spcPts val="0"/>
              </a:spcAft>
              <a:buSzPts val="700"/>
              <a:buFont typeface="Arial"/>
              <a:buNone/>
              <a:defRPr sz="700"/>
            </a:lvl5pPr>
            <a:lvl6pPr marL="2743200" lvl="5" indent="-228600" algn="l">
              <a:spcBef>
                <a:spcPts val="140"/>
              </a:spcBef>
              <a:spcAft>
                <a:spcPts val="0"/>
              </a:spcAft>
              <a:buSzPts val="700"/>
              <a:buFont typeface="Arial"/>
              <a:buNone/>
              <a:defRPr sz="700"/>
            </a:lvl6pPr>
            <a:lvl7pPr marL="3200400" lvl="6" indent="-228600" algn="l">
              <a:spcBef>
                <a:spcPts val="140"/>
              </a:spcBef>
              <a:spcAft>
                <a:spcPts val="0"/>
              </a:spcAft>
              <a:buSzPts val="700"/>
              <a:buFont typeface="Arial"/>
              <a:buNone/>
              <a:defRPr sz="700"/>
            </a:lvl7pPr>
            <a:lvl8pPr marL="3657600" lvl="7" indent="-228600" algn="l">
              <a:spcBef>
                <a:spcPts val="140"/>
              </a:spcBef>
              <a:spcAft>
                <a:spcPts val="0"/>
              </a:spcAft>
              <a:buSzPts val="700"/>
              <a:buFont typeface="Arial"/>
              <a:buNone/>
              <a:defRPr sz="700"/>
            </a:lvl8pPr>
            <a:lvl9pPr marL="4114800" lvl="8" indent="-228600" algn="l">
              <a:spcBef>
                <a:spcPts val="140"/>
              </a:spcBef>
              <a:spcAft>
                <a:spcPts val="0"/>
              </a:spcAft>
              <a:buSzPts val="700"/>
              <a:buFont typeface="Arial"/>
              <a:buNone/>
              <a:defRPr sz="7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2"/>
        <p:cNvGrpSpPr/>
        <p:nvPr/>
      </p:nvGrpSpPr>
      <p:grpSpPr>
        <a:xfrm>
          <a:off x="0" y="0"/>
          <a:ext cx="0" cy="0"/>
          <a:chOff x="0" y="0"/>
          <a:chExt cx="0" cy="0"/>
        </a:xfrm>
      </p:grpSpPr>
      <p:sp>
        <p:nvSpPr>
          <p:cNvPr id="43" name="Google Shape;43;p49"/>
          <p:cNvSpPr txBox="1">
            <a:spLocks noGrp="1"/>
          </p:cNvSpPr>
          <p:nvPr>
            <p:ph type="title"/>
          </p:nvPr>
        </p:nvSpPr>
        <p:spPr>
          <a:xfrm>
            <a:off x="1792288" y="4800604"/>
            <a:ext cx="5486400" cy="566739"/>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400"/>
              <a:buNone/>
              <a:defRPr sz="15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 name="Google Shape;44;p49"/>
          <p:cNvSpPr>
            <a:spLocks noGrp="1"/>
          </p:cNvSpPr>
          <p:nvPr>
            <p:ph type="pic" idx="2"/>
          </p:nvPr>
        </p:nvSpPr>
        <p:spPr>
          <a:xfrm>
            <a:off x="1792288" y="612775"/>
            <a:ext cx="5486400" cy="4114800"/>
          </a:xfrm>
          <a:prstGeom prst="rect">
            <a:avLst/>
          </a:prstGeom>
          <a:noFill/>
          <a:ln>
            <a:noFill/>
          </a:ln>
        </p:spPr>
      </p:sp>
      <p:sp>
        <p:nvSpPr>
          <p:cNvPr id="45" name="Google Shape;45;p49"/>
          <p:cNvSpPr txBox="1">
            <a:spLocks noGrp="1"/>
          </p:cNvSpPr>
          <p:nvPr>
            <p:ph type="body" idx="1"/>
          </p:nvPr>
        </p:nvSpPr>
        <p:spPr>
          <a:xfrm>
            <a:off x="1792288" y="5367342"/>
            <a:ext cx="5486400" cy="804863"/>
          </a:xfrm>
          <a:prstGeom prst="rect">
            <a:avLst/>
          </a:prstGeom>
          <a:noFill/>
          <a:ln>
            <a:noFill/>
          </a:ln>
        </p:spPr>
        <p:txBody>
          <a:bodyPr spcFirstLastPara="1" wrap="square" lIns="68575" tIns="34275" rIns="68575" bIns="34275" anchor="t" anchorCtr="0">
            <a:noAutofit/>
          </a:bodyPr>
          <a:lstStyle>
            <a:lvl1pPr marL="457200" lvl="0" indent="-228600" algn="l">
              <a:spcBef>
                <a:spcPts val="220"/>
              </a:spcBef>
              <a:spcAft>
                <a:spcPts val="0"/>
              </a:spcAft>
              <a:buSzPts val="1100"/>
              <a:buFont typeface="Arial"/>
              <a:buNone/>
              <a:defRPr sz="1100"/>
            </a:lvl1pPr>
            <a:lvl2pPr marL="914400" lvl="1" indent="-228600" algn="l">
              <a:spcBef>
                <a:spcPts val="180"/>
              </a:spcBef>
              <a:spcAft>
                <a:spcPts val="0"/>
              </a:spcAft>
              <a:buSzPts val="900"/>
              <a:buFont typeface="Arial"/>
              <a:buNone/>
              <a:defRPr sz="900"/>
            </a:lvl2pPr>
            <a:lvl3pPr marL="1371600" lvl="2" indent="-228600" algn="l">
              <a:spcBef>
                <a:spcPts val="160"/>
              </a:spcBef>
              <a:spcAft>
                <a:spcPts val="0"/>
              </a:spcAft>
              <a:buSzPts val="800"/>
              <a:buFont typeface="Arial"/>
              <a:buNone/>
              <a:defRPr sz="800"/>
            </a:lvl3pPr>
            <a:lvl4pPr marL="1828800" lvl="3" indent="-228600" algn="l">
              <a:spcBef>
                <a:spcPts val="140"/>
              </a:spcBef>
              <a:spcAft>
                <a:spcPts val="0"/>
              </a:spcAft>
              <a:buSzPts val="700"/>
              <a:buFont typeface="Arial"/>
              <a:buNone/>
              <a:defRPr sz="700"/>
            </a:lvl4pPr>
            <a:lvl5pPr marL="2286000" lvl="4" indent="-228600" algn="l">
              <a:spcBef>
                <a:spcPts val="140"/>
              </a:spcBef>
              <a:spcAft>
                <a:spcPts val="0"/>
              </a:spcAft>
              <a:buSzPts val="700"/>
              <a:buFont typeface="Arial"/>
              <a:buNone/>
              <a:defRPr sz="700"/>
            </a:lvl5pPr>
            <a:lvl6pPr marL="2743200" lvl="5" indent="-228600" algn="l">
              <a:spcBef>
                <a:spcPts val="140"/>
              </a:spcBef>
              <a:spcAft>
                <a:spcPts val="0"/>
              </a:spcAft>
              <a:buSzPts val="700"/>
              <a:buFont typeface="Arial"/>
              <a:buNone/>
              <a:defRPr sz="700"/>
            </a:lvl6pPr>
            <a:lvl7pPr marL="3200400" lvl="6" indent="-228600" algn="l">
              <a:spcBef>
                <a:spcPts val="140"/>
              </a:spcBef>
              <a:spcAft>
                <a:spcPts val="0"/>
              </a:spcAft>
              <a:buSzPts val="700"/>
              <a:buFont typeface="Arial"/>
              <a:buNone/>
              <a:defRPr sz="700"/>
            </a:lvl7pPr>
            <a:lvl8pPr marL="3657600" lvl="7" indent="-228600" algn="l">
              <a:spcBef>
                <a:spcPts val="140"/>
              </a:spcBef>
              <a:spcAft>
                <a:spcPts val="0"/>
              </a:spcAft>
              <a:buSzPts val="700"/>
              <a:buFont typeface="Arial"/>
              <a:buNone/>
              <a:defRPr sz="700"/>
            </a:lvl8pPr>
            <a:lvl9pPr marL="4114800" lvl="8" indent="-228600" algn="l">
              <a:spcBef>
                <a:spcPts val="140"/>
              </a:spcBef>
              <a:spcAft>
                <a:spcPts val="0"/>
              </a:spcAft>
              <a:buSzPts val="700"/>
              <a:buFont typeface="Arial"/>
              <a:buNone/>
              <a:defRPr sz="7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6"/>
        <p:cNvGrpSpPr/>
        <p:nvPr/>
      </p:nvGrpSpPr>
      <p:grpSpPr>
        <a:xfrm>
          <a:off x="0" y="0"/>
          <a:ext cx="0" cy="0"/>
          <a:chOff x="0" y="0"/>
          <a:chExt cx="0" cy="0"/>
        </a:xfrm>
      </p:grpSpPr>
      <p:sp>
        <p:nvSpPr>
          <p:cNvPr id="47" name="Google Shape;47;p50"/>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50"/>
          <p:cNvSpPr txBox="1">
            <a:spLocks noGrp="1"/>
          </p:cNvSpPr>
          <p:nvPr>
            <p:ph type="body" idx="1"/>
          </p:nvPr>
        </p:nvSpPr>
        <p:spPr>
          <a:xfrm rot="5400000">
            <a:off x="2590800" y="-152400"/>
            <a:ext cx="3962400" cy="7772400"/>
          </a:xfrm>
          <a:prstGeom prst="rect">
            <a:avLst/>
          </a:prstGeom>
          <a:noFill/>
          <a:ln>
            <a:noFill/>
          </a:ln>
        </p:spPr>
        <p:txBody>
          <a:bodyPr spcFirstLastPara="1" wrap="square" lIns="68575" tIns="34275" rIns="68575" bIns="34275"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
        <p:cNvGrpSpPr/>
        <p:nvPr/>
      </p:nvGrpSpPr>
      <p:grpSpPr>
        <a:xfrm>
          <a:off x="0" y="0"/>
          <a:ext cx="0" cy="0"/>
          <a:chOff x="0" y="0"/>
          <a:chExt cx="0" cy="0"/>
        </a:xfrm>
      </p:grpSpPr>
      <p:sp>
        <p:nvSpPr>
          <p:cNvPr id="50" name="Google Shape;50;p51"/>
          <p:cNvSpPr txBox="1">
            <a:spLocks noGrp="1"/>
          </p:cNvSpPr>
          <p:nvPr>
            <p:ph type="title"/>
          </p:nvPr>
        </p:nvSpPr>
        <p:spPr>
          <a:xfrm rot="5400000">
            <a:off x="4781550" y="2038350"/>
            <a:ext cx="5410200" cy="19431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51"/>
          <p:cNvSpPr txBox="1">
            <a:spLocks noGrp="1"/>
          </p:cNvSpPr>
          <p:nvPr>
            <p:ph type="body" idx="1"/>
          </p:nvPr>
        </p:nvSpPr>
        <p:spPr>
          <a:xfrm rot="5400000">
            <a:off x="819151" y="171450"/>
            <a:ext cx="5410200" cy="5676900"/>
          </a:xfrm>
          <a:prstGeom prst="rect">
            <a:avLst/>
          </a:prstGeom>
          <a:noFill/>
          <a:ln>
            <a:noFill/>
          </a:ln>
        </p:spPr>
        <p:txBody>
          <a:bodyPr spcFirstLastPara="1" wrap="square" lIns="68575" tIns="34275" rIns="68575" bIns="34275"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0"/>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400"/>
              <a:buNone/>
              <a:defRPr sz="3300" b="0" i="0" u="none" strike="noStrike" cap="none">
                <a:solidFill>
                  <a:srgbClr val="7A0019"/>
                </a:solidFill>
                <a:latin typeface="Arial"/>
                <a:ea typeface="Arial"/>
                <a:cs typeface="Arial"/>
                <a:sym typeface="Arial"/>
              </a:defRPr>
            </a:lvl1pPr>
            <a:lvl2pPr marR="0" lvl="1"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2pPr>
            <a:lvl3pPr marR="0" lvl="2"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3pPr>
            <a:lvl4pPr marR="0" lvl="3"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4pPr>
            <a:lvl5pPr marR="0" lvl="4" algn="ctr" rtl="0">
              <a:spcBef>
                <a:spcPts val="0"/>
              </a:spcBef>
              <a:spcAft>
                <a:spcPts val="0"/>
              </a:spcAft>
              <a:buSzPts val="1400"/>
              <a:buNone/>
              <a:defRPr sz="3300" b="0" i="0" u="none" strike="noStrike" cap="none">
                <a:solidFill>
                  <a:srgbClr val="7A0019"/>
                </a:solidFill>
                <a:latin typeface="Corbel"/>
                <a:ea typeface="Corbel"/>
                <a:cs typeface="Corbel"/>
                <a:sym typeface="Corbel"/>
              </a:defRPr>
            </a:lvl5pPr>
            <a:lvl6pPr marR="0" lvl="5" algn="ctr" rtl="0">
              <a:spcBef>
                <a:spcPts val="0"/>
              </a:spcBef>
              <a:spcAft>
                <a:spcPts val="0"/>
              </a:spcAft>
              <a:buSzPts val="1400"/>
              <a:buNone/>
              <a:defRPr sz="3300" b="0" i="0" u="none" strike="noStrike" cap="none">
                <a:solidFill>
                  <a:srgbClr val="7A0019"/>
                </a:solidFill>
                <a:latin typeface="Arial"/>
                <a:ea typeface="Arial"/>
                <a:cs typeface="Arial"/>
                <a:sym typeface="Arial"/>
              </a:defRPr>
            </a:lvl6pPr>
            <a:lvl7pPr marR="0" lvl="6" algn="ctr" rtl="0">
              <a:spcBef>
                <a:spcPts val="0"/>
              </a:spcBef>
              <a:spcAft>
                <a:spcPts val="0"/>
              </a:spcAft>
              <a:buSzPts val="1400"/>
              <a:buNone/>
              <a:defRPr sz="3300" b="0" i="0" u="none" strike="noStrike" cap="none">
                <a:solidFill>
                  <a:srgbClr val="7A0019"/>
                </a:solidFill>
                <a:latin typeface="Arial"/>
                <a:ea typeface="Arial"/>
                <a:cs typeface="Arial"/>
                <a:sym typeface="Arial"/>
              </a:defRPr>
            </a:lvl7pPr>
            <a:lvl8pPr marR="0" lvl="7" algn="ctr" rtl="0">
              <a:spcBef>
                <a:spcPts val="0"/>
              </a:spcBef>
              <a:spcAft>
                <a:spcPts val="0"/>
              </a:spcAft>
              <a:buSzPts val="1400"/>
              <a:buNone/>
              <a:defRPr sz="3300" b="0" i="0" u="none" strike="noStrike" cap="none">
                <a:solidFill>
                  <a:srgbClr val="7A0019"/>
                </a:solidFill>
                <a:latin typeface="Arial"/>
                <a:ea typeface="Arial"/>
                <a:cs typeface="Arial"/>
                <a:sym typeface="Arial"/>
              </a:defRPr>
            </a:lvl8pPr>
            <a:lvl9pPr marR="0" lvl="8" algn="ctr" rtl="0">
              <a:spcBef>
                <a:spcPts val="0"/>
              </a:spcBef>
              <a:spcAft>
                <a:spcPts val="0"/>
              </a:spcAft>
              <a:buSzPts val="1400"/>
              <a:buNone/>
              <a:defRPr sz="3300" b="0" i="0" u="none" strike="noStrike" cap="none">
                <a:solidFill>
                  <a:srgbClr val="7A0019"/>
                </a:solidFill>
                <a:latin typeface="Arial"/>
                <a:ea typeface="Arial"/>
                <a:cs typeface="Arial"/>
                <a:sym typeface="Arial"/>
              </a:defRPr>
            </a:lvl9pPr>
          </a:lstStyle>
          <a:p>
            <a:endParaRPr/>
          </a:p>
        </p:txBody>
      </p:sp>
      <p:sp>
        <p:nvSpPr>
          <p:cNvPr id="11" name="Google Shape;11;p40"/>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lvl1pPr marL="457200" marR="0" lvl="0" indent="-381000" algn="l" rtl="0">
              <a:spcBef>
                <a:spcPts val="480"/>
              </a:spcBef>
              <a:spcAft>
                <a:spcPts val="0"/>
              </a:spcAft>
              <a:buClr>
                <a:srgbClr val="7A0019"/>
              </a:buClr>
              <a:buSzPts val="2400"/>
              <a:buFont typeface="Arial"/>
              <a:buChar char="•"/>
              <a:defRPr sz="2400" b="0" i="0" u="none" strike="noStrike" cap="none">
                <a:solidFill>
                  <a:srgbClr val="595959"/>
                </a:solidFill>
                <a:latin typeface="Arial"/>
                <a:ea typeface="Arial"/>
                <a:cs typeface="Arial"/>
                <a:sym typeface="Arial"/>
              </a:defRPr>
            </a:lvl1pPr>
            <a:lvl2pPr marL="914400" marR="0" lvl="1" indent="-361950" algn="l" rtl="0">
              <a:spcBef>
                <a:spcPts val="420"/>
              </a:spcBef>
              <a:spcAft>
                <a:spcPts val="0"/>
              </a:spcAft>
              <a:buClr>
                <a:srgbClr val="7A0019"/>
              </a:buClr>
              <a:buSzPts val="2100"/>
              <a:buFont typeface="Arial"/>
              <a:buChar char="–"/>
              <a:defRPr sz="2100" b="0" i="0" u="none" strike="noStrike" cap="none">
                <a:solidFill>
                  <a:srgbClr val="595959"/>
                </a:solidFill>
                <a:latin typeface="Arial"/>
                <a:ea typeface="Arial"/>
                <a:cs typeface="Arial"/>
                <a:sym typeface="Arial"/>
              </a:defRPr>
            </a:lvl2pPr>
            <a:lvl3pPr marL="1371600" marR="0" lvl="2" indent="-342900" algn="l" rtl="0">
              <a:spcBef>
                <a:spcPts val="360"/>
              </a:spcBef>
              <a:spcAft>
                <a:spcPts val="0"/>
              </a:spcAft>
              <a:buClr>
                <a:srgbClr val="7A0019"/>
              </a:buClr>
              <a:buSzPts val="1800"/>
              <a:buFont typeface="Arial"/>
              <a:buChar char="•"/>
              <a:defRPr sz="1800" b="0" i="0" u="none" strike="noStrike" cap="none">
                <a:solidFill>
                  <a:srgbClr val="595959"/>
                </a:solidFill>
                <a:latin typeface="Arial"/>
                <a:ea typeface="Arial"/>
                <a:cs typeface="Arial"/>
                <a:sym typeface="Arial"/>
              </a:defRPr>
            </a:lvl3pPr>
            <a:lvl4pPr marL="1828800" marR="0" lvl="3" indent="-323850" algn="l" rtl="0">
              <a:spcBef>
                <a:spcPts val="300"/>
              </a:spcBef>
              <a:spcAft>
                <a:spcPts val="0"/>
              </a:spcAft>
              <a:buClr>
                <a:srgbClr val="7A0019"/>
              </a:buClr>
              <a:buSzPts val="1500"/>
              <a:buFont typeface="Arial"/>
              <a:buChar char="–"/>
              <a:defRPr sz="1500" b="0" i="0" u="none" strike="noStrike" cap="none">
                <a:solidFill>
                  <a:srgbClr val="595959"/>
                </a:solidFill>
                <a:latin typeface="Arial"/>
                <a:ea typeface="Arial"/>
                <a:cs typeface="Arial"/>
                <a:sym typeface="Arial"/>
              </a:defRPr>
            </a:lvl4pPr>
            <a:lvl5pPr marL="2286000" marR="0" lvl="4" indent="-323850" algn="l" rtl="0">
              <a:spcBef>
                <a:spcPts val="300"/>
              </a:spcBef>
              <a:spcAft>
                <a:spcPts val="0"/>
              </a:spcAft>
              <a:buClr>
                <a:srgbClr val="7A0019"/>
              </a:buClr>
              <a:buSzPts val="1500"/>
              <a:buFont typeface="Arial"/>
              <a:buChar char="»"/>
              <a:defRPr sz="1500" b="0" i="0" u="none" strike="noStrike" cap="none">
                <a:solidFill>
                  <a:srgbClr val="595959"/>
                </a:solidFill>
                <a:latin typeface="Arial"/>
                <a:ea typeface="Arial"/>
                <a:cs typeface="Arial"/>
                <a:sym typeface="Arial"/>
              </a:defRPr>
            </a:lvl5pPr>
            <a:lvl6pPr marL="2743200" marR="0" lvl="5"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6pPr>
            <a:lvl7pPr marL="3200400" marR="0" lvl="6"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7pPr>
            <a:lvl8pPr marL="3657600" marR="0" lvl="7"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8pPr>
            <a:lvl9pPr marL="4114800" marR="0" lvl="8" indent="-323850" algn="l" rtl="0">
              <a:spcBef>
                <a:spcPts val="300"/>
              </a:spcBef>
              <a:spcAft>
                <a:spcPts val="0"/>
              </a:spcAft>
              <a:buClr>
                <a:srgbClr val="7A0019"/>
              </a:buClr>
              <a:buSzPts val="1500"/>
              <a:buFont typeface="Arial"/>
              <a:buChar char="»"/>
              <a:defRPr sz="1500" b="0" i="0" u="none" strike="noStrike" cap="none">
                <a:solidFill>
                  <a:schemeClr val="dk1"/>
                </a:solidFill>
                <a:latin typeface="Arial"/>
                <a:ea typeface="Arial"/>
                <a:cs typeface="Arial"/>
                <a:sym typeface="Arial"/>
              </a:defRPr>
            </a:lvl9pPr>
          </a:lstStyle>
          <a:p>
            <a:endParaRPr/>
          </a:p>
        </p:txBody>
      </p:sp>
      <p:pic>
        <p:nvPicPr>
          <p:cNvPr id="12" name="Google Shape;12;p40" descr="/Users/ranja/Documents/5-resources/ppt/2018 ppt-with R/new/working files/graphics_4x3-M-gold.png"/>
          <p:cNvPicPr preferRelativeResize="0"/>
          <p:nvPr/>
        </p:nvPicPr>
        <p:blipFill rotWithShape="1">
          <a:blip r:embed="rId13">
            <a:alphaModFix/>
          </a:blip>
          <a:srcRect/>
          <a:stretch/>
        </p:blipFill>
        <p:spPr>
          <a:xfrm>
            <a:off x="0" y="6387041"/>
            <a:ext cx="9144000" cy="46634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a:spLocks noGrp="1"/>
          </p:cNvSpPr>
          <p:nvPr>
            <p:ph type="ctrTitle"/>
          </p:nvPr>
        </p:nvSpPr>
        <p:spPr>
          <a:xfrm>
            <a:off x="685800" y="787400"/>
            <a:ext cx="80010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Pretesting</a:t>
            </a:r>
            <a:endParaRPr/>
          </a:p>
        </p:txBody>
      </p:sp>
      <p:sp>
        <p:nvSpPr>
          <p:cNvPr id="58" name="Google Shape;58;p1"/>
          <p:cNvSpPr txBox="1">
            <a:spLocks noGrp="1"/>
          </p:cNvSpPr>
          <p:nvPr>
            <p:ph type="body" idx="1"/>
          </p:nvPr>
        </p:nvSpPr>
        <p:spPr>
          <a:xfrm>
            <a:off x="685800" y="2921000"/>
            <a:ext cx="8001000" cy="6096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SzPts val="1800"/>
              <a:buFont typeface="Arial"/>
              <a:buNone/>
            </a:pPr>
            <a:r>
              <a:rPr lang="en-US"/>
              <a:t>Wenchao Ma</a:t>
            </a:r>
            <a:endParaRPr/>
          </a:p>
          <a:p>
            <a:pPr marL="0" lvl="0" indent="0" algn="l" rtl="0">
              <a:spcBef>
                <a:spcPts val="360"/>
              </a:spcBef>
              <a:spcAft>
                <a:spcPts val="0"/>
              </a:spcAft>
              <a:buSzPts val="1800"/>
              <a:buFont typeface="Arial"/>
              <a:buNone/>
            </a:pPr>
            <a:r>
              <a:rPr lang="en-US"/>
              <a:t>University of Minnesota</a:t>
            </a:r>
            <a:endParaRPr/>
          </a:p>
          <a:p>
            <a:pPr marL="0" lvl="0" indent="0" algn="l" rtl="0">
              <a:spcBef>
                <a:spcPts val="360"/>
              </a:spcBef>
              <a:spcAft>
                <a:spcPts val="0"/>
              </a:spcAft>
              <a:buSzPts val="1800"/>
              <a:buFont typeface="Arial"/>
              <a:buNone/>
            </a:pPr>
            <a:endParaRPr/>
          </a:p>
        </p:txBody>
      </p:sp>
      <p:sp>
        <p:nvSpPr>
          <p:cNvPr id="59" name="Google Shape;59;p1"/>
          <p:cNvSpPr txBox="1">
            <a:spLocks noGrp="1"/>
          </p:cNvSpPr>
          <p:nvPr>
            <p:ph type="body" idx="2"/>
          </p:nvPr>
        </p:nvSpPr>
        <p:spPr>
          <a:xfrm>
            <a:off x="685800" y="3530600"/>
            <a:ext cx="8001000" cy="5080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SzPts val="1200"/>
              <a:buFont typeface="Arial"/>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Pretesting</a:t>
            </a:r>
            <a:endParaRPr/>
          </a:p>
        </p:txBody>
      </p:sp>
      <p:sp>
        <p:nvSpPr>
          <p:cNvPr id="66" name="Google Shape;66;p2"/>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b="0" i="0">
                <a:solidFill>
                  <a:srgbClr val="333333"/>
                </a:solidFill>
                <a:highlight>
                  <a:srgbClr val="FFFFFF"/>
                </a:highlight>
                <a:latin typeface="Arial"/>
                <a:ea typeface="Arial"/>
                <a:cs typeface="Arial"/>
                <a:sym typeface="Arial"/>
              </a:rPr>
              <a:t>Pretesting is the process of evaluating the survey procedures in advance to assess </a:t>
            </a:r>
            <a:endParaRPr b="0" i="0">
              <a:solidFill>
                <a:srgbClr val="333333"/>
              </a:solidFill>
              <a:highlight>
                <a:srgbClr val="FFFFFF"/>
              </a:highlight>
              <a:latin typeface="Arial"/>
              <a:ea typeface="Arial"/>
              <a:cs typeface="Arial"/>
              <a:sym typeface="Arial"/>
            </a:endParaRPr>
          </a:p>
          <a:p>
            <a:pPr marL="557287" lvl="1" indent="-252441" algn="l" rtl="0">
              <a:spcBef>
                <a:spcPts val="0"/>
              </a:spcBef>
              <a:spcAft>
                <a:spcPts val="0"/>
              </a:spcAft>
              <a:buSzPts val="2400"/>
              <a:buFont typeface="Arial"/>
              <a:buChar char="–"/>
            </a:pPr>
            <a:r>
              <a:rPr lang="en-US" b="0" i="0">
                <a:solidFill>
                  <a:srgbClr val="333333"/>
                </a:solidFill>
                <a:highlight>
                  <a:srgbClr val="FFFFFF"/>
                </a:highlight>
                <a:latin typeface="Arial"/>
                <a:ea typeface="Arial"/>
                <a:cs typeface="Arial"/>
                <a:sym typeface="Arial"/>
              </a:rPr>
              <a:t>whether they are going to cause any problems for respondents and interviewers and </a:t>
            </a:r>
            <a:endParaRPr b="0" i="0">
              <a:solidFill>
                <a:srgbClr val="333333"/>
              </a:solidFill>
              <a:highlight>
                <a:srgbClr val="FFFFFF"/>
              </a:highlight>
              <a:latin typeface="Arial"/>
              <a:ea typeface="Arial"/>
              <a:cs typeface="Arial"/>
              <a:sym typeface="Arial"/>
            </a:endParaRPr>
          </a:p>
          <a:p>
            <a:pPr marL="557287" lvl="1" indent="-252441" algn="l" rtl="0">
              <a:spcBef>
                <a:spcPts val="0"/>
              </a:spcBef>
              <a:spcAft>
                <a:spcPts val="0"/>
              </a:spcAft>
              <a:buSzPts val="2400"/>
              <a:buFont typeface="Arial"/>
              <a:buChar char="–"/>
            </a:pPr>
            <a:r>
              <a:rPr lang="en-US" b="0" i="0">
                <a:solidFill>
                  <a:srgbClr val="333333"/>
                </a:solidFill>
                <a:highlight>
                  <a:srgbClr val="FFFFFF"/>
                </a:highlight>
                <a:latin typeface="Arial"/>
                <a:ea typeface="Arial"/>
                <a:cs typeface="Arial"/>
                <a:sym typeface="Arial"/>
              </a:rPr>
              <a:t>whether the survey is meeting its intended objectives (Presser et al., 2004)</a:t>
            </a:r>
            <a:br>
              <a:rPr lang="en-US"/>
            </a:br>
            <a:endParaRPr/>
          </a:p>
          <a:p>
            <a:pPr marL="257209" lvl="0" indent="-104809" algn="l" rtl="0">
              <a:spcBef>
                <a:spcPts val="480"/>
              </a:spcBef>
              <a:spcAft>
                <a:spcPts val="0"/>
              </a:spcAft>
              <a:buSzPts val="2400"/>
              <a:buFont typeface="Arial"/>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g3d784785c6d_0_12"/>
          <p:cNvSpPr txBox="1">
            <a:spLocks noGrp="1"/>
          </p:cNvSpPr>
          <p:nvPr>
            <p:ph type="title"/>
          </p:nvPr>
        </p:nvSpPr>
        <p:spPr>
          <a:xfrm>
            <a:off x="685800" y="304800"/>
            <a:ext cx="7772400" cy="11430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US"/>
              <a:t>Pilot Testing</a:t>
            </a:r>
            <a:endParaRPr/>
          </a:p>
        </p:txBody>
      </p:sp>
      <p:sp>
        <p:nvSpPr>
          <p:cNvPr id="73" name="Google Shape;73;g3d784785c6d_0_12"/>
          <p:cNvSpPr txBox="1">
            <a:spLocks noGrp="1"/>
          </p:cNvSpPr>
          <p:nvPr>
            <p:ph type="body" idx="1"/>
          </p:nvPr>
        </p:nvSpPr>
        <p:spPr>
          <a:xfrm>
            <a:off x="685800" y="1752600"/>
            <a:ext cx="7772400" cy="3809700"/>
          </a:xfrm>
          <a:prstGeom prst="rect">
            <a:avLst/>
          </a:prstGeom>
        </p:spPr>
        <p:txBody>
          <a:bodyPr spcFirstLastPara="1" wrap="square" lIns="68575" tIns="34275" rIns="68575" bIns="34275" anchor="t" anchorCtr="0">
            <a:spAutoFit/>
          </a:bodyPr>
          <a:lstStyle/>
          <a:p>
            <a:pPr marL="0" lvl="0" indent="0" algn="l" rtl="0">
              <a:spcBef>
                <a:spcPts val="360"/>
              </a:spcBef>
              <a:spcAft>
                <a:spcPts val="0"/>
              </a:spcAft>
              <a:buNone/>
            </a:pPr>
            <a:r>
              <a:rPr lang="en-US"/>
              <a:t>A preliminary, small-scale version, or "miniature version" of the entire planned research study. It is also referred to as a feasibility study.</a:t>
            </a:r>
            <a:endParaRPr/>
          </a:p>
          <a:p>
            <a:pPr marL="457200" lvl="0" indent="-342900" algn="l" rtl="0">
              <a:spcBef>
                <a:spcPts val="360"/>
              </a:spcBef>
              <a:spcAft>
                <a:spcPts val="0"/>
              </a:spcAft>
              <a:buSzPts val="1800"/>
              <a:buChar char="●"/>
            </a:pPr>
            <a:r>
              <a:rPr lang="en-US"/>
              <a:t>It tests the complete research process—from data collection and logistics to tabulation and analysis—to identify and examine potential roadblocks before full implementation.</a:t>
            </a:r>
            <a:endParaRPr/>
          </a:p>
          <a:p>
            <a:pPr marL="457200" lvl="0" indent="-342900" algn="l" rtl="0">
              <a:spcBef>
                <a:spcPts val="0"/>
              </a:spcBef>
              <a:spcAft>
                <a:spcPts val="0"/>
              </a:spcAft>
              <a:buSzPts val="1800"/>
              <a:buChar char="●"/>
            </a:pPr>
            <a:r>
              <a:rPr lang="en-US"/>
              <a:t>Determining if the full-scale study is possible (i.e., its feasibility), whether the procedures are sound, and whether the protocols can be followed.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3"/>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Why Pretesting?</a:t>
            </a:r>
            <a:endParaRPr/>
          </a:p>
        </p:txBody>
      </p:sp>
      <p:sp>
        <p:nvSpPr>
          <p:cNvPr id="80" name="Google Shape;80;p3"/>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Gather others’ input to gain new perspective</a:t>
            </a:r>
            <a:endParaRPr/>
          </a:p>
          <a:p>
            <a:pPr marL="257209" lvl="0" indent="-257209" algn="l" rtl="0">
              <a:spcBef>
                <a:spcPts val="480"/>
              </a:spcBef>
              <a:spcAft>
                <a:spcPts val="0"/>
              </a:spcAft>
              <a:buSzPts val="2400"/>
              <a:buFont typeface="Arial"/>
              <a:buChar char="•"/>
            </a:pPr>
            <a:r>
              <a:rPr lang="en-US"/>
              <a:t>Develop greater understanding of and empathy with desired respondents</a:t>
            </a:r>
            <a:endParaRPr/>
          </a:p>
          <a:p>
            <a:pPr marL="257209" lvl="0" indent="-257209" algn="l" rtl="0">
              <a:spcBef>
                <a:spcPts val="480"/>
              </a:spcBef>
              <a:spcAft>
                <a:spcPts val="0"/>
              </a:spcAft>
              <a:buSzPts val="2400"/>
              <a:buFont typeface="Arial"/>
              <a:buChar char="•"/>
            </a:pPr>
            <a:r>
              <a:rPr lang="en-US"/>
              <a:t>Ensure questions are clear, comprehensible, and relevant to respondents (Collins, 2003)</a:t>
            </a:r>
            <a:endParaRPr/>
          </a:p>
          <a:p>
            <a:pPr marL="257209" lvl="0" indent="-257209" algn="l" rtl="0">
              <a:spcBef>
                <a:spcPts val="480"/>
              </a:spcBef>
              <a:spcAft>
                <a:spcPts val="0"/>
              </a:spcAft>
              <a:buSzPts val="2400"/>
              <a:buFont typeface="Arial"/>
              <a:buChar char="•"/>
            </a:pPr>
            <a:r>
              <a:rPr lang="en-US"/>
              <a:t>Confirm that response options are sufficient and appropriate and that respondents can use them appropriately and consistently (Collins, 2003)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4"/>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Why Pretesting?</a:t>
            </a:r>
            <a:endParaRPr/>
          </a:p>
        </p:txBody>
      </p:sp>
      <p:sp>
        <p:nvSpPr>
          <p:cNvPr id="87" name="Google Shape;87;p4"/>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Explore whether questions have particular forms of validity, such as face validity</a:t>
            </a:r>
            <a:endParaRPr/>
          </a:p>
          <a:p>
            <a:pPr marL="257209" lvl="0" indent="-257209" algn="l" rtl="0">
              <a:spcBef>
                <a:spcPts val="480"/>
              </a:spcBef>
              <a:spcAft>
                <a:spcPts val="0"/>
              </a:spcAft>
              <a:buSzPts val="2400"/>
              <a:buFont typeface="Arial"/>
              <a:buChar char="•"/>
            </a:pPr>
            <a:r>
              <a:rPr lang="en-US"/>
              <a:t>Make initial assessment regarding the reliability of questions</a:t>
            </a:r>
            <a:endParaRPr/>
          </a:p>
          <a:p>
            <a:pPr marL="257209" lvl="0" indent="-257209" algn="l" rtl="0">
              <a:spcBef>
                <a:spcPts val="480"/>
              </a:spcBef>
              <a:spcAft>
                <a:spcPts val="0"/>
              </a:spcAft>
              <a:buSzPts val="2400"/>
              <a:buFont typeface="Arial"/>
              <a:buChar char="•"/>
            </a:pPr>
            <a:r>
              <a:rPr lang="en-US"/>
              <a:t>Anticipate how the resulting data might best be analyzed</a:t>
            </a:r>
            <a:endParaRPr/>
          </a:p>
          <a:p>
            <a:pPr marL="257209" lvl="0" indent="-257209" algn="l" rtl="0">
              <a:spcBef>
                <a:spcPts val="480"/>
              </a:spcBef>
              <a:spcAft>
                <a:spcPts val="0"/>
              </a:spcAft>
              <a:buSzPts val="2400"/>
              <a:buFont typeface="Arial"/>
              <a:buChar char="•"/>
            </a:pPr>
            <a:r>
              <a:rPr lang="en-US"/>
              <a:t>Test the mechanics of the survey in a real-world setting</a:t>
            </a:r>
            <a:endParaRPr/>
          </a:p>
          <a:p>
            <a:pPr marL="257209" lvl="0" indent="-104809" algn="l" rtl="0">
              <a:spcBef>
                <a:spcPts val="480"/>
              </a:spcBef>
              <a:spcAft>
                <a:spcPts val="0"/>
              </a:spcAft>
              <a:buSzPts val="2400"/>
              <a:buFont typeface="Arial"/>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5"/>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Methods for Item Review in Pretest</a:t>
            </a:r>
            <a:endParaRPr/>
          </a:p>
        </p:txBody>
      </p:sp>
      <p:grpSp>
        <p:nvGrpSpPr>
          <p:cNvPr id="94" name="Google Shape;94;p5" descr="qualitative and quantitative methods for item review"/>
          <p:cNvGrpSpPr/>
          <p:nvPr/>
        </p:nvGrpSpPr>
        <p:grpSpPr>
          <a:xfrm>
            <a:off x="756316" y="1752600"/>
            <a:ext cx="7631367" cy="3956539"/>
            <a:chOff x="70516" y="0"/>
            <a:chExt cx="7631367" cy="3956539"/>
          </a:xfrm>
        </p:grpSpPr>
        <p:sp>
          <p:nvSpPr>
            <p:cNvPr id="95" name="Google Shape;95;p5"/>
            <p:cNvSpPr/>
            <p:nvPr/>
          </p:nvSpPr>
          <p:spPr>
            <a:xfrm>
              <a:off x="70516" y="786751"/>
              <a:ext cx="3722618" cy="437955"/>
            </a:xfrm>
            <a:prstGeom prst="rect">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70516" y="951229"/>
              <a:ext cx="273476" cy="273476"/>
            </a:xfrm>
            <a:prstGeom prst="rect">
              <a:avLst/>
            </a:prstGeom>
            <a:solidFill>
              <a:schemeClr val="lt1">
                <a:alpha val="90196"/>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70516" y="0"/>
              <a:ext cx="3722618" cy="78675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txBox="1"/>
            <p:nvPr/>
          </p:nvSpPr>
          <p:spPr>
            <a:xfrm>
              <a:off x="70516" y="0"/>
              <a:ext cx="3722618" cy="786751"/>
            </a:xfrm>
            <a:prstGeom prst="rect">
              <a:avLst/>
            </a:prstGeom>
            <a:noFill/>
            <a:ln>
              <a:noFill/>
            </a:ln>
          </p:spPr>
          <p:txBody>
            <a:bodyPr spcFirstLastPara="1" wrap="square" lIns="57150" tIns="38100" rIns="57150" bIns="38100" anchor="ctr" anchorCtr="0">
              <a:noAutofit/>
            </a:bodyPr>
            <a:lstStyle/>
            <a:p>
              <a:pPr marL="0" marR="0" lvl="0" indent="0" algn="l" rtl="0">
                <a:lnSpc>
                  <a:spcPct val="90000"/>
                </a:lnSpc>
                <a:spcBef>
                  <a:spcPts val="0"/>
                </a:spcBef>
                <a:spcAft>
                  <a:spcPts val="0"/>
                </a:spcAft>
                <a:buClr>
                  <a:schemeClr val="dk1"/>
                </a:buClr>
                <a:buSzPts val="3000"/>
                <a:buFont typeface="Arial"/>
                <a:buNone/>
              </a:pPr>
              <a:r>
                <a:rPr lang="en-US" sz="3000" b="0" i="0" u="none" strike="noStrike" cap="none">
                  <a:solidFill>
                    <a:schemeClr val="dk1"/>
                  </a:solidFill>
                  <a:latin typeface="Arial"/>
                  <a:ea typeface="Arial"/>
                  <a:cs typeface="Arial"/>
                  <a:sym typeface="Arial"/>
                </a:rPr>
                <a:t>Qualitative methods</a:t>
              </a:r>
              <a:endParaRPr/>
            </a:p>
          </p:txBody>
        </p:sp>
        <p:sp>
          <p:nvSpPr>
            <p:cNvPr id="99" name="Google Shape;99;p5"/>
            <p:cNvSpPr/>
            <p:nvPr/>
          </p:nvSpPr>
          <p:spPr>
            <a:xfrm>
              <a:off x="70516" y="1588696"/>
              <a:ext cx="273470" cy="273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331099" y="1406701"/>
              <a:ext cx="3462035" cy="63745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txBox="1"/>
            <p:nvPr/>
          </p:nvSpPr>
          <p:spPr>
            <a:xfrm>
              <a:off x="331099" y="1406701"/>
              <a:ext cx="3462035" cy="637459"/>
            </a:xfrm>
            <a:prstGeom prst="rect">
              <a:avLst/>
            </a:prstGeom>
            <a:noFill/>
            <a:ln>
              <a:noFill/>
            </a:ln>
          </p:spPr>
          <p:txBody>
            <a:bodyPr spcFirstLastPara="1" wrap="square" lIns="163575" tIns="163575" rIns="163575" bIns="163575" anchor="ctr" anchorCtr="0">
              <a:noAutofit/>
            </a:bodyPr>
            <a:lstStyle/>
            <a:p>
              <a:pPr marL="0" marR="0" lvl="0" indent="0" algn="l" rtl="0">
                <a:lnSpc>
                  <a:spcPct val="90000"/>
                </a:lnSpc>
                <a:spcBef>
                  <a:spcPts val="0"/>
                </a:spcBef>
                <a:spcAft>
                  <a:spcPts val="0"/>
                </a:spcAft>
                <a:buClr>
                  <a:schemeClr val="dk1"/>
                </a:buClr>
                <a:buSzPts val="2300"/>
                <a:buFont typeface="Arial"/>
                <a:buNone/>
              </a:pPr>
              <a:r>
                <a:rPr lang="en-US" sz="2300" b="0" i="0" u="none" strike="noStrike" cap="none">
                  <a:solidFill>
                    <a:schemeClr val="dk1"/>
                  </a:solidFill>
                  <a:latin typeface="Arial"/>
                  <a:ea typeface="Arial"/>
                  <a:cs typeface="Arial"/>
                  <a:sym typeface="Arial"/>
                </a:rPr>
                <a:t>Cognitive Interview</a:t>
              </a:r>
              <a:endParaRPr/>
            </a:p>
          </p:txBody>
        </p:sp>
        <p:sp>
          <p:nvSpPr>
            <p:cNvPr id="102" name="Google Shape;102;p5"/>
            <p:cNvSpPr/>
            <p:nvPr/>
          </p:nvSpPr>
          <p:spPr>
            <a:xfrm>
              <a:off x="70516" y="2226155"/>
              <a:ext cx="273470" cy="273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331099" y="2044161"/>
              <a:ext cx="3462035" cy="63745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txBox="1"/>
            <p:nvPr/>
          </p:nvSpPr>
          <p:spPr>
            <a:xfrm>
              <a:off x="331099" y="2044161"/>
              <a:ext cx="3462035" cy="637459"/>
            </a:xfrm>
            <a:prstGeom prst="rect">
              <a:avLst/>
            </a:prstGeom>
            <a:noFill/>
            <a:ln>
              <a:noFill/>
            </a:ln>
          </p:spPr>
          <p:txBody>
            <a:bodyPr spcFirstLastPara="1" wrap="square" lIns="163575" tIns="163575" rIns="163575" bIns="163575" anchor="ctr" anchorCtr="0">
              <a:noAutofit/>
            </a:bodyPr>
            <a:lstStyle/>
            <a:p>
              <a:pPr marL="0" marR="0" lvl="0" indent="0" algn="l" rtl="0">
                <a:lnSpc>
                  <a:spcPct val="90000"/>
                </a:lnSpc>
                <a:spcBef>
                  <a:spcPts val="0"/>
                </a:spcBef>
                <a:spcAft>
                  <a:spcPts val="0"/>
                </a:spcAft>
                <a:buClr>
                  <a:schemeClr val="dk1"/>
                </a:buClr>
                <a:buSzPts val="2300"/>
                <a:buFont typeface="Arial"/>
                <a:buNone/>
              </a:pPr>
              <a:r>
                <a:rPr lang="en-US" sz="2300" b="0" i="0" u="none" strike="noStrike" cap="none">
                  <a:solidFill>
                    <a:schemeClr val="dk1"/>
                  </a:solidFill>
                  <a:latin typeface="Arial"/>
                  <a:ea typeface="Arial"/>
                  <a:cs typeface="Arial"/>
                  <a:sym typeface="Arial"/>
                </a:rPr>
                <a:t>Expert review</a:t>
              </a:r>
              <a:endParaRPr/>
            </a:p>
          </p:txBody>
        </p:sp>
        <p:sp>
          <p:nvSpPr>
            <p:cNvPr id="105" name="Google Shape;105;p5"/>
            <p:cNvSpPr/>
            <p:nvPr/>
          </p:nvSpPr>
          <p:spPr>
            <a:xfrm>
              <a:off x="70516" y="2863615"/>
              <a:ext cx="273470" cy="273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5"/>
            <p:cNvSpPr/>
            <p:nvPr/>
          </p:nvSpPr>
          <p:spPr>
            <a:xfrm>
              <a:off x="331099" y="2681621"/>
              <a:ext cx="3462035" cy="63745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txBox="1"/>
            <p:nvPr/>
          </p:nvSpPr>
          <p:spPr>
            <a:xfrm>
              <a:off x="331099" y="2681621"/>
              <a:ext cx="3462035" cy="637459"/>
            </a:xfrm>
            <a:prstGeom prst="rect">
              <a:avLst/>
            </a:prstGeom>
            <a:noFill/>
            <a:ln>
              <a:noFill/>
            </a:ln>
          </p:spPr>
          <p:txBody>
            <a:bodyPr spcFirstLastPara="1" wrap="square" lIns="163575" tIns="163575" rIns="163575" bIns="163575" anchor="ctr" anchorCtr="0">
              <a:noAutofit/>
            </a:bodyPr>
            <a:lstStyle/>
            <a:p>
              <a:pPr marL="0" marR="0" lvl="0" indent="0" algn="l" rtl="0">
                <a:lnSpc>
                  <a:spcPct val="90000"/>
                </a:lnSpc>
                <a:spcBef>
                  <a:spcPts val="0"/>
                </a:spcBef>
                <a:spcAft>
                  <a:spcPts val="0"/>
                </a:spcAft>
                <a:buClr>
                  <a:schemeClr val="dk1"/>
                </a:buClr>
                <a:buSzPts val="2300"/>
                <a:buFont typeface="Arial"/>
                <a:buNone/>
              </a:pPr>
              <a:r>
                <a:rPr lang="en-US" sz="2300" b="0" i="0" u="none" strike="noStrike" cap="none">
                  <a:solidFill>
                    <a:schemeClr val="dk1"/>
                  </a:solidFill>
                  <a:latin typeface="Arial"/>
                  <a:ea typeface="Arial"/>
                  <a:cs typeface="Arial"/>
                  <a:sym typeface="Arial"/>
                </a:rPr>
                <a:t>Respondent Debriefing</a:t>
              </a:r>
              <a:endParaRPr/>
            </a:p>
          </p:txBody>
        </p:sp>
        <p:sp>
          <p:nvSpPr>
            <p:cNvPr id="108" name="Google Shape;108;p5"/>
            <p:cNvSpPr/>
            <p:nvPr/>
          </p:nvSpPr>
          <p:spPr>
            <a:xfrm>
              <a:off x="70516" y="3501075"/>
              <a:ext cx="273470" cy="273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331099" y="3319080"/>
              <a:ext cx="3462035" cy="63745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txBox="1"/>
            <p:nvPr/>
          </p:nvSpPr>
          <p:spPr>
            <a:xfrm>
              <a:off x="331099" y="3319080"/>
              <a:ext cx="3462035" cy="637459"/>
            </a:xfrm>
            <a:prstGeom prst="rect">
              <a:avLst/>
            </a:prstGeom>
            <a:noFill/>
            <a:ln>
              <a:noFill/>
            </a:ln>
          </p:spPr>
          <p:txBody>
            <a:bodyPr spcFirstLastPara="1" wrap="square" lIns="163575" tIns="163575" rIns="163575" bIns="163575" anchor="ctr" anchorCtr="0">
              <a:noAutofit/>
            </a:bodyPr>
            <a:lstStyle/>
            <a:p>
              <a:pPr marL="0" marR="0" lvl="0" indent="0" algn="l" rtl="0">
                <a:lnSpc>
                  <a:spcPct val="90000"/>
                </a:lnSpc>
                <a:spcBef>
                  <a:spcPts val="0"/>
                </a:spcBef>
                <a:spcAft>
                  <a:spcPts val="0"/>
                </a:spcAft>
                <a:buClr>
                  <a:schemeClr val="dk1"/>
                </a:buClr>
                <a:buSzPts val="2300"/>
                <a:buFont typeface="Arial"/>
                <a:buNone/>
              </a:pPr>
              <a:r>
                <a:rPr lang="en-US" sz="2300" b="0" i="0" u="none" strike="noStrike" cap="none">
                  <a:solidFill>
                    <a:schemeClr val="dk1"/>
                  </a:solidFill>
                  <a:latin typeface="Arial"/>
                  <a:ea typeface="Arial"/>
                  <a:cs typeface="Arial"/>
                  <a:sym typeface="Arial"/>
                </a:rPr>
                <a:t>Focus Group Interview</a:t>
              </a:r>
              <a:endParaRPr/>
            </a:p>
          </p:txBody>
        </p:sp>
        <p:sp>
          <p:nvSpPr>
            <p:cNvPr id="111" name="Google Shape;111;p5"/>
            <p:cNvSpPr/>
            <p:nvPr/>
          </p:nvSpPr>
          <p:spPr>
            <a:xfrm>
              <a:off x="3979265" y="786751"/>
              <a:ext cx="3722618" cy="437955"/>
            </a:xfrm>
            <a:prstGeom prst="rect">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3979265" y="951229"/>
              <a:ext cx="273476" cy="273476"/>
            </a:xfrm>
            <a:prstGeom prst="rect">
              <a:avLst/>
            </a:prstGeom>
            <a:solidFill>
              <a:schemeClr val="lt1">
                <a:alpha val="90196"/>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3979265" y="0"/>
              <a:ext cx="3722618" cy="78675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txBox="1"/>
            <p:nvPr/>
          </p:nvSpPr>
          <p:spPr>
            <a:xfrm>
              <a:off x="3979265" y="0"/>
              <a:ext cx="3722618" cy="786751"/>
            </a:xfrm>
            <a:prstGeom prst="rect">
              <a:avLst/>
            </a:prstGeom>
            <a:noFill/>
            <a:ln>
              <a:noFill/>
            </a:ln>
          </p:spPr>
          <p:txBody>
            <a:bodyPr spcFirstLastPara="1" wrap="square" lIns="57150" tIns="38100" rIns="57150" bIns="38100" anchor="ctr" anchorCtr="0">
              <a:noAutofit/>
            </a:bodyPr>
            <a:lstStyle/>
            <a:p>
              <a:pPr marL="0" marR="0" lvl="0" indent="0" algn="l" rtl="0">
                <a:lnSpc>
                  <a:spcPct val="90000"/>
                </a:lnSpc>
                <a:spcBef>
                  <a:spcPts val="0"/>
                </a:spcBef>
                <a:spcAft>
                  <a:spcPts val="0"/>
                </a:spcAft>
                <a:buClr>
                  <a:schemeClr val="dk1"/>
                </a:buClr>
                <a:buSzPts val="3000"/>
                <a:buFont typeface="Arial"/>
                <a:buNone/>
              </a:pPr>
              <a:r>
                <a:rPr lang="en-US" sz="3000" b="0" i="0" u="none" strike="noStrike" cap="none">
                  <a:solidFill>
                    <a:schemeClr val="dk1"/>
                  </a:solidFill>
                  <a:latin typeface="Arial"/>
                  <a:ea typeface="Arial"/>
                  <a:cs typeface="Arial"/>
                  <a:sym typeface="Arial"/>
                </a:rPr>
                <a:t>Quantitative methods</a:t>
              </a:r>
              <a:endParaRPr/>
            </a:p>
          </p:txBody>
        </p:sp>
        <p:sp>
          <p:nvSpPr>
            <p:cNvPr id="115" name="Google Shape;115;p5"/>
            <p:cNvSpPr/>
            <p:nvPr/>
          </p:nvSpPr>
          <p:spPr>
            <a:xfrm>
              <a:off x="3979265" y="1588696"/>
              <a:ext cx="273470" cy="273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4239848" y="1406701"/>
              <a:ext cx="3462035" cy="63745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txBox="1"/>
            <p:nvPr/>
          </p:nvSpPr>
          <p:spPr>
            <a:xfrm>
              <a:off x="4239848" y="1406701"/>
              <a:ext cx="3462035" cy="637459"/>
            </a:xfrm>
            <a:prstGeom prst="rect">
              <a:avLst/>
            </a:prstGeom>
            <a:noFill/>
            <a:ln>
              <a:noFill/>
            </a:ln>
          </p:spPr>
          <p:txBody>
            <a:bodyPr spcFirstLastPara="1" wrap="square" lIns="163575" tIns="163575" rIns="163575" bIns="163575" anchor="ctr" anchorCtr="0">
              <a:noAutofit/>
            </a:bodyPr>
            <a:lstStyle/>
            <a:p>
              <a:pPr marL="0" marR="0" lvl="0" indent="0" algn="l" rtl="0">
                <a:lnSpc>
                  <a:spcPct val="90000"/>
                </a:lnSpc>
                <a:spcBef>
                  <a:spcPts val="0"/>
                </a:spcBef>
                <a:spcAft>
                  <a:spcPts val="0"/>
                </a:spcAft>
                <a:buClr>
                  <a:schemeClr val="dk1"/>
                </a:buClr>
                <a:buSzPts val="2300"/>
                <a:buFont typeface="Arial"/>
                <a:buNone/>
              </a:pPr>
              <a:r>
                <a:rPr lang="en-US" sz="2300" b="0" i="0" u="none" strike="noStrike" cap="none">
                  <a:solidFill>
                    <a:schemeClr val="dk1"/>
                  </a:solidFill>
                  <a:latin typeface="Arial"/>
                  <a:ea typeface="Arial"/>
                  <a:cs typeface="Arial"/>
                  <a:sym typeface="Arial"/>
                </a:rPr>
                <a:t>Behavior Coding</a:t>
              </a:r>
              <a:endParaRPr/>
            </a:p>
          </p:txBody>
        </p:sp>
        <p:sp>
          <p:nvSpPr>
            <p:cNvPr id="118" name="Google Shape;118;p5"/>
            <p:cNvSpPr/>
            <p:nvPr/>
          </p:nvSpPr>
          <p:spPr>
            <a:xfrm>
              <a:off x="3979265" y="2226155"/>
              <a:ext cx="273470" cy="273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4239848" y="2044161"/>
              <a:ext cx="3462035" cy="63745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txBox="1"/>
            <p:nvPr/>
          </p:nvSpPr>
          <p:spPr>
            <a:xfrm>
              <a:off x="4239848" y="2044161"/>
              <a:ext cx="3462035" cy="637459"/>
            </a:xfrm>
            <a:prstGeom prst="rect">
              <a:avLst/>
            </a:prstGeom>
            <a:noFill/>
            <a:ln>
              <a:noFill/>
            </a:ln>
          </p:spPr>
          <p:txBody>
            <a:bodyPr spcFirstLastPara="1" wrap="square" lIns="163575" tIns="163575" rIns="163575" bIns="163575" anchor="ctr" anchorCtr="0">
              <a:noAutofit/>
            </a:bodyPr>
            <a:lstStyle/>
            <a:p>
              <a:pPr marL="0" marR="0" lvl="0" indent="0" algn="l" rtl="0">
                <a:lnSpc>
                  <a:spcPct val="90000"/>
                </a:lnSpc>
                <a:spcBef>
                  <a:spcPts val="0"/>
                </a:spcBef>
                <a:spcAft>
                  <a:spcPts val="0"/>
                </a:spcAft>
                <a:buClr>
                  <a:schemeClr val="dk1"/>
                </a:buClr>
                <a:buSzPts val="2300"/>
                <a:buFont typeface="Arial"/>
                <a:buNone/>
              </a:pPr>
              <a:r>
                <a:rPr lang="en-US" sz="2300" b="0" i="0" u="none" strike="noStrike" cap="none">
                  <a:solidFill>
                    <a:schemeClr val="dk1"/>
                  </a:solidFill>
                  <a:latin typeface="Arial"/>
                  <a:ea typeface="Arial"/>
                  <a:cs typeface="Arial"/>
                  <a:sym typeface="Arial"/>
                </a:rPr>
                <a:t>Paradata</a:t>
              </a:r>
              <a:endParaRPr sz="2300" b="0" i="0" u="none" strike="noStrike" cap="none">
                <a:solidFill>
                  <a:schemeClr val="dk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Goal of item review</a:t>
            </a:r>
            <a:br>
              <a:rPr lang="en-US"/>
            </a:br>
            <a:endParaRPr/>
          </a:p>
        </p:txBody>
      </p:sp>
      <p:sp>
        <p:nvSpPr>
          <p:cNvPr id="127" name="Google Shape;127;p6"/>
          <p:cNvSpPr txBox="1">
            <a:spLocks noGrp="1"/>
          </p:cNvSpPr>
          <p:nvPr>
            <p:ph type="body" idx="1"/>
          </p:nvPr>
        </p:nvSpPr>
        <p:spPr>
          <a:xfrm>
            <a:off x="685800" y="1447800"/>
            <a:ext cx="8109857" cy="39624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SzPts val="2400"/>
              <a:buFont typeface="Arial"/>
              <a:buNone/>
            </a:pPr>
            <a:r>
              <a:rPr lang="en-US"/>
              <a:t>We assume respondents interpret items in the manner intended by the survey developer</a:t>
            </a:r>
            <a:endParaRPr/>
          </a:p>
        </p:txBody>
      </p:sp>
      <p:grpSp>
        <p:nvGrpSpPr>
          <p:cNvPr id="128" name="Google Shape;128;p6" descr="diagram for item review"/>
          <p:cNvGrpSpPr/>
          <p:nvPr/>
        </p:nvGrpSpPr>
        <p:grpSpPr>
          <a:xfrm>
            <a:off x="2178948" y="2246099"/>
            <a:ext cx="4292621" cy="4307100"/>
            <a:chOff x="1032320" y="-116101"/>
            <a:chExt cx="4292621" cy="4307100"/>
          </a:xfrm>
        </p:grpSpPr>
        <p:sp>
          <p:nvSpPr>
            <p:cNvPr id="129" name="Google Shape;129;p6"/>
            <p:cNvSpPr/>
            <p:nvPr/>
          </p:nvSpPr>
          <p:spPr>
            <a:xfrm rot="-5400000">
              <a:off x="760107" y="983516"/>
              <a:ext cx="2612745" cy="2068319"/>
            </a:xfrm>
            <a:prstGeom prst="round2SameRect">
              <a:avLst>
                <a:gd name="adj1" fmla="val 16670"/>
                <a:gd name="adj2" fmla="val 0"/>
              </a:avLst>
            </a:prstGeom>
            <a:solidFill>
              <a:srgbClr val="CABABB"/>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6"/>
            <p:cNvSpPr txBox="1"/>
            <p:nvPr/>
          </p:nvSpPr>
          <p:spPr>
            <a:xfrm>
              <a:off x="1133305" y="812288"/>
              <a:ext cx="1967334" cy="2410775"/>
            </a:xfrm>
            <a:prstGeom prst="rect">
              <a:avLst/>
            </a:prstGeom>
            <a:noFill/>
            <a:ln>
              <a:noFill/>
            </a:ln>
          </p:spPr>
          <p:txBody>
            <a:bodyPr spcFirstLastPara="1" wrap="square" lIns="91425" tIns="152400" rIns="137150" bIns="152400"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b="0" i="0" u="none" strike="noStrike" cap="none">
                  <a:solidFill>
                    <a:schemeClr val="dk1"/>
                  </a:solidFill>
                  <a:latin typeface="Arial"/>
                  <a:ea typeface="Arial"/>
                  <a:cs typeface="Arial"/>
                  <a:sym typeface="Arial"/>
                </a:rPr>
                <a:t>identify if this is not the case</a:t>
              </a:r>
              <a:endParaRPr/>
            </a:p>
          </p:txBody>
        </p:sp>
        <p:sp>
          <p:nvSpPr>
            <p:cNvPr id="131" name="Google Shape;131;p6"/>
            <p:cNvSpPr/>
            <p:nvPr/>
          </p:nvSpPr>
          <p:spPr>
            <a:xfrm rot="5400000">
              <a:off x="2922754" y="921861"/>
              <a:ext cx="2612745" cy="2191629"/>
            </a:xfrm>
            <a:prstGeom prst="round2SameRect">
              <a:avLst>
                <a:gd name="adj1" fmla="val 16670"/>
                <a:gd name="adj2" fmla="val 0"/>
              </a:avLst>
            </a:prstGeom>
            <a:solidFill>
              <a:srgbClr val="CABABB"/>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6"/>
            <p:cNvSpPr txBox="1"/>
            <p:nvPr/>
          </p:nvSpPr>
          <p:spPr>
            <a:xfrm>
              <a:off x="3133312" y="818309"/>
              <a:ext cx="2084623" cy="2398733"/>
            </a:xfrm>
            <a:prstGeom prst="rect">
              <a:avLst/>
            </a:prstGeom>
            <a:noFill/>
            <a:ln>
              <a:noFill/>
            </a:ln>
          </p:spPr>
          <p:txBody>
            <a:bodyPr spcFirstLastPara="1" wrap="square" lIns="137150" tIns="152400" rIns="91425" bIns="152400"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US" sz="2400" b="0" i="0" u="none" strike="noStrike" cap="none">
                  <a:solidFill>
                    <a:schemeClr val="dk1"/>
                  </a:solidFill>
                  <a:latin typeface="Arial"/>
                  <a:ea typeface="Arial"/>
                  <a:cs typeface="Arial"/>
                  <a:sym typeface="Arial"/>
                </a:rPr>
                <a:t>understand how respondents interpret items</a:t>
              </a:r>
              <a:endParaRPr/>
            </a:p>
          </p:txBody>
        </p:sp>
        <p:sp>
          <p:nvSpPr>
            <p:cNvPr id="133" name="Google Shape;133;p6"/>
            <p:cNvSpPr/>
            <p:nvPr/>
          </p:nvSpPr>
          <p:spPr>
            <a:xfrm>
              <a:off x="2240486" y="-116101"/>
              <a:ext cx="1669165" cy="1669084"/>
            </a:xfrm>
            <a:custGeom>
              <a:avLst/>
              <a:gdLst/>
              <a:ahLst/>
              <a:cxnLst/>
              <a:rect l="l" t="t" r="r" b="b"/>
              <a:pathLst>
                <a:path w="120000" h="120000" extrusionOk="0">
                  <a:moveTo>
                    <a:pt x="7500" y="60000"/>
                  </a:moveTo>
                  <a:cubicBezTo>
                    <a:pt x="7500" y="33869"/>
                    <a:pt x="26717" y="11717"/>
                    <a:pt x="52586" y="8026"/>
                  </a:cubicBezTo>
                  <a:cubicBezTo>
                    <a:pt x="78454" y="4336"/>
                    <a:pt x="103099" y="20232"/>
                    <a:pt x="110406" y="45320"/>
                  </a:cubicBezTo>
                  <a:lnTo>
                    <a:pt x="117538" y="45320"/>
                  </a:lnTo>
                  <a:lnTo>
                    <a:pt x="105001" y="60000"/>
                  </a:lnTo>
                  <a:lnTo>
                    <a:pt x="87540" y="45320"/>
                  </a:lnTo>
                  <a:lnTo>
                    <a:pt x="94508" y="45320"/>
                  </a:lnTo>
                  <a:cubicBezTo>
                    <a:pt x="87531" y="28919"/>
                    <a:pt x="69973" y="19695"/>
                    <a:pt x="52509" y="23256"/>
                  </a:cubicBezTo>
                  <a:cubicBezTo>
                    <a:pt x="35044" y="26816"/>
                    <a:pt x="22499" y="42177"/>
                    <a:pt x="22499" y="60000"/>
                  </a:cubicBezTo>
                  <a:close/>
                </a:path>
              </a:pathLst>
            </a:cu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rot="10800000">
              <a:off x="2358563" y="2521915"/>
              <a:ext cx="1669165" cy="1669084"/>
            </a:xfrm>
            <a:custGeom>
              <a:avLst/>
              <a:gdLst/>
              <a:ahLst/>
              <a:cxnLst/>
              <a:rect l="l" t="t" r="r" b="b"/>
              <a:pathLst>
                <a:path w="120000" h="120000" extrusionOk="0">
                  <a:moveTo>
                    <a:pt x="7500" y="60000"/>
                  </a:moveTo>
                  <a:cubicBezTo>
                    <a:pt x="7500" y="33869"/>
                    <a:pt x="26717" y="11717"/>
                    <a:pt x="52586" y="8026"/>
                  </a:cubicBezTo>
                  <a:cubicBezTo>
                    <a:pt x="78454" y="4336"/>
                    <a:pt x="103099" y="20232"/>
                    <a:pt x="110406" y="45320"/>
                  </a:cubicBezTo>
                  <a:lnTo>
                    <a:pt x="117538" y="45320"/>
                  </a:lnTo>
                  <a:lnTo>
                    <a:pt x="105001" y="60000"/>
                  </a:lnTo>
                  <a:lnTo>
                    <a:pt x="87540" y="45320"/>
                  </a:lnTo>
                  <a:lnTo>
                    <a:pt x="94508" y="45320"/>
                  </a:lnTo>
                  <a:cubicBezTo>
                    <a:pt x="87531" y="28919"/>
                    <a:pt x="69973" y="19695"/>
                    <a:pt x="52509" y="23256"/>
                  </a:cubicBezTo>
                  <a:cubicBezTo>
                    <a:pt x="35044" y="26816"/>
                    <a:pt x="22499" y="42177"/>
                    <a:pt x="22499" y="60000"/>
                  </a:cubicBezTo>
                  <a:close/>
                </a:path>
              </a:pathLst>
            </a:cu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7"/>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An example</a:t>
            </a:r>
            <a:endParaRPr/>
          </a:p>
        </p:txBody>
      </p:sp>
      <p:pic>
        <p:nvPicPr>
          <p:cNvPr id="141" name="Google Shape;141;p7" descr="an item example"/>
          <p:cNvPicPr preferRelativeResize="0"/>
          <p:nvPr/>
        </p:nvPicPr>
        <p:blipFill rotWithShape="1">
          <a:blip r:embed="rId3">
            <a:alphaModFix/>
          </a:blip>
          <a:srcRect/>
          <a:stretch/>
        </p:blipFill>
        <p:spPr>
          <a:xfrm>
            <a:off x="685800" y="2159889"/>
            <a:ext cx="7772400" cy="314782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Pretest sample size</a:t>
            </a:r>
            <a:endParaRPr/>
          </a:p>
        </p:txBody>
      </p:sp>
      <p:sp>
        <p:nvSpPr>
          <p:cNvPr id="147" name="Google Shape;147;p8"/>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Pretest the survey on at least 12 to 50 respondents from the target population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9"/>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Cognitive Interview</a:t>
            </a:r>
            <a:endParaRPr/>
          </a:p>
        </p:txBody>
      </p:sp>
      <p:sp>
        <p:nvSpPr>
          <p:cNvPr id="154" name="Google Shape;154;p9"/>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The objective of cognitive interviewing is </a:t>
            </a:r>
            <a:endParaRPr/>
          </a:p>
          <a:p>
            <a:pPr marL="557287" lvl="1" indent="-214340" algn="l" rtl="0">
              <a:spcBef>
                <a:spcPts val="420"/>
              </a:spcBef>
              <a:spcAft>
                <a:spcPts val="0"/>
              </a:spcAft>
              <a:buSzPts val="2100"/>
              <a:buFont typeface="Arial"/>
              <a:buChar char="–"/>
            </a:pPr>
            <a:r>
              <a:rPr lang="en-US"/>
              <a:t>to diagnose item ambiguities in language and response scale understanding, and </a:t>
            </a:r>
            <a:endParaRPr/>
          </a:p>
          <a:p>
            <a:pPr marL="557287" lvl="1" indent="-214340" algn="l" rtl="0">
              <a:spcBef>
                <a:spcPts val="420"/>
              </a:spcBef>
              <a:spcAft>
                <a:spcPts val="0"/>
              </a:spcAft>
              <a:buSzPts val="2100"/>
              <a:buFont typeface="Arial"/>
              <a:buChar char="–"/>
            </a:pPr>
            <a:r>
              <a:rPr lang="en-US"/>
              <a:t>to identify challenges respondents experience and mental operations that may be inappropriate in responding to items.</a:t>
            </a:r>
            <a:endParaRPr/>
          </a:p>
          <a:p>
            <a:pPr marL="257209" lvl="0" indent="-257209" algn="l" rtl="0">
              <a:spcBef>
                <a:spcPts val="480"/>
              </a:spcBef>
              <a:spcAft>
                <a:spcPts val="0"/>
              </a:spcAft>
              <a:buSzPts val="2400"/>
              <a:buFont typeface="Arial"/>
              <a:buChar char="•"/>
            </a:pPr>
            <a:r>
              <a:rPr lang="en-US"/>
              <a:t>CI Method Protocols</a:t>
            </a:r>
            <a:endParaRPr/>
          </a:p>
          <a:p>
            <a:pPr marL="557287" lvl="1" indent="-214340" algn="l" rtl="0">
              <a:spcBef>
                <a:spcPts val="420"/>
              </a:spcBef>
              <a:spcAft>
                <a:spcPts val="0"/>
              </a:spcAft>
              <a:buSzPts val="2100"/>
              <a:buFont typeface="Arial"/>
              <a:buChar char="–"/>
            </a:pPr>
            <a:r>
              <a:rPr lang="en-US"/>
              <a:t>Think-aloud interviews</a:t>
            </a:r>
            <a:endParaRPr/>
          </a:p>
          <a:p>
            <a:pPr marL="557287" lvl="1" indent="-214340" algn="l" rtl="0">
              <a:spcBef>
                <a:spcPts val="420"/>
              </a:spcBef>
              <a:spcAft>
                <a:spcPts val="0"/>
              </a:spcAft>
              <a:buSzPts val="2100"/>
              <a:buFont typeface="Arial"/>
              <a:buChar char="–"/>
            </a:pPr>
            <a:r>
              <a:rPr lang="en-US"/>
              <a:t>Verbal probing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Cognitive Interview</a:t>
            </a:r>
            <a:endParaRPr/>
          </a:p>
        </p:txBody>
      </p:sp>
      <p:sp>
        <p:nvSpPr>
          <p:cNvPr id="161" name="Google Shape;161;p10"/>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Conduct one-on-one in a laboratory setting or on-line</a:t>
            </a:r>
            <a:endParaRPr/>
          </a:p>
          <a:p>
            <a:pPr marL="257209" lvl="0" indent="-257209" algn="l" rtl="0">
              <a:spcBef>
                <a:spcPts val="480"/>
              </a:spcBef>
              <a:spcAft>
                <a:spcPts val="0"/>
              </a:spcAft>
              <a:buSzPts val="2400"/>
              <a:buFont typeface="Arial"/>
              <a:buChar char="•"/>
            </a:pPr>
            <a:r>
              <a:rPr lang="en-US"/>
              <a:t>Ask respondents to verbalize whatever comes to their mind as they respond to each of the items presented to them</a:t>
            </a:r>
            <a:endParaRPr/>
          </a:p>
          <a:p>
            <a:pPr marL="257209" lvl="0" indent="-257209" algn="l" rtl="0">
              <a:spcBef>
                <a:spcPts val="480"/>
              </a:spcBef>
              <a:spcAft>
                <a:spcPts val="0"/>
              </a:spcAft>
              <a:buSzPts val="2400"/>
              <a:buFont typeface="Arial"/>
              <a:buChar char="•"/>
            </a:pPr>
            <a:r>
              <a:rPr lang="en-US"/>
              <a:t>Interview needs to be audio or video recorded</a:t>
            </a:r>
            <a:endParaRPr/>
          </a:p>
          <a:p>
            <a:pPr marL="257209" lvl="0" indent="-257209" algn="l" rtl="0">
              <a:spcBef>
                <a:spcPts val="480"/>
              </a:spcBef>
              <a:spcAft>
                <a:spcPts val="0"/>
              </a:spcAft>
              <a:buSzPts val="2400"/>
              <a:buFont typeface="Arial"/>
              <a:buChar char="•"/>
            </a:pPr>
            <a:r>
              <a:rPr lang="en-US"/>
              <a:t>Data generated by think-aloud are often not formally analyzed, but results can be quantified by counting the number of problems encountered with a question.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1"/>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Think-aloud interviews</a:t>
            </a:r>
            <a:endParaRPr/>
          </a:p>
        </p:txBody>
      </p:sp>
      <p:sp>
        <p:nvSpPr>
          <p:cNvPr id="167" name="Google Shape;167;p11"/>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SzPts val="2400"/>
              <a:buFont typeface="Arial"/>
              <a:buNone/>
            </a:pPr>
            <a:r>
              <a:rPr lang="en-US"/>
              <a:t>A sample instruction</a:t>
            </a:r>
            <a:endParaRPr/>
          </a:p>
          <a:p>
            <a:pPr marL="257209" lvl="0" indent="-104809" algn="l" rtl="0">
              <a:spcBef>
                <a:spcPts val="480"/>
              </a:spcBef>
              <a:spcAft>
                <a:spcPts val="0"/>
              </a:spcAft>
              <a:buSzPts val="2400"/>
              <a:buFont typeface="Arial"/>
              <a:buNone/>
            </a:pPr>
            <a:endParaRPr/>
          </a:p>
        </p:txBody>
      </p:sp>
      <p:sp>
        <p:nvSpPr>
          <p:cNvPr id="168" name="Google Shape;168;p11"/>
          <p:cNvSpPr/>
          <p:nvPr/>
        </p:nvSpPr>
        <p:spPr>
          <a:xfrm>
            <a:off x="945243" y="2612571"/>
            <a:ext cx="7253514" cy="3541486"/>
          </a:xfrm>
          <a:prstGeom prst="roundRect">
            <a:avLst>
              <a:gd name="adj" fmla="val 16667"/>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7F7F7F"/>
              </a:buClr>
              <a:buSzPts val="2000"/>
              <a:buFont typeface="Arial"/>
              <a:buNone/>
            </a:pPr>
            <a:r>
              <a:rPr lang="en-US" sz="2000" b="0" i="1" u="none" strike="noStrike" cap="none">
                <a:solidFill>
                  <a:srgbClr val="7F7F7F"/>
                </a:solidFill>
                <a:latin typeface="Arial"/>
                <a:ea typeface="Arial"/>
                <a:cs typeface="Arial"/>
                <a:sym typeface="Arial"/>
              </a:rPr>
              <a:t>Thinking aloud may be new and unfamiliar to you, but please know there are no wrong answers. I am only interested in knowing what is going through your mind. Before we begin the actual interview, I’d like to ask you a ‘warm-up’ question to introduce you to the think aloud process. Feel free to comment or ask questions as you read and answer the question. I did not write the questions and you will not hurt my feelings, no matter what you say. There are no wrong answers. What questions do you have before we get started?</a:t>
            </a:r>
            <a:endParaRPr sz="1600" b="0" i="1" u="none" strike="noStrike" cap="none">
              <a:solidFill>
                <a:srgbClr val="7F7F7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2"/>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Verbal Probing Interview</a:t>
            </a:r>
            <a:endParaRPr/>
          </a:p>
        </p:txBody>
      </p:sp>
      <p:grpSp>
        <p:nvGrpSpPr>
          <p:cNvPr id="175" name="Google Shape;175;p12" descr="concurrent and retrospective probing"/>
          <p:cNvGrpSpPr/>
          <p:nvPr/>
        </p:nvGrpSpPr>
        <p:grpSpPr>
          <a:xfrm>
            <a:off x="686566" y="1840036"/>
            <a:ext cx="7770866" cy="3787526"/>
            <a:chOff x="766" y="87436"/>
            <a:chExt cx="7770866" cy="3787526"/>
          </a:xfrm>
        </p:grpSpPr>
        <p:sp>
          <p:nvSpPr>
            <p:cNvPr id="176" name="Google Shape;176;p12"/>
            <p:cNvSpPr/>
            <p:nvPr/>
          </p:nvSpPr>
          <p:spPr>
            <a:xfrm rot="-5400000">
              <a:off x="766" y="87436"/>
              <a:ext cx="3787526" cy="3787526"/>
            </a:xfrm>
            <a:prstGeom prst="downArrow">
              <a:avLst>
                <a:gd name="adj1" fmla="val 50000"/>
                <a:gd name="adj2" fmla="val 35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2"/>
            <p:cNvSpPr txBox="1"/>
            <p:nvPr/>
          </p:nvSpPr>
          <p:spPr>
            <a:xfrm>
              <a:off x="766" y="1034317"/>
              <a:ext cx="3124709" cy="1893763"/>
            </a:xfrm>
            <a:prstGeom prst="rect">
              <a:avLst/>
            </a:prstGeom>
            <a:noFill/>
            <a:ln>
              <a:noFill/>
            </a:ln>
          </p:spPr>
          <p:txBody>
            <a:bodyPr spcFirstLastPara="1" wrap="square" lIns="199125" tIns="199125" rIns="199125" bIns="199125" anchor="ctr"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Concurrent verbal probing </a:t>
              </a:r>
              <a:endParaRPr/>
            </a:p>
          </p:txBody>
        </p:sp>
        <p:sp>
          <p:nvSpPr>
            <p:cNvPr id="178" name="Google Shape;178;p12"/>
            <p:cNvSpPr/>
            <p:nvPr/>
          </p:nvSpPr>
          <p:spPr>
            <a:xfrm rot="5400000">
              <a:off x="3984106" y="87436"/>
              <a:ext cx="3787526" cy="3787526"/>
            </a:xfrm>
            <a:prstGeom prst="downArrow">
              <a:avLst>
                <a:gd name="adj1" fmla="val 50000"/>
                <a:gd name="adj2" fmla="val 35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2"/>
            <p:cNvSpPr txBox="1"/>
            <p:nvPr/>
          </p:nvSpPr>
          <p:spPr>
            <a:xfrm>
              <a:off x="4646923" y="1034318"/>
              <a:ext cx="3124709" cy="1893763"/>
            </a:xfrm>
            <a:prstGeom prst="rect">
              <a:avLst/>
            </a:prstGeom>
            <a:noFill/>
            <a:ln>
              <a:noFill/>
            </a:ln>
          </p:spPr>
          <p:txBody>
            <a:bodyPr spcFirstLastPara="1" wrap="square" lIns="199125" tIns="199125" rIns="199125" bIns="199125" anchor="ctr"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Retrospective verbal probing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3"/>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An example of </a:t>
            </a:r>
            <a:r>
              <a:rPr lang="en-US" sz="3600"/>
              <a:t>concurrent verbal probing </a:t>
            </a:r>
            <a:endParaRPr/>
          </a:p>
        </p:txBody>
      </p:sp>
      <p:sp>
        <p:nvSpPr>
          <p:cNvPr id="186" name="Google Shape;186;p13"/>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000"/>
              <a:buFont typeface="Arial"/>
              <a:buChar char="•"/>
            </a:pPr>
            <a:r>
              <a:rPr lang="en-US" sz="2000" b="1"/>
              <a:t>Interviewer</a:t>
            </a:r>
            <a:r>
              <a:rPr lang="en-US" sz="2000"/>
              <a:t> (asks targeted survey question) In the past 7 days, on how many days did you walk for exercise.</a:t>
            </a:r>
            <a:endParaRPr/>
          </a:p>
          <a:p>
            <a:pPr marL="257209" lvl="0" indent="-257209" algn="l" rtl="0">
              <a:spcBef>
                <a:spcPts val="400"/>
              </a:spcBef>
              <a:spcAft>
                <a:spcPts val="0"/>
              </a:spcAft>
              <a:buSzPts val="2000"/>
              <a:buFont typeface="Arial"/>
              <a:buChar char="•"/>
            </a:pPr>
            <a:r>
              <a:rPr lang="en-US" sz="2000" b="1"/>
              <a:t>Subject</a:t>
            </a:r>
            <a:r>
              <a:rPr lang="en-US" sz="2000"/>
              <a:t> Uh, three.</a:t>
            </a:r>
            <a:endParaRPr/>
          </a:p>
          <a:p>
            <a:pPr marL="257209" lvl="0" indent="-257209" algn="l" rtl="0">
              <a:spcBef>
                <a:spcPts val="400"/>
              </a:spcBef>
              <a:spcAft>
                <a:spcPts val="0"/>
              </a:spcAft>
              <a:buSzPts val="2000"/>
              <a:buFont typeface="Arial"/>
              <a:buChar char="•"/>
            </a:pPr>
            <a:r>
              <a:rPr lang="en-US" sz="2000" b="1"/>
              <a:t>Interviewer</a:t>
            </a:r>
            <a:r>
              <a:rPr lang="en-US" sz="2000"/>
              <a:t> (probe) Tell me about those times.</a:t>
            </a:r>
            <a:endParaRPr/>
          </a:p>
          <a:p>
            <a:pPr marL="257209" lvl="0" indent="-257209" algn="l" rtl="0">
              <a:spcBef>
                <a:spcPts val="400"/>
              </a:spcBef>
              <a:spcAft>
                <a:spcPts val="0"/>
              </a:spcAft>
              <a:buSzPts val="2000"/>
              <a:buFont typeface="Arial"/>
              <a:buChar char="•"/>
            </a:pPr>
            <a:r>
              <a:rPr lang="en-US" sz="2000" b="1"/>
              <a:t>Subject</a:t>
            </a:r>
            <a:r>
              <a:rPr lang="en-US" sz="2000"/>
              <a:t> Well, I probably went to the gym twice, and I also walked to the store yesterday. I’m assuming you want to include that – it’s uphill and I did get some real exercise carrying those bags.</a:t>
            </a:r>
            <a:endParaRPr/>
          </a:p>
          <a:p>
            <a:pPr marL="257209" lvl="0" indent="-257209" algn="l" rtl="0">
              <a:spcBef>
                <a:spcPts val="400"/>
              </a:spcBef>
              <a:spcAft>
                <a:spcPts val="0"/>
              </a:spcAft>
              <a:buSzPts val="2000"/>
              <a:buFont typeface="Arial"/>
              <a:buChar char="•"/>
            </a:pPr>
            <a:r>
              <a:rPr lang="en-US" sz="2000" b="1"/>
              <a:t>Interviewer</a:t>
            </a:r>
            <a:r>
              <a:rPr lang="en-US" sz="2000"/>
              <a:t> (probe) How sure are you that these were all in the past 7 days?</a:t>
            </a:r>
            <a:endParaRPr/>
          </a:p>
          <a:p>
            <a:pPr marL="257209" lvl="0" indent="-257209" algn="l" rtl="0">
              <a:spcBef>
                <a:spcPts val="400"/>
              </a:spcBef>
              <a:spcAft>
                <a:spcPts val="0"/>
              </a:spcAft>
              <a:buSzPts val="2000"/>
              <a:buFont typeface="Arial"/>
              <a:buChar char="•"/>
            </a:pPr>
            <a:r>
              <a:rPr lang="en-US" sz="2000" b="1"/>
              <a:t>Subject</a:t>
            </a:r>
            <a:r>
              <a:rPr lang="en-US" sz="2000"/>
              <a:t> I don’t know – I usually go to the gym twice a week. I don’t remember anything diﬀerent about this last week, you know, in that regard.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4"/>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An example of </a:t>
            </a:r>
            <a:r>
              <a:rPr lang="en-US" sz="3200"/>
              <a:t>retrospective</a:t>
            </a:r>
            <a:br>
              <a:rPr lang="en-US" sz="1600"/>
            </a:br>
            <a:r>
              <a:rPr lang="en-US" sz="3200"/>
              <a:t> verbal probing </a:t>
            </a:r>
            <a:endParaRPr/>
          </a:p>
        </p:txBody>
      </p:sp>
      <p:sp>
        <p:nvSpPr>
          <p:cNvPr id="193" name="Google Shape;193;p14"/>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b="1"/>
              <a:t>Interviewer</a:t>
            </a:r>
            <a:r>
              <a:rPr lang="en-US"/>
              <a:t>: Earlier I asked you the question: In the past 7 days, on how many days did you walk for exercise? Do you remember how you answered that?</a:t>
            </a:r>
            <a:endParaRPr/>
          </a:p>
          <a:p>
            <a:pPr marL="257209" lvl="0" indent="-257209" algn="l" rtl="0">
              <a:spcBef>
                <a:spcPts val="480"/>
              </a:spcBef>
              <a:spcAft>
                <a:spcPts val="0"/>
              </a:spcAft>
              <a:buSzPts val="2400"/>
              <a:buFont typeface="Arial"/>
              <a:buChar char="•"/>
            </a:pPr>
            <a:r>
              <a:rPr lang="en-US" b="1"/>
              <a:t>Subject</a:t>
            </a:r>
            <a:r>
              <a:rPr lang="en-US"/>
              <a:t> Uh, yeah, I think I said three times.</a:t>
            </a:r>
            <a:endParaRPr/>
          </a:p>
          <a:p>
            <a:pPr marL="257209" lvl="0" indent="-257209" algn="l" rtl="0">
              <a:spcBef>
                <a:spcPts val="480"/>
              </a:spcBef>
              <a:spcAft>
                <a:spcPts val="0"/>
              </a:spcAft>
              <a:buSzPts val="2400"/>
              <a:buFont typeface="Arial"/>
              <a:buChar char="•"/>
            </a:pPr>
            <a:r>
              <a:rPr lang="en-US"/>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5"/>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Verbal Probing Interview – sample probing questions</a:t>
            </a:r>
            <a:endParaRPr/>
          </a:p>
        </p:txBody>
      </p:sp>
      <p:sp>
        <p:nvSpPr>
          <p:cNvPr id="199" name="Google Shape;199;p15"/>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Asking respondents how they arrive at their answers. </a:t>
            </a:r>
            <a:endParaRPr/>
          </a:p>
          <a:p>
            <a:pPr marL="557287" lvl="1" indent="-214340" algn="l" rtl="0">
              <a:spcBef>
                <a:spcPts val="420"/>
              </a:spcBef>
              <a:spcAft>
                <a:spcPts val="0"/>
              </a:spcAft>
              <a:buSzPts val="2100"/>
              <a:buFont typeface="Arial"/>
              <a:buChar char="–"/>
            </a:pPr>
            <a:r>
              <a:rPr lang="en-US"/>
              <a:t>“Why did you choose [‘infrequently’]?” </a:t>
            </a:r>
            <a:endParaRPr/>
          </a:p>
          <a:p>
            <a:pPr marL="557287" lvl="1" indent="-214340" algn="l" rtl="0">
              <a:spcBef>
                <a:spcPts val="420"/>
              </a:spcBef>
              <a:spcAft>
                <a:spcPts val="0"/>
              </a:spcAft>
              <a:buSzPts val="2100"/>
              <a:buFont typeface="Arial"/>
              <a:buChar char="–"/>
            </a:pPr>
            <a:r>
              <a:rPr lang="en-US"/>
              <a:t>“How did you come up with the number [4]?” </a:t>
            </a:r>
            <a:endParaRPr/>
          </a:p>
          <a:p>
            <a:pPr marL="557287" lvl="1" indent="-214340" algn="l" rtl="0">
              <a:spcBef>
                <a:spcPts val="420"/>
              </a:spcBef>
              <a:spcAft>
                <a:spcPts val="0"/>
              </a:spcAft>
              <a:buSzPts val="2100"/>
              <a:buFont typeface="Arial"/>
              <a:buChar char="–"/>
            </a:pPr>
            <a:r>
              <a:rPr lang="en-US"/>
              <a:t>“What process did you go through to decide on [‘often’]?” </a:t>
            </a:r>
            <a:endParaRPr/>
          </a:p>
          <a:p>
            <a:pPr marL="557287" lvl="1" indent="-214340" algn="l" rtl="0">
              <a:spcBef>
                <a:spcPts val="420"/>
              </a:spcBef>
              <a:spcAft>
                <a:spcPts val="0"/>
              </a:spcAft>
              <a:buSzPts val="2100"/>
              <a:buFont typeface="Arial"/>
              <a:buChar char="–"/>
            </a:pPr>
            <a:r>
              <a:rPr lang="en-US"/>
              <a:t>“What went through your head when you choose [‘somewhat agree’]?” </a:t>
            </a:r>
            <a:endParaRPr/>
          </a:p>
          <a:p>
            <a:pPr marL="557287" lvl="1" indent="-214340" algn="l" rtl="0">
              <a:spcBef>
                <a:spcPts val="420"/>
              </a:spcBef>
              <a:spcAft>
                <a:spcPts val="0"/>
              </a:spcAft>
              <a:buSzPts val="2100"/>
              <a:buFont typeface="Arial"/>
              <a:buChar char="–"/>
            </a:pPr>
            <a:r>
              <a:rPr lang="en-US"/>
              <a:t>“Why did you select the response you did?”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6"/>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Verbal Probing Interview – sample probing questions</a:t>
            </a:r>
            <a:endParaRPr/>
          </a:p>
        </p:txBody>
      </p:sp>
      <p:sp>
        <p:nvSpPr>
          <p:cNvPr id="205" name="Google Shape;205;p16"/>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Asking respondents to paraphrase their understanding of the question or part of the question. </a:t>
            </a:r>
            <a:endParaRPr/>
          </a:p>
          <a:p>
            <a:pPr marL="557287" lvl="1" indent="-214340" algn="l" rtl="0">
              <a:spcBef>
                <a:spcPts val="420"/>
              </a:spcBef>
              <a:spcAft>
                <a:spcPts val="0"/>
              </a:spcAft>
              <a:buSzPts val="2100"/>
              <a:buFont typeface="Arial"/>
              <a:buChar char="–"/>
            </a:pPr>
            <a:r>
              <a:rPr lang="en-US"/>
              <a:t>“In your own words, what is the question asking?” </a:t>
            </a:r>
            <a:endParaRPr/>
          </a:p>
          <a:p>
            <a:pPr marL="557287" lvl="1" indent="-214340" algn="l" rtl="0">
              <a:spcBef>
                <a:spcPts val="420"/>
              </a:spcBef>
              <a:spcAft>
                <a:spcPts val="0"/>
              </a:spcAft>
              <a:buSzPts val="2100"/>
              <a:buFont typeface="Arial"/>
              <a:buChar char="–"/>
            </a:pPr>
            <a:r>
              <a:rPr lang="en-US"/>
              <a:t>“What does the term...mean to you in this question?” </a:t>
            </a:r>
            <a:endParaRPr/>
          </a:p>
          <a:p>
            <a:pPr marL="557287" lvl="1" indent="-214340" algn="l" rtl="0">
              <a:spcBef>
                <a:spcPts val="420"/>
              </a:spcBef>
              <a:spcAft>
                <a:spcPts val="0"/>
              </a:spcAft>
              <a:buSzPts val="2100"/>
              <a:buFont typeface="Arial"/>
              <a:buChar char="–"/>
            </a:pPr>
            <a:r>
              <a:rPr lang="en-US"/>
              <a:t>“What does ‘moderate to intense’ mean to you?” </a:t>
            </a:r>
            <a:endParaRPr/>
          </a:p>
          <a:p>
            <a:pPr marL="557287" lvl="1" indent="-214340" algn="l" rtl="0">
              <a:spcBef>
                <a:spcPts val="420"/>
              </a:spcBef>
              <a:spcAft>
                <a:spcPts val="0"/>
              </a:spcAft>
              <a:buSzPts val="2100"/>
              <a:buFont typeface="Arial"/>
              <a:buChar char="–"/>
            </a:pPr>
            <a:r>
              <a:rPr lang="en-US"/>
              <a:t>“Can you repeat the question in your own words?” “What terms need to be defined?”</a:t>
            </a:r>
            <a:endParaRPr/>
          </a:p>
          <a:p>
            <a:pPr marL="557287" lvl="1" indent="-214340" algn="l" rtl="0">
              <a:spcBef>
                <a:spcPts val="420"/>
              </a:spcBef>
              <a:spcAft>
                <a:spcPts val="0"/>
              </a:spcAft>
              <a:buSzPts val="2100"/>
              <a:buFont typeface="Arial"/>
              <a:buChar char="–"/>
            </a:pPr>
            <a:r>
              <a:rPr lang="en-US"/>
              <a:t>“What terms need examples to help explain them?”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7"/>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Verbal Probing Interview – sample probing questions</a:t>
            </a:r>
            <a:endParaRPr/>
          </a:p>
        </p:txBody>
      </p:sp>
      <p:sp>
        <p:nvSpPr>
          <p:cNvPr id="211" name="Google Shape;211;p17"/>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Asking respondents how confident they are that they can give an accurate answer. </a:t>
            </a:r>
            <a:endParaRPr/>
          </a:p>
          <a:p>
            <a:pPr marL="557287" lvl="1" indent="-214340" algn="l" rtl="0">
              <a:spcBef>
                <a:spcPts val="420"/>
              </a:spcBef>
              <a:spcAft>
                <a:spcPts val="0"/>
              </a:spcAft>
              <a:buSzPts val="2100"/>
              <a:buFont typeface="Arial"/>
              <a:buChar char="–"/>
            </a:pPr>
            <a:r>
              <a:rPr lang="en-US"/>
              <a:t>“How sure are you of your answer?” </a:t>
            </a:r>
            <a:endParaRPr/>
          </a:p>
          <a:p>
            <a:pPr marL="557287" lvl="1" indent="-214340" algn="l" rtl="0">
              <a:spcBef>
                <a:spcPts val="420"/>
              </a:spcBef>
              <a:spcAft>
                <a:spcPts val="0"/>
              </a:spcAft>
              <a:buSzPts val="2100"/>
              <a:buFont typeface="Arial"/>
              <a:buChar char="–"/>
            </a:pPr>
            <a:r>
              <a:rPr lang="en-US"/>
              <a:t>“Are you sure about your answer?”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8"/>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Verbal Probing Interview – sample probing questions</a:t>
            </a:r>
            <a:endParaRPr/>
          </a:p>
        </p:txBody>
      </p:sp>
      <p:sp>
        <p:nvSpPr>
          <p:cNvPr id="217" name="Google Shape;217;p18"/>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Asking respondents for any uncertainties or confusion they had about what the appropriate answer was. </a:t>
            </a:r>
            <a:endParaRPr/>
          </a:p>
          <a:p>
            <a:pPr marL="557287" lvl="1" indent="-214340" algn="l" rtl="0">
              <a:spcBef>
                <a:spcPts val="420"/>
              </a:spcBef>
              <a:spcAft>
                <a:spcPts val="0"/>
              </a:spcAft>
              <a:buSzPts val="2100"/>
              <a:buFont typeface="Arial"/>
              <a:buChar char="–"/>
            </a:pPr>
            <a:r>
              <a:rPr lang="en-US"/>
              <a:t>“Is there any specific part of this item (including the statement and options) that you are not comfortable with?” </a:t>
            </a:r>
            <a:endParaRPr/>
          </a:p>
          <a:p>
            <a:pPr marL="557287" lvl="1" indent="-214340" algn="l" rtl="0">
              <a:spcBef>
                <a:spcPts val="420"/>
              </a:spcBef>
              <a:spcAft>
                <a:spcPts val="0"/>
              </a:spcAft>
              <a:buSzPts val="2100"/>
              <a:buFont typeface="Arial"/>
              <a:buChar char="–"/>
            </a:pPr>
            <a:r>
              <a:rPr lang="en-US"/>
              <a:t>“Is there anything in this item that confuses you?” </a:t>
            </a:r>
            <a:endParaRPr/>
          </a:p>
          <a:p>
            <a:pPr marL="557287" lvl="1" indent="-214340" algn="l" rtl="0">
              <a:spcBef>
                <a:spcPts val="420"/>
              </a:spcBef>
              <a:spcAft>
                <a:spcPts val="0"/>
              </a:spcAft>
              <a:buSzPts val="2100"/>
              <a:buFont typeface="Arial"/>
              <a:buChar char="–"/>
            </a:pPr>
            <a:r>
              <a:rPr lang="en-US"/>
              <a:t>“Is there anything that didn’t feel right or missing?” </a:t>
            </a:r>
            <a:endParaRPr/>
          </a:p>
          <a:p>
            <a:pPr marL="557287" lvl="1" indent="-214340" algn="l" rtl="0">
              <a:spcBef>
                <a:spcPts val="420"/>
              </a:spcBef>
              <a:spcAft>
                <a:spcPts val="0"/>
              </a:spcAft>
              <a:buSzPts val="2100"/>
              <a:buFont typeface="Arial"/>
              <a:buChar char="–"/>
            </a:pPr>
            <a:r>
              <a:rPr lang="en-US"/>
              <a:t>“Was there anything that seemed redundant or should be deleted?”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9"/>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Verbal Probing Interview – sample probing questions</a:t>
            </a:r>
            <a:endParaRPr/>
          </a:p>
        </p:txBody>
      </p:sp>
      <p:sp>
        <p:nvSpPr>
          <p:cNvPr id="223" name="Google Shape;223;p19"/>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Asking respondents for suggestions for improving items. </a:t>
            </a:r>
            <a:endParaRPr/>
          </a:p>
          <a:p>
            <a:pPr marL="557287" lvl="1" indent="-214340" algn="l" rtl="0">
              <a:spcBef>
                <a:spcPts val="420"/>
              </a:spcBef>
              <a:spcAft>
                <a:spcPts val="0"/>
              </a:spcAft>
              <a:buSzPts val="2100"/>
              <a:buFont typeface="Arial"/>
              <a:buChar char="–"/>
            </a:pPr>
            <a:r>
              <a:rPr lang="en-US"/>
              <a:t>“How would you improve the item?” </a:t>
            </a:r>
            <a:endParaRPr/>
          </a:p>
          <a:p>
            <a:pPr marL="557287" lvl="1" indent="-214340" algn="l" rtl="0">
              <a:spcBef>
                <a:spcPts val="420"/>
              </a:spcBef>
              <a:spcAft>
                <a:spcPts val="0"/>
              </a:spcAft>
              <a:buSzPts val="2100"/>
              <a:buFont typeface="Arial"/>
              <a:buChar char="–"/>
            </a:pPr>
            <a:r>
              <a:rPr lang="en-US"/>
              <a:t>”What can be done to this item to make it better?” </a:t>
            </a:r>
            <a:endParaRPr/>
          </a:p>
          <a:p>
            <a:pPr marL="557287" lvl="1" indent="-214340" algn="l" rtl="0">
              <a:spcBef>
                <a:spcPts val="420"/>
              </a:spcBef>
              <a:spcAft>
                <a:spcPts val="0"/>
              </a:spcAft>
              <a:buSzPts val="2100"/>
              <a:buFont typeface="Arial"/>
              <a:buChar char="–"/>
            </a:pPr>
            <a:r>
              <a:rPr lang="en-US"/>
              <a:t>“What needs to be expanded?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0"/>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Think-Aloud vs Verbal Probing </a:t>
            </a:r>
            <a:endParaRPr/>
          </a:p>
        </p:txBody>
      </p:sp>
      <p:grpSp>
        <p:nvGrpSpPr>
          <p:cNvPr id="230" name="Google Shape;230;p20" descr="think aloud vs verbal probing"/>
          <p:cNvGrpSpPr/>
          <p:nvPr/>
        </p:nvGrpSpPr>
        <p:grpSpPr>
          <a:xfrm>
            <a:off x="685837" y="1774185"/>
            <a:ext cx="7772324" cy="3919229"/>
            <a:chOff x="37" y="21585"/>
            <a:chExt cx="7772324" cy="3919229"/>
          </a:xfrm>
        </p:grpSpPr>
        <p:sp>
          <p:nvSpPr>
            <p:cNvPr id="231" name="Google Shape;231;p20"/>
            <p:cNvSpPr/>
            <p:nvPr/>
          </p:nvSpPr>
          <p:spPr>
            <a:xfrm>
              <a:off x="37" y="21585"/>
              <a:ext cx="3631927" cy="806400"/>
            </a:xfrm>
            <a:prstGeom prst="rect">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0"/>
            <p:cNvSpPr txBox="1"/>
            <p:nvPr/>
          </p:nvSpPr>
          <p:spPr>
            <a:xfrm>
              <a:off x="37" y="21585"/>
              <a:ext cx="3631927" cy="806400"/>
            </a:xfrm>
            <a:prstGeom prst="rect">
              <a:avLst/>
            </a:prstGeom>
            <a:noFill/>
            <a:ln>
              <a:noFill/>
            </a:ln>
          </p:spPr>
          <p:txBody>
            <a:bodyPr spcFirstLastPara="1" wrap="square" lIns="199125" tIns="113775" rIns="199125" bIns="113775" anchor="ctr"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Think-Aloud</a:t>
              </a:r>
              <a:endParaRPr/>
            </a:p>
          </p:txBody>
        </p:sp>
        <p:sp>
          <p:nvSpPr>
            <p:cNvPr id="233" name="Google Shape;233;p20"/>
            <p:cNvSpPr/>
            <p:nvPr/>
          </p:nvSpPr>
          <p:spPr>
            <a:xfrm>
              <a:off x="37" y="827985"/>
              <a:ext cx="3631927" cy="3112829"/>
            </a:xfrm>
            <a:prstGeom prst="rect">
              <a:avLst/>
            </a:prstGeom>
            <a:solidFill>
              <a:srgbClr val="D6C8C9">
                <a:alpha val="90196"/>
              </a:srgbClr>
            </a:solidFill>
            <a:ln w="25400" cap="flat" cmpd="sng">
              <a:solidFill>
                <a:srgbClr val="D6C8C9">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0"/>
            <p:cNvSpPr txBox="1"/>
            <p:nvPr/>
          </p:nvSpPr>
          <p:spPr>
            <a:xfrm>
              <a:off x="37" y="827985"/>
              <a:ext cx="3631927" cy="3112829"/>
            </a:xfrm>
            <a:prstGeom prst="rect">
              <a:avLst/>
            </a:prstGeom>
            <a:noFill/>
            <a:ln>
              <a:noFill/>
            </a:ln>
          </p:spPr>
          <p:txBody>
            <a:bodyPr spcFirstLastPara="1" wrap="square" lIns="149350" tIns="149350" rIns="199125" bIns="224025" anchor="t" anchorCtr="0">
              <a:noAutofit/>
            </a:bodyPr>
            <a:lstStyle/>
            <a:p>
              <a:pPr marL="285750" marR="0" lvl="1" indent="-285750" algn="l" rtl="0">
                <a:lnSpc>
                  <a:spcPct val="90000"/>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(+)Fewer interruption</a:t>
              </a:r>
              <a:endParaRPr/>
            </a:p>
            <a:p>
              <a:pPr marL="285750" marR="0" lvl="1" indent="-285750" algn="l" rtl="0">
                <a:lnSpc>
                  <a:spcPct val="90000"/>
                </a:lnSpc>
                <a:spcBef>
                  <a:spcPts val="42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(+)Minimal interviewer training</a:t>
              </a:r>
              <a:endParaRPr/>
            </a:p>
            <a:p>
              <a:pPr marL="285750" marR="0" lvl="1" indent="-285750" algn="l" rtl="0">
                <a:lnSpc>
                  <a:spcPct val="90000"/>
                </a:lnSpc>
                <a:spcBef>
                  <a:spcPts val="42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(-)depends on respondents</a:t>
              </a:r>
              <a:endParaRPr/>
            </a:p>
          </p:txBody>
        </p:sp>
        <p:sp>
          <p:nvSpPr>
            <p:cNvPr id="235" name="Google Shape;235;p20"/>
            <p:cNvSpPr/>
            <p:nvPr/>
          </p:nvSpPr>
          <p:spPr>
            <a:xfrm>
              <a:off x="4140434" y="21585"/>
              <a:ext cx="3631927" cy="806400"/>
            </a:xfrm>
            <a:prstGeom prst="rect">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0"/>
            <p:cNvSpPr txBox="1"/>
            <p:nvPr/>
          </p:nvSpPr>
          <p:spPr>
            <a:xfrm>
              <a:off x="4140434" y="21585"/>
              <a:ext cx="3631927" cy="806400"/>
            </a:xfrm>
            <a:prstGeom prst="rect">
              <a:avLst/>
            </a:prstGeom>
            <a:noFill/>
            <a:ln>
              <a:noFill/>
            </a:ln>
          </p:spPr>
          <p:txBody>
            <a:bodyPr spcFirstLastPara="1" wrap="square" lIns="199125" tIns="113775" rIns="199125" bIns="113775" anchor="ctr"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Verbal Probing </a:t>
              </a:r>
              <a:endParaRPr/>
            </a:p>
          </p:txBody>
        </p:sp>
        <p:sp>
          <p:nvSpPr>
            <p:cNvPr id="237" name="Google Shape;237;p20"/>
            <p:cNvSpPr/>
            <p:nvPr/>
          </p:nvSpPr>
          <p:spPr>
            <a:xfrm>
              <a:off x="4140434" y="827985"/>
              <a:ext cx="3631927" cy="3112829"/>
            </a:xfrm>
            <a:prstGeom prst="rect">
              <a:avLst/>
            </a:prstGeom>
            <a:solidFill>
              <a:srgbClr val="D6C8C9">
                <a:alpha val="90196"/>
              </a:srgbClr>
            </a:solidFill>
            <a:ln w="25400" cap="flat" cmpd="sng">
              <a:solidFill>
                <a:srgbClr val="D6C8C9">
                  <a:alpha val="9019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0"/>
            <p:cNvSpPr txBox="1"/>
            <p:nvPr/>
          </p:nvSpPr>
          <p:spPr>
            <a:xfrm>
              <a:off x="4140434" y="827985"/>
              <a:ext cx="3631927" cy="3112829"/>
            </a:xfrm>
            <a:prstGeom prst="rect">
              <a:avLst/>
            </a:prstGeom>
            <a:noFill/>
            <a:ln>
              <a:noFill/>
            </a:ln>
          </p:spPr>
          <p:txBody>
            <a:bodyPr spcFirstLastPara="1" wrap="square" lIns="149350" tIns="149350" rIns="199125" bIns="224025" anchor="t" anchorCtr="0">
              <a:noAutofit/>
            </a:bodyPr>
            <a:lstStyle/>
            <a:p>
              <a:pPr marL="285750" marR="0" lvl="1" indent="-285750" algn="l" rtl="0">
                <a:lnSpc>
                  <a:spcPct val="90000"/>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(+)Less dependent on respondents</a:t>
              </a:r>
              <a:endParaRPr/>
            </a:p>
            <a:p>
              <a:pPr marL="285750" marR="0" lvl="1" indent="-285750" algn="l" rtl="0">
                <a:lnSpc>
                  <a:spcPct val="90000"/>
                </a:lnSpc>
                <a:spcBef>
                  <a:spcPts val="42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(-)Potential bias</a:t>
              </a:r>
              <a:endParaRPr/>
            </a:p>
            <a:p>
              <a:pPr marL="285750" marR="0" lvl="1" indent="-285750" algn="l" rtl="0">
                <a:lnSpc>
                  <a:spcPct val="90000"/>
                </a:lnSpc>
                <a:spcBef>
                  <a:spcPts val="42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(-)Respondents may not remember in retrospective verbal probing</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1"/>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Cognitive Interview – Data Analysis</a:t>
            </a:r>
            <a:endParaRPr/>
          </a:p>
        </p:txBody>
      </p:sp>
      <p:sp>
        <p:nvSpPr>
          <p:cNvPr id="245" name="Google Shape;245;p21"/>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Data from cognitive interview are text</a:t>
            </a:r>
            <a:endParaRPr/>
          </a:p>
          <a:p>
            <a:pPr marL="257209" lvl="0" indent="-257209" algn="l" rtl="0">
              <a:spcBef>
                <a:spcPts val="480"/>
              </a:spcBef>
              <a:spcAft>
                <a:spcPts val="0"/>
              </a:spcAft>
              <a:buSzPts val="2400"/>
              <a:buFont typeface="Arial"/>
              <a:buChar char="•"/>
            </a:pPr>
            <a:r>
              <a:rPr lang="en-US"/>
              <a:t>We use data to understand </a:t>
            </a:r>
            <a:endParaRPr/>
          </a:p>
          <a:p>
            <a:pPr marL="557287" lvl="1" indent="-214340" algn="l" rtl="0">
              <a:spcBef>
                <a:spcPts val="420"/>
              </a:spcBef>
              <a:spcAft>
                <a:spcPts val="0"/>
              </a:spcAft>
              <a:buSzPts val="2100"/>
              <a:buFont typeface="Arial"/>
              <a:buChar char="–"/>
            </a:pPr>
            <a:r>
              <a:rPr lang="en-US"/>
              <a:t> which items and which words in items are confusing to interviewees, </a:t>
            </a:r>
            <a:endParaRPr/>
          </a:p>
          <a:p>
            <a:pPr marL="557287" lvl="1" indent="-214340" algn="l" rtl="0">
              <a:spcBef>
                <a:spcPts val="420"/>
              </a:spcBef>
              <a:spcAft>
                <a:spcPts val="0"/>
              </a:spcAft>
              <a:buSzPts val="2100"/>
              <a:buFont typeface="Arial"/>
              <a:buChar char="–"/>
            </a:pPr>
            <a:r>
              <a:rPr lang="en-US"/>
              <a:t> which items or words in items are misinterpreted by interviewees, and </a:t>
            </a:r>
            <a:endParaRPr/>
          </a:p>
          <a:p>
            <a:pPr marL="557287" lvl="1" indent="-214340" algn="l" rtl="0">
              <a:spcBef>
                <a:spcPts val="420"/>
              </a:spcBef>
              <a:spcAft>
                <a:spcPts val="0"/>
              </a:spcAft>
              <a:buSzPts val="2100"/>
              <a:buFont typeface="Arial"/>
              <a:buChar char="–"/>
            </a:pPr>
            <a:r>
              <a:rPr lang="en-US"/>
              <a:t> how to revise the items so they are clearer.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2"/>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Expert Review</a:t>
            </a:r>
            <a:endParaRPr/>
          </a:p>
        </p:txBody>
      </p:sp>
      <p:sp>
        <p:nvSpPr>
          <p:cNvPr id="252" name="Google Shape;252;p22"/>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Select three to six experts—qualifying as an expert requires familiarity with the topic of the survey and/or survey methodology. </a:t>
            </a:r>
            <a:endParaRPr/>
          </a:p>
          <a:p>
            <a:pPr marL="257209" lvl="0" indent="-257209" algn="l" rtl="0">
              <a:spcBef>
                <a:spcPts val="480"/>
              </a:spcBef>
              <a:spcAft>
                <a:spcPts val="0"/>
              </a:spcAft>
              <a:buSzPts val="2400"/>
              <a:buFont typeface="Arial"/>
              <a:buChar char="•"/>
            </a:pPr>
            <a:r>
              <a:rPr lang="en-US"/>
              <a:t>Experts conduct their reviews independently but could review items as a group. </a:t>
            </a:r>
            <a:endParaRPr/>
          </a:p>
          <a:p>
            <a:pPr marL="257209" lvl="0" indent="-257209" algn="l" rtl="0">
              <a:spcBef>
                <a:spcPts val="480"/>
              </a:spcBef>
              <a:spcAft>
                <a:spcPts val="0"/>
              </a:spcAft>
              <a:buSzPts val="2400"/>
              <a:buFont typeface="Arial"/>
              <a:buChar char="•"/>
            </a:pPr>
            <a:r>
              <a:rPr lang="en-US"/>
              <a:t>A rating form is often used to record reviews and reviewers are often asked to read items for bias and for technical flaws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3"/>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Checklist for Quality Question Design (Robinson &amp; Leonard, 2018)</a:t>
            </a:r>
            <a:endParaRPr/>
          </a:p>
        </p:txBody>
      </p:sp>
      <p:sp>
        <p:nvSpPr>
          <p:cNvPr id="258" name="Google Shape;258;p23"/>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assist the survey researcher in designing an effective survey instrument that will elicit a rich, robust, and useful dataset</a:t>
            </a:r>
            <a:endParaRPr/>
          </a:p>
          <a:p>
            <a:pPr marL="257209" lvl="0" indent="-257209" algn="l" rtl="0">
              <a:spcBef>
                <a:spcPts val="480"/>
              </a:spcBef>
              <a:spcAft>
                <a:spcPts val="0"/>
              </a:spcAft>
              <a:buSzPts val="2400"/>
              <a:buFont typeface="Arial"/>
              <a:buChar char="•"/>
            </a:pPr>
            <a:r>
              <a:rPr lang="en-US"/>
              <a:t>This tool will be of greatest use if the following has already been determined:</a:t>
            </a:r>
            <a:endParaRPr/>
          </a:p>
          <a:p>
            <a:pPr marL="557287" lvl="1" indent="-214340" algn="l" rtl="0">
              <a:spcBef>
                <a:spcPts val="420"/>
              </a:spcBef>
              <a:spcAft>
                <a:spcPts val="0"/>
              </a:spcAft>
              <a:buSzPts val="2100"/>
              <a:buFont typeface="Arial"/>
              <a:buChar char="–"/>
            </a:pPr>
            <a:r>
              <a:rPr lang="en-US"/>
              <a:t>That a survey is indeed the appropriate tool to meet data collection needs</a:t>
            </a:r>
            <a:endParaRPr/>
          </a:p>
          <a:p>
            <a:pPr marL="557287" lvl="1" indent="-214340" algn="l" rtl="0">
              <a:spcBef>
                <a:spcPts val="420"/>
              </a:spcBef>
              <a:spcAft>
                <a:spcPts val="0"/>
              </a:spcAft>
              <a:buSzPts val="2100"/>
              <a:buFont typeface="Arial"/>
              <a:buChar char="–"/>
            </a:pPr>
            <a:r>
              <a:rPr lang="en-US"/>
              <a:t>The research or evaluation questions and information</a:t>
            </a:r>
            <a:endParaRPr/>
          </a:p>
          <a:p>
            <a:pPr marL="557287" lvl="1" indent="-214340" algn="l" rtl="0">
              <a:spcBef>
                <a:spcPts val="420"/>
              </a:spcBef>
              <a:spcAft>
                <a:spcPts val="0"/>
              </a:spcAft>
              <a:buSzPts val="2100"/>
              <a:buFont typeface="Arial"/>
              <a:buChar char="–"/>
            </a:pPr>
            <a:r>
              <a:rPr lang="en-US"/>
              <a:t>The population or sample of desired respondents</a:t>
            </a:r>
            <a:endParaRPr/>
          </a:p>
          <a:p>
            <a:pPr marL="557287" lvl="1" indent="-214340" algn="l" rtl="0">
              <a:spcBef>
                <a:spcPts val="420"/>
              </a:spcBef>
              <a:spcAft>
                <a:spcPts val="0"/>
              </a:spcAft>
              <a:buSzPts val="2100"/>
              <a:buFont typeface="Arial"/>
              <a:buChar char="–"/>
            </a:pPr>
            <a:r>
              <a:rPr lang="en-US"/>
              <a:t>How the survey will be administered: online, paper, by phone, in person, or some combination of these</a:t>
            </a:r>
            <a:endParaRPr/>
          </a:p>
          <a:p>
            <a:pPr marL="257209" lvl="0" indent="-257209" algn="l" rtl="0">
              <a:spcBef>
                <a:spcPts val="480"/>
              </a:spcBef>
              <a:spcAft>
                <a:spcPts val="0"/>
              </a:spcAft>
              <a:buSzPts val="2400"/>
              <a:buFont typeface="Arial"/>
              <a:buChar char="•"/>
            </a:pPr>
            <a:r>
              <a:rPr lang="en-US"/>
              <a:t>Going through the checklist for each survey question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4"/>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Checklist for Quality Question Design (Robinson &amp; Leonard, 2018)</a:t>
            </a:r>
            <a:endParaRPr/>
          </a:p>
        </p:txBody>
      </p:sp>
      <p:pic>
        <p:nvPicPr>
          <p:cNvPr id="264" name="Google Shape;264;p24" descr="checklist for quality question design"/>
          <p:cNvPicPr preferRelativeResize="0"/>
          <p:nvPr/>
        </p:nvPicPr>
        <p:blipFill rotWithShape="1">
          <a:blip r:embed="rId3">
            <a:alphaModFix/>
          </a:blip>
          <a:srcRect/>
          <a:stretch/>
        </p:blipFill>
        <p:spPr>
          <a:xfrm>
            <a:off x="685800" y="2053019"/>
            <a:ext cx="7772400" cy="336156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5"/>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Question Appraisal System</a:t>
            </a:r>
            <a:endParaRPr/>
          </a:p>
        </p:txBody>
      </p:sp>
      <p:sp>
        <p:nvSpPr>
          <p:cNvPr id="270" name="Google Shape;270;p25"/>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Question Appraisal System QAS-99</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6"/>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Expert Review</a:t>
            </a:r>
            <a:endParaRPr/>
          </a:p>
        </p:txBody>
      </p:sp>
      <p:sp>
        <p:nvSpPr>
          <p:cNvPr id="276" name="Google Shape;276;p26"/>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Use those checklist as a starting point</a:t>
            </a:r>
            <a:endParaRPr/>
          </a:p>
          <a:p>
            <a:pPr marL="257209" lvl="0" indent="-257209" algn="l" rtl="0">
              <a:spcBef>
                <a:spcPts val="480"/>
              </a:spcBef>
              <a:spcAft>
                <a:spcPts val="0"/>
              </a:spcAft>
              <a:buSzPts val="2400"/>
              <a:buFont typeface="Arial"/>
              <a:buChar char="•"/>
            </a:pPr>
            <a:r>
              <a:rPr lang="en-US"/>
              <a:t>All surveys are different – apply the checklist in light of the survey context</a:t>
            </a:r>
            <a:endParaRPr/>
          </a:p>
          <a:p>
            <a:pPr marL="257209" lvl="0" indent="-104809" algn="l" rtl="0">
              <a:spcBef>
                <a:spcPts val="480"/>
              </a:spcBef>
              <a:spcAft>
                <a:spcPts val="0"/>
              </a:spcAft>
              <a:buSzPts val="2400"/>
              <a:buFont typeface="Arial"/>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7"/>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Respondent Debriefing</a:t>
            </a:r>
            <a:endParaRPr/>
          </a:p>
        </p:txBody>
      </p:sp>
      <p:sp>
        <p:nvSpPr>
          <p:cNvPr id="283" name="Google Shape;283;p27"/>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Respondent debriefing involves informal or specific, structured, and standardized follow-up questions</a:t>
            </a:r>
            <a:endParaRPr/>
          </a:p>
          <a:p>
            <a:pPr marL="257209" lvl="0" indent="-257209" algn="l" rtl="0">
              <a:spcBef>
                <a:spcPts val="480"/>
              </a:spcBef>
              <a:spcAft>
                <a:spcPts val="0"/>
              </a:spcAft>
              <a:buSzPts val="2400"/>
              <a:buFont typeface="Arial"/>
              <a:buChar char="•"/>
            </a:pPr>
            <a:r>
              <a:rPr lang="en-US"/>
              <a:t>Goal is understanding how respondents interpreted the survey items after the respondent completes the survey</a:t>
            </a:r>
            <a:endParaRPr/>
          </a:p>
          <a:p>
            <a:pPr marL="257209" lvl="0" indent="-257209" algn="l" rtl="0">
              <a:spcBef>
                <a:spcPts val="480"/>
              </a:spcBef>
              <a:spcAft>
                <a:spcPts val="0"/>
              </a:spcAft>
              <a:buSzPts val="2400"/>
              <a:buFont typeface="Arial"/>
              <a:buChar char="•"/>
            </a:pPr>
            <a:r>
              <a:rPr lang="en-US"/>
              <a:t>Can be conducted individually, or use a standardized form administered on-line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8"/>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Focus Group Interview</a:t>
            </a:r>
            <a:endParaRPr/>
          </a:p>
        </p:txBody>
      </p:sp>
      <p:sp>
        <p:nvSpPr>
          <p:cNvPr id="289" name="Google Shape;289;p28"/>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Sometimes used to generate content/ideas for item writing</a:t>
            </a:r>
            <a:endParaRPr/>
          </a:p>
          <a:p>
            <a:pPr marL="257209" lvl="0" indent="-257209" algn="l" rtl="0">
              <a:spcBef>
                <a:spcPts val="480"/>
              </a:spcBef>
              <a:spcAft>
                <a:spcPts val="0"/>
              </a:spcAft>
              <a:buSzPts val="2400"/>
              <a:buFont typeface="Arial"/>
              <a:buChar char="•"/>
            </a:pPr>
            <a:r>
              <a:rPr lang="en-US"/>
              <a:t>Can also be used to evaluate a set of potential items</a:t>
            </a:r>
            <a:endParaRPr/>
          </a:p>
          <a:p>
            <a:pPr marL="257209" lvl="0" indent="-104809" algn="l" rtl="0">
              <a:spcBef>
                <a:spcPts val="480"/>
              </a:spcBef>
              <a:spcAft>
                <a:spcPts val="0"/>
              </a:spcAft>
              <a:buSzPts val="2400"/>
              <a:buFont typeface="Arial"/>
              <a:buNone/>
            </a:pPr>
            <a:endParaRPr/>
          </a:p>
          <a:p>
            <a:pPr marL="257209" lvl="0" indent="-104809" algn="l" rtl="0">
              <a:spcBef>
                <a:spcPts val="480"/>
              </a:spcBef>
              <a:spcAft>
                <a:spcPts val="0"/>
              </a:spcAft>
              <a:buSzPts val="2400"/>
              <a:buFont typeface="Arial"/>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9"/>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Focus Group Interview</a:t>
            </a:r>
            <a:endParaRPr/>
          </a:p>
        </p:txBody>
      </p:sp>
      <p:sp>
        <p:nvSpPr>
          <p:cNvPr id="296" name="Google Shape;296;p29"/>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Prior to the focus group, participants are usually recruited</a:t>
            </a:r>
            <a:endParaRPr/>
          </a:p>
          <a:p>
            <a:pPr marL="257209" lvl="0" indent="-257209" algn="l" rtl="0">
              <a:spcBef>
                <a:spcPts val="480"/>
              </a:spcBef>
              <a:spcAft>
                <a:spcPts val="0"/>
              </a:spcAft>
              <a:buSzPts val="2400"/>
              <a:buFont typeface="Arial"/>
              <a:buChar char="•"/>
            </a:pPr>
            <a:r>
              <a:rPr lang="en-US"/>
              <a:t>The ideal size for a focus group is generally between six and twelve people.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0"/>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Focus Group Interview - Procedure</a:t>
            </a:r>
            <a:endParaRPr/>
          </a:p>
        </p:txBody>
      </p:sp>
      <p:sp>
        <p:nvSpPr>
          <p:cNvPr id="302" name="Google Shape;302;p30"/>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At the focus group itself, the moderator begins with an introduction that should include the following: </a:t>
            </a:r>
            <a:endParaRPr/>
          </a:p>
          <a:p>
            <a:pPr marL="257209" lvl="0" indent="-257209" algn="l" rtl="0">
              <a:spcBef>
                <a:spcPts val="480"/>
              </a:spcBef>
              <a:spcAft>
                <a:spcPts val="0"/>
              </a:spcAft>
              <a:buSzPts val="2400"/>
              <a:buFont typeface="Arial"/>
              <a:buChar char="•"/>
            </a:pPr>
            <a:r>
              <a:rPr lang="en-US"/>
              <a:t>explaining the purposes of the focus group</a:t>
            </a:r>
            <a:endParaRPr/>
          </a:p>
          <a:p>
            <a:pPr marL="257209" lvl="0" indent="-257209" algn="l" rtl="0">
              <a:spcBef>
                <a:spcPts val="480"/>
              </a:spcBef>
              <a:spcAft>
                <a:spcPts val="0"/>
              </a:spcAft>
              <a:buSzPts val="2400"/>
              <a:buFont typeface="Arial"/>
              <a:buChar char="•"/>
            </a:pPr>
            <a:r>
              <a:rPr lang="en-US"/>
              <a:t>laying down some basic ground rules to encourage everyone to participate in the discussion</a:t>
            </a:r>
            <a:endParaRPr/>
          </a:p>
          <a:p>
            <a:pPr marL="257209" lvl="0" indent="-257209" algn="l" rtl="0">
              <a:spcBef>
                <a:spcPts val="480"/>
              </a:spcBef>
              <a:spcAft>
                <a:spcPts val="0"/>
              </a:spcAft>
              <a:buSzPts val="2400"/>
              <a:buFont typeface="Arial"/>
              <a:buChar char="•"/>
            </a:pPr>
            <a:r>
              <a:rPr lang="en-US"/>
              <a:t>reassuring the participants about the voluntary and confidential nature of their participation</a:t>
            </a:r>
            <a:endParaRPr/>
          </a:p>
          <a:p>
            <a:pPr marL="257209" lvl="0" indent="-257209" algn="l" rtl="0">
              <a:spcBef>
                <a:spcPts val="480"/>
              </a:spcBef>
              <a:spcAft>
                <a:spcPts val="0"/>
              </a:spcAft>
              <a:buSzPts val="2400"/>
              <a:buFont typeface="Arial"/>
              <a:buChar char="•"/>
            </a:pPr>
            <a:r>
              <a:rPr lang="en-US"/>
              <a:t>introducing the moderator and any co-moderators and explaining how and why these group members were invited to participate</a:t>
            </a:r>
            <a:endParaRPr/>
          </a:p>
          <a:p>
            <a:pPr marL="257209" lvl="0" indent="-257209" algn="l" rtl="0">
              <a:spcBef>
                <a:spcPts val="480"/>
              </a:spcBef>
              <a:spcAft>
                <a:spcPts val="0"/>
              </a:spcAft>
              <a:buSzPts val="2400"/>
              <a:buFont typeface="Arial"/>
              <a:buChar char="•"/>
            </a:pPr>
            <a:r>
              <a:rPr lang="en-US"/>
              <a:t>stating the purpose of note taking and recording.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1"/>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Focus Group Interview – sample questions</a:t>
            </a:r>
            <a:endParaRPr/>
          </a:p>
        </p:txBody>
      </p:sp>
      <p:sp>
        <p:nvSpPr>
          <p:cNvPr id="308" name="Google Shape;308;p31"/>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DM Sans"/>
              <a:buChar char="•"/>
            </a:pPr>
            <a:r>
              <a:rPr lang="en-US" b="1" i="0">
                <a:highlight>
                  <a:srgbClr val="FFFFFF"/>
                </a:highlight>
                <a:latin typeface="DM Sans"/>
                <a:ea typeface="DM Sans"/>
                <a:cs typeface="DM Sans"/>
                <a:sym typeface="DM Sans"/>
              </a:rPr>
              <a:t>Understanding the Questions</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How do you interpret this question: “[Insert survey question]”?</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Is there any part of this question that is unclear or confusing?</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What do you think the question is trying to measure?</a:t>
            </a:r>
            <a:endParaRPr/>
          </a:p>
          <a:p>
            <a:pPr marL="257209" lvl="0" indent="-104809" algn="l" rtl="0">
              <a:spcBef>
                <a:spcPts val="480"/>
              </a:spcBef>
              <a:spcAft>
                <a:spcPts val="0"/>
              </a:spcAft>
              <a:buSzPts val="2400"/>
              <a:buFont typeface="Arial"/>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2"/>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Focus Group Interview – sample questions</a:t>
            </a:r>
            <a:endParaRPr/>
          </a:p>
        </p:txBody>
      </p:sp>
      <p:sp>
        <p:nvSpPr>
          <p:cNvPr id="314" name="Google Shape;314;p32"/>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DM Sans"/>
              <a:buChar char="•"/>
            </a:pPr>
            <a:r>
              <a:rPr lang="en-US" b="1" i="0">
                <a:highlight>
                  <a:srgbClr val="FFFFFF"/>
                </a:highlight>
                <a:latin typeface="DM Sans"/>
                <a:ea typeface="DM Sans"/>
                <a:cs typeface="DM Sans"/>
                <a:sym typeface="DM Sans"/>
              </a:rPr>
              <a:t>Relevance and Context</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How relevant do you think this question is to your experience?</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Can you think of any situations where this question would not apply?</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What additional context or background information would help you understand this question better?</a:t>
            </a:r>
            <a:endParaRPr/>
          </a:p>
          <a:p>
            <a:pPr marL="257209" lvl="0" indent="-104809" algn="l" rtl="0">
              <a:spcBef>
                <a:spcPts val="480"/>
              </a:spcBef>
              <a:spcAft>
                <a:spcPts val="0"/>
              </a:spcAft>
              <a:buSzPts val="2400"/>
              <a:buFont typeface="Arial"/>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3"/>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Focus Group Interview – sample questions</a:t>
            </a:r>
            <a:endParaRPr/>
          </a:p>
        </p:txBody>
      </p:sp>
      <p:sp>
        <p:nvSpPr>
          <p:cNvPr id="320" name="Google Shape;320;p33"/>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DM Sans"/>
              <a:buChar char="•"/>
            </a:pPr>
            <a:r>
              <a:rPr lang="en-US" b="1" i="0">
                <a:highlight>
                  <a:srgbClr val="FFFFFF"/>
                </a:highlight>
                <a:latin typeface="DM Sans"/>
                <a:ea typeface="DM Sans"/>
                <a:cs typeface="DM Sans"/>
                <a:sym typeface="DM Sans"/>
              </a:rPr>
              <a:t>Completeness of the Questions</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Do you feel that this question covers all the necessary aspects of the topic?</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Are there any important aspects that you think are missing from this question?</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If you could add a follow-up question to this, what would it be?</a:t>
            </a:r>
            <a:endParaRPr/>
          </a:p>
          <a:p>
            <a:pPr marL="257209" lvl="0" indent="-104809" algn="l" rtl="0">
              <a:spcBef>
                <a:spcPts val="480"/>
              </a:spcBef>
              <a:spcAft>
                <a:spcPts val="0"/>
              </a:spcAft>
              <a:buSzPts val="2400"/>
              <a:buFont typeface="Arial"/>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4"/>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Focus Group Interview – sample questions</a:t>
            </a:r>
            <a:endParaRPr/>
          </a:p>
        </p:txBody>
      </p:sp>
      <p:sp>
        <p:nvSpPr>
          <p:cNvPr id="326" name="Google Shape;326;p34"/>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DM Sans"/>
              <a:buChar char="•"/>
            </a:pPr>
            <a:r>
              <a:rPr lang="en-US" b="1" i="0">
                <a:highlight>
                  <a:srgbClr val="FFFFFF"/>
                </a:highlight>
                <a:latin typeface="DM Sans"/>
                <a:ea typeface="DM Sans"/>
                <a:cs typeface="DM Sans"/>
                <a:sym typeface="DM Sans"/>
              </a:rPr>
              <a:t>Response Options</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Are the answer choices provided adequate for this question? If not, what would you suggest?</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How would you feel about the format of the response options? (e.g., Likert scale, multiple choice, open-ended)</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Is there any response option that you find confusing or misleading?</a:t>
            </a:r>
            <a:endParaRPr/>
          </a:p>
          <a:p>
            <a:pPr marL="257209" lvl="0" indent="-104809" algn="l" rtl="0">
              <a:spcBef>
                <a:spcPts val="480"/>
              </a:spcBef>
              <a:spcAft>
                <a:spcPts val="0"/>
              </a:spcAft>
              <a:buSzPts val="2400"/>
              <a:buFont typeface="Arial"/>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5"/>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Focus Group Interview – sample questions</a:t>
            </a:r>
            <a:endParaRPr/>
          </a:p>
        </p:txBody>
      </p:sp>
      <p:sp>
        <p:nvSpPr>
          <p:cNvPr id="332" name="Google Shape;332;p35"/>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DM Sans"/>
              <a:buChar char="•"/>
            </a:pPr>
            <a:r>
              <a:rPr lang="en-US" b="1" i="0">
                <a:highlight>
                  <a:srgbClr val="FFFFFF"/>
                </a:highlight>
                <a:latin typeface="DM Sans"/>
                <a:ea typeface="DM Sans"/>
                <a:cs typeface="DM Sans"/>
                <a:sym typeface="DM Sans"/>
              </a:rPr>
              <a:t>Tone and Sensitivity</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How does this question make you feel? Does it seem respectful and appropriate?</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Are there any words or phrases that you think may be off-putting or insensitive?</a:t>
            </a:r>
            <a:endParaRPr/>
          </a:p>
          <a:p>
            <a:pPr marL="557287" lvl="1" indent="-214340" algn="l" rtl="0">
              <a:spcBef>
                <a:spcPts val="420"/>
              </a:spcBef>
              <a:spcAft>
                <a:spcPts val="0"/>
              </a:spcAft>
              <a:buSzPts val="2100"/>
              <a:buFont typeface="Arial"/>
              <a:buChar char="•"/>
            </a:pPr>
            <a:r>
              <a:rPr lang="en-US" b="0" i="0">
                <a:highlight>
                  <a:srgbClr val="FFFFFF"/>
                </a:highlight>
                <a:latin typeface="DM Sans"/>
                <a:ea typeface="DM Sans"/>
                <a:cs typeface="DM Sans"/>
                <a:sym typeface="DM Sans"/>
              </a:rPr>
              <a:t>How would you suggest adjusting the tone to be more inclusive or relatable?</a:t>
            </a:r>
            <a:endParaRPr/>
          </a:p>
          <a:p>
            <a:pPr marL="257209" lvl="0" indent="-104809" algn="l" rtl="0">
              <a:spcBef>
                <a:spcPts val="480"/>
              </a:spcBef>
              <a:spcAft>
                <a:spcPts val="0"/>
              </a:spcAft>
              <a:buSzPts val="2400"/>
              <a:buFont typeface="Arial"/>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6"/>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Behavior Coding</a:t>
            </a:r>
            <a:endParaRPr/>
          </a:p>
        </p:txBody>
      </p:sp>
      <p:sp>
        <p:nvSpPr>
          <p:cNvPr id="338" name="Google Shape;338;p36"/>
          <p:cNvSpPr txBox="1">
            <a:spLocks noGrp="1"/>
          </p:cNvSpPr>
          <p:nvPr>
            <p:ph type="body" idx="1"/>
          </p:nvPr>
        </p:nvSpPr>
        <p:spPr>
          <a:xfrm>
            <a:off x="685800" y="1752600"/>
            <a:ext cx="7772400" cy="4656300"/>
          </a:xfrm>
          <a:prstGeom prst="rect">
            <a:avLst/>
          </a:prstGeom>
          <a:noFill/>
          <a:ln>
            <a:noFill/>
          </a:ln>
        </p:spPr>
        <p:txBody>
          <a:bodyPr spcFirstLastPara="1" wrap="square" lIns="68575" tIns="34275" rIns="68575" bIns="34275" anchor="t" anchorCtr="0">
            <a:spAutoFit/>
          </a:bodyPr>
          <a:lstStyle/>
          <a:p>
            <a:pPr marL="257209" lvl="0" indent="-257209" algn="l" rtl="0">
              <a:spcBef>
                <a:spcPts val="0"/>
              </a:spcBef>
              <a:spcAft>
                <a:spcPts val="0"/>
              </a:spcAft>
              <a:buSzPts val="2400"/>
              <a:buFont typeface="Arial"/>
              <a:buChar char="•"/>
            </a:pPr>
            <a:r>
              <a:rPr lang="en-US"/>
              <a:t>BC was initially implemented to monitor interviewer performance, by </a:t>
            </a:r>
            <a:endParaRPr/>
          </a:p>
          <a:p>
            <a:pPr marL="557287" lvl="1" indent="-214340" algn="l" rtl="0">
              <a:spcBef>
                <a:spcPts val="420"/>
              </a:spcBef>
              <a:spcAft>
                <a:spcPts val="0"/>
              </a:spcAft>
              <a:buSzPts val="2100"/>
              <a:buFont typeface="Arial"/>
              <a:buChar char="–"/>
            </a:pPr>
            <a:r>
              <a:rPr lang="en-US"/>
              <a:t>identify instances where the interviewer has diﬃculty asking questions,</a:t>
            </a:r>
            <a:endParaRPr/>
          </a:p>
          <a:p>
            <a:pPr marL="557287" lvl="1" indent="-214340" algn="l" rtl="0">
              <a:spcBef>
                <a:spcPts val="420"/>
              </a:spcBef>
              <a:spcAft>
                <a:spcPts val="0"/>
              </a:spcAft>
              <a:buSzPts val="2100"/>
              <a:buFont typeface="Arial"/>
              <a:buChar char="–"/>
            </a:pPr>
            <a:r>
              <a:rPr lang="en-US"/>
              <a:t>the respondent has diﬃculty answering them, or both</a:t>
            </a:r>
            <a:endParaRPr/>
          </a:p>
          <a:p>
            <a:pPr marL="257209" lvl="0" indent="-257209" algn="l" rtl="0">
              <a:spcBef>
                <a:spcPts val="480"/>
              </a:spcBef>
              <a:spcAft>
                <a:spcPts val="0"/>
              </a:spcAft>
              <a:buSzPts val="2400"/>
              <a:buFont typeface="Arial"/>
              <a:buChar char="•"/>
            </a:pPr>
            <a:r>
              <a:rPr lang="en-US"/>
              <a:t>BC in its normal form is only applicable to interviewer-administered instruments </a:t>
            </a:r>
            <a:endParaRPr/>
          </a:p>
          <a:p>
            <a:pPr marL="257209" lvl="0" indent="-257209" algn="l" rtl="0">
              <a:spcBef>
                <a:spcPts val="480"/>
              </a:spcBef>
              <a:spcAft>
                <a:spcPts val="0"/>
              </a:spcAft>
              <a:buSzPts val="2400"/>
              <a:buFont typeface="Arial"/>
              <a:buChar char="•"/>
            </a:pPr>
            <a:r>
              <a:rPr lang="en-US"/>
              <a:t>BC is usually applied at a later point in the development of a survey questionnaire than is cognitive interviewing</a:t>
            </a:r>
            <a:endParaRPr/>
          </a:p>
          <a:p>
            <a:pPr marL="257209" lvl="0" indent="-257209" algn="l" rtl="0">
              <a:spcBef>
                <a:spcPts val="480"/>
              </a:spcBef>
              <a:spcAft>
                <a:spcPts val="0"/>
              </a:spcAft>
              <a:buSzPts val="2400"/>
              <a:buFont typeface="Arial"/>
              <a:buChar char="•"/>
            </a:pPr>
            <a:r>
              <a:rPr lang="en-US"/>
              <a:t>BC is often conducted as part of a pilot test (i.e., a dry run)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7"/>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Behavior Coding - procedures</a:t>
            </a:r>
            <a:endParaRPr/>
          </a:p>
        </p:txBody>
      </p:sp>
      <p:sp>
        <p:nvSpPr>
          <p:cNvPr id="344" name="Google Shape;344;p37"/>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Development of coding scheme</a:t>
            </a:r>
            <a:endParaRPr/>
          </a:p>
          <a:p>
            <a:pPr marL="257209" lvl="0" indent="-257209" algn="l" rtl="0">
              <a:spcBef>
                <a:spcPts val="480"/>
              </a:spcBef>
              <a:spcAft>
                <a:spcPts val="0"/>
              </a:spcAft>
              <a:buSzPts val="2400"/>
              <a:buFont typeface="Arial"/>
              <a:buChar char="•"/>
            </a:pPr>
            <a:r>
              <a:rPr lang="en-US"/>
              <a:t>Development of system for recording and processing results.</a:t>
            </a:r>
            <a:endParaRPr/>
          </a:p>
          <a:p>
            <a:pPr marL="257209" lvl="0" indent="-257209" algn="l" rtl="0">
              <a:spcBef>
                <a:spcPts val="480"/>
              </a:spcBef>
              <a:spcAft>
                <a:spcPts val="0"/>
              </a:spcAft>
              <a:buSzPts val="2400"/>
              <a:buFont typeface="Arial"/>
              <a:buChar char="•"/>
            </a:pPr>
            <a:r>
              <a:rPr lang="en-US"/>
              <a:t>Collection of audio data.</a:t>
            </a:r>
            <a:endParaRPr/>
          </a:p>
          <a:p>
            <a:pPr marL="257209" lvl="0" indent="-257209" algn="l" rtl="0">
              <a:spcBef>
                <a:spcPts val="480"/>
              </a:spcBef>
              <a:spcAft>
                <a:spcPts val="0"/>
              </a:spcAft>
              <a:buSzPts val="2400"/>
              <a:buFont typeface="Arial"/>
              <a:buChar char="•"/>
            </a:pPr>
            <a:r>
              <a:rPr lang="en-US"/>
              <a:t>Compilation of codes, for each item.</a:t>
            </a:r>
            <a:endParaRPr/>
          </a:p>
          <a:p>
            <a:pPr marL="557287" lvl="1" indent="-214340" algn="l" rtl="0">
              <a:spcBef>
                <a:spcPts val="420"/>
              </a:spcBef>
              <a:spcAft>
                <a:spcPts val="0"/>
              </a:spcAft>
              <a:buSzPts val="2100"/>
              <a:buFont typeface="Arial"/>
              <a:buChar char="–"/>
            </a:pPr>
            <a:r>
              <a:rPr lang="en-US"/>
              <a:t>A summary table can be produced which displays frequencies of each coded item, over all interviews</a:t>
            </a:r>
            <a:endParaRPr/>
          </a:p>
          <a:p>
            <a:pPr marL="557287" lvl="1" indent="-214340" algn="l" rtl="0">
              <a:spcBef>
                <a:spcPts val="420"/>
              </a:spcBef>
              <a:spcAft>
                <a:spcPts val="0"/>
              </a:spcAft>
              <a:buSzPts val="2100"/>
              <a:buFont typeface="Arial"/>
              <a:buChar char="–"/>
            </a:pPr>
            <a:r>
              <a:rPr lang="en-US"/>
              <a:t>A criterion can be set for problem frequencies to identify particularly problematic items—typically around 15% as suggested by Fowler (2011)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8"/>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Behavior Coding</a:t>
            </a:r>
            <a:endParaRPr/>
          </a:p>
        </p:txBody>
      </p:sp>
      <p:sp>
        <p:nvSpPr>
          <p:cNvPr id="350" name="Google Shape;350;p38"/>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Common “interviewer codes” include </a:t>
            </a:r>
            <a:endParaRPr/>
          </a:p>
          <a:p>
            <a:pPr marL="557287" lvl="1" indent="-214340" algn="l" rtl="0">
              <a:spcBef>
                <a:spcPts val="420"/>
              </a:spcBef>
              <a:spcAft>
                <a:spcPts val="0"/>
              </a:spcAft>
              <a:buSzPts val="2100"/>
              <a:buFont typeface="Arial"/>
              <a:buChar char="–"/>
            </a:pPr>
            <a:r>
              <a:rPr lang="en-US"/>
              <a:t>interviewer reads question exactly as worded, </a:t>
            </a:r>
            <a:endParaRPr/>
          </a:p>
          <a:p>
            <a:pPr marL="557287" lvl="1" indent="-214340" algn="l" rtl="0">
              <a:spcBef>
                <a:spcPts val="420"/>
              </a:spcBef>
              <a:spcAft>
                <a:spcPts val="0"/>
              </a:spcAft>
              <a:buSzPts val="2100"/>
              <a:buFont typeface="Arial"/>
              <a:buChar char="–"/>
            </a:pPr>
            <a:r>
              <a:rPr lang="en-US"/>
              <a:t>makes minor changes, or </a:t>
            </a:r>
            <a:endParaRPr/>
          </a:p>
          <a:p>
            <a:pPr marL="557287" lvl="1" indent="-214340" algn="l" rtl="0">
              <a:spcBef>
                <a:spcPts val="420"/>
              </a:spcBef>
              <a:spcAft>
                <a:spcPts val="0"/>
              </a:spcAft>
              <a:buSzPts val="2100"/>
              <a:buFont typeface="Arial"/>
              <a:buChar char="–"/>
            </a:pPr>
            <a:r>
              <a:rPr lang="en-US"/>
              <a:t>makes major changes. </a:t>
            </a:r>
            <a:endParaRPr/>
          </a:p>
          <a:p>
            <a:pPr marL="257209" lvl="0" indent="-257209" algn="l" rtl="0">
              <a:spcBef>
                <a:spcPts val="480"/>
              </a:spcBef>
              <a:spcAft>
                <a:spcPts val="0"/>
              </a:spcAft>
              <a:buSzPts val="2400"/>
              <a:buFont typeface="Arial"/>
              <a:buChar char="•"/>
            </a:pPr>
            <a:r>
              <a:rPr lang="en-US"/>
              <a:t>Common “respondent codes” are </a:t>
            </a:r>
            <a:endParaRPr/>
          </a:p>
          <a:p>
            <a:pPr marL="557287" lvl="1" indent="-214340" algn="l" rtl="0">
              <a:spcBef>
                <a:spcPts val="420"/>
              </a:spcBef>
              <a:spcAft>
                <a:spcPts val="0"/>
              </a:spcAft>
              <a:buSzPts val="2100"/>
              <a:buFont typeface="Arial"/>
              <a:buChar char="–"/>
            </a:pPr>
            <a:r>
              <a:rPr lang="en-US"/>
              <a:t>respondent asks for clarification, </a:t>
            </a:r>
            <a:endParaRPr/>
          </a:p>
          <a:p>
            <a:pPr marL="557287" lvl="1" indent="-214340" algn="l" rtl="0">
              <a:spcBef>
                <a:spcPts val="420"/>
              </a:spcBef>
              <a:spcAft>
                <a:spcPts val="0"/>
              </a:spcAft>
              <a:buSzPts val="2100"/>
              <a:buFont typeface="Arial"/>
              <a:buChar char="–"/>
            </a:pPr>
            <a:r>
              <a:rPr lang="en-US"/>
              <a:t>respondent gives an inadequate answer, </a:t>
            </a:r>
            <a:endParaRPr/>
          </a:p>
          <a:p>
            <a:pPr marL="557287" lvl="1" indent="-214340" algn="l" rtl="0">
              <a:spcBef>
                <a:spcPts val="420"/>
              </a:spcBef>
              <a:spcAft>
                <a:spcPts val="0"/>
              </a:spcAft>
              <a:buSzPts val="2100"/>
              <a:buFont typeface="Arial"/>
              <a:buChar char="–"/>
            </a:pPr>
            <a:r>
              <a:rPr lang="en-US"/>
              <a:t>respondent asks interviewer to repeat the question, </a:t>
            </a:r>
            <a:endParaRPr/>
          </a:p>
          <a:p>
            <a:pPr marL="557287" lvl="1" indent="-214340" algn="l" rtl="0">
              <a:spcBef>
                <a:spcPts val="420"/>
              </a:spcBef>
              <a:spcAft>
                <a:spcPts val="0"/>
              </a:spcAft>
              <a:buSzPts val="2100"/>
              <a:buFont typeface="Arial"/>
              <a:buChar char="–"/>
            </a:pPr>
            <a:r>
              <a:rPr lang="en-US"/>
              <a:t>respondent interrupts, </a:t>
            </a:r>
            <a:endParaRPr/>
          </a:p>
          <a:p>
            <a:pPr marL="557287" lvl="1" indent="-214340" algn="l" rtl="0">
              <a:spcBef>
                <a:spcPts val="420"/>
              </a:spcBef>
              <a:spcAft>
                <a:spcPts val="0"/>
              </a:spcAft>
              <a:buSzPts val="2100"/>
              <a:buFont typeface="Arial"/>
              <a:buChar char="–"/>
            </a:pPr>
            <a:r>
              <a:rPr lang="en-US"/>
              <a:t>respondent provides a qualified answer (indicating uncertainty), or </a:t>
            </a:r>
            <a:endParaRPr/>
          </a:p>
          <a:p>
            <a:pPr marL="557287" lvl="1" indent="-214340" algn="l" rtl="0">
              <a:spcBef>
                <a:spcPts val="420"/>
              </a:spcBef>
              <a:spcAft>
                <a:spcPts val="0"/>
              </a:spcAft>
              <a:buSzPts val="2100"/>
              <a:buFont typeface="Arial"/>
              <a:buChar char="–"/>
            </a:pPr>
            <a:r>
              <a:rPr lang="en-US"/>
              <a:t>respondent provides an adequate answer.</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9"/>
          <p:cNvSpPr txBox="1">
            <a:spLocks noGrp="1"/>
          </p:cNvSpPr>
          <p:nvPr>
            <p:ph type="title"/>
          </p:nvPr>
        </p:nvSpPr>
        <p:spPr>
          <a:xfrm>
            <a:off x="685800" y="304800"/>
            <a:ext cx="7772400" cy="11430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Paradata</a:t>
            </a:r>
            <a:endParaRPr/>
          </a:p>
        </p:txBody>
      </p:sp>
      <p:sp>
        <p:nvSpPr>
          <p:cNvPr id="357" name="Google Shape;357;p39"/>
          <p:cNvSpPr txBox="1">
            <a:spLocks noGrp="1"/>
          </p:cNvSpPr>
          <p:nvPr>
            <p:ph type="body" idx="1"/>
          </p:nvPr>
        </p:nvSpPr>
        <p:spPr>
          <a:xfrm>
            <a:off x="685800" y="1752600"/>
            <a:ext cx="7772400" cy="3962400"/>
          </a:xfrm>
          <a:prstGeom prst="rect">
            <a:avLst/>
          </a:prstGeom>
          <a:noFill/>
          <a:ln>
            <a:noFill/>
          </a:ln>
        </p:spPr>
        <p:txBody>
          <a:bodyPr spcFirstLastPara="1" wrap="square" lIns="68575" tIns="34275" rIns="68575" bIns="34275" anchor="t" anchorCtr="0">
            <a:noAutofit/>
          </a:bodyPr>
          <a:lstStyle/>
          <a:p>
            <a:pPr marL="257209" lvl="0" indent="-257209" algn="l" rtl="0">
              <a:spcBef>
                <a:spcPts val="0"/>
              </a:spcBef>
              <a:spcAft>
                <a:spcPts val="0"/>
              </a:spcAft>
              <a:buSzPts val="2400"/>
              <a:buFont typeface="Arial"/>
              <a:buChar char="•"/>
            </a:pPr>
            <a:r>
              <a:rPr lang="en-US"/>
              <a:t>A variety of possible measures of auxiliary data regarding survey response behavior such as </a:t>
            </a:r>
            <a:endParaRPr/>
          </a:p>
          <a:p>
            <a:pPr marL="557287" lvl="1" indent="-214340" algn="l" rtl="0">
              <a:spcBef>
                <a:spcPts val="420"/>
              </a:spcBef>
              <a:spcAft>
                <a:spcPts val="0"/>
              </a:spcAft>
              <a:buSzPts val="2100"/>
              <a:buFont typeface="Arial"/>
              <a:buChar char="–"/>
            </a:pPr>
            <a:r>
              <a:rPr lang="en-US"/>
              <a:t>response time</a:t>
            </a:r>
            <a:endParaRPr/>
          </a:p>
          <a:p>
            <a:pPr marL="557287" lvl="1" indent="-214340" algn="l" rtl="0">
              <a:spcBef>
                <a:spcPts val="420"/>
              </a:spcBef>
              <a:spcAft>
                <a:spcPts val="0"/>
              </a:spcAft>
              <a:buSzPts val="2100"/>
              <a:buFont typeface="Arial"/>
              <a:buChar char="–"/>
            </a:pPr>
            <a:r>
              <a:rPr lang="en-US"/>
              <a:t>eye movement</a:t>
            </a:r>
            <a:endParaRPr/>
          </a:p>
          <a:p>
            <a:pPr marL="557287" lvl="1" indent="-214340" algn="l" rtl="0">
              <a:spcBef>
                <a:spcPts val="420"/>
              </a:spcBef>
              <a:spcAft>
                <a:spcPts val="0"/>
              </a:spcAft>
              <a:buSzPts val="2100"/>
              <a:buFont typeface="Arial"/>
              <a:buChar char="–"/>
            </a:pPr>
            <a:r>
              <a:rPr lang="en-US"/>
              <a:t>logfile data</a:t>
            </a:r>
            <a:endParaRPr/>
          </a:p>
          <a:p>
            <a:pPr marL="257209" lvl="0" indent="-257209" algn="l" rtl="0">
              <a:spcBef>
                <a:spcPts val="480"/>
              </a:spcBef>
              <a:spcAft>
                <a:spcPts val="0"/>
              </a:spcAft>
              <a:buSzPts val="2400"/>
              <a:buFont typeface="Arial"/>
              <a:buChar char="•"/>
            </a:pPr>
            <a:r>
              <a:rPr lang="en-US"/>
              <a:t>Response latencies that are systematically longer could be used as a flag for item review</a:t>
            </a:r>
            <a:endParaRPr/>
          </a:p>
        </p:txBody>
      </p:sp>
    </p:spTree>
  </p:cSld>
  <p:clrMapOvr>
    <a:masterClrMapping/>
  </p:clrMapOvr>
</p:sld>
</file>

<file path=ppt/theme/theme1.xml><?xml version="1.0" encoding="utf-8"?>
<a:theme xmlns:a="http://schemas.openxmlformats.org/drawingml/2006/main" name="UMN-yellow">
  <a:themeElements>
    <a:clrScheme name="Custom 1">
      <a:dk1>
        <a:srgbClr val="000000"/>
      </a:dk1>
      <a:lt1>
        <a:srgbClr val="FFFFFF"/>
      </a:lt1>
      <a:dk2>
        <a:srgbClr val="1F497D"/>
      </a:dk2>
      <a:lt2>
        <a:srgbClr val="D7D9D7"/>
      </a:lt2>
      <a:accent1>
        <a:srgbClr val="7A0019"/>
      </a:accent1>
      <a:accent2>
        <a:srgbClr val="FFCC33"/>
      </a:accent2>
      <a:accent3>
        <a:srgbClr val="C82936"/>
      </a:accent3>
      <a:accent4>
        <a:srgbClr val="003D4C"/>
      </a:accent4>
      <a:accent5>
        <a:srgbClr val="79C9C7"/>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4390</Words>
  <Application>Microsoft Macintosh PowerPoint</Application>
  <PresentationFormat>On-screen Show (4:3)</PresentationFormat>
  <Paragraphs>279</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Roboto</vt:lpstr>
      <vt:lpstr>DM Sans</vt:lpstr>
      <vt:lpstr>UMN-yellow</vt:lpstr>
      <vt:lpstr>Pretesting</vt:lpstr>
      <vt:lpstr>Pretesting</vt:lpstr>
      <vt:lpstr>Pilot Testing</vt:lpstr>
      <vt:lpstr>Why Pretesting?</vt:lpstr>
      <vt:lpstr>Why Pretesting?</vt:lpstr>
      <vt:lpstr>Methods for Item Review in Pretest</vt:lpstr>
      <vt:lpstr>Goal of item review </vt:lpstr>
      <vt:lpstr>An example</vt:lpstr>
      <vt:lpstr>Pretest sample size</vt:lpstr>
      <vt:lpstr>Cognitive Interview</vt:lpstr>
      <vt:lpstr>Cognitive Interview</vt:lpstr>
      <vt:lpstr>Think-aloud interviews</vt:lpstr>
      <vt:lpstr>Verbal Probing Interview</vt:lpstr>
      <vt:lpstr>An example of concurrent verbal probing </vt:lpstr>
      <vt:lpstr>An example of retrospective  verbal probing </vt:lpstr>
      <vt:lpstr>Verbal Probing Interview – sample probing questions</vt:lpstr>
      <vt:lpstr>Verbal Probing Interview – sample probing questions</vt:lpstr>
      <vt:lpstr>Verbal Probing Interview – sample probing questions</vt:lpstr>
      <vt:lpstr>Verbal Probing Interview – sample probing questions</vt:lpstr>
      <vt:lpstr>Verbal Probing Interview – sample probing questions</vt:lpstr>
      <vt:lpstr>Think-Aloud vs Verbal Probing </vt:lpstr>
      <vt:lpstr>Cognitive Interview – Data Analysis</vt:lpstr>
      <vt:lpstr>Expert Review</vt:lpstr>
      <vt:lpstr>Checklist for Quality Question Design (Robinson &amp; Leonard, 2018)</vt:lpstr>
      <vt:lpstr>Checklist for Quality Question Design (Robinson &amp; Leonard, 2018)</vt:lpstr>
      <vt:lpstr>Question Appraisal System</vt:lpstr>
      <vt:lpstr>Expert Review</vt:lpstr>
      <vt:lpstr>Respondent Debriefing</vt:lpstr>
      <vt:lpstr>Focus Group Interview</vt:lpstr>
      <vt:lpstr>Focus Group Interview</vt:lpstr>
      <vt:lpstr>Focus Group Interview - Procedure</vt:lpstr>
      <vt:lpstr>Focus Group Interview – sample questions</vt:lpstr>
      <vt:lpstr>Focus Group Interview – sample questions</vt:lpstr>
      <vt:lpstr>Focus Group Interview – sample questions</vt:lpstr>
      <vt:lpstr>Focus Group Interview – sample questions</vt:lpstr>
      <vt:lpstr>Focus Group Interview – sample questions</vt:lpstr>
      <vt:lpstr>Behavior Coding</vt:lpstr>
      <vt:lpstr>Behavior Coding - procedures</vt:lpstr>
      <vt:lpstr>Behavior Coding</vt:lpstr>
      <vt:lpstr>Paradata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Wenchao Ma</dc:creator>
  <cp:lastModifiedBy>Wenchao Ma</cp:lastModifiedBy>
  <cp:revision>1</cp:revision>
  <dcterms:created xsi:type="dcterms:W3CDTF">2024-07-16T02:19:12Z</dcterms:created>
  <dcterms:modified xsi:type="dcterms:W3CDTF">2026-03-17T01:03:07Z</dcterms:modified>
</cp:coreProperties>
</file>