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7" r:id="rId3"/>
    <p:sldId id="298" r:id="rId4"/>
    <p:sldId id="308" r:id="rId5"/>
    <p:sldId id="300" r:id="rId6"/>
    <p:sldId id="309" r:id="rId7"/>
    <p:sldId id="304" r:id="rId8"/>
    <p:sldId id="262" r:id="rId9"/>
    <p:sldId id="263" r:id="rId10"/>
    <p:sldId id="264" r:id="rId11"/>
    <p:sldId id="268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342946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685891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028837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371783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1714729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057674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2400620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2743566" algn="l" defTabSz="342946" rtl="0" eaLnBrk="1" latinLnBrk="0" hangingPunct="1">
      <a:defRPr sz="18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702"/>
  </p:normalViewPr>
  <p:slideViewPr>
    <p:cSldViewPr snapToGrid="0">
      <p:cViewPr varScale="1">
        <p:scale>
          <a:sx n="113" d="100"/>
          <a:sy n="113" d="100"/>
        </p:scale>
        <p:origin x="1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0BCCB-823C-3D4E-987B-B657C5A1E1CF}" type="datetimeFigureOut">
              <a:rPr lang="en-US" smtClean="0"/>
              <a:t>10/8/24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C791-2906-BA41-83E7-5C99AF5DD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ACA7FFE-C708-496E-81FA-CAD88D195726}" type="slidenum">
              <a:rPr lang="en-US" altLang="en-US" smtClean="0"/>
              <a:pPr eaLnBrk="1" hangingPunct="1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96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ranja/Documents/5-resources/ppt/2018%20ppt-with%20R/new/working%20files/graphics_4x3-M-gold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7400"/>
            <a:ext cx="8001000" cy="1143000"/>
          </a:xfrm>
        </p:spPr>
        <p:txBody>
          <a:bodyPr/>
          <a:lstStyle>
            <a:lvl1pPr algn="l">
              <a:defRPr>
                <a:solidFill>
                  <a:srgbClr val="7A0019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921000"/>
            <a:ext cx="8001000" cy="60960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210" indent="0">
              <a:buNone/>
              <a:defRPr sz="1350">
                <a:solidFill>
                  <a:srgbClr val="FFFFFF"/>
                </a:solidFill>
              </a:defRPr>
            </a:lvl2pPr>
            <a:lvl3pPr marL="514418" indent="0">
              <a:buNone/>
              <a:defRPr sz="1350">
                <a:solidFill>
                  <a:srgbClr val="FFFFFF"/>
                </a:solidFill>
              </a:defRPr>
            </a:lvl3pPr>
            <a:lvl4pPr marL="771628" indent="0">
              <a:buNone/>
              <a:defRPr sz="1350">
                <a:solidFill>
                  <a:srgbClr val="FFFFFF"/>
                </a:solidFill>
              </a:defRPr>
            </a:lvl4pPr>
            <a:lvl5pPr marL="1028837" indent="0">
              <a:buNone/>
              <a:defRPr sz="135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Presenter/unit/department name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530600"/>
            <a:ext cx="8001000" cy="5080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210" indent="0">
              <a:buNone/>
              <a:defRPr sz="900">
                <a:solidFill>
                  <a:srgbClr val="FFFFFF"/>
                </a:solidFill>
              </a:defRPr>
            </a:lvl2pPr>
            <a:lvl3pPr marL="514418" indent="0">
              <a:buNone/>
              <a:defRPr sz="900">
                <a:solidFill>
                  <a:srgbClr val="FFFFFF"/>
                </a:solidFill>
              </a:defRPr>
            </a:lvl3pPr>
            <a:lvl4pPr marL="771628" indent="0">
              <a:buNone/>
              <a:defRPr sz="900">
                <a:solidFill>
                  <a:srgbClr val="FFFFFF"/>
                </a:solidFill>
              </a:defRPr>
            </a:lvl4pPr>
            <a:lvl5pPr marL="1028837" indent="0">
              <a:buNone/>
              <a:defRPr sz="9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s_4x3-M-gold.png" descr="/Users/ranja/Documents/5-resources/ppt/2018 ppt-with R/new/working files/graphics_4x3-M-gold.png">
            <a:extLst>
              <a:ext uri="{FF2B5EF4-FFF2-40B4-BE49-F238E27FC236}">
                <a16:creationId xmlns:a16="http://schemas.microsoft.com/office/drawing/2014/main" id="{BD85783E-02E7-AD5B-1B73-2B1DBD3BD5B1}"/>
              </a:ext>
            </a:extLst>
          </p:cNvPr>
          <p:cNvPicPr>
            <a:picLocks noChangeAspect="1"/>
          </p:cNvPicPr>
          <p:nvPr/>
        </p:nvPicPr>
        <p:blipFill rotWithShape="1">
          <a:blip r:embed="rId2" r:link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000"/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  <p:pic>
        <p:nvPicPr>
          <p:cNvPr id="5" name="Picture 4" descr="A cartoon of a beaver with a large letter&#10;&#10;Description automatically generated">
            <a:extLst>
              <a:ext uri="{FF2B5EF4-FFF2-40B4-BE49-F238E27FC236}">
                <a16:creationId xmlns:a16="http://schemas.microsoft.com/office/drawing/2014/main" id="{2A03D404-5F99-3C9D-E8C4-48EF1EA45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4" y="4956044"/>
            <a:ext cx="2743206" cy="19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7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09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7"/>
            <a:ext cx="7772400" cy="1362075"/>
          </a:xfrm>
        </p:spPr>
        <p:txBody>
          <a:bodyPr anchor="t"/>
          <a:lstStyle>
            <a:lvl1pPr algn="l">
              <a:defRPr sz="2250" b="0" i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210" indent="0">
              <a:buNone/>
              <a:defRPr sz="1050"/>
            </a:lvl2pPr>
            <a:lvl3pPr marL="514418" indent="0">
              <a:buNone/>
              <a:defRPr sz="900"/>
            </a:lvl3pPr>
            <a:lvl4pPr marL="771628" indent="0">
              <a:buNone/>
              <a:defRPr sz="825"/>
            </a:lvl4pPr>
            <a:lvl5pPr marL="1028837" indent="0">
              <a:buNone/>
              <a:defRPr sz="825"/>
            </a:lvl5pPr>
            <a:lvl6pPr marL="1286047" indent="0">
              <a:buNone/>
              <a:defRPr sz="825"/>
            </a:lvl6pPr>
            <a:lvl7pPr marL="1543256" indent="0">
              <a:buNone/>
              <a:defRPr sz="825"/>
            </a:lvl7pPr>
            <a:lvl8pPr marL="1800465" indent="0">
              <a:buNone/>
              <a:defRPr sz="825"/>
            </a:lvl8pPr>
            <a:lvl9pPr marL="205767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36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297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7"/>
            <a:ext cx="4040188" cy="63976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10" indent="0">
              <a:buNone/>
              <a:defRPr sz="1125" b="1"/>
            </a:lvl2pPr>
            <a:lvl3pPr marL="514418" indent="0">
              <a:buNone/>
              <a:defRPr sz="1050" b="1"/>
            </a:lvl3pPr>
            <a:lvl4pPr marL="771628" indent="0">
              <a:buNone/>
              <a:defRPr sz="900" b="1"/>
            </a:lvl4pPr>
            <a:lvl5pPr marL="1028837" indent="0">
              <a:buNone/>
              <a:defRPr sz="900" b="1"/>
            </a:lvl5pPr>
            <a:lvl6pPr marL="1286047" indent="0">
              <a:buNone/>
              <a:defRPr sz="900" b="1"/>
            </a:lvl6pPr>
            <a:lvl7pPr marL="1543256" indent="0">
              <a:buNone/>
              <a:defRPr sz="900" b="1"/>
            </a:lvl7pPr>
            <a:lvl8pPr marL="1800465" indent="0">
              <a:buNone/>
              <a:defRPr sz="900" b="1"/>
            </a:lvl8pPr>
            <a:lvl9pPr marL="2057675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7"/>
            <a:ext cx="4041775" cy="63976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10" indent="0">
              <a:buNone/>
              <a:defRPr sz="1125" b="1"/>
            </a:lvl2pPr>
            <a:lvl3pPr marL="514418" indent="0">
              <a:buNone/>
              <a:defRPr sz="1050" b="1"/>
            </a:lvl3pPr>
            <a:lvl4pPr marL="771628" indent="0">
              <a:buNone/>
              <a:defRPr sz="900" b="1"/>
            </a:lvl4pPr>
            <a:lvl5pPr marL="1028837" indent="0">
              <a:buNone/>
              <a:defRPr sz="900" b="1"/>
            </a:lvl5pPr>
            <a:lvl6pPr marL="1286047" indent="0">
              <a:buNone/>
              <a:defRPr sz="900" b="1"/>
            </a:lvl6pPr>
            <a:lvl7pPr marL="1543256" indent="0">
              <a:buNone/>
              <a:defRPr sz="900" b="1"/>
            </a:lvl7pPr>
            <a:lvl8pPr marL="1800465" indent="0">
              <a:buNone/>
              <a:defRPr sz="900" b="1"/>
            </a:lvl8pPr>
            <a:lvl9pPr marL="2057675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99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228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61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5"/>
            <a:ext cx="3008313" cy="1162051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9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4"/>
            <a:ext cx="3008313" cy="4691063"/>
          </a:xfrm>
        </p:spPr>
        <p:txBody>
          <a:bodyPr/>
          <a:lstStyle>
            <a:lvl1pPr marL="0" indent="0">
              <a:buNone/>
              <a:defRPr sz="825"/>
            </a:lvl1pPr>
            <a:lvl2pPr marL="257210" indent="0">
              <a:buNone/>
              <a:defRPr sz="675"/>
            </a:lvl2pPr>
            <a:lvl3pPr marL="514418" indent="0">
              <a:buNone/>
              <a:defRPr sz="600"/>
            </a:lvl3pPr>
            <a:lvl4pPr marL="771628" indent="0">
              <a:buNone/>
              <a:defRPr sz="525"/>
            </a:lvl4pPr>
            <a:lvl5pPr marL="1028837" indent="0">
              <a:buNone/>
              <a:defRPr sz="525"/>
            </a:lvl5pPr>
            <a:lvl6pPr marL="1286047" indent="0">
              <a:buNone/>
              <a:defRPr sz="525"/>
            </a:lvl6pPr>
            <a:lvl7pPr marL="1543256" indent="0">
              <a:buNone/>
              <a:defRPr sz="525"/>
            </a:lvl7pPr>
            <a:lvl8pPr marL="1800465" indent="0">
              <a:buNone/>
              <a:defRPr sz="525"/>
            </a:lvl8pPr>
            <a:lvl9pPr marL="2057675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5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6"/>
            <a:ext cx="5486400" cy="566739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210" indent="0">
              <a:buNone/>
              <a:defRPr sz="1575"/>
            </a:lvl2pPr>
            <a:lvl3pPr marL="514418" indent="0">
              <a:buNone/>
              <a:defRPr sz="1350"/>
            </a:lvl3pPr>
            <a:lvl4pPr marL="771628" indent="0">
              <a:buNone/>
              <a:defRPr sz="1125"/>
            </a:lvl4pPr>
            <a:lvl5pPr marL="1028837" indent="0">
              <a:buNone/>
              <a:defRPr sz="1125"/>
            </a:lvl5pPr>
            <a:lvl6pPr marL="1286047" indent="0">
              <a:buNone/>
              <a:defRPr sz="1125"/>
            </a:lvl6pPr>
            <a:lvl7pPr marL="1543256" indent="0">
              <a:buNone/>
              <a:defRPr sz="1125"/>
            </a:lvl7pPr>
            <a:lvl8pPr marL="1800465" indent="0">
              <a:buNone/>
              <a:defRPr sz="1125"/>
            </a:lvl8pPr>
            <a:lvl9pPr marL="2057675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4"/>
            <a:ext cx="5486400" cy="804863"/>
          </a:xfrm>
        </p:spPr>
        <p:txBody>
          <a:bodyPr/>
          <a:lstStyle>
            <a:lvl1pPr marL="0" indent="0">
              <a:buNone/>
              <a:defRPr sz="825"/>
            </a:lvl1pPr>
            <a:lvl2pPr marL="257210" indent="0">
              <a:buNone/>
              <a:defRPr sz="675"/>
            </a:lvl2pPr>
            <a:lvl3pPr marL="514418" indent="0">
              <a:buNone/>
              <a:defRPr sz="600"/>
            </a:lvl3pPr>
            <a:lvl4pPr marL="771628" indent="0">
              <a:buNone/>
              <a:defRPr sz="525"/>
            </a:lvl4pPr>
            <a:lvl5pPr marL="1028837" indent="0">
              <a:buNone/>
              <a:defRPr sz="525"/>
            </a:lvl5pPr>
            <a:lvl6pPr marL="1286047" indent="0">
              <a:buNone/>
              <a:defRPr sz="525"/>
            </a:lvl6pPr>
            <a:lvl7pPr marL="1543256" indent="0">
              <a:buNone/>
              <a:defRPr sz="525"/>
            </a:lvl7pPr>
            <a:lvl8pPr marL="1800465" indent="0">
              <a:buNone/>
              <a:defRPr sz="525"/>
            </a:lvl8pPr>
            <a:lvl9pPr marL="2057675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360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222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1" y="3048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6361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6091-EC64-2FD0-5D4E-2BF05E86C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86022-4EAF-8B0A-E331-EDBF4DFFE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52AF0-4A9F-67D6-4875-F5AAA772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A3C3A-72A1-4A55-A41D-2026FA7DF18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A0192-F6A2-EE25-6FC3-429FA8D8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7AF65-F8EA-1310-471A-F0B2F0B7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55D08-8CC6-4FB8-A0F6-5C02AF1D9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file://localhost/Users/ranja/Documents/5-resources/ppt/2018%20ppt-with%20R/new/working%20files/graphics_4x3-M-gold.png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8589" tIns="34295" rIns="68589" bIns="34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graphics_4x3-M-gold.png" descr="/Users/ranja/Documents/5-resources/ppt/2018 ppt-with R/new/working files/graphics_4x3-M-gold.png"/>
          <p:cNvPicPr>
            <a:picLocks noChangeAspect="1"/>
          </p:cNvPicPr>
          <p:nvPr/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87041"/>
            <a:ext cx="9144000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7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75" b="0">
          <a:solidFill>
            <a:srgbClr val="7A001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Corbel" charset="0"/>
          <a:ea typeface="ＭＳ Ｐゴシック" charset="0"/>
          <a:cs typeface="ＭＳ Ｐゴシック" charset="0"/>
        </a:defRPr>
      </a:lvl5pPr>
      <a:lvl6pPr marL="25721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6pPr>
      <a:lvl7pPr marL="514418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7pPr>
      <a:lvl8pPr marL="771628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8pPr>
      <a:lvl9pPr marL="1028837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7A0019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92907" indent="-192907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18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417965" indent="-160756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1575">
          <a:solidFill>
            <a:srgbClr val="595959"/>
          </a:solidFill>
          <a:latin typeface="+mn-lt"/>
          <a:ea typeface="ＭＳ Ｐゴシック" charset="0"/>
        </a:defRPr>
      </a:lvl2pPr>
      <a:lvl3pPr marL="643023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•"/>
        <a:defRPr sz="1350">
          <a:solidFill>
            <a:srgbClr val="595959"/>
          </a:solidFill>
          <a:latin typeface="+mn-lt"/>
          <a:ea typeface="ＭＳ Ｐゴシック" charset="0"/>
        </a:defRPr>
      </a:lvl3pPr>
      <a:lvl4pPr marL="900233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–"/>
        <a:defRPr sz="1125">
          <a:solidFill>
            <a:srgbClr val="595959"/>
          </a:solidFill>
          <a:latin typeface="+mn-lt"/>
          <a:ea typeface="ＭＳ Ｐゴシック" charset="0"/>
        </a:defRPr>
      </a:lvl4pPr>
      <a:lvl5pPr marL="1157442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125">
          <a:solidFill>
            <a:srgbClr val="595959"/>
          </a:solidFill>
          <a:latin typeface="+mn-lt"/>
          <a:ea typeface="ＭＳ Ｐゴシック" charset="0"/>
        </a:defRPr>
      </a:lvl5pPr>
      <a:lvl6pPr marL="1414651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125">
          <a:solidFill>
            <a:schemeClr val="tx1"/>
          </a:solidFill>
          <a:latin typeface="+mn-lt"/>
          <a:ea typeface="+mn-ea"/>
        </a:defRPr>
      </a:lvl6pPr>
      <a:lvl7pPr marL="1671860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125">
          <a:solidFill>
            <a:schemeClr val="tx1"/>
          </a:solidFill>
          <a:latin typeface="+mn-lt"/>
          <a:ea typeface="+mn-ea"/>
        </a:defRPr>
      </a:lvl7pPr>
      <a:lvl8pPr marL="1929070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125">
          <a:solidFill>
            <a:schemeClr val="tx1"/>
          </a:solidFill>
          <a:latin typeface="+mn-lt"/>
          <a:ea typeface="+mn-ea"/>
        </a:defRPr>
      </a:lvl8pPr>
      <a:lvl9pPr marL="2186279" indent="-128605" algn="l" rtl="0" eaLnBrk="1" fontAlgn="base" hangingPunct="1">
        <a:spcBef>
          <a:spcPct val="20000"/>
        </a:spcBef>
        <a:spcAft>
          <a:spcPct val="0"/>
        </a:spcAft>
        <a:buClr>
          <a:srgbClr val="7A0019"/>
        </a:buClr>
        <a:buChar char="»"/>
        <a:defRPr sz="112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210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418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71628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837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86047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43256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00465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057675" algn="l" defTabSz="25721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96AF031-D3BF-5818-1655-6B4FB4B06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8001000" cy="857250"/>
          </a:xfrm>
        </p:spPr>
        <p:txBody>
          <a:bodyPr/>
          <a:lstStyle/>
          <a:p>
            <a:r>
              <a:rPr lang="en-US" dirty="0"/>
              <a:t>Determining Sample Size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C03F38-E038-5B32-552B-4278070AD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3048000"/>
            <a:ext cx="8001000" cy="457200"/>
          </a:xfrm>
        </p:spPr>
        <p:txBody>
          <a:bodyPr/>
          <a:lstStyle/>
          <a:p>
            <a:r>
              <a:rPr lang="en-US" dirty="0"/>
              <a:t>Wenchao Ma</a:t>
            </a:r>
          </a:p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19C20FD-DBC6-9C97-6ADA-1D75F347DA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0" y="3505200"/>
            <a:ext cx="8001000" cy="381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2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F894-4987-501C-D6EF-18AC023C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determining sample size?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FCE5C-6667-7270-1249-A1C1AD12E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Estimating population parameters within a certain margin of error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Conducting hypothesis testing</a:t>
            </a:r>
          </a:p>
          <a:p>
            <a:pPr lvl="1"/>
            <a:r>
              <a:rPr lang="en-US" dirty="0"/>
              <a:t>Whether two variables are correlated or not</a:t>
            </a:r>
          </a:p>
          <a:p>
            <a:pPr lvl="1"/>
            <a:r>
              <a:rPr lang="en-US" dirty="0"/>
              <a:t>Whether X can predict Y</a:t>
            </a:r>
          </a:p>
          <a:p>
            <a:endParaRPr lang="en-US" dirty="0"/>
          </a:p>
          <a:p>
            <a:r>
              <a:rPr lang="en-US" dirty="0"/>
              <a:t>Impact of sample size</a:t>
            </a:r>
          </a:p>
          <a:p>
            <a:pPr lvl="1"/>
            <a:r>
              <a:rPr lang="en-US" dirty="0"/>
              <a:t>Small sample size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2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hypothesis </a:t>
            </a:r>
            <a:r>
              <a:rPr lang="en-US" dirty="0"/>
              <a:t>is a statement or proposed explanation for an observation, a phenomenon, or a scientific problem that can be tested using the research method.</a:t>
            </a:r>
          </a:p>
          <a:p>
            <a:r>
              <a:rPr lang="en-US" dirty="0"/>
              <a:t>A hypothesis is often a statement about the value for a parameter in a population.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3DE4CB-9E13-45EA-8201-D4366572BB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0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A3E9-A36A-D8A6-31E7-04D35C29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644C-8DF9-7877-57BA-51B2D211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want to conduct a survey to check not only the prevalence of anxiety and depression in UMN undergraduates but also want to assess whether they are correlated.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5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Hypothesis Testing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i="1" dirty="0">
                <a:ea typeface="ＭＳ Ｐゴシック" charset="-128"/>
              </a:rPr>
              <a:t>Hypothesis Testing </a:t>
            </a:r>
            <a:r>
              <a:rPr lang="en-US" altLang="en-US" dirty="0">
                <a:ea typeface="ＭＳ Ｐゴシック" charset="-128"/>
              </a:rPr>
              <a:t>- method for </a:t>
            </a:r>
            <a:r>
              <a:rPr lang="en-US" altLang="en-US" dirty="0">
                <a:solidFill>
                  <a:srgbClr val="C00000"/>
                </a:solidFill>
                <a:ea typeface="ＭＳ Ｐゴシック" charset="-128"/>
              </a:rPr>
              <a:t>testing a hypothesis about a parameter of a population, using data measured in a sample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To determine the likelihood of observing your data when the hypothesis is true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4"/>
            <a:ext cx="2895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2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172F-9490-E8BC-E83E-D9EBA7B8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6F482-10EB-52C2-2DB9-BA2A8320E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ea typeface="ＭＳ Ｐゴシック" charset="-128"/>
              </a:rPr>
              <a:t>Step 1: State the null and alternative hypothesis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Null Hypothesis (H</a:t>
            </a:r>
            <a:r>
              <a:rPr lang="en-US" altLang="en-US" baseline="-25000" dirty="0">
                <a:solidFill>
                  <a:srgbClr val="0070C0"/>
                </a:solidFill>
              </a:rPr>
              <a:t>0</a:t>
            </a:r>
            <a:r>
              <a:rPr lang="en-US" altLang="en-US" dirty="0">
                <a:solidFill>
                  <a:srgbClr val="0070C0"/>
                </a:solidFill>
              </a:rPr>
              <a:t> or H</a:t>
            </a:r>
            <a:r>
              <a:rPr lang="en-US" altLang="en-US" baseline="-25000" dirty="0">
                <a:solidFill>
                  <a:srgbClr val="0070C0"/>
                </a:solidFill>
              </a:rPr>
              <a:t>N</a:t>
            </a:r>
            <a:r>
              <a:rPr lang="en-US" altLang="en-US" dirty="0">
                <a:solidFill>
                  <a:srgbClr val="0070C0"/>
                </a:solidFill>
              </a:rPr>
              <a:t>)</a:t>
            </a:r>
            <a:r>
              <a:rPr lang="en-US" altLang="en-US" dirty="0"/>
              <a:t> - statement about the population parameter (such as the mean) that is </a:t>
            </a:r>
            <a:r>
              <a:rPr lang="en-US" altLang="en-US" dirty="0">
                <a:solidFill>
                  <a:srgbClr val="FF0000"/>
                </a:solidFill>
              </a:rPr>
              <a:t>assumed to be true</a:t>
            </a:r>
          </a:p>
          <a:p>
            <a:pPr lvl="2"/>
            <a:r>
              <a:rPr lang="en-US" altLang="en-US" dirty="0"/>
              <a:t>Example: anxiety and depression are NOT correlated</a:t>
            </a:r>
          </a:p>
          <a:p>
            <a:pPr lvl="1" eaLnBrk="1" hangingPunct="1"/>
            <a:r>
              <a:rPr lang="en-US" altLang="en-US" dirty="0">
                <a:solidFill>
                  <a:srgbClr val="0070C0"/>
                </a:solidFill>
              </a:rPr>
              <a:t>Alternative hypothesis (H</a:t>
            </a:r>
            <a:r>
              <a:rPr lang="en-US" altLang="en-US" baseline="-25000" dirty="0">
                <a:solidFill>
                  <a:srgbClr val="0070C0"/>
                </a:solidFill>
              </a:rPr>
              <a:t>1 </a:t>
            </a:r>
            <a:r>
              <a:rPr lang="en-US" altLang="en-US" dirty="0">
                <a:solidFill>
                  <a:srgbClr val="0070C0"/>
                </a:solidFill>
              </a:rPr>
              <a:t>or H</a:t>
            </a:r>
            <a:r>
              <a:rPr lang="en-US" altLang="en-US" baseline="-25000" dirty="0">
                <a:solidFill>
                  <a:srgbClr val="0070C0"/>
                </a:solidFill>
              </a:rPr>
              <a:t>A</a:t>
            </a:r>
            <a:r>
              <a:rPr lang="en-US" altLang="en-US" dirty="0">
                <a:solidFill>
                  <a:srgbClr val="0070C0"/>
                </a:solidFill>
              </a:rPr>
              <a:t>) </a:t>
            </a:r>
            <a:r>
              <a:rPr lang="en-US" altLang="en-US" dirty="0"/>
              <a:t>- statement that contradicts the null hypothesis</a:t>
            </a:r>
          </a:p>
          <a:p>
            <a:pPr lvl="2" eaLnBrk="1" hangingPunct="1"/>
            <a:r>
              <a:rPr lang="en-US" altLang="en-US" dirty="0"/>
              <a:t>We think null is wrong, H</a:t>
            </a:r>
            <a:r>
              <a:rPr lang="en-US" altLang="en-US" baseline="-25000" dirty="0"/>
              <a:t>1</a:t>
            </a:r>
            <a:r>
              <a:rPr lang="en-US" altLang="en-US" dirty="0"/>
              <a:t> allows us to state what we think is wrong</a:t>
            </a:r>
          </a:p>
          <a:p>
            <a:pPr lvl="2" eaLnBrk="1" hangingPunct="1"/>
            <a:r>
              <a:rPr lang="en-US" altLang="en-US" dirty="0"/>
              <a:t>Anxiety and depression are correlated</a:t>
            </a:r>
            <a:endParaRPr lang="en-US" alt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40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How do we determine if the null hypothesis should be rejected?</a:t>
            </a:r>
            <a:endParaRPr lang="en-US" b="1" dirty="0"/>
          </a:p>
          <a:p>
            <a:pPr lvl="1"/>
            <a:r>
              <a:rPr lang="en-US" dirty="0"/>
              <a:t>Take a sample of UMN students.</a:t>
            </a:r>
          </a:p>
          <a:p>
            <a:pPr lvl="1"/>
            <a:r>
              <a:rPr lang="en-US" dirty="0"/>
              <a:t>Find the correlation r and compare it with 0.</a:t>
            </a:r>
          </a:p>
          <a:p>
            <a:pPr lvl="1"/>
            <a:r>
              <a:rPr lang="en-US" dirty="0"/>
              <a:t>If it is “too different” from 0, we reject the null hypothesis.</a:t>
            </a:r>
          </a:p>
          <a:p>
            <a:pPr lvl="1"/>
            <a:r>
              <a:rPr lang="en-US" dirty="0"/>
              <a:t>If it is “close enough” to 0, we retain the null hypothesis.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3DE4CB-9E13-45EA-8201-D4366572BB1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Probability, given that H</a:t>
            </a:r>
            <a:r>
              <a:rPr lang="en-US" baseline="-25000" dirty="0"/>
              <a:t>0</a:t>
            </a:r>
            <a:r>
              <a:rPr lang="en-US" dirty="0"/>
              <a:t> is false, that you will obtain outcomes in your sample large enough to reject H</a:t>
            </a:r>
            <a:r>
              <a:rPr lang="en-US" baseline="-25000" dirty="0"/>
              <a:t>0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probability, denoted (1 – </a:t>
            </a:r>
            <a:r>
              <a:rPr lang="en-US" dirty="0">
                <a:latin typeface="Symbol" pitchFamily="18" charset="2"/>
              </a:rPr>
              <a:t>b</a:t>
            </a:r>
            <a:r>
              <a:rPr lang="en-US" dirty="0"/>
              <a:t>), </a:t>
            </a:r>
          </a:p>
          <a:p>
            <a:pPr>
              <a:buNone/>
            </a:pPr>
            <a:r>
              <a:rPr lang="en-US" dirty="0"/>
              <a:t>       where </a:t>
            </a:r>
            <a:r>
              <a:rPr lang="en-US" dirty="0">
                <a:latin typeface="Symbol" pitchFamily="18" charset="2"/>
              </a:rPr>
              <a:t>b </a:t>
            </a:r>
            <a:r>
              <a:rPr lang="en-US" dirty="0"/>
              <a:t>= risk of Type II error.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3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Error in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major types of decision errors:</a:t>
            </a:r>
          </a:p>
          <a:p>
            <a:pPr lvl="1"/>
            <a:r>
              <a:rPr lang="en-US" b="1" dirty="0"/>
              <a:t>Type I error: </a:t>
            </a:r>
            <a:r>
              <a:rPr lang="en-US" dirty="0"/>
              <a:t>We falsely reject H</a:t>
            </a:r>
            <a:r>
              <a:rPr lang="en-US" baseline="-25000" dirty="0"/>
              <a:t>0</a:t>
            </a:r>
            <a:endParaRPr lang="en-US" dirty="0"/>
          </a:p>
          <a:p>
            <a:pPr lvl="2"/>
            <a:r>
              <a:rPr lang="en-US" i="1" dirty="0"/>
              <a:t>False positive</a:t>
            </a:r>
          </a:p>
          <a:p>
            <a:pPr lvl="1"/>
            <a:r>
              <a:rPr lang="en-US" b="1" dirty="0"/>
              <a:t>Type II error: </a:t>
            </a:r>
            <a:r>
              <a:rPr lang="en-US" dirty="0"/>
              <a:t>We decide not to reject H</a:t>
            </a:r>
            <a:r>
              <a:rPr lang="en-US" baseline="-25000" dirty="0"/>
              <a:t>0</a:t>
            </a:r>
            <a:r>
              <a:rPr lang="en-US" dirty="0"/>
              <a:t> when we should</a:t>
            </a:r>
          </a:p>
          <a:p>
            <a:pPr lvl="2"/>
            <a:r>
              <a:rPr lang="en-US" i="1" dirty="0"/>
              <a:t>False negative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09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50" dirty="0"/>
              <a:t>Factors that Affect Statistical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size:</a:t>
            </a:r>
          </a:p>
          <a:p>
            <a:pPr lvl="1"/>
            <a:r>
              <a:rPr lang="en-US" b="1" dirty="0"/>
              <a:t>Larger samples </a:t>
            </a:r>
            <a:r>
              <a:rPr lang="en-US" dirty="0"/>
              <a:t>make it more likely that we can reject H</a:t>
            </a:r>
            <a:r>
              <a:rPr lang="en-US" baseline="-25000" dirty="0"/>
              <a:t>0</a:t>
            </a:r>
            <a:r>
              <a:rPr lang="en-US" dirty="0"/>
              <a:t> (leading to Type II errors)</a:t>
            </a:r>
          </a:p>
          <a:p>
            <a:pPr lvl="2"/>
            <a:r>
              <a:rPr lang="en-US" dirty="0"/>
              <a:t>We will talk more about this later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  <a:p>
            <a:pPr lvl="1"/>
            <a:endParaRPr lang="en-US" sz="1050" dirty="0"/>
          </a:p>
          <a:p>
            <a:r>
              <a:rPr lang="en-US" dirty="0"/>
              <a:t>Alpha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smaller</a:t>
            </a:r>
            <a:r>
              <a:rPr lang="en-US" dirty="0"/>
              <a:t> the value of </a:t>
            </a:r>
            <a:r>
              <a:rPr lang="en-US" dirty="0">
                <a:sym typeface="Symbol"/>
              </a:rPr>
              <a:t>, the more difficult it is to reject </a:t>
            </a:r>
            <a:r>
              <a:rPr lang="en-US" dirty="0"/>
              <a:t>H</a:t>
            </a:r>
            <a:r>
              <a:rPr lang="en-US" baseline="-25000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8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statistical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“Power” to detect an effect when there is one</a:t>
            </a:r>
          </a:p>
          <a:p>
            <a:r>
              <a:rPr lang="en-US" dirty="0"/>
              <a:t>We want power to be reasonably high</a:t>
            </a:r>
          </a:p>
          <a:p>
            <a:pPr lvl="1"/>
            <a:r>
              <a:rPr lang="en-US" dirty="0"/>
              <a:t>If you want a guideline: Usually, about .80</a:t>
            </a:r>
          </a:p>
          <a:p>
            <a:pPr lvl="2"/>
            <a:r>
              <a:rPr lang="en-US" dirty="0"/>
              <a:t>Corresponds to keeping the risk of Type II error low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766878-3199-4EAB-94E7-2D6D11070E1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87580"/>
      </p:ext>
    </p:extLst>
  </p:cSld>
  <p:clrMapOvr>
    <a:masterClrMapping/>
  </p:clrMapOvr>
</p:sld>
</file>

<file path=ppt/theme/theme1.xml><?xml version="1.0" encoding="utf-8"?>
<a:theme xmlns:a="http://schemas.openxmlformats.org/drawingml/2006/main" name="UMN-yellow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D7D9D7"/>
      </a:lt2>
      <a:accent1>
        <a:srgbClr val="7A0019"/>
      </a:accent1>
      <a:accent2>
        <a:srgbClr val="FFCC33"/>
      </a:accent2>
      <a:accent3>
        <a:srgbClr val="C82936"/>
      </a:accent3>
      <a:accent4>
        <a:srgbClr val="003D4C"/>
      </a:accent4>
      <a:accent5>
        <a:srgbClr val="79C9C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MN-yellow" id="{DB2F7133-BA05-44A6-B8AE-F4ACBE427C16}" vid="{EB79D255-8E2F-4960-9A30-A0E24C4AC9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UMN-yellow</Template>
  <TotalTime>2565</TotalTime>
  <Words>473</Words>
  <Application>Microsoft Macintosh PowerPoint</Application>
  <PresentationFormat>On-screen Show (4:3)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Aptos</vt:lpstr>
      <vt:lpstr>Arial</vt:lpstr>
      <vt:lpstr>Corbel</vt:lpstr>
      <vt:lpstr>Symbol</vt:lpstr>
      <vt:lpstr>Times New Roman</vt:lpstr>
      <vt:lpstr>Wingdings</vt:lpstr>
      <vt:lpstr>UMN-yellow</vt:lpstr>
      <vt:lpstr>Determining Sample Size</vt:lpstr>
      <vt:lpstr>Why determining sample size?</vt:lpstr>
      <vt:lpstr>Review: Hypothesis Testing</vt:lpstr>
      <vt:lpstr>An example</vt:lpstr>
      <vt:lpstr>Hypothesis Testing</vt:lpstr>
      <vt:lpstr>PowerPoint Presentation</vt:lpstr>
      <vt:lpstr>PowerPoint Presentation</vt:lpstr>
      <vt:lpstr>Statistical Power</vt:lpstr>
      <vt:lpstr>Decision Error in Statistics</vt:lpstr>
      <vt:lpstr>Factors that Affect Statistical Decisions</vt:lpstr>
      <vt:lpstr>Back to statistical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Wenchao Ma</dc:creator>
  <cp:lastModifiedBy>Wenchao Ma</cp:lastModifiedBy>
  <cp:revision>5</cp:revision>
  <dcterms:created xsi:type="dcterms:W3CDTF">2024-08-21T16:16:39Z</dcterms:created>
  <dcterms:modified xsi:type="dcterms:W3CDTF">2024-10-08T20:56:17Z</dcterms:modified>
</cp:coreProperties>
</file>