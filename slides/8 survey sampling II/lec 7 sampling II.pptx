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75" r:id="rId7"/>
    <p:sldId id="262" r:id="rId8"/>
    <p:sldId id="263" r:id="rId9"/>
    <p:sldId id="264" r:id="rId10"/>
    <p:sldId id="265" r:id="rId11"/>
    <p:sldId id="266" r:id="rId12"/>
    <p:sldId id="267" r:id="rId13"/>
    <p:sldId id="268" r:id="rId14"/>
    <p:sldId id="269" r:id="rId15"/>
    <p:sldId id="270" r:id="rId16"/>
    <p:sldId id="271" r:id="rId17"/>
    <p:sldId id="276" r:id="rId18"/>
    <p:sldId id="277" r:id="rId19"/>
    <p:sldId id="278" r:id="rId20"/>
  </p:sldIdLst>
  <p:sldSz cx="9144000" cy="6858000" type="screen4x3"/>
  <p:notesSz cx="6858000" cy="9144000"/>
  <p:embeddedFontLst>
    <p:embeddedFont>
      <p:font typeface="DM Sans" pitchFamily="2" charset="77"/>
      <p:regular r:id="rId22"/>
      <p:bold r:id="rId23"/>
    </p:embeddedFont>
    <p:embeddedFont>
      <p:font typeface="Verdana" panose="020B0604030504040204"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jXm1RDc2ooUeixtxei7qj3V8Mrw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75643"/>
  </p:normalViewPr>
  <p:slideViewPr>
    <p:cSldViewPr snapToGrid="0">
      <p:cViewPr varScale="1">
        <p:scale>
          <a:sx n="90" d="100"/>
          <a:sy n="90" d="100"/>
        </p:scale>
        <p:origin x="2520" y="19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sciencedirect.com/topics/economics-econometrics-and-finance/public-real-estate"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 name="Google Shape;5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 name="Google Shape;55;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i="0">
                <a:solidFill>
                  <a:srgbClr val="000000"/>
                </a:solidFill>
                <a:highlight>
                  <a:srgbClr val="FFFFFF"/>
                </a:highlight>
                <a:latin typeface="Arial"/>
                <a:ea typeface="Arial"/>
                <a:cs typeface="Arial"/>
                <a:sym typeface="Arial"/>
              </a:rPr>
              <a:t>For example, suppose our desired sample size is n=300, and we wish to ensure that the distribution of subjects' ages in the sample is similar to that in the population. We know from census data that approximately 30% of the population are under age 20; 40% are between 20 and 49; and 30% are 50 years of age and older. We would then sample n=90 persons under age 20, n=120 between the ages of 20 and 49 and n=90 who are 50 years of age and older.</a:t>
            </a:r>
            <a:endParaRPr/>
          </a:p>
          <a:p>
            <a:pPr marL="0" lvl="0" indent="0" algn="l" rtl="0">
              <a:spcBef>
                <a:spcPts val="0"/>
              </a:spcBef>
              <a:spcAft>
                <a:spcPts val="0"/>
              </a:spcAft>
              <a:buNone/>
            </a:pPr>
            <a:endParaRPr b="0" i="0">
              <a:solidFill>
                <a:srgbClr val="000000"/>
              </a:solidFill>
              <a:highlight>
                <a:srgbClr val="FFFFFF"/>
              </a:highlight>
              <a:latin typeface="Arial"/>
              <a:ea typeface="Arial"/>
              <a:cs typeface="Arial"/>
              <a:sym typeface="Arial"/>
            </a:endParaRPr>
          </a:p>
          <a:p>
            <a:pPr marL="0" lvl="0" indent="0" algn="l" rtl="0">
              <a:spcBef>
                <a:spcPts val="0"/>
              </a:spcBef>
              <a:spcAft>
                <a:spcPts val="0"/>
              </a:spcAft>
              <a:buNone/>
            </a:pPr>
            <a:r>
              <a:rPr lang="en-US" b="0" i="0">
                <a:solidFill>
                  <a:srgbClr val="000000"/>
                </a:solidFill>
                <a:highlight>
                  <a:srgbClr val="FFFFFF"/>
                </a:highlight>
                <a:latin typeface="Arial"/>
                <a:ea typeface="Arial"/>
                <a:cs typeface="Arial"/>
                <a:sym typeface="Arial"/>
              </a:rPr>
              <a:t>Quota sampling is different from stratified sampling, because in a stratified sample individuals within each stratum are selected at random. Quota sampling achieves a representative age distribution, but it isn't a random sample, because the sampling frame is unknown. Therefore, the sample may not be representative of the population.</a:t>
            </a:r>
            <a:endParaRPr/>
          </a:p>
        </p:txBody>
      </p:sp>
      <p:sp>
        <p:nvSpPr>
          <p:cNvPr id="63" name="Google Shape;6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 name="Google Shape;72;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highlight>
                  <a:srgbClr val="FFFFFF"/>
                </a:highlight>
                <a:latin typeface="Verdana" panose="020B0604030504040204" pitchFamily="34" charset="0"/>
              </a:rPr>
              <a:t>extreme (or deviant) cases are useful because they often provide significant insight into a particular phenomenon, which can act as lessons (or cases of best practice) that guide future research and practice. </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792717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i="0">
                <a:solidFill>
                  <a:srgbClr val="1F1F1F"/>
                </a:solidFill>
                <a:latin typeface="Arial"/>
                <a:ea typeface="Arial"/>
                <a:cs typeface="Arial"/>
                <a:sym typeface="Arial"/>
              </a:rPr>
              <a:t>Convenience sampling involves using respondents who are “convenient” to the researcher. There is no pattern whatsoever in acquiring these respondents—they may be recruited merely asking people who are present in the street, in a </a:t>
            </a:r>
            <a:r>
              <a:rPr lang="en-US" b="0" i="0" u="sng">
                <a:solidFill>
                  <a:srgbClr val="1F1F1F"/>
                </a:solidFill>
                <a:latin typeface="Arial"/>
                <a:ea typeface="Arial"/>
                <a:cs typeface="Arial"/>
                <a:sym typeface="Arial"/>
                <a:hlinkClick r:id="rId3">
                  <a:extLst>
                    <a:ext uri="{A12FA001-AC4F-418D-AE19-62706E023703}">
                      <ahyp:hlinkClr xmlns:ahyp="http://schemas.microsoft.com/office/drawing/2018/hyperlinkcolor" val="tx"/>
                    </a:ext>
                  </a:extLst>
                </a:hlinkClick>
              </a:rPr>
              <a:t>public building</a:t>
            </a:r>
            <a:r>
              <a:rPr lang="en-US" b="0" i="0">
                <a:solidFill>
                  <a:srgbClr val="1F1F1F"/>
                </a:solidFill>
                <a:latin typeface="Arial"/>
                <a:ea typeface="Arial"/>
                <a:cs typeface="Arial"/>
                <a:sym typeface="Arial"/>
              </a:rPr>
              <a:t>, or in a workplace, for example.</a:t>
            </a:r>
            <a:endParaRPr/>
          </a:p>
        </p:txBody>
      </p:sp>
      <p:sp>
        <p:nvSpPr>
          <p:cNvPr id="112" name="Google Shape;112;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 name="Google Shape;12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13"/>
        <p:cNvGrpSpPr/>
        <p:nvPr/>
      </p:nvGrpSpPr>
      <p:grpSpPr>
        <a:xfrm>
          <a:off x="0" y="0"/>
          <a:ext cx="0" cy="0"/>
          <a:chOff x="0" y="0"/>
          <a:chExt cx="0" cy="0"/>
        </a:xfrm>
      </p:grpSpPr>
      <p:sp>
        <p:nvSpPr>
          <p:cNvPr id="14" name="Google Shape;14;p21"/>
          <p:cNvSpPr txBox="1">
            <a:spLocks noGrp="1"/>
          </p:cNvSpPr>
          <p:nvPr>
            <p:ph type="ctrTitle"/>
          </p:nvPr>
        </p:nvSpPr>
        <p:spPr>
          <a:xfrm>
            <a:off x="685800" y="787400"/>
            <a:ext cx="8001000" cy="11430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solidFill>
                  <a:srgbClr val="7A0019"/>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 name="Google Shape;15;p21"/>
          <p:cNvSpPr txBox="1">
            <a:spLocks noGrp="1"/>
          </p:cNvSpPr>
          <p:nvPr>
            <p:ph type="body" idx="1"/>
          </p:nvPr>
        </p:nvSpPr>
        <p:spPr>
          <a:xfrm>
            <a:off x="685800" y="2921000"/>
            <a:ext cx="8001000" cy="609600"/>
          </a:xfrm>
          <a:prstGeom prst="rect">
            <a:avLst/>
          </a:prstGeom>
          <a:noFill/>
          <a:ln>
            <a:noFill/>
          </a:ln>
        </p:spPr>
        <p:txBody>
          <a:bodyPr spcFirstLastPara="1" wrap="square" lIns="68575" tIns="34275" rIns="68575" bIns="34275" anchor="t" anchorCtr="0">
            <a:noAutofit/>
          </a:bodyPr>
          <a:lstStyle>
            <a:lvl1pPr marL="457200" lvl="0" indent="-228600" algn="l">
              <a:spcBef>
                <a:spcPts val="360"/>
              </a:spcBef>
              <a:spcAft>
                <a:spcPts val="0"/>
              </a:spcAft>
              <a:buSzPts val="1800"/>
              <a:buFont typeface="Arial"/>
              <a:buNone/>
              <a:defRPr sz="1800">
                <a:solidFill>
                  <a:srgbClr val="595959"/>
                </a:solidFill>
              </a:defRPr>
            </a:lvl1pPr>
            <a:lvl2pPr marL="914400" lvl="1" indent="-228600" algn="l">
              <a:spcBef>
                <a:spcPts val="360"/>
              </a:spcBef>
              <a:spcAft>
                <a:spcPts val="0"/>
              </a:spcAft>
              <a:buSzPts val="1800"/>
              <a:buFont typeface="Arial"/>
              <a:buNone/>
              <a:defRPr sz="1800">
                <a:solidFill>
                  <a:srgbClr val="FFFFFF"/>
                </a:solidFill>
              </a:defRPr>
            </a:lvl2pPr>
            <a:lvl3pPr marL="1371600" lvl="2" indent="-228600" algn="l">
              <a:spcBef>
                <a:spcPts val="360"/>
              </a:spcBef>
              <a:spcAft>
                <a:spcPts val="0"/>
              </a:spcAft>
              <a:buSzPts val="1800"/>
              <a:buFont typeface="Arial"/>
              <a:buNone/>
              <a:defRPr sz="1800">
                <a:solidFill>
                  <a:srgbClr val="FFFFFF"/>
                </a:solidFill>
              </a:defRPr>
            </a:lvl3pPr>
            <a:lvl4pPr marL="1828800" lvl="3" indent="-228600" algn="l">
              <a:spcBef>
                <a:spcPts val="360"/>
              </a:spcBef>
              <a:spcAft>
                <a:spcPts val="0"/>
              </a:spcAft>
              <a:buSzPts val="1800"/>
              <a:buFont typeface="Arial"/>
              <a:buNone/>
              <a:defRPr sz="1800">
                <a:solidFill>
                  <a:srgbClr val="FFFFFF"/>
                </a:solidFill>
              </a:defRPr>
            </a:lvl4pPr>
            <a:lvl5pPr marL="2286000" lvl="4" indent="-228600" algn="l">
              <a:spcBef>
                <a:spcPts val="360"/>
              </a:spcBef>
              <a:spcAft>
                <a:spcPts val="0"/>
              </a:spcAft>
              <a:buSzPts val="1800"/>
              <a:buFont typeface="Arial"/>
              <a:buNone/>
              <a:defRPr sz="1800">
                <a:solidFill>
                  <a:srgbClr val="FFFFFF"/>
                </a:solidFill>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6" name="Google Shape;16;p21"/>
          <p:cNvSpPr txBox="1">
            <a:spLocks noGrp="1"/>
          </p:cNvSpPr>
          <p:nvPr>
            <p:ph type="body" idx="2"/>
          </p:nvPr>
        </p:nvSpPr>
        <p:spPr>
          <a:xfrm>
            <a:off x="685800" y="3530600"/>
            <a:ext cx="8001000" cy="508000"/>
          </a:xfrm>
          <a:prstGeom prst="rect">
            <a:avLst/>
          </a:prstGeom>
          <a:noFill/>
          <a:ln>
            <a:noFill/>
          </a:ln>
        </p:spPr>
        <p:txBody>
          <a:bodyPr spcFirstLastPara="1" wrap="square" lIns="68575" tIns="34275" rIns="68575" bIns="34275" anchor="t" anchorCtr="0">
            <a:noAutofit/>
          </a:bodyPr>
          <a:lstStyle>
            <a:lvl1pPr marL="457200" lvl="0" indent="-228600" algn="l">
              <a:spcBef>
                <a:spcPts val="240"/>
              </a:spcBef>
              <a:spcAft>
                <a:spcPts val="0"/>
              </a:spcAft>
              <a:buSzPts val="1200"/>
              <a:buFont typeface="Arial"/>
              <a:buNone/>
              <a:defRPr sz="1200">
                <a:solidFill>
                  <a:srgbClr val="595959"/>
                </a:solidFill>
              </a:defRPr>
            </a:lvl1pPr>
            <a:lvl2pPr marL="914400" lvl="1" indent="-228600" algn="l">
              <a:spcBef>
                <a:spcPts val="240"/>
              </a:spcBef>
              <a:spcAft>
                <a:spcPts val="0"/>
              </a:spcAft>
              <a:buSzPts val="1200"/>
              <a:buFont typeface="Arial"/>
              <a:buNone/>
              <a:defRPr sz="1200">
                <a:solidFill>
                  <a:srgbClr val="FFFFFF"/>
                </a:solidFill>
              </a:defRPr>
            </a:lvl2pPr>
            <a:lvl3pPr marL="1371600" lvl="2" indent="-228600" algn="l">
              <a:spcBef>
                <a:spcPts val="240"/>
              </a:spcBef>
              <a:spcAft>
                <a:spcPts val="0"/>
              </a:spcAft>
              <a:buSzPts val="1200"/>
              <a:buFont typeface="Arial"/>
              <a:buNone/>
              <a:defRPr sz="1200">
                <a:solidFill>
                  <a:srgbClr val="FFFFFF"/>
                </a:solidFill>
              </a:defRPr>
            </a:lvl3pPr>
            <a:lvl4pPr marL="1828800" lvl="3" indent="-228600" algn="l">
              <a:spcBef>
                <a:spcPts val="240"/>
              </a:spcBef>
              <a:spcAft>
                <a:spcPts val="0"/>
              </a:spcAft>
              <a:buSzPts val="1200"/>
              <a:buFont typeface="Arial"/>
              <a:buNone/>
              <a:defRPr sz="1200">
                <a:solidFill>
                  <a:srgbClr val="FFFFFF"/>
                </a:solidFill>
              </a:defRPr>
            </a:lvl4pPr>
            <a:lvl5pPr marL="2286000" lvl="4" indent="-228600" algn="l">
              <a:spcBef>
                <a:spcPts val="240"/>
              </a:spcBef>
              <a:spcAft>
                <a:spcPts val="0"/>
              </a:spcAft>
              <a:buSzPts val="1200"/>
              <a:buFont typeface="Arial"/>
              <a:buNone/>
              <a:defRPr sz="1200">
                <a:solidFill>
                  <a:srgbClr val="FFFFFF"/>
                </a:solidFill>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pic>
        <p:nvPicPr>
          <p:cNvPr id="17" name="Google Shape;17;p21" descr="/Users/ranja/Documents/5-resources/ppt/2018 ppt-with R/new/working files/graphics_4x3-M-gold.png"/>
          <p:cNvPicPr preferRelativeResize="0"/>
          <p:nvPr/>
        </p:nvPicPr>
        <p:blipFill rotWithShape="1">
          <a:blip r:embed="rId2">
            <a:alphaModFix/>
          </a:blip>
          <a:srcRect r="10000"/>
          <a:stretch/>
        </p:blipFill>
        <p:spPr>
          <a:xfrm>
            <a:off x="0" y="6387041"/>
            <a:ext cx="9144000" cy="466344"/>
          </a:xfrm>
          <a:prstGeom prst="rect">
            <a:avLst/>
          </a:prstGeom>
          <a:noFill/>
          <a:ln>
            <a:noFill/>
          </a:ln>
        </p:spPr>
      </p:pic>
      <p:pic>
        <p:nvPicPr>
          <p:cNvPr id="18" name="Google Shape;18;p21" descr="A cartoon of a beaver with a large letter&#10;&#10;Description automatically generated"/>
          <p:cNvPicPr preferRelativeResize="0"/>
          <p:nvPr/>
        </p:nvPicPr>
        <p:blipFill rotWithShape="1">
          <a:blip r:embed="rId3">
            <a:alphaModFix/>
          </a:blip>
          <a:srcRect/>
          <a:stretch/>
        </p:blipFill>
        <p:spPr>
          <a:xfrm>
            <a:off x="6400794" y="4956044"/>
            <a:ext cx="2743206" cy="190195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22"/>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1" name="Google Shape;21;p22"/>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722313" y="4406905"/>
            <a:ext cx="7772400" cy="1362075"/>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SzPts val="1400"/>
              <a:buNone/>
              <a:defRPr sz="3000" b="0" i="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722313" y="2906713"/>
            <a:ext cx="7772400" cy="1500187"/>
          </a:xfrm>
          <a:prstGeom prst="rect">
            <a:avLst/>
          </a:prstGeom>
          <a:noFill/>
          <a:ln>
            <a:noFill/>
          </a:ln>
        </p:spPr>
        <p:txBody>
          <a:bodyPr spcFirstLastPara="1" wrap="square" lIns="68575" tIns="34275" rIns="68575" bIns="34275" anchor="b" anchorCtr="0">
            <a:noAutofit/>
          </a:bodyPr>
          <a:lstStyle>
            <a:lvl1pPr marL="457200" lvl="0" indent="-228600" algn="l">
              <a:spcBef>
                <a:spcPts val="300"/>
              </a:spcBef>
              <a:spcAft>
                <a:spcPts val="0"/>
              </a:spcAft>
              <a:buSzPts val="1500"/>
              <a:buFont typeface="Arial"/>
              <a:buNone/>
              <a:defRPr sz="1500"/>
            </a:lvl1pPr>
            <a:lvl2pPr marL="914400" lvl="1" indent="-228600" algn="l">
              <a:spcBef>
                <a:spcPts val="280"/>
              </a:spcBef>
              <a:spcAft>
                <a:spcPts val="0"/>
              </a:spcAft>
              <a:buSzPts val="1400"/>
              <a:buFont typeface="Arial"/>
              <a:buNone/>
              <a:defRPr sz="1400"/>
            </a:lvl2pPr>
            <a:lvl3pPr marL="1371600" lvl="2" indent="-228600" algn="l">
              <a:spcBef>
                <a:spcPts val="240"/>
              </a:spcBef>
              <a:spcAft>
                <a:spcPts val="0"/>
              </a:spcAft>
              <a:buSzPts val="1200"/>
              <a:buFont typeface="Arial"/>
              <a:buNone/>
              <a:defRPr sz="1200"/>
            </a:lvl3pPr>
            <a:lvl4pPr marL="1828800" lvl="3" indent="-228600" algn="l">
              <a:spcBef>
                <a:spcPts val="22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228600" algn="l">
              <a:spcBef>
                <a:spcPts val="220"/>
              </a:spcBef>
              <a:spcAft>
                <a:spcPts val="0"/>
              </a:spcAft>
              <a:buSzPts val="1100"/>
              <a:buFont typeface="Arial"/>
              <a:buNone/>
              <a:defRPr sz="1100"/>
            </a:lvl6pPr>
            <a:lvl7pPr marL="3200400" lvl="6" indent="-228600" algn="l">
              <a:spcBef>
                <a:spcPts val="220"/>
              </a:spcBef>
              <a:spcAft>
                <a:spcPts val="0"/>
              </a:spcAft>
              <a:buSzPts val="1100"/>
              <a:buFont typeface="Arial"/>
              <a:buNone/>
              <a:defRPr sz="1100"/>
            </a:lvl7pPr>
            <a:lvl8pPr marL="3657600" lvl="7" indent="-228600" algn="l">
              <a:spcBef>
                <a:spcPts val="220"/>
              </a:spcBef>
              <a:spcAft>
                <a:spcPts val="0"/>
              </a:spcAft>
              <a:buSzPts val="1100"/>
              <a:buFont typeface="Arial"/>
              <a:buNone/>
              <a:defRPr sz="1100"/>
            </a:lvl8pPr>
            <a:lvl9pPr marL="4114800" lvl="8" indent="-228600" algn="l">
              <a:spcBef>
                <a:spcPts val="220"/>
              </a:spcBef>
              <a:spcAft>
                <a:spcPts val="0"/>
              </a:spcAft>
              <a:buSzPts val="1100"/>
              <a:buFont typeface="Arial"/>
              <a:buNone/>
              <a:defRPr sz="11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25"/>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8" name="Google Shape;28;p25"/>
          <p:cNvSpPr txBox="1">
            <a:spLocks noGrp="1"/>
          </p:cNvSpPr>
          <p:nvPr>
            <p:ph type="body" idx="1"/>
          </p:nvPr>
        </p:nvSpPr>
        <p:spPr>
          <a:xfrm>
            <a:off x="685800" y="1752600"/>
            <a:ext cx="3810000" cy="3962400"/>
          </a:xfrm>
          <a:prstGeom prst="rect">
            <a:avLst/>
          </a:prstGeom>
          <a:noFill/>
          <a:ln>
            <a:noFill/>
          </a:ln>
        </p:spPr>
        <p:txBody>
          <a:bodyPr spcFirstLastPara="1" wrap="square" lIns="68575" tIns="34275" rIns="68575" bIns="34275" anchor="t" anchorCtr="0">
            <a:noAutofit/>
          </a:bodyPr>
          <a:lstStyle>
            <a:lvl1pPr marL="457200" lvl="0" indent="-361950" algn="l">
              <a:spcBef>
                <a:spcPts val="420"/>
              </a:spcBef>
              <a:spcAft>
                <a:spcPts val="0"/>
              </a:spcAft>
              <a:buSzPts val="2100"/>
              <a:buFont typeface="Arial"/>
              <a:buChar char="•"/>
              <a:defRPr sz="2100"/>
            </a:lvl1pPr>
            <a:lvl2pPr marL="914400" lvl="1" indent="-342900" algn="l">
              <a:spcBef>
                <a:spcPts val="360"/>
              </a:spcBef>
              <a:spcAft>
                <a:spcPts val="0"/>
              </a:spcAft>
              <a:buSzPts val="1800"/>
              <a:buFont typeface="Arial"/>
              <a:buChar char="–"/>
              <a:defRPr sz="1800"/>
            </a:lvl2pPr>
            <a:lvl3pPr marL="1371600" lvl="2" indent="-323850" algn="l">
              <a:spcBef>
                <a:spcPts val="300"/>
              </a:spcBef>
              <a:spcAft>
                <a:spcPts val="0"/>
              </a:spcAft>
              <a:buSzPts val="1500"/>
              <a:buFont typeface="Arial"/>
              <a:buChar char="•"/>
              <a:defRPr sz="1500"/>
            </a:lvl3pPr>
            <a:lvl4pPr marL="1828800" lvl="3" indent="-317500" algn="l">
              <a:spcBef>
                <a:spcPts val="280"/>
              </a:spcBef>
              <a:spcAft>
                <a:spcPts val="0"/>
              </a:spcAft>
              <a:buSzPts val="1400"/>
              <a:buFont typeface="Arial"/>
              <a:buChar char="–"/>
              <a:defRPr sz="1400"/>
            </a:lvl4pPr>
            <a:lvl5pPr marL="2286000" lvl="4" indent="-317500" algn="l">
              <a:spcBef>
                <a:spcPts val="280"/>
              </a:spcBef>
              <a:spcAft>
                <a:spcPts val="0"/>
              </a:spcAft>
              <a:buSzPts val="1400"/>
              <a:buFont typeface="Arial"/>
              <a:buChar char="»"/>
              <a:defRPr sz="1400"/>
            </a:lvl5pPr>
            <a:lvl6pPr marL="2743200" lvl="5" indent="-317500" algn="l">
              <a:spcBef>
                <a:spcPts val="280"/>
              </a:spcBef>
              <a:spcAft>
                <a:spcPts val="0"/>
              </a:spcAft>
              <a:buSzPts val="1400"/>
              <a:buFont typeface="Arial"/>
              <a:buChar char="»"/>
              <a:defRPr sz="1400"/>
            </a:lvl6pPr>
            <a:lvl7pPr marL="3200400" lvl="6" indent="-317500" algn="l">
              <a:spcBef>
                <a:spcPts val="280"/>
              </a:spcBef>
              <a:spcAft>
                <a:spcPts val="0"/>
              </a:spcAft>
              <a:buSzPts val="1400"/>
              <a:buFont typeface="Arial"/>
              <a:buChar char="»"/>
              <a:defRPr sz="1400"/>
            </a:lvl7pPr>
            <a:lvl8pPr marL="3657600" lvl="7" indent="-317500" algn="l">
              <a:spcBef>
                <a:spcPts val="280"/>
              </a:spcBef>
              <a:spcAft>
                <a:spcPts val="0"/>
              </a:spcAft>
              <a:buSzPts val="1400"/>
              <a:buFont typeface="Arial"/>
              <a:buChar char="»"/>
              <a:defRPr sz="1400"/>
            </a:lvl8pPr>
            <a:lvl9pPr marL="4114800" lvl="8" indent="-317500" algn="l">
              <a:spcBef>
                <a:spcPts val="280"/>
              </a:spcBef>
              <a:spcAft>
                <a:spcPts val="0"/>
              </a:spcAft>
              <a:buSzPts val="1400"/>
              <a:buFont typeface="Arial"/>
              <a:buChar char="»"/>
              <a:defRPr sz="1400"/>
            </a:lvl9pPr>
          </a:lstStyle>
          <a:p>
            <a:endParaRPr/>
          </a:p>
        </p:txBody>
      </p:sp>
      <p:sp>
        <p:nvSpPr>
          <p:cNvPr id="29" name="Google Shape;29;p25"/>
          <p:cNvSpPr txBox="1">
            <a:spLocks noGrp="1"/>
          </p:cNvSpPr>
          <p:nvPr>
            <p:ph type="body" idx="2"/>
          </p:nvPr>
        </p:nvSpPr>
        <p:spPr>
          <a:xfrm>
            <a:off x="4648200" y="1752600"/>
            <a:ext cx="3810000" cy="3962400"/>
          </a:xfrm>
          <a:prstGeom prst="rect">
            <a:avLst/>
          </a:prstGeom>
          <a:noFill/>
          <a:ln>
            <a:noFill/>
          </a:ln>
        </p:spPr>
        <p:txBody>
          <a:bodyPr spcFirstLastPara="1" wrap="square" lIns="68575" tIns="34275" rIns="68575" bIns="34275" anchor="t" anchorCtr="0">
            <a:noAutofit/>
          </a:bodyPr>
          <a:lstStyle>
            <a:lvl1pPr marL="457200" lvl="0" indent="-361950" algn="l">
              <a:spcBef>
                <a:spcPts val="420"/>
              </a:spcBef>
              <a:spcAft>
                <a:spcPts val="0"/>
              </a:spcAft>
              <a:buSzPts val="2100"/>
              <a:buFont typeface="Arial"/>
              <a:buChar char="•"/>
              <a:defRPr sz="2100"/>
            </a:lvl1pPr>
            <a:lvl2pPr marL="914400" lvl="1" indent="-342900" algn="l">
              <a:spcBef>
                <a:spcPts val="360"/>
              </a:spcBef>
              <a:spcAft>
                <a:spcPts val="0"/>
              </a:spcAft>
              <a:buSzPts val="1800"/>
              <a:buFont typeface="Arial"/>
              <a:buChar char="–"/>
              <a:defRPr sz="1800"/>
            </a:lvl2pPr>
            <a:lvl3pPr marL="1371600" lvl="2" indent="-323850" algn="l">
              <a:spcBef>
                <a:spcPts val="300"/>
              </a:spcBef>
              <a:spcAft>
                <a:spcPts val="0"/>
              </a:spcAft>
              <a:buSzPts val="1500"/>
              <a:buFont typeface="Arial"/>
              <a:buChar char="•"/>
              <a:defRPr sz="1500"/>
            </a:lvl3pPr>
            <a:lvl4pPr marL="1828800" lvl="3" indent="-317500" algn="l">
              <a:spcBef>
                <a:spcPts val="280"/>
              </a:spcBef>
              <a:spcAft>
                <a:spcPts val="0"/>
              </a:spcAft>
              <a:buSzPts val="1400"/>
              <a:buFont typeface="Arial"/>
              <a:buChar char="–"/>
              <a:defRPr sz="1400"/>
            </a:lvl4pPr>
            <a:lvl5pPr marL="2286000" lvl="4" indent="-317500" algn="l">
              <a:spcBef>
                <a:spcPts val="280"/>
              </a:spcBef>
              <a:spcAft>
                <a:spcPts val="0"/>
              </a:spcAft>
              <a:buSzPts val="1400"/>
              <a:buFont typeface="Arial"/>
              <a:buChar char="»"/>
              <a:defRPr sz="1400"/>
            </a:lvl5pPr>
            <a:lvl6pPr marL="2743200" lvl="5" indent="-317500" algn="l">
              <a:spcBef>
                <a:spcPts val="280"/>
              </a:spcBef>
              <a:spcAft>
                <a:spcPts val="0"/>
              </a:spcAft>
              <a:buSzPts val="1400"/>
              <a:buFont typeface="Arial"/>
              <a:buChar char="»"/>
              <a:defRPr sz="1400"/>
            </a:lvl6pPr>
            <a:lvl7pPr marL="3200400" lvl="6" indent="-317500" algn="l">
              <a:spcBef>
                <a:spcPts val="280"/>
              </a:spcBef>
              <a:spcAft>
                <a:spcPts val="0"/>
              </a:spcAft>
              <a:buSzPts val="1400"/>
              <a:buFont typeface="Arial"/>
              <a:buChar char="»"/>
              <a:defRPr sz="1400"/>
            </a:lvl7pPr>
            <a:lvl8pPr marL="3657600" lvl="7" indent="-317500" algn="l">
              <a:spcBef>
                <a:spcPts val="280"/>
              </a:spcBef>
              <a:spcAft>
                <a:spcPts val="0"/>
              </a:spcAft>
              <a:buSzPts val="1400"/>
              <a:buFont typeface="Arial"/>
              <a:buChar char="»"/>
              <a:defRPr sz="1400"/>
            </a:lvl8pPr>
            <a:lvl9pPr marL="4114800" lvl="8" indent="-317500" algn="l">
              <a:spcBef>
                <a:spcPts val="280"/>
              </a:spcBef>
              <a:spcAft>
                <a:spcPts val="0"/>
              </a:spcAft>
              <a:buSzPts val="1400"/>
              <a:buFont typeface="Arial"/>
              <a:buChar char="»"/>
              <a:defRPr sz="14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457200" y="274639"/>
            <a:ext cx="8229600" cy="11430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457200" y="1535117"/>
            <a:ext cx="4040188" cy="639763"/>
          </a:xfrm>
          <a:prstGeom prst="rect">
            <a:avLst/>
          </a:prstGeom>
          <a:noFill/>
          <a:ln>
            <a:noFill/>
          </a:ln>
        </p:spPr>
        <p:txBody>
          <a:bodyPr spcFirstLastPara="1" wrap="square" lIns="68575" tIns="34275" rIns="68575" bIns="34275" anchor="b" anchorCtr="0">
            <a:noAutofit/>
          </a:bodyPr>
          <a:lstStyle>
            <a:lvl1pPr marL="457200" lvl="0" indent="-228600" algn="l">
              <a:spcBef>
                <a:spcPts val="360"/>
              </a:spcBef>
              <a:spcAft>
                <a:spcPts val="0"/>
              </a:spcAft>
              <a:buSzPts val="1800"/>
              <a:buFont typeface="Arial"/>
              <a:buNone/>
              <a:defRPr sz="1800" b="1"/>
            </a:lvl1pPr>
            <a:lvl2pPr marL="914400" lvl="1" indent="-228600" algn="l">
              <a:spcBef>
                <a:spcPts val="300"/>
              </a:spcBef>
              <a:spcAft>
                <a:spcPts val="0"/>
              </a:spcAft>
              <a:buSzPts val="1500"/>
              <a:buFont typeface="Arial"/>
              <a:buNone/>
              <a:defRPr sz="1500" b="1"/>
            </a:lvl2pPr>
            <a:lvl3pPr marL="1371600" lvl="2" indent="-228600" algn="l">
              <a:spcBef>
                <a:spcPts val="280"/>
              </a:spcBef>
              <a:spcAft>
                <a:spcPts val="0"/>
              </a:spcAft>
              <a:buSzPts val="1400"/>
              <a:buFont typeface="Arial"/>
              <a:buNone/>
              <a:defRPr sz="1400" b="1"/>
            </a:lvl3pPr>
            <a:lvl4pPr marL="1828800" lvl="3" indent="-228600" algn="l">
              <a:spcBef>
                <a:spcPts val="240"/>
              </a:spcBef>
              <a:spcAft>
                <a:spcPts val="0"/>
              </a:spcAft>
              <a:buSzPts val="1200"/>
              <a:buFont typeface="Arial"/>
              <a:buNone/>
              <a:defRPr sz="1200" b="1"/>
            </a:lvl4pPr>
            <a:lvl5pPr marL="2286000" lvl="4" indent="-228600" algn="l">
              <a:spcBef>
                <a:spcPts val="240"/>
              </a:spcBef>
              <a:spcAft>
                <a:spcPts val="0"/>
              </a:spcAft>
              <a:buSzPts val="1200"/>
              <a:buFont typeface="Arial"/>
              <a:buNone/>
              <a:defRPr sz="1200" b="1"/>
            </a:lvl5pPr>
            <a:lvl6pPr marL="2743200" lvl="5" indent="-228600" algn="l">
              <a:spcBef>
                <a:spcPts val="240"/>
              </a:spcBef>
              <a:spcAft>
                <a:spcPts val="0"/>
              </a:spcAft>
              <a:buSzPts val="1200"/>
              <a:buFont typeface="Arial"/>
              <a:buNone/>
              <a:defRPr sz="1200" b="1"/>
            </a:lvl6pPr>
            <a:lvl7pPr marL="3200400" lvl="6" indent="-228600" algn="l">
              <a:spcBef>
                <a:spcPts val="240"/>
              </a:spcBef>
              <a:spcAft>
                <a:spcPts val="0"/>
              </a:spcAft>
              <a:buSzPts val="1200"/>
              <a:buFont typeface="Arial"/>
              <a:buNone/>
              <a:defRPr sz="1200" b="1"/>
            </a:lvl7pPr>
            <a:lvl8pPr marL="3657600" lvl="7" indent="-228600" algn="l">
              <a:spcBef>
                <a:spcPts val="240"/>
              </a:spcBef>
              <a:spcAft>
                <a:spcPts val="0"/>
              </a:spcAft>
              <a:buSzPts val="1200"/>
              <a:buFont typeface="Arial"/>
              <a:buNone/>
              <a:defRPr sz="1200" b="1"/>
            </a:lvl8pPr>
            <a:lvl9pPr marL="4114800" lvl="8" indent="-228600" algn="l">
              <a:spcBef>
                <a:spcPts val="240"/>
              </a:spcBef>
              <a:spcAft>
                <a:spcPts val="0"/>
              </a:spcAft>
              <a:buSzPts val="1200"/>
              <a:buFont typeface="Arial"/>
              <a:buNone/>
              <a:defRPr sz="1200" b="1"/>
            </a:lvl9pPr>
          </a:lstStyle>
          <a:p>
            <a:endParaRPr/>
          </a:p>
        </p:txBody>
      </p:sp>
      <p:sp>
        <p:nvSpPr>
          <p:cNvPr id="33" name="Google Shape;33;p26"/>
          <p:cNvSpPr txBox="1">
            <a:spLocks noGrp="1"/>
          </p:cNvSpPr>
          <p:nvPr>
            <p:ph type="body" idx="2"/>
          </p:nvPr>
        </p:nvSpPr>
        <p:spPr>
          <a:xfrm>
            <a:off x="457200" y="2174875"/>
            <a:ext cx="4040188" cy="3951288"/>
          </a:xfrm>
          <a:prstGeom prst="rect">
            <a:avLst/>
          </a:prstGeom>
          <a:noFill/>
          <a:ln>
            <a:noFill/>
          </a:ln>
        </p:spPr>
        <p:txBody>
          <a:bodyPr spcFirstLastPara="1" wrap="square" lIns="68575" tIns="34275" rIns="68575" bIns="34275" anchor="t" anchorCtr="0">
            <a:noAutofit/>
          </a:bodyPr>
          <a:lstStyle>
            <a:lvl1pPr marL="457200" lvl="0" indent="-342900" algn="l">
              <a:spcBef>
                <a:spcPts val="360"/>
              </a:spcBef>
              <a:spcAft>
                <a:spcPts val="0"/>
              </a:spcAft>
              <a:buSzPts val="1800"/>
              <a:buFont typeface="Arial"/>
              <a:buChar char="•"/>
              <a:defRPr sz="1800"/>
            </a:lvl1pPr>
            <a:lvl2pPr marL="914400" lvl="1" indent="-323850" algn="l">
              <a:spcBef>
                <a:spcPts val="300"/>
              </a:spcBef>
              <a:spcAft>
                <a:spcPts val="0"/>
              </a:spcAft>
              <a:buSzPts val="1500"/>
              <a:buFont typeface="Arial"/>
              <a:buChar char="–"/>
              <a:defRPr sz="1500"/>
            </a:lvl2pPr>
            <a:lvl3pPr marL="1371600" lvl="2" indent="-317500" algn="l">
              <a:spcBef>
                <a:spcPts val="280"/>
              </a:spcBef>
              <a:spcAft>
                <a:spcPts val="0"/>
              </a:spcAft>
              <a:buSzPts val="1400"/>
              <a:buFont typeface="Arial"/>
              <a:buChar char="•"/>
              <a:defRPr sz="1400"/>
            </a:lvl3pPr>
            <a:lvl4pPr marL="1828800" lvl="3" indent="-304800" algn="l">
              <a:spcBef>
                <a:spcPts val="240"/>
              </a:spcBef>
              <a:spcAft>
                <a:spcPts val="0"/>
              </a:spcAft>
              <a:buSzPts val="1200"/>
              <a:buFont typeface="Arial"/>
              <a:buChar char="–"/>
              <a:defRPr sz="1200"/>
            </a:lvl4pPr>
            <a:lvl5pPr marL="2286000" lvl="4" indent="-304800" algn="l">
              <a:spcBef>
                <a:spcPts val="240"/>
              </a:spcBef>
              <a:spcAft>
                <a:spcPts val="0"/>
              </a:spcAft>
              <a:buSzPts val="1200"/>
              <a:buFont typeface="Arial"/>
              <a:buChar char="»"/>
              <a:defRPr sz="1200"/>
            </a:lvl5pPr>
            <a:lvl6pPr marL="2743200" lvl="5" indent="-304800" algn="l">
              <a:spcBef>
                <a:spcPts val="240"/>
              </a:spcBef>
              <a:spcAft>
                <a:spcPts val="0"/>
              </a:spcAft>
              <a:buSzPts val="1200"/>
              <a:buFont typeface="Arial"/>
              <a:buChar char="»"/>
              <a:defRPr sz="1200"/>
            </a:lvl6pPr>
            <a:lvl7pPr marL="3200400" lvl="6" indent="-304800" algn="l">
              <a:spcBef>
                <a:spcPts val="240"/>
              </a:spcBef>
              <a:spcAft>
                <a:spcPts val="0"/>
              </a:spcAft>
              <a:buSzPts val="1200"/>
              <a:buFont typeface="Arial"/>
              <a:buChar char="»"/>
              <a:defRPr sz="1200"/>
            </a:lvl7pPr>
            <a:lvl8pPr marL="3657600" lvl="7" indent="-304800" algn="l">
              <a:spcBef>
                <a:spcPts val="240"/>
              </a:spcBef>
              <a:spcAft>
                <a:spcPts val="0"/>
              </a:spcAft>
              <a:buSzPts val="1200"/>
              <a:buFont typeface="Arial"/>
              <a:buChar char="»"/>
              <a:defRPr sz="1200"/>
            </a:lvl8pPr>
            <a:lvl9pPr marL="4114800" lvl="8" indent="-304800" algn="l">
              <a:spcBef>
                <a:spcPts val="240"/>
              </a:spcBef>
              <a:spcAft>
                <a:spcPts val="0"/>
              </a:spcAft>
              <a:buSzPts val="1200"/>
              <a:buFont typeface="Arial"/>
              <a:buChar char="»"/>
              <a:defRPr sz="1200"/>
            </a:lvl9pPr>
          </a:lstStyle>
          <a:p>
            <a:endParaRPr/>
          </a:p>
        </p:txBody>
      </p:sp>
      <p:sp>
        <p:nvSpPr>
          <p:cNvPr id="34" name="Google Shape;34;p26"/>
          <p:cNvSpPr txBox="1">
            <a:spLocks noGrp="1"/>
          </p:cNvSpPr>
          <p:nvPr>
            <p:ph type="body" idx="3"/>
          </p:nvPr>
        </p:nvSpPr>
        <p:spPr>
          <a:xfrm>
            <a:off x="4645028" y="1535117"/>
            <a:ext cx="4041775" cy="639763"/>
          </a:xfrm>
          <a:prstGeom prst="rect">
            <a:avLst/>
          </a:prstGeom>
          <a:noFill/>
          <a:ln>
            <a:noFill/>
          </a:ln>
        </p:spPr>
        <p:txBody>
          <a:bodyPr spcFirstLastPara="1" wrap="square" lIns="68575" tIns="34275" rIns="68575" bIns="34275" anchor="b" anchorCtr="0">
            <a:noAutofit/>
          </a:bodyPr>
          <a:lstStyle>
            <a:lvl1pPr marL="457200" lvl="0" indent="-228600" algn="l">
              <a:spcBef>
                <a:spcPts val="360"/>
              </a:spcBef>
              <a:spcAft>
                <a:spcPts val="0"/>
              </a:spcAft>
              <a:buSzPts val="1800"/>
              <a:buFont typeface="Arial"/>
              <a:buNone/>
              <a:defRPr sz="1800" b="1"/>
            </a:lvl1pPr>
            <a:lvl2pPr marL="914400" lvl="1" indent="-228600" algn="l">
              <a:spcBef>
                <a:spcPts val="300"/>
              </a:spcBef>
              <a:spcAft>
                <a:spcPts val="0"/>
              </a:spcAft>
              <a:buSzPts val="1500"/>
              <a:buFont typeface="Arial"/>
              <a:buNone/>
              <a:defRPr sz="1500" b="1"/>
            </a:lvl2pPr>
            <a:lvl3pPr marL="1371600" lvl="2" indent="-228600" algn="l">
              <a:spcBef>
                <a:spcPts val="280"/>
              </a:spcBef>
              <a:spcAft>
                <a:spcPts val="0"/>
              </a:spcAft>
              <a:buSzPts val="1400"/>
              <a:buFont typeface="Arial"/>
              <a:buNone/>
              <a:defRPr sz="1400" b="1"/>
            </a:lvl3pPr>
            <a:lvl4pPr marL="1828800" lvl="3" indent="-228600" algn="l">
              <a:spcBef>
                <a:spcPts val="240"/>
              </a:spcBef>
              <a:spcAft>
                <a:spcPts val="0"/>
              </a:spcAft>
              <a:buSzPts val="1200"/>
              <a:buFont typeface="Arial"/>
              <a:buNone/>
              <a:defRPr sz="1200" b="1"/>
            </a:lvl4pPr>
            <a:lvl5pPr marL="2286000" lvl="4" indent="-228600" algn="l">
              <a:spcBef>
                <a:spcPts val="240"/>
              </a:spcBef>
              <a:spcAft>
                <a:spcPts val="0"/>
              </a:spcAft>
              <a:buSzPts val="1200"/>
              <a:buFont typeface="Arial"/>
              <a:buNone/>
              <a:defRPr sz="1200" b="1"/>
            </a:lvl5pPr>
            <a:lvl6pPr marL="2743200" lvl="5" indent="-228600" algn="l">
              <a:spcBef>
                <a:spcPts val="240"/>
              </a:spcBef>
              <a:spcAft>
                <a:spcPts val="0"/>
              </a:spcAft>
              <a:buSzPts val="1200"/>
              <a:buFont typeface="Arial"/>
              <a:buNone/>
              <a:defRPr sz="1200" b="1"/>
            </a:lvl6pPr>
            <a:lvl7pPr marL="3200400" lvl="6" indent="-228600" algn="l">
              <a:spcBef>
                <a:spcPts val="240"/>
              </a:spcBef>
              <a:spcAft>
                <a:spcPts val="0"/>
              </a:spcAft>
              <a:buSzPts val="1200"/>
              <a:buFont typeface="Arial"/>
              <a:buNone/>
              <a:defRPr sz="1200" b="1"/>
            </a:lvl7pPr>
            <a:lvl8pPr marL="3657600" lvl="7" indent="-228600" algn="l">
              <a:spcBef>
                <a:spcPts val="240"/>
              </a:spcBef>
              <a:spcAft>
                <a:spcPts val="0"/>
              </a:spcAft>
              <a:buSzPts val="1200"/>
              <a:buFont typeface="Arial"/>
              <a:buNone/>
              <a:defRPr sz="1200" b="1"/>
            </a:lvl8pPr>
            <a:lvl9pPr marL="4114800" lvl="8" indent="-228600" algn="l">
              <a:spcBef>
                <a:spcPts val="240"/>
              </a:spcBef>
              <a:spcAft>
                <a:spcPts val="0"/>
              </a:spcAft>
              <a:buSzPts val="1200"/>
              <a:buFont typeface="Arial"/>
              <a:buNone/>
              <a:defRPr sz="1200" b="1"/>
            </a:lvl9pPr>
          </a:lstStyle>
          <a:p>
            <a:endParaRPr/>
          </a:p>
        </p:txBody>
      </p:sp>
      <p:sp>
        <p:nvSpPr>
          <p:cNvPr id="35" name="Google Shape;35;p26"/>
          <p:cNvSpPr txBox="1">
            <a:spLocks noGrp="1"/>
          </p:cNvSpPr>
          <p:nvPr>
            <p:ph type="body" idx="4"/>
          </p:nvPr>
        </p:nvSpPr>
        <p:spPr>
          <a:xfrm>
            <a:off x="4645028" y="2174875"/>
            <a:ext cx="4041775" cy="3951288"/>
          </a:xfrm>
          <a:prstGeom prst="rect">
            <a:avLst/>
          </a:prstGeom>
          <a:noFill/>
          <a:ln>
            <a:noFill/>
          </a:ln>
        </p:spPr>
        <p:txBody>
          <a:bodyPr spcFirstLastPara="1" wrap="square" lIns="68575" tIns="34275" rIns="68575" bIns="34275" anchor="t" anchorCtr="0">
            <a:noAutofit/>
          </a:bodyPr>
          <a:lstStyle>
            <a:lvl1pPr marL="457200" lvl="0" indent="-342900" algn="l">
              <a:spcBef>
                <a:spcPts val="360"/>
              </a:spcBef>
              <a:spcAft>
                <a:spcPts val="0"/>
              </a:spcAft>
              <a:buSzPts val="1800"/>
              <a:buFont typeface="Arial"/>
              <a:buChar char="•"/>
              <a:defRPr sz="1800"/>
            </a:lvl1pPr>
            <a:lvl2pPr marL="914400" lvl="1" indent="-323850" algn="l">
              <a:spcBef>
                <a:spcPts val="300"/>
              </a:spcBef>
              <a:spcAft>
                <a:spcPts val="0"/>
              </a:spcAft>
              <a:buSzPts val="1500"/>
              <a:buFont typeface="Arial"/>
              <a:buChar char="–"/>
              <a:defRPr sz="1500"/>
            </a:lvl2pPr>
            <a:lvl3pPr marL="1371600" lvl="2" indent="-317500" algn="l">
              <a:spcBef>
                <a:spcPts val="280"/>
              </a:spcBef>
              <a:spcAft>
                <a:spcPts val="0"/>
              </a:spcAft>
              <a:buSzPts val="1400"/>
              <a:buFont typeface="Arial"/>
              <a:buChar char="•"/>
              <a:defRPr sz="1400"/>
            </a:lvl3pPr>
            <a:lvl4pPr marL="1828800" lvl="3" indent="-304800" algn="l">
              <a:spcBef>
                <a:spcPts val="240"/>
              </a:spcBef>
              <a:spcAft>
                <a:spcPts val="0"/>
              </a:spcAft>
              <a:buSzPts val="1200"/>
              <a:buFont typeface="Arial"/>
              <a:buChar char="–"/>
              <a:defRPr sz="1200"/>
            </a:lvl4pPr>
            <a:lvl5pPr marL="2286000" lvl="4" indent="-304800" algn="l">
              <a:spcBef>
                <a:spcPts val="240"/>
              </a:spcBef>
              <a:spcAft>
                <a:spcPts val="0"/>
              </a:spcAft>
              <a:buSzPts val="1200"/>
              <a:buFont typeface="Arial"/>
              <a:buChar char="»"/>
              <a:defRPr sz="1200"/>
            </a:lvl5pPr>
            <a:lvl6pPr marL="2743200" lvl="5" indent="-304800" algn="l">
              <a:spcBef>
                <a:spcPts val="240"/>
              </a:spcBef>
              <a:spcAft>
                <a:spcPts val="0"/>
              </a:spcAft>
              <a:buSzPts val="1200"/>
              <a:buFont typeface="Arial"/>
              <a:buChar char="»"/>
              <a:defRPr sz="1200"/>
            </a:lvl6pPr>
            <a:lvl7pPr marL="3200400" lvl="6" indent="-304800" algn="l">
              <a:spcBef>
                <a:spcPts val="240"/>
              </a:spcBef>
              <a:spcAft>
                <a:spcPts val="0"/>
              </a:spcAft>
              <a:buSzPts val="1200"/>
              <a:buFont typeface="Arial"/>
              <a:buChar char="»"/>
              <a:defRPr sz="1200"/>
            </a:lvl7pPr>
            <a:lvl8pPr marL="3657600" lvl="7" indent="-304800" algn="l">
              <a:spcBef>
                <a:spcPts val="240"/>
              </a:spcBef>
              <a:spcAft>
                <a:spcPts val="0"/>
              </a:spcAft>
              <a:buSzPts val="1200"/>
              <a:buFont typeface="Arial"/>
              <a:buChar char="»"/>
              <a:defRPr sz="1200"/>
            </a:lvl8pPr>
            <a:lvl9pPr marL="4114800" lvl="8" indent="-304800" algn="l">
              <a:spcBef>
                <a:spcPts val="240"/>
              </a:spcBef>
              <a:spcAft>
                <a:spcPts val="0"/>
              </a:spcAft>
              <a:buSzPts val="1200"/>
              <a:buFont typeface="Arial"/>
              <a:buChar char="»"/>
              <a:defRPr sz="12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6"/>
        <p:cNvGrpSpPr/>
        <p:nvPr/>
      </p:nvGrpSpPr>
      <p:grpSpPr>
        <a:xfrm>
          <a:off x="0" y="0"/>
          <a:ext cx="0" cy="0"/>
          <a:chOff x="0" y="0"/>
          <a:chExt cx="0" cy="0"/>
        </a:xfrm>
      </p:grpSpPr>
      <p:sp>
        <p:nvSpPr>
          <p:cNvPr id="37" name="Google Shape;37;p27"/>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8"/>
        <p:cNvGrpSpPr/>
        <p:nvPr/>
      </p:nvGrpSpPr>
      <p:grpSpPr>
        <a:xfrm>
          <a:off x="0" y="0"/>
          <a:ext cx="0" cy="0"/>
          <a:chOff x="0" y="0"/>
          <a:chExt cx="0" cy="0"/>
        </a:xfrm>
      </p:grpSpPr>
      <p:sp>
        <p:nvSpPr>
          <p:cNvPr id="39" name="Google Shape;39;p28"/>
          <p:cNvSpPr txBox="1">
            <a:spLocks noGrp="1"/>
          </p:cNvSpPr>
          <p:nvPr>
            <p:ph type="title"/>
          </p:nvPr>
        </p:nvSpPr>
        <p:spPr>
          <a:xfrm>
            <a:off x="457205" y="273053"/>
            <a:ext cx="3008313" cy="1162051"/>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400"/>
              <a:buNone/>
              <a:defRPr sz="15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0" name="Google Shape;40;p28"/>
          <p:cNvSpPr txBox="1">
            <a:spLocks noGrp="1"/>
          </p:cNvSpPr>
          <p:nvPr>
            <p:ph type="body" idx="1"/>
          </p:nvPr>
        </p:nvSpPr>
        <p:spPr>
          <a:xfrm>
            <a:off x="3575050" y="273057"/>
            <a:ext cx="5111750" cy="5853113"/>
          </a:xfrm>
          <a:prstGeom prst="rect">
            <a:avLst/>
          </a:prstGeom>
          <a:noFill/>
          <a:ln>
            <a:noFill/>
          </a:ln>
        </p:spPr>
        <p:txBody>
          <a:bodyPr spcFirstLastPara="1" wrap="square" lIns="68575" tIns="34275" rIns="68575" bIns="34275" anchor="t" anchorCtr="0">
            <a:noAutofit/>
          </a:bodyPr>
          <a:lstStyle>
            <a:lvl1pPr marL="457200" lvl="0" indent="-381000" algn="l">
              <a:spcBef>
                <a:spcPts val="480"/>
              </a:spcBef>
              <a:spcAft>
                <a:spcPts val="0"/>
              </a:spcAft>
              <a:buSzPts val="2400"/>
              <a:buFont typeface="Arial"/>
              <a:buChar char="•"/>
              <a:defRPr sz="2400"/>
            </a:lvl1pPr>
            <a:lvl2pPr marL="914400" lvl="1" indent="-361950" algn="l">
              <a:spcBef>
                <a:spcPts val="420"/>
              </a:spcBef>
              <a:spcAft>
                <a:spcPts val="0"/>
              </a:spcAft>
              <a:buSzPts val="2100"/>
              <a:buFont typeface="Arial"/>
              <a:buChar char="–"/>
              <a:defRPr sz="2100"/>
            </a:lvl2pPr>
            <a:lvl3pPr marL="1371600" lvl="2" indent="-342900" algn="l">
              <a:spcBef>
                <a:spcPts val="360"/>
              </a:spcBef>
              <a:spcAft>
                <a:spcPts val="0"/>
              </a:spcAft>
              <a:buSzPts val="1800"/>
              <a:buFont typeface="Arial"/>
              <a:buChar char="•"/>
              <a:defRPr sz="1800"/>
            </a:lvl3pPr>
            <a:lvl4pPr marL="1828800" lvl="3" indent="-323850" algn="l">
              <a:spcBef>
                <a:spcPts val="300"/>
              </a:spcBef>
              <a:spcAft>
                <a:spcPts val="0"/>
              </a:spcAft>
              <a:buSzPts val="1500"/>
              <a:buFont typeface="Arial"/>
              <a:buChar char="–"/>
              <a:defRPr sz="1500"/>
            </a:lvl4pPr>
            <a:lvl5pPr marL="2286000" lvl="4" indent="-323850" algn="l">
              <a:spcBef>
                <a:spcPts val="300"/>
              </a:spcBef>
              <a:spcAft>
                <a:spcPts val="0"/>
              </a:spcAft>
              <a:buSzPts val="1500"/>
              <a:buFont typeface="Arial"/>
              <a:buChar char="»"/>
              <a:defRPr sz="1500"/>
            </a:lvl5pPr>
            <a:lvl6pPr marL="2743200" lvl="5" indent="-323850" algn="l">
              <a:spcBef>
                <a:spcPts val="300"/>
              </a:spcBef>
              <a:spcAft>
                <a:spcPts val="0"/>
              </a:spcAft>
              <a:buSzPts val="1500"/>
              <a:buFont typeface="Arial"/>
              <a:buChar char="»"/>
              <a:defRPr sz="1500"/>
            </a:lvl6pPr>
            <a:lvl7pPr marL="3200400" lvl="6" indent="-323850" algn="l">
              <a:spcBef>
                <a:spcPts val="300"/>
              </a:spcBef>
              <a:spcAft>
                <a:spcPts val="0"/>
              </a:spcAft>
              <a:buSzPts val="1500"/>
              <a:buFont typeface="Arial"/>
              <a:buChar char="»"/>
              <a:defRPr sz="1500"/>
            </a:lvl7pPr>
            <a:lvl8pPr marL="3657600" lvl="7" indent="-323850" algn="l">
              <a:spcBef>
                <a:spcPts val="300"/>
              </a:spcBef>
              <a:spcAft>
                <a:spcPts val="0"/>
              </a:spcAft>
              <a:buSzPts val="1500"/>
              <a:buFont typeface="Arial"/>
              <a:buChar char="»"/>
              <a:defRPr sz="1500"/>
            </a:lvl8pPr>
            <a:lvl9pPr marL="4114800" lvl="8" indent="-323850" algn="l">
              <a:spcBef>
                <a:spcPts val="300"/>
              </a:spcBef>
              <a:spcAft>
                <a:spcPts val="0"/>
              </a:spcAft>
              <a:buSzPts val="1500"/>
              <a:buFont typeface="Arial"/>
              <a:buChar char="»"/>
              <a:defRPr sz="1500"/>
            </a:lvl9pPr>
          </a:lstStyle>
          <a:p>
            <a:endParaRPr/>
          </a:p>
        </p:txBody>
      </p:sp>
      <p:sp>
        <p:nvSpPr>
          <p:cNvPr id="41" name="Google Shape;41;p28"/>
          <p:cNvSpPr txBox="1">
            <a:spLocks noGrp="1"/>
          </p:cNvSpPr>
          <p:nvPr>
            <p:ph type="body" idx="2"/>
          </p:nvPr>
        </p:nvSpPr>
        <p:spPr>
          <a:xfrm>
            <a:off x="457205" y="1435104"/>
            <a:ext cx="3008313" cy="4691063"/>
          </a:xfrm>
          <a:prstGeom prst="rect">
            <a:avLst/>
          </a:prstGeom>
          <a:noFill/>
          <a:ln>
            <a:noFill/>
          </a:ln>
        </p:spPr>
        <p:txBody>
          <a:bodyPr spcFirstLastPara="1" wrap="square" lIns="68575" tIns="34275" rIns="68575" bIns="34275" anchor="t" anchorCtr="0">
            <a:noAutofit/>
          </a:bodyPr>
          <a:lstStyle>
            <a:lvl1pPr marL="457200" lvl="0" indent="-228600" algn="l">
              <a:spcBef>
                <a:spcPts val="220"/>
              </a:spcBef>
              <a:spcAft>
                <a:spcPts val="0"/>
              </a:spcAft>
              <a:buSzPts val="1100"/>
              <a:buFont typeface="Arial"/>
              <a:buNone/>
              <a:defRPr sz="1100"/>
            </a:lvl1pPr>
            <a:lvl2pPr marL="914400" lvl="1" indent="-228600" algn="l">
              <a:spcBef>
                <a:spcPts val="180"/>
              </a:spcBef>
              <a:spcAft>
                <a:spcPts val="0"/>
              </a:spcAft>
              <a:buSzPts val="900"/>
              <a:buFont typeface="Arial"/>
              <a:buNone/>
              <a:defRPr sz="900"/>
            </a:lvl2pPr>
            <a:lvl3pPr marL="1371600" lvl="2" indent="-228600" algn="l">
              <a:spcBef>
                <a:spcPts val="160"/>
              </a:spcBef>
              <a:spcAft>
                <a:spcPts val="0"/>
              </a:spcAft>
              <a:buSzPts val="800"/>
              <a:buFont typeface="Arial"/>
              <a:buNone/>
              <a:defRPr sz="800"/>
            </a:lvl3pPr>
            <a:lvl4pPr marL="1828800" lvl="3" indent="-228600" algn="l">
              <a:spcBef>
                <a:spcPts val="140"/>
              </a:spcBef>
              <a:spcAft>
                <a:spcPts val="0"/>
              </a:spcAft>
              <a:buSzPts val="700"/>
              <a:buFont typeface="Arial"/>
              <a:buNone/>
              <a:defRPr sz="700"/>
            </a:lvl4pPr>
            <a:lvl5pPr marL="2286000" lvl="4" indent="-228600" algn="l">
              <a:spcBef>
                <a:spcPts val="140"/>
              </a:spcBef>
              <a:spcAft>
                <a:spcPts val="0"/>
              </a:spcAft>
              <a:buSzPts val="700"/>
              <a:buFont typeface="Arial"/>
              <a:buNone/>
              <a:defRPr sz="700"/>
            </a:lvl5pPr>
            <a:lvl6pPr marL="2743200" lvl="5" indent="-228600" algn="l">
              <a:spcBef>
                <a:spcPts val="140"/>
              </a:spcBef>
              <a:spcAft>
                <a:spcPts val="0"/>
              </a:spcAft>
              <a:buSzPts val="700"/>
              <a:buFont typeface="Arial"/>
              <a:buNone/>
              <a:defRPr sz="700"/>
            </a:lvl6pPr>
            <a:lvl7pPr marL="3200400" lvl="6" indent="-228600" algn="l">
              <a:spcBef>
                <a:spcPts val="140"/>
              </a:spcBef>
              <a:spcAft>
                <a:spcPts val="0"/>
              </a:spcAft>
              <a:buSzPts val="700"/>
              <a:buFont typeface="Arial"/>
              <a:buNone/>
              <a:defRPr sz="700"/>
            </a:lvl7pPr>
            <a:lvl8pPr marL="3657600" lvl="7" indent="-228600" algn="l">
              <a:spcBef>
                <a:spcPts val="140"/>
              </a:spcBef>
              <a:spcAft>
                <a:spcPts val="0"/>
              </a:spcAft>
              <a:buSzPts val="700"/>
              <a:buFont typeface="Arial"/>
              <a:buNone/>
              <a:defRPr sz="700"/>
            </a:lvl8pPr>
            <a:lvl9pPr marL="4114800" lvl="8" indent="-228600" algn="l">
              <a:spcBef>
                <a:spcPts val="140"/>
              </a:spcBef>
              <a:spcAft>
                <a:spcPts val="0"/>
              </a:spcAft>
              <a:buSzPts val="700"/>
              <a:buFont typeface="Arial"/>
              <a:buNone/>
              <a:defRPr sz="7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2"/>
        <p:cNvGrpSpPr/>
        <p:nvPr/>
      </p:nvGrpSpPr>
      <p:grpSpPr>
        <a:xfrm>
          <a:off x="0" y="0"/>
          <a:ext cx="0" cy="0"/>
          <a:chOff x="0" y="0"/>
          <a:chExt cx="0" cy="0"/>
        </a:xfrm>
      </p:grpSpPr>
      <p:sp>
        <p:nvSpPr>
          <p:cNvPr id="43" name="Google Shape;43;p29"/>
          <p:cNvSpPr txBox="1">
            <a:spLocks noGrp="1"/>
          </p:cNvSpPr>
          <p:nvPr>
            <p:ph type="title"/>
          </p:nvPr>
        </p:nvSpPr>
        <p:spPr>
          <a:xfrm>
            <a:off x="1792288" y="4800604"/>
            <a:ext cx="5486400" cy="566739"/>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400"/>
              <a:buNone/>
              <a:defRPr sz="15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4" name="Google Shape;44;p29"/>
          <p:cNvSpPr>
            <a:spLocks noGrp="1"/>
          </p:cNvSpPr>
          <p:nvPr>
            <p:ph type="pic" idx="2"/>
          </p:nvPr>
        </p:nvSpPr>
        <p:spPr>
          <a:xfrm>
            <a:off x="1792288" y="612775"/>
            <a:ext cx="5486400" cy="4114800"/>
          </a:xfrm>
          <a:prstGeom prst="rect">
            <a:avLst/>
          </a:prstGeom>
          <a:noFill/>
          <a:ln>
            <a:noFill/>
          </a:ln>
        </p:spPr>
      </p:sp>
      <p:sp>
        <p:nvSpPr>
          <p:cNvPr id="45" name="Google Shape;45;p29"/>
          <p:cNvSpPr txBox="1">
            <a:spLocks noGrp="1"/>
          </p:cNvSpPr>
          <p:nvPr>
            <p:ph type="body" idx="1"/>
          </p:nvPr>
        </p:nvSpPr>
        <p:spPr>
          <a:xfrm>
            <a:off x="1792288" y="5367342"/>
            <a:ext cx="5486400" cy="804863"/>
          </a:xfrm>
          <a:prstGeom prst="rect">
            <a:avLst/>
          </a:prstGeom>
          <a:noFill/>
          <a:ln>
            <a:noFill/>
          </a:ln>
        </p:spPr>
        <p:txBody>
          <a:bodyPr spcFirstLastPara="1" wrap="square" lIns="68575" tIns="34275" rIns="68575" bIns="34275" anchor="t" anchorCtr="0">
            <a:noAutofit/>
          </a:bodyPr>
          <a:lstStyle>
            <a:lvl1pPr marL="457200" lvl="0" indent="-228600" algn="l">
              <a:spcBef>
                <a:spcPts val="220"/>
              </a:spcBef>
              <a:spcAft>
                <a:spcPts val="0"/>
              </a:spcAft>
              <a:buSzPts val="1100"/>
              <a:buFont typeface="Arial"/>
              <a:buNone/>
              <a:defRPr sz="1100"/>
            </a:lvl1pPr>
            <a:lvl2pPr marL="914400" lvl="1" indent="-228600" algn="l">
              <a:spcBef>
                <a:spcPts val="180"/>
              </a:spcBef>
              <a:spcAft>
                <a:spcPts val="0"/>
              </a:spcAft>
              <a:buSzPts val="900"/>
              <a:buFont typeface="Arial"/>
              <a:buNone/>
              <a:defRPr sz="900"/>
            </a:lvl2pPr>
            <a:lvl3pPr marL="1371600" lvl="2" indent="-228600" algn="l">
              <a:spcBef>
                <a:spcPts val="160"/>
              </a:spcBef>
              <a:spcAft>
                <a:spcPts val="0"/>
              </a:spcAft>
              <a:buSzPts val="800"/>
              <a:buFont typeface="Arial"/>
              <a:buNone/>
              <a:defRPr sz="800"/>
            </a:lvl3pPr>
            <a:lvl4pPr marL="1828800" lvl="3" indent="-228600" algn="l">
              <a:spcBef>
                <a:spcPts val="140"/>
              </a:spcBef>
              <a:spcAft>
                <a:spcPts val="0"/>
              </a:spcAft>
              <a:buSzPts val="700"/>
              <a:buFont typeface="Arial"/>
              <a:buNone/>
              <a:defRPr sz="700"/>
            </a:lvl4pPr>
            <a:lvl5pPr marL="2286000" lvl="4" indent="-228600" algn="l">
              <a:spcBef>
                <a:spcPts val="140"/>
              </a:spcBef>
              <a:spcAft>
                <a:spcPts val="0"/>
              </a:spcAft>
              <a:buSzPts val="700"/>
              <a:buFont typeface="Arial"/>
              <a:buNone/>
              <a:defRPr sz="700"/>
            </a:lvl5pPr>
            <a:lvl6pPr marL="2743200" lvl="5" indent="-228600" algn="l">
              <a:spcBef>
                <a:spcPts val="140"/>
              </a:spcBef>
              <a:spcAft>
                <a:spcPts val="0"/>
              </a:spcAft>
              <a:buSzPts val="700"/>
              <a:buFont typeface="Arial"/>
              <a:buNone/>
              <a:defRPr sz="700"/>
            </a:lvl6pPr>
            <a:lvl7pPr marL="3200400" lvl="6" indent="-228600" algn="l">
              <a:spcBef>
                <a:spcPts val="140"/>
              </a:spcBef>
              <a:spcAft>
                <a:spcPts val="0"/>
              </a:spcAft>
              <a:buSzPts val="700"/>
              <a:buFont typeface="Arial"/>
              <a:buNone/>
              <a:defRPr sz="700"/>
            </a:lvl7pPr>
            <a:lvl8pPr marL="3657600" lvl="7" indent="-228600" algn="l">
              <a:spcBef>
                <a:spcPts val="140"/>
              </a:spcBef>
              <a:spcAft>
                <a:spcPts val="0"/>
              </a:spcAft>
              <a:buSzPts val="700"/>
              <a:buFont typeface="Arial"/>
              <a:buNone/>
              <a:defRPr sz="700"/>
            </a:lvl8pPr>
            <a:lvl9pPr marL="4114800" lvl="8" indent="-228600" algn="l">
              <a:spcBef>
                <a:spcPts val="140"/>
              </a:spcBef>
              <a:spcAft>
                <a:spcPts val="0"/>
              </a:spcAft>
              <a:buSzPts val="700"/>
              <a:buFont typeface="Arial"/>
              <a:buNone/>
              <a:defRPr sz="7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6"/>
        <p:cNvGrpSpPr/>
        <p:nvPr/>
      </p:nvGrpSpPr>
      <p:grpSpPr>
        <a:xfrm>
          <a:off x="0" y="0"/>
          <a:ext cx="0" cy="0"/>
          <a:chOff x="0" y="0"/>
          <a:chExt cx="0" cy="0"/>
        </a:xfrm>
      </p:grpSpPr>
      <p:sp>
        <p:nvSpPr>
          <p:cNvPr id="47" name="Google Shape;47;p30"/>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8" name="Google Shape;48;p30"/>
          <p:cNvSpPr txBox="1">
            <a:spLocks noGrp="1"/>
          </p:cNvSpPr>
          <p:nvPr>
            <p:ph type="body" idx="1"/>
          </p:nvPr>
        </p:nvSpPr>
        <p:spPr>
          <a:xfrm rot="5400000">
            <a:off x="2590800" y="-152400"/>
            <a:ext cx="3962400" cy="7772400"/>
          </a:xfrm>
          <a:prstGeom prst="rect">
            <a:avLst/>
          </a:prstGeom>
          <a:noFill/>
          <a:ln>
            <a:noFill/>
          </a:ln>
        </p:spPr>
        <p:txBody>
          <a:bodyPr spcFirstLastPara="1" wrap="square" lIns="68575" tIns="34275" rIns="68575" bIns="34275"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9"/>
        <p:cNvGrpSpPr/>
        <p:nvPr/>
      </p:nvGrpSpPr>
      <p:grpSpPr>
        <a:xfrm>
          <a:off x="0" y="0"/>
          <a:ext cx="0" cy="0"/>
          <a:chOff x="0" y="0"/>
          <a:chExt cx="0" cy="0"/>
        </a:xfrm>
      </p:grpSpPr>
      <p:sp>
        <p:nvSpPr>
          <p:cNvPr id="50" name="Google Shape;50;p31"/>
          <p:cNvSpPr txBox="1">
            <a:spLocks noGrp="1"/>
          </p:cNvSpPr>
          <p:nvPr>
            <p:ph type="title"/>
          </p:nvPr>
        </p:nvSpPr>
        <p:spPr>
          <a:xfrm rot="5400000">
            <a:off x="4781550" y="2038350"/>
            <a:ext cx="5410200" cy="19431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1" name="Google Shape;51;p31"/>
          <p:cNvSpPr txBox="1">
            <a:spLocks noGrp="1"/>
          </p:cNvSpPr>
          <p:nvPr>
            <p:ph type="body" idx="1"/>
          </p:nvPr>
        </p:nvSpPr>
        <p:spPr>
          <a:xfrm rot="5400000">
            <a:off x="819151" y="171450"/>
            <a:ext cx="5410200" cy="5676900"/>
          </a:xfrm>
          <a:prstGeom prst="rect">
            <a:avLst/>
          </a:prstGeom>
          <a:noFill/>
          <a:ln>
            <a:noFill/>
          </a:ln>
        </p:spPr>
        <p:txBody>
          <a:bodyPr spcFirstLastPara="1" wrap="square" lIns="68575" tIns="34275" rIns="68575" bIns="34275"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400"/>
              <a:buNone/>
              <a:defRPr sz="3300" b="0" i="0" u="none" strike="noStrike" cap="none">
                <a:solidFill>
                  <a:srgbClr val="7A0019"/>
                </a:solidFill>
                <a:latin typeface="Arial"/>
                <a:ea typeface="Arial"/>
                <a:cs typeface="Arial"/>
                <a:sym typeface="Arial"/>
              </a:defRPr>
            </a:lvl1pPr>
            <a:lvl2pPr marR="0" lvl="1" algn="ctr" rtl="0">
              <a:spcBef>
                <a:spcPts val="0"/>
              </a:spcBef>
              <a:spcAft>
                <a:spcPts val="0"/>
              </a:spcAft>
              <a:buSzPts val="1400"/>
              <a:buNone/>
              <a:defRPr sz="3300" b="0" i="0" u="none" strike="noStrike" cap="none">
                <a:solidFill>
                  <a:srgbClr val="7A0019"/>
                </a:solidFill>
                <a:latin typeface="Corbel"/>
                <a:ea typeface="Corbel"/>
                <a:cs typeface="Corbel"/>
                <a:sym typeface="Corbel"/>
              </a:defRPr>
            </a:lvl2pPr>
            <a:lvl3pPr marR="0" lvl="2" algn="ctr" rtl="0">
              <a:spcBef>
                <a:spcPts val="0"/>
              </a:spcBef>
              <a:spcAft>
                <a:spcPts val="0"/>
              </a:spcAft>
              <a:buSzPts val="1400"/>
              <a:buNone/>
              <a:defRPr sz="3300" b="0" i="0" u="none" strike="noStrike" cap="none">
                <a:solidFill>
                  <a:srgbClr val="7A0019"/>
                </a:solidFill>
                <a:latin typeface="Corbel"/>
                <a:ea typeface="Corbel"/>
                <a:cs typeface="Corbel"/>
                <a:sym typeface="Corbel"/>
              </a:defRPr>
            </a:lvl3pPr>
            <a:lvl4pPr marR="0" lvl="3" algn="ctr" rtl="0">
              <a:spcBef>
                <a:spcPts val="0"/>
              </a:spcBef>
              <a:spcAft>
                <a:spcPts val="0"/>
              </a:spcAft>
              <a:buSzPts val="1400"/>
              <a:buNone/>
              <a:defRPr sz="3300" b="0" i="0" u="none" strike="noStrike" cap="none">
                <a:solidFill>
                  <a:srgbClr val="7A0019"/>
                </a:solidFill>
                <a:latin typeface="Corbel"/>
                <a:ea typeface="Corbel"/>
                <a:cs typeface="Corbel"/>
                <a:sym typeface="Corbel"/>
              </a:defRPr>
            </a:lvl4pPr>
            <a:lvl5pPr marR="0" lvl="4" algn="ctr" rtl="0">
              <a:spcBef>
                <a:spcPts val="0"/>
              </a:spcBef>
              <a:spcAft>
                <a:spcPts val="0"/>
              </a:spcAft>
              <a:buSzPts val="1400"/>
              <a:buNone/>
              <a:defRPr sz="3300" b="0" i="0" u="none" strike="noStrike" cap="none">
                <a:solidFill>
                  <a:srgbClr val="7A0019"/>
                </a:solidFill>
                <a:latin typeface="Corbel"/>
                <a:ea typeface="Corbel"/>
                <a:cs typeface="Corbel"/>
                <a:sym typeface="Corbel"/>
              </a:defRPr>
            </a:lvl5pPr>
            <a:lvl6pPr marR="0" lvl="5" algn="ctr" rtl="0">
              <a:spcBef>
                <a:spcPts val="0"/>
              </a:spcBef>
              <a:spcAft>
                <a:spcPts val="0"/>
              </a:spcAft>
              <a:buSzPts val="1400"/>
              <a:buNone/>
              <a:defRPr sz="3300" b="0" i="0" u="none" strike="noStrike" cap="none">
                <a:solidFill>
                  <a:srgbClr val="7A0019"/>
                </a:solidFill>
                <a:latin typeface="Arial"/>
                <a:ea typeface="Arial"/>
                <a:cs typeface="Arial"/>
                <a:sym typeface="Arial"/>
              </a:defRPr>
            </a:lvl6pPr>
            <a:lvl7pPr marR="0" lvl="6" algn="ctr" rtl="0">
              <a:spcBef>
                <a:spcPts val="0"/>
              </a:spcBef>
              <a:spcAft>
                <a:spcPts val="0"/>
              </a:spcAft>
              <a:buSzPts val="1400"/>
              <a:buNone/>
              <a:defRPr sz="3300" b="0" i="0" u="none" strike="noStrike" cap="none">
                <a:solidFill>
                  <a:srgbClr val="7A0019"/>
                </a:solidFill>
                <a:latin typeface="Arial"/>
                <a:ea typeface="Arial"/>
                <a:cs typeface="Arial"/>
                <a:sym typeface="Arial"/>
              </a:defRPr>
            </a:lvl7pPr>
            <a:lvl8pPr marR="0" lvl="7" algn="ctr" rtl="0">
              <a:spcBef>
                <a:spcPts val="0"/>
              </a:spcBef>
              <a:spcAft>
                <a:spcPts val="0"/>
              </a:spcAft>
              <a:buSzPts val="1400"/>
              <a:buNone/>
              <a:defRPr sz="3300" b="0" i="0" u="none" strike="noStrike" cap="none">
                <a:solidFill>
                  <a:srgbClr val="7A0019"/>
                </a:solidFill>
                <a:latin typeface="Arial"/>
                <a:ea typeface="Arial"/>
                <a:cs typeface="Arial"/>
                <a:sym typeface="Arial"/>
              </a:defRPr>
            </a:lvl8pPr>
            <a:lvl9pPr marR="0" lvl="8" algn="ctr" rtl="0">
              <a:spcBef>
                <a:spcPts val="0"/>
              </a:spcBef>
              <a:spcAft>
                <a:spcPts val="0"/>
              </a:spcAft>
              <a:buSzPts val="1400"/>
              <a:buNone/>
              <a:defRPr sz="3300" b="0" i="0" u="none" strike="noStrike" cap="none">
                <a:solidFill>
                  <a:srgbClr val="7A0019"/>
                </a:solidFill>
                <a:latin typeface="Arial"/>
                <a:ea typeface="Arial"/>
                <a:cs typeface="Arial"/>
                <a:sym typeface="Arial"/>
              </a:defRPr>
            </a:lvl9pPr>
          </a:lstStyle>
          <a:p>
            <a:endParaRPr/>
          </a:p>
        </p:txBody>
      </p:sp>
      <p:sp>
        <p:nvSpPr>
          <p:cNvPr id="11" name="Google Shape;11;p20"/>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lvl1pPr marL="457200" marR="0" lvl="0" indent="-381000" algn="l" rtl="0">
              <a:spcBef>
                <a:spcPts val="480"/>
              </a:spcBef>
              <a:spcAft>
                <a:spcPts val="0"/>
              </a:spcAft>
              <a:buClr>
                <a:srgbClr val="7A0019"/>
              </a:buClr>
              <a:buSzPts val="2400"/>
              <a:buFont typeface="Arial"/>
              <a:buChar char="•"/>
              <a:defRPr sz="2400" b="0" i="0" u="none" strike="noStrike" cap="none">
                <a:solidFill>
                  <a:srgbClr val="595959"/>
                </a:solidFill>
                <a:latin typeface="Arial"/>
                <a:ea typeface="Arial"/>
                <a:cs typeface="Arial"/>
                <a:sym typeface="Arial"/>
              </a:defRPr>
            </a:lvl1pPr>
            <a:lvl2pPr marL="914400" marR="0" lvl="1" indent="-361950" algn="l" rtl="0">
              <a:spcBef>
                <a:spcPts val="420"/>
              </a:spcBef>
              <a:spcAft>
                <a:spcPts val="0"/>
              </a:spcAft>
              <a:buClr>
                <a:srgbClr val="7A0019"/>
              </a:buClr>
              <a:buSzPts val="2100"/>
              <a:buFont typeface="Arial"/>
              <a:buChar char="–"/>
              <a:defRPr sz="2100" b="0" i="0" u="none" strike="noStrike" cap="none">
                <a:solidFill>
                  <a:srgbClr val="595959"/>
                </a:solidFill>
                <a:latin typeface="Arial"/>
                <a:ea typeface="Arial"/>
                <a:cs typeface="Arial"/>
                <a:sym typeface="Arial"/>
              </a:defRPr>
            </a:lvl2pPr>
            <a:lvl3pPr marL="1371600" marR="0" lvl="2" indent="-342900" algn="l" rtl="0">
              <a:spcBef>
                <a:spcPts val="360"/>
              </a:spcBef>
              <a:spcAft>
                <a:spcPts val="0"/>
              </a:spcAft>
              <a:buClr>
                <a:srgbClr val="7A0019"/>
              </a:buClr>
              <a:buSzPts val="1800"/>
              <a:buFont typeface="Arial"/>
              <a:buChar char="•"/>
              <a:defRPr sz="1800" b="0" i="0" u="none" strike="noStrike" cap="none">
                <a:solidFill>
                  <a:srgbClr val="595959"/>
                </a:solidFill>
                <a:latin typeface="Arial"/>
                <a:ea typeface="Arial"/>
                <a:cs typeface="Arial"/>
                <a:sym typeface="Arial"/>
              </a:defRPr>
            </a:lvl3pPr>
            <a:lvl4pPr marL="1828800" marR="0" lvl="3" indent="-323850" algn="l" rtl="0">
              <a:spcBef>
                <a:spcPts val="300"/>
              </a:spcBef>
              <a:spcAft>
                <a:spcPts val="0"/>
              </a:spcAft>
              <a:buClr>
                <a:srgbClr val="7A0019"/>
              </a:buClr>
              <a:buSzPts val="1500"/>
              <a:buFont typeface="Arial"/>
              <a:buChar char="–"/>
              <a:defRPr sz="1500" b="0" i="0" u="none" strike="noStrike" cap="none">
                <a:solidFill>
                  <a:srgbClr val="595959"/>
                </a:solidFill>
                <a:latin typeface="Arial"/>
                <a:ea typeface="Arial"/>
                <a:cs typeface="Arial"/>
                <a:sym typeface="Arial"/>
              </a:defRPr>
            </a:lvl4pPr>
            <a:lvl5pPr marL="2286000" marR="0" lvl="4" indent="-323850" algn="l" rtl="0">
              <a:spcBef>
                <a:spcPts val="300"/>
              </a:spcBef>
              <a:spcAft>
                <a:spcPts val="0"/>
              </a:spcAft>
              <a:buClr>
                <a:srgbClr val="7A0019"/>
              </a:buClr>
              <a:buSzPts val="1500"/>
              <a:buFont typeface="Arial"/>
              <a:buChar char="»"/>
              <a:defRPr sz="1500" b="0" i="0" u="none" strike="noStrike" cap="none">
                <a:solidFill>
                  <a:srgbClr val="595959"/>
                </a:solidFill>
                <a:latin typeface="Arial"/>
                <a:ea typeface="Arial"/>
                <a:cs typeface="Arial"/>
                <a:sym typeface="Arial"/>
              </a:defRPr>
            </a:lvl5pPr>
            <a:lvl6pPr marL="2743200" marR="0" lvl="5" indent="-323850" algn="l" rtl="0">
              <a:spcBef>
                <a:spcPts val="300"/>
              </a:spcBef>
              <a:spcAft>
                <a:spcPts val="0"/>
              </a:spcAft>
              <a:buClr>
                <a:srgbClr val="7A0019"/>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rtl="0">
              <a:spcBef>
                <a:spcPts val="300"/>
              </a:spcBef>
              <a:spcAft>
                <a:spcPts val="0"/>
              </a:spcAft>
              <a:buClr>
                <a:srgbClr val="7A0019"/>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rtl="0">
              <a:spcBef>
                <a:spcPts val="300"/>
              </a:spcBef>
              <a:spcAft>
                <a:spcPts val="0"/>
              </a:spcAft>
              <a:buClr>
                <a:srgbClr val="7A0019"/>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rgbClr val="7A0019"/>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pic>
        <p:nvPicPr>
          <p:cNvPr id="12" name="Google Shape;12;p20" descr="/Users/ranja/Documents/5-resources/ppt/2018 ppt-with R/new/working files/graphics_4x3-M-gold.png"/>
          <p:cNvPicPr preferRelativeResize="0"/>
          <p:nvPr/>
        </p:nvPicPr>
        <p:blipFill rotWithShape="1">
          <a:blip r:embed="rId13">
            <a:alphaModFix/>
          </a:blip>
          <a:srcRect/>
          <a:stretch/>
        </p:blipFill>
        <p:spPr>
          <a:xfrm>
            <a:off x="0" y="6387041"/>
            <a:ext cx="9144000" cy="46634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
          <p:cNvSpPr txBox="1">
            <a:spLocks noGrp="1"/>
          </p:cNvSpPr>
          <p:nvPr>
            <p:ph type="ctrTitle"/>
          </p:nvPr>
        </p:nvSpPr>
        <p:spPr>
          <a:xfrm>
            <a:off x="685800" y="787400"/>
            <a:ext cx="80010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Sampling II: Non-Probability Sampling</a:t>
            </a:r>
            <a:endParaRPr/>
          </a:p>
        </p:txBody>
      </p:sp>
      <p:sp>
        <p:nvSpPr>
          <p:cNvPr id="58" name="Google Shape;58;p1"/>
          <p:cNvSpPr txBox="1">
            <a:spLocks noGrp="1"/>
          </p:cNvSpPr>
          <p:nvPr>
            <p:ph type="body" idx="1"/>
          </p:nvPr>
        </p:nvSpPr>
        <p:spPr>
          <a:xfrm>
            <a:off x="685800" y="2921000"/>
            <a:ext cx="8001000" cy="6096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SzPts val="1800"/>
              <a:buFont typeface="Arial"/>
              <a:buNone/>
            </a:pPr>
            <a:r>
              <a:rPr lang="en-US"/>
              <a:t>Wenchao Ma</a:t>
            </a:r>
            <a:endParaRPr/>
          </a:p>
          <a:p>
            <a:pPr marL="0" lvl="0" indent="0" algn="l" rtl="0">
              <a:spcBef>
                <a:spcPts val="360"/>
              </a:spcBef>
              <a:spcAft>
                <a:spcPts val="0"/>
              </a:spcAft>
              <a:buSzPts val="1800"/>
              <a:buFont typeface="Arial"/>
              <a:buNone/>
            </a:pPr>
            <a:r>
              <a:rPr lang="en-US"/>
              <a:t>University of Minnesota</a:t>
            </a:r>
            <a:endParaRPr/>
          </a:p>
          <a:p>
            <a:pPr marL="0" lvl="0" indent="0" algn="l" rtl="0">
              <a:spcBef>
                <a:spcPts val="360"/>
              </a:spcBef>
              <a:spcAft>
                <a:spcPts val="0"/>
              </a:spcAft>
              <a:buSzPts val="1800"/>
              <a:buFont typeface="Arial"/>
              <a:buNone/>
            </a:pPr>
            <a:endParaRPr/>
          </a:p>
        </p:txBody>
      </p:sp>
      <p:sp>
        <p:nvSpPr>
          <p:cNvPr id="59" name="Google Shape;59;p1"/>
          <p:cNvSpPr txBox="1">
            <a:spLocks noGrp="1"/>
          </p:cNvSpPr>
          <p:nvPr>
            <p:ph type="body" idx="2"/>
          </p:nvPr>
        </p:nvSpPr>
        <p:spPr>
          <a:xfrm>
            <a:off x="685800" y="3530600"/>
            <a:ext cx="8001000" cy="5080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SzPts val="1200"/>
              <a:buFont typeface="Arial"/>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Quota Sampling</a:t>
            </a:r>
            <a:endParaRPr/>
          </a:p>
        </p:txBody>
      </p:sp>
      <p:sp>
        <p:nvSpPr>
          <p:cNvPr id="66" name="Google Shape;66;p2"/>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Similar to stratified sampling in that we develop non-overlapping groups</a:t>
            </a:r>
            <a:endParaRPr/>
          </a:p>
          <a:p>
            <a:pPr marL="257209" lvl="0" indent="-257209" algn="l" rtl="0">
              <a:spcBef>
                <a:spcPts val="480"/>
              </a:spcBef>
              <a:spcAft>
                <a:spcPts val="0"/>
              </a:spcAft>
              <a:buSzPts val="2400"/>
              <a:buFont typeface="Arial"/>
              <a:buChar char="•"/>
            </a:pPr>
            <a:r>
              <a:rPr lang="en-US"/>
              <a:t>Sample a predetermined number of individuals within each group</a:t>
            </a:r>
            <a:endParaRPr/>
          </a:p>
          <a:p>
            <a:pPr marL="257209" lvl="0" indent="-257209" algn="l" rtl="0">
              <a:spcBef>
                <a:spcPts val="480"/>
              </a:spcBef>
              <a:spcAft>
                <a:spcPts val="0"/>
              </a:spcAft>
              <a:buSzPts val="2400"/>
              <a:buFont typeface="Arial"/>
              <a:buChar char="•"/>
            </a:pPr>
            <a:r>
              <a:rPr lang="en-US"/>
              <a:t>An example:</a:t>
            </a:r>
            <a:endParaRPr/>
          </a:p>
        </p:txBody>
      </p:sp>
      <p:sp>
        <p:nvSpPr>
          <p:cNvPr id="67" name="Google Shape;67;p2"/>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rgbClr val="595959"/>
              </a:solidFill>
              <a:latin typeface="Arial"/>
              <a:ea typeface="Arial"/>
              <a:cs typeface="Arial"/>
              <a:sym typeface="Arial"/>
            </a:endParaRPr>
          </a:p>
        </p:txBody>
      </p:sp>
      <p:sp>
        <p:nvSpPr>
          <p:cNvPr id="68" name="Google Shape;68;p2"/>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595959"/>
                </a:solidFill>
                <a:latin typeface="Arial"/>
                <a:ea typeface="Arial"/>
                <a:cs typeface="Arial"/>
                <a:sym typeface="Arial"/>
              </a:rPr>
              <a:t>2</a:t>
            </a:fld>
            <a:endParaRPr sz="1200" b="0" i="0" u="none" strike="noStrike" cap="none">
              <a:solidFill>
                <a:srgbClr val="595959"/>
              </a:solidFill>
              <a:latin typeface="Arial"/>
              <a:ea typeface="Arial"/>
              <a:cs typeface="Arial"/>
              <a:sym typeface="Arial"/>
            </a:endParaRPr>
          </a:p>
        </p:txBody>
      </p:sp>
      <p:pic>
        <p:nvPicPr>
          <p:cNvPr id="69" name="Google Shape;69;p2"/>
          <p:cNvPicPr preferRelativeResize="0"/>
          <p:nvPr/>
        </p:nvPicPr>
        <p:blipFill rotWithShape="1">
          <a:blip r:embed="rId3">
            <a:alphaModFix/>
          </a:blip>
          <a:srcRect/>
          <a:stretch/>
        </p:blipFill>
        <p:spPr>
          <a:xfrm>
            <a:off x="822960" y="4017379"/>
            <a:ext cx="7498080" cy="148426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3"/>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Quota Sampling</a:t>
            </a:r>
            <a:endParaRPr/>
          </a:p>
        </p:txBody>
      </p:sp>
      <p:sp>
        <p:nvSpPr>
          <p:cNvPr id="75" name="Google Shape;75;p3"/>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Not the same as a stratified sample</a:t>
            </a:r>
            <a:endParaRPr/>
          </a:p>
          <a:p>
            <a:pPr marL="557287" lvl="1" indent="-214340" algn="l" rtl="0">
              <a:spcBef>
                <a:spcPts val="420"/>
              </a:spcBef>
              <a:spcAft>
                <a:spcPts val="0"/>
              </a:spcAft>
              <a:buSzPts val="2100"/>
              <a:buFont typeface="Arial"/>
              <a:buChar char="–"/>
            </a:pPr>
            <a:r>
              <a:rPr lang="en-US"/>
              <a:t>Still a non-probability sample</a:t>
            </a:r>
            <a:endParaRPr/>
          </a:p>
          <a:p>
            <a:pPr marL="557287" lvl="1" indent="-214340" algn="l" rtl="0">
              <a:spcBef>
                <a:spcPts val="420"/>
              </a:spcBef>
              <a:spcAft>
                <a:spcPts val="0"/>
              </a:spcAft>
              <a:buSzPts val="2100"/>
              <a:buFont typeface="Arial"/>
              <a:buChar char="–"/>
            </a:pPr>
            <a:r>
              <a:rPr lang="en-US"/>
              <a:t>Improves variation within the sample to reflect some aspect(s) of the population</a:t>
            </a:r>
            <a:endParaRPr/>
          </a:p>
          <a:p>
            <a:pPr marL="557287" lvl="1" indent="-214340" algn="l" rtl="0">
              <a:spcBef>
                <a:spcPts val="420"/>
              </a:spcBef>
              <a:spcAft>
                <a:spcPts val="0"/>
              </a:spcAft>
              <a:buSzPts val="2100"/>
              <a:buFont typeface="Arial"/>
              <a:buChar char="–"/>
            </a:pPr>
            <a:r>
              <a:rPr lang="en-US"/>
              <a:t>Still subject to selection bias &amp; subjectivity</a:t>
            </a:r>
            <a:endParaRPr/>
          </a:p>
        </p:txBody>
      </p:sp>
      <p:sp>
        <p:nvSpPr>
          <p:cNvPr id="76" name="Google Shape;76;p3"/>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rgbClr val="595959"/>
              </a:solidFill>
              <a:latin typeface="Arial"/>
              <a:ea typeface="Arial"/>
              <a:cs typeface="Arial"/>
              <a:sym typeface="Arial"/>
            </a:endParaRPr>
          </a:p>
        </p:txBody>
      </p:sp>
      <p:sp>
        <p:nvSpPr>
          <p:cNvPr id="77" name="Google Shape;77;p3"/>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595959"/>
                </a:solidFill>
                <a:latin typeface="Arial"/>
                <a:ea typeface="Arial"/>
                <a:cs typeface="Arial"/>
                <a:sym typeface="Arial"/>
              </a:rPr>
              <a:t>3</a:t>
            </a:fld>
            <a:endParaRPr sz="1200" b="0" i="0" u="none" strike="noStrike" cap="none">
              <a:solidFill>
                <a:srgbClr val="595959"/>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4"/>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Purposive Sampling</a:t>
            </a:r>
            <a:endParaRPr/>
          </a:p>
        </p:txBody>
      </p:sp>
      <p:sp>
        <p:nvSpPr>
          <p:cNvPr id="83" name="Google Shape;83;p4"/>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Also called </a:t>
            </a:r>
            <a:r>
              <a:rPr lang="en-US" b="1"/>
              <a:t>judgmental sampling</a:t>
            </a:r>
            <a:endParaRPr/>
          </a:p>
          <a:p>
            <a:pPr marL="257209" lvl="0" indent="-257209" algn="l" rtl="0">
              <a:spcBef>
                <a:spcPts val="480"/>
              </a:spcBef>
              <a:spcAft>
                <a:spcPts val="0"/>
              </a:spcAft>
              <a:buSzPts val="2400"/>
              <a:buFont typeface="Arial"/>
              <a:buChar char="•"/>
            </a:pPr>
            <a:r>
              <a:rPr lang="en-US"/>
              <a:t>Participants chosen based on their specialized knowledge of the subject area</a:t>
            </a:r>
            <a:endParaRPr/>
          </a:p>
          <a:p>
            <a:pPr marL="257209" lvl="0" indent="-104809" algn="l" rtl="0">
              <a:spcBef>
                <a:spcPts val="480"/>
              </a:spcBef>
              <a:spcAft>
                <a:spcPts val="0"/>
              </a:spcAft>
              <a:buSzPts val="2400"/>
              <a:buFont typeface="Arial"/>
              <a:buNone/>
            </a:pPr>
            <a:endParaRPr/>
          </a:p>
          <a:p>
            <a:pPr marL="257209" lvl="0" indent="-104809" algn="l" rtl="0">
              <a:spcBef>
                <a:spcPts val="480"/>
              </a:spcBef>
              <a:spcAft>
                <a:spcPts val="0"/>
              </a:spcAft>
              <a:buSzPts val="2400"/>
              <a:buFont typeface="Arial"/>
              <a:buNone/>
            </a:pPr>
            <a:endParaRPr/>
          </a:p>
        </p:txBody>
      </p:sp>
      <p:sp>
        <p:nvSpPr>
          <p:cNvPr id="84" name="Google Shape;84;p4"/>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rgbClr val="595959"/>
              </a:solidFill>
              <a:latin typeface="Arial"/>
              <a:ea typeface="Arial"/>
              <a:cs typeface="Arial"/>
              <a:sym typeface="Arial"/>
            </a:endParaRPr>
          </a:p>
        </p:txBody>
      </p:sp>
      <p:sp>
        <p:nvSpPr>
          <p:cNvPr id="85" name="Google Shape;85;p4"/>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595959"/>
                </a:solidFill>
                <a:latin typeface="Arial"/>
                <a:ea typeface="Arial"/>
                <a:cs typeface="Arial"/>
                <a:sym typeface="Arial"/>
              </a:rPr>
              <a:t>4</a:t>
            </a:fld>
            <a:endParaRPr sz="1200" b="0" i="0" u="none" strike="noStrike" cap="none">
              <a:solidFill>
                <a:srgbClr val="595959"/>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5"/>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Purposive Sampling</a:t>
            </a:r>
            <a:endParaRPr/>
          </a:p>
        </p:txBody>
      </p:sp>
      <p:sp>
        <p:nvSpPr>
          <p:cNvPr id="91" name="Google Shape;91;p5"/>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Not a probability sample</a:t>
            </a:r>
            <a:endParaRPr/>
          </a:p>
          <a:p>
            <a:pPr marL="257209" lvl="0" indent="-257209" algn="l" rtl="0">
              <a:spcBef>
                <a:spcPts val="480"/>
              </a:spcBef>
              <a:spcAft>
                <a:spcPts val="0"/>
              </a:spcAft>
              <a:buSzPts val="2400"/>
              <a:buFont typeface="Arial"/>
              <a:buChar char="•"/>
            </a:pPr>
            <a:r>
              <a:rPr lang="en-US"/>
              <a:t>Sample drawn is not representative of the larger population</a:t>
            </a:r>
            <a:endParaRPr/>
          </a:p>
          <a:p>
            <a:pPr marL="557287" lvl="1" indent="-214340" algn="l" rtl="0">
              <a:spcBef>
                <a:spcPts val="420"/>
              </a:spcBef>
              <a:spcAft>
                <a:spcPts val="0"/>
              </a:spcAft>
              <a:buSzPts val="2100"/>
              <a:buFont typeface="Arial"/>
              <a:buChar char="–"/>
            </a:pPr>
            <a:r>
              <a:rPr lang="en-US"/>
              <a:t>Cannot estimate sampling error or bias</a:t>
            </a:r>
            <a:endParaRPr/>
          </a:p>
          <a:p>
            <a:pPr marL="257209" lvl="0" indent="-104809" algn="l" rtl="0">
              <a:spcBef>
                <a:spcPts val="480"/>
              </a:spcBef>
              <a:spcAft>
                <a:spcPts val="0"/>
              </a:spcAft>
              <a:buSzPts val="2400"/>
              <a:buFont typeface="Arial"/>
              <a:buNone/>
            </a:pPr>
            <a:endParaRPr/>
          </a:p>
        </p:txBody>
      </p:sp>
      <p:sp>
        <p:nvSpPr>
          <p:cNvPr id="92" name="Google Shape;92;p5"/>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rgbClr val="595959"/>
              </a:solidFill>
              <a:latin typeface="Arial"/>
              <a:ea typeface="Arial"/>
              <a:cs typeface="Arial"/>
              <a:sym typeface="Arial"/>
            </a:endParaRPr>
          </a:p>
        </p:txBody>
      </p:sp>
      <p:sp>
        <p:nvSpPr>
          <p:cNvPr id="93" name="Google Shape;93;p5"/>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595959"/>
                </a:solidFill>
                <a:latin typeface="Arial"/>
                <a:ea typeface="Arial"/>
                <a:cs typeface="Arial"/>
                <a:sym typeface="Arial"/>
              </a:rPr>
              <a:t>5</a:t>
            </a:fld>
            <a:endParaRPr sz="1200" b="0" i="0" u="none" strike="noStrike" cap="none">
              <a:solidFill>
                <a:srgbClr val="595959"/>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0219D-93D8-6035-6F7E-9853D66E1DB8}"/>
              </a:ext>
            </a:extLst>
          </p:cNvPr>
          <p:cNvSpPr>
            <a:spLocks noGrp="1"/>
          </p:cNvSpPr>
          <p:nvPr>
            <p:ph type="title"/>
          </p:nvPr>
        </p:nvSpPr>
        <p:spPr/>
        <p:txBody>
          <a:bodyPr/>
          <a:lstStyle/>
          <a:p>
            <a:r>
              <a:rPr lang="en-US" dirty="0"/>
              <a:t>An Example of Purposive Sampling: Extreme case sampling</a:t>
            </a:r>
          </a:p>
        </p:txBody>
      </p:sp>
      <p:sp>
        <p:nvSpPr>
          <p:cNvPr id="3" name="Text Placeholder 2">
            <a:extLst>
              <a:ext uri="{FF2B5EF4-FFF2-40B4-BE49-F238E27FC236}">
                <a16:creationId xmlns:a16="http://schemas.microsoft.com/office/drawing/2014/main" id="{D1C1C19D-FDB7-A669-D163-15139DE6C061}"/>
              </a:ext>
            </a:extLst>
          </p:cNvPr>
          <p:cNvSpPr>
            <a:spLocks noGrp="1"/>
          </p:cNvSpPr>
          <p:nvPr>
            <p:ph type="body" idx="1"/>
          </p:nvPr>
        </p:nvSpPr>
        <p:spPr/>
        <p:txBody>
          <a:bodyPr/>
          <a:lstStyle/>
          <a:p>
            <a:r>
              <a:rPr lang="en-US" dirty="0"/>
              <a:t>focus on cases that are special or unusual, typically in the sense that the cases highlight notable outcomes, failures or successes.</a:t>
            </a:r>
          </a:p>
        </p:txBody>
      </p:sp>
      <p:sp>
        <p:nvSpPr>
          <p:cNvPr id="4" name="TextBox 3">
            <a:extLst>
              <a:ext uri="{FF2B5EF4-FFF2-40B4-BE49-F238E27FC236}">
                <a16:creationId xmlns:a16="http://schemas.microsoft.com/office/drawing/2014/main" id="{1093C878-8AC7-BA94-F586-A45745E15EEC}"/>
              </a:ext>
            </a:extLst>
          </p:cNvPr>
          <p:cNvSpPr txBox="1"/>
          <p:nvPr/>
        </p:nvSpPr>
        <p:spPr>
          <a:xfrm>
            <a:off x="1550193" y="3257551"/>
            <a:ext cx="6043613" cy="2246769"/>
          </a:xfrm>
          <a:prstGeom prst="rect">
            <a:avLst/>
          </a:prstGeom>
          <a:solidFill>
            <a:schemeClr val="bg1">
              <a:lumMod val="75000"/>
            </a:schemeClr>
          </a:solidFill>
        </p:spPr>
        <p:txBody>
          <a:bodyPr wrap="square" rtlCol="0">
            <a:spAutoFit/>
          </a:bodyPr>
          <a:lstStyle/>
          <a:p>
            <a:pPr algn="ctr"/>
            <a:r>
              <a:rPr lang="en-US" sz="2400" dirty="0">
                <a:solidFill>
                  <a:srgbClr val="595959"/>
                </a:solidFill>
              </a:rPr>
              <a:t>A researcher wants to collect feedback from students on a new instructional plan. </a:t>
            </a:r>
          </a:p>
          <a:p>
            <a:pPr algn="ctr"/>
            <a:endParaRPr lang="en-US" sz="2400" dirty="0">
              <a:solidFill>
                <a:srgbClr val="595959"/>
              </a:solidFill>
            </a:endParaRPr>
          </a:p>
          <a:p>
            <a:pPr algn="ctr"/>
            <a:r>
              <a:rPr lang="en-US" sz="2400" dirty="0">
                <a:solidFill>
                  <a:srgbClr val="595959"/>
                </a:solidFill>
              </a:rPr>
              <a:t>She pick some students who are less satisfied to gain more insights.</a:t>
            </a:r>
          </a:p>
          <a:p>
            <a:pPr algn="ctr"/>
            <a:endParaRPr lang="en-US" sz="2000" dirty="0"/>
          </a:p>
        </p:txBody>
      </p:sp>
    </p:spTree>
    <p:extLst>
      <p:ext uri="{BB962C8B-B14F-4D97-AF65-F5344CB8AC3E}">
        <p14:creationId xmlns:p14="http://schemas.microsoft.com/office/powerpoint/2010/main" val="1982234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7"/>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Convenience Samples</a:t>
            </a:r>
            <a:endParaRPr/>
          </a:p>
        </p:txBody>
      </p:sp>
      <p:sp>
        <p:nvSpPr>
          <p:cNvPr id="106" name="Google Shape;106;p7"/>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Elements selected because they are easy to include, or they are available</a:t>
            </a:r>
            <a:endParaRPr/>
          </a:p>
          <a:p>
            <a:pPr marL="257209" lvl="0" indent="-257209" algn="l" rtl="0">
              <a:spcBef>
                <a:spcPts val="480"/>
              </a:spcBef>
              <a:spcAft>
                <a:spcPts val="0"/>
              </a:spcAft>
              <a:buSzPts val="2400"/>
              <a:buFont typeface="Arial"/>
              <a:buChar char="•"/>
            </a:pPr>
            <a:r>
              <a:rPr lang="en-US"/>
              <a:t>Common problem:</a:t>
            </a:r>
            <a:endParaRPr/>
          </a:p>
          <a:p>
            <a:pPr marL="557287" lvl="1" indent="-214340" algn="l" rtl="0">
              <a:spcBef>
                <a:spcPts val="420"/>
              </a:spcBef>
              <a:spcAft>
                <a:spcPts val="0"/>
              </a:spcAft>
              <a:buSzPts val="2100"/>
              <a:buFont typeface="Arial"/>
              <a:buChar char="–"/>
            </a:pPr>
            <a:r>
              <a:rPr lang="en-US"/>
              <a:t>Respondents will have similar characteristics because they are part of the researcher’s network</a:t>
            </a:r>
            <a:endParaRPr/>
          </a:p>
          <a:p>
            <a:pPr marL="557287" lvl="1" indent="-80990" algn="l" rtl="0">
              <a:spcBef>
                <a:spcPts val="420"/>
              </a:spcBef>
              <a:spcAft>
                <a:spcPts val="0"/>
              </a:spcAft>
              <a:buSzPts val="2100"/>
              <a:buFont typeface="Arial"/>
              <a:buNone/>
            </a:pPr>
            <a:endParaRPr/>
          </a:p>
        </p:txBody>
      </p:sp>
      <p:sp>
        <p:nvSpPr>
          <p:cNvPr id="107" name="Google Shape;107;p7"/>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rgbClr val="595959"/>
              </a:solidFill>
              <a:latin typeface="Arial"/>
              <a:ea typeface="Arial"/>
              <a:cs typeface="Arial"/>
              <a:sym typeface="Arial"/>
            </a:endParaRPr>
          </a:p>
        </p:txBody>
      </p:sp>
      <p:sp>
        <p:nvSpPr>
          <p:cNvPr id="108" name="Google Shape;108;p7"/>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595959"/>
                </a:solidFill>
                <a:latin typeface="Arial"/>
                <a:ea typeface="Arial"/>
                <a:cs typeface="Arial"/>
                <a:sym typeface="Arial"/>
              </a:rPr>
              <a:t>7</a:t>
            </a:fld>
            <a:endParaRPr sz="1200" b="0" i="0" u="none" strike="noStrike" cap="none">
              <a:solidFill>
                <a:srgbClr val="595959"/>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8"/>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Convenience Samples</a:t>
            </a:r>
            <a:endParaRPr/>
          </a:p>
        </p:txBody>
      </p:sp>
      <p:sp>
        <p:nvSpPr>
          <p:cNvPr id="115" name="Google Shape;115;p8"/>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Least-scientific form of sampling</a:t>
            </a:r>
            <a:endParaRPr/>
          </a:p>
          <a:p>
            <a:pPr marL="257209" lvl="0" indent="-257209" algn="l" rtl="0">
              <a:spcBef>
                <a:spcPts val="480"/>
              </a:spcBef>
              <a:spcAft>
                <a:spcPts val="0"/>
              </a:spcAft>
              <a:buSzPts val="2400"/>
              <a:buFont typeface="Arial"/>
              <a:buChar char="•"/>
            </a:pPr>
            <a:r>
              <a:rPr lang="en-US"/>
              <a:t>Other names:</a:t>
            </a:r>
            <a:endParaRPr/>
          </a:p>
          <a:p>
            <a:pPr marL="557287" lvl="1" indent="-214340" algn="l" rtl="0">
              <a:spcBef>
                <a:spcPts val="420"/>
              </a:spcBef>
              <a:spcAft>
                <a:spcPts val="0"/>
              </a:spcAft>
              <a:buSzPts val="2100"/>
              <a:buFont typeface="Arial"/>
              <a:buChar char="–"/>
            </a:pPr>
            <a:r>
              <a:rPr lang="en-US"/>
              <a:t>Availability sampling</a:t>
            </a:r>
            <a:endParaRPr/>
          </a:p>
          <a:p>
            <a:pPr marL="557287" lvl="1" indent="-214340" algn="l" rtl="0">
              <a:spcBef>
                <a:spcPts val="420"/>
              </a:spcBef>
              <a:spcAft>
                <a:spcPts val="0"/>
              </a:spcAft>
              <a:buSzPts val="2100"/>
              <a:buFont typeface="Arial"/>
              <a:buChar char="–"/>
            </a:pPr>
            <a:r>
              <a:rPr lang="en-US"/>
              <a:t>Haphazard sampling</a:t>
            </a:r>
            <a:endParaRPr/>
          </a:p>
        </p:txBody>
      </p:sp>
      <p:sp>
        <p:nvSpPr>
          <p:cNvPr id="116" name="Google Shape;116;p8"/>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rgbClr val="595959"/>
              </a:solidFill>
              <a:latin typeface="Arial"/>
              <a:ea typeface="Arial"/>
              <a:cs typeface="Arial"/>
              <a:sym typeface="Arial"/>
            </a:endParaRPr>
          </a:p>
        </p:txBody>
      </p:sp>
      <p:sp>
        <p:nvSpPr>
          <p:cNvPr id="117" name="Google Shape;117;p8"/>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595959"/>
                </a:solidFill>
                <a:latin typeface="Arial"/>
                <a:ea typeface="Arial"/>
                <a:cs typeface="Arial"/>
                <a:sym typeface="Arial"/>
              </a:rPr>
              <a:t>8</a:t>
            </a:fld>
            <a:endParaRPr sz="1200" b="0" i="0" u="none" strike="noStrike" cap="none">
              <a:solidFill>
                <a:srgbClr val="595959"/>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9"/>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Convenience Samples</a:t>
            </a:r>
            <a:endParaRPr/>
          </a:p>
        </p:txBody>
      </p:sp>
      <p:sp>
        <p:nvSpPr>
          <p:cNvPr id="124" name="Google Shape;124;p9"/>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Interpret results with extreme caution</a:t>
            </a:r>
            <a:endParaRPr/>
          </a:p>
          <a:p>
            <a:pPr marL="257209" lvl="0" indent="-257209" algn="l" rtl="0">
              <a:spcBef>
                <a:spcPts val="480"/>
              </a:spcBef>
              <a:spcAft>
                <a:spcPts val="0"/>
              </a:spcAft>
              <a:buSzPts val="2400"/>
              <a:buFont typeface="Arial"/>
              <a:buChar char="•"/>
            </a:pPr>
            <a:r>
              <a:rPr lang="en-US"/>
              <a:t>No reason to believe the sample is representative of the population</a:t>
            </a:r>
            <a:endParaRPr/>
          </a:p>
        </p:txBody>
      </p:sp>
      <p:sp>
        <p:nvSpPr>
          <p:cNvPr id="125" name="Google Shape;125;p9"/>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rgbClr val="595959"/>
              </a:solidFill>
              <a:latin typeface="Arial"/>
              <a:ea typeface="Arial"/>
              <a:cs typeface="Arial"/>
              <a:sym typeface="Arial"/>
            </a:endParaRPr>
          </a:p>
        </p:txBody>
      </p:sp>
      <p:sp>
        <p:nvSpPr>
          <p:cNvPr id="126" name="Google Shape;126;p9"/>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595959"/>
                </a:solidFill>
                <a:latin typeface="Arial"/>
                <a:ea typeface="Arial"/>
                <a:cs typeface="Arial"/>
                <a:sym typeface="Arial"/>
              </a:rPr>
              <a:t>9</a:t>
            </a:fld>
            <a:endParaRPr sz="1200" b="0" i="0" u="none" strike="noStrike" cap="none">
              <a:solidFill>
                <a:srgbClr val="595959"/>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0"/>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Sampling Hard-to-Find or Hidden Populations</a:t>
            </a:r>
            <a:endParaRPr/>
          </a:p>
        </p:txBody>
      </p:sp>
      <p:sp>
        <p:nvSpPr>
          <p:cNvPr id="132" name="Google Shape;132;p10"/>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rmAutofit/>
          </a:bodyPr>
          <a:lstStyle/>
          <a:p>
            <a:pPr marL="257209" lvl="0" indent="-257209" algn="l" rtl="0">
              <a:spcBef>
                <a:spcPts val="0"/>
              </a:spcBef>
              <a:spcAft>
                <a:spcPts val="0"/>
              </a:spcAft>
              <a:buSzPts val="2400"/>
              <a:buFont typeface="Arial"/>
              <a:buChar char="•"/>
            </a:pPr>
            <a:r>
              <a:rPr lang="en-US" dirty="0"/>
              <a:t>Some populations are hard to sample </a:t>
            </a:r>
            <a:endParaRPr dirty="0"/>
          </a:p>
          <a:p>
            <a:pPr marL="557287" lvl="1" indent="-214340" algn="l" rtl="0">
              <a:spcBef>
                <a:spcPts val="420"/>
              </a:spcBef>
              <a:spcAft>
                <a:spcPts val="0"/>
              </a:spcAft>
              <a:buSzPts val="2100"/>
              <a:buFont typeface="Arial"/>
              <a:buChar char="–"/>
            </a:pPr>
            <a:r>
              <a:rPr lang="en-US" dirty="0"/>
              <a:t>Size &amp; locations are not known</a:t>
            </a:r>
            <a:endParaRPr dirty="0"/>
          </a:p>
          <a:p>
            <a:pPr marL="557287" lvl="1" indent="-214340" algn="l" rtl="0">
              <a:spcBef>
                <a:spcPts val="420"/>
              </a:spcBef>
              <a:spcAft>
                <a:spcPts val="0"/>
              </a:spcAft>
              <a:buSzPts val="2100"/>
              <a:buFont typeface="Arial"/>
              <a:buChar char="–"/>
            </a:pPr>
            <a:r>
              <a:rPr lang="en-US" dirty="0"/>
              <a:t>Population is marginalized or stigmatized</a:t>
            </a:r>
            <a:endParaRPr dirty="0"/>
          </a:p>
          <a:p>
            <a:pPr marL="257209" lvl="0" indent="-257209" algn="l" rtl="0">
              <a:spcBef>
                <a:spcPts val="480"/>
              </a:spcBef>
              <a:spcAft>
                <a:spcPts val="0"/>
              </a:spcAft>
              <a:buSzPts val="2400"/>
              <a:buFont typeface="Arial"/>
              <a:buChar char="•"/>
            </a:pPr>
            <a:r>
              <a:rPr lang="en-US" dirty="0"/>
              <a:t>Examples?</a:t>
            </a:r>
            <a:endParaRPr dirty="0"/>
          </a:p>
          <a:p>
            <a:pPr marL="557287" lvl="1" indent="-214340" algn="l" rtl="0">
              <a:spcBef>
                <a:spcPts val="420"/>
              </a:spcBef>
              <a:spcAft>
                <a:spcPts val="0"/>
              </a:spcAft>
              <a:buSzPts val="2100"/>
              <a:buFont typeface="Arial"/>
              <a:buChar char="–"/>
            </a:pPr>
            <a:r>
              <a:rPr lang="en-US" dirty="0"/>
              <a:t>Homeless </a:t>
            </a:r>
            <a:endParaRPr dirty="0"/>
          </a:p>
          <a:p>
            <a:pPr marL="557287" lvl="1" indent="-214340" algn="l" rtl="0">
              <a:spcBef>
                <a:spcPts val="420"/>
              </a:spcBef>
              <a:spcAft>
                <a:spcPts val="0"/>
              </a:spcAft>
              <a:buSzPts val="2100"/>
              <a:buFont typeface="Arial"/>
              <a:buChar char="–"/>
            </a:pPr>
            <a:r>
              <a:rPr lang="en-US" dirty="0"/>
              <a:t>drug users</a:t>
            </a:r>
            <a:endParaRPr dirty="0"/>
          </a:p>
          <a:p>
            <a:pPr marL="557287" lvl="1" indent="-214340" algn="l" rtl="0">
              <a:spcBef>
                <a:spcPts val="420"/>
              </a:spcBef>
              <a:spcAft>
                <a:spcPts val="0"/>
              </a:spcAft>
              <a:buSzPts val="2100"/>
              <a:buFont typeface="Arial"/>
              <a:buChar char="–"/>
            </a:pPr>
            <a:r>
              <a:rPr lang="en-US" dirty="0"/>
              <a:t>Others?</a:t>
            </a:r>
            <a:endParaRPr dirty="0"/>
          </a:p>
        </p:txBody>
      </p:sp>
      <p:sp>
        <p:nvSpPr>
          <p:cNvPr id="133" name="Google Shape;133;p10"/>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rgbClr val="595959"/>
              </a:solidFill>
              <a:latin typeface="Arial"/>
              <a:ea typeface="Arial"/>
              <a:cs typeface="Arial"/>
              <a:sym typeface="Arial"/>
            </a:endParaRPr>
          </a:p>
        </p:txBody>
      </p:sp>
      <p:sp>
        <p:nvSpPr>
          <p:cNvPr id="134" name="Google Shape;134;p10"/>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595959"/>
                </a:solidFill>
                <a:latin typeface="Arial"/>
                <a:ea typeface="Arial"/>
                <a:cs typeface="Arial"/>
                <a:sym typeface="Arial"/>
              </a:rPr>
              <a:t>10</a:t>
            </a:fld>
            <a:endParaRPr sz="1200" b="0" i="0" u="none" strike="noStrike" cap="none">
              <a:solidFill>
                <a:srgbClr val="595959"/>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1"/>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Snowball Sampling</a:t>
            </a:r>
            <a:endParaRPr/>
          </a:p>
        </p:txBody>
      </p:sp>
      <p:sp>
        <p:nvSpPr>
          <p:cNvPr id="140" name="Google Shape;140;p11"/>
          <p:cNvSpPr txBox="1">
            <a:spLocks noGrp="1"/>
          </p:cNvSpPr>
          <p:nvPr>
            <p:ph type="body" idx="1"/>
          </p:nvPr>
        </p:nvSpPr>
        <p:spPr>
          <a:xfrm>
            <a:off x="938759" y="2263138"/>
            <a:ext cx="4233472" cy="3476303"/>
          </a:xfrm>
          <a:prstGeom prst="rect">
            <a:avLst/>
          </a:prstGeom>
          <a:noFill/>
          <a:ln>
            <a:noFill/>
          </a:ln>
        </p:spPr>
        <p:txBody>
          <a:bodyPr spcFirstLastPara="1" wrap="square" lIns="68575" tIns="34275" rIns="68575" bIns="34275" anchor="t" anchorCtr="0">
            <a:normAutofit lnSpcReduction="10000"/>
          </a:bodyPr>
          <a:lstStyle/>
          <a:p>
            <a:pPr marL="257209" lvl="0" indent="-257209" algn="l" rtl="0">
              <a:spcBef>
                <a:spcPts val="0"/>
              </a:spcBef>
              <a:spcAft>
                <a:spcPts val="0"/>
              </a:spcAft>
              <a:buSzPts val="2400"/>
              <a:buFont typeface="Arial"/>
              <a:buChar char="•"/>
            </a:pPr>
            <a:r>
              <a:rPr lang="en-US"/>
              <a:t>Other names:</a:t>
            </a:r>
            <a:endParaRPr/>
          </a:p>
          <a:p>
            <a:pPr marL="557287" lvl="1" indent="-214340" algn="l" rtl="0">
              <a:spcBef>
                <a:spcPts val="420"/>
              </a:spcBef>
              <a:spcAft>
                <a:spcPts val="0"/>
              </a:spcAft>
              <a:buSzPts val="2100"/>
              <a:buFont typeface="Arial"/>
              <a:buChar char="–"/>
            </a:pPr>
            <a:r>
              <a:rPr lang="en-US"/>
              <a:t>Chain sampling</a:t>
            </a:r>
            <a:endParaRPr/>
          </a:p>
          <a:p>
            <a:pPr marL="557287" lvl="1" indent="-214340" algn="l" rtl="0">
              <a:spcBef>
                <a:spcPts val="420"/>
              </a:spcBef>
              <a:spcAft>
                <a:spcPts val="0"/>
              </a:spcAft>
              <a:buSzPts val="2100"/>
              <a:buFont typeface="Arial"/>
              <a:buChar char="–"/>
            </a:pPr>
            <a:r>
              <a:rPr lang="en-US"/>
              <a:t>Chain referral</a:t>
            </a:r>
            <a:endParaRPr/>
          </a:p>
          <a:p>
            <a:pPr marL="257209" lvl="0" indent="-257209" algn="l" rtl="0">
              <a:spcBef>
                <a:spcPts val="480"/>
              </a:spcBef>
              <a:spcAft>
                <a:spcPts val="0"/>
              </a:spcAft>
              <a:buSzPts val="2400"/>
              <a:buFont typeface="Arial"/>
              <a:buChar char="•"/>
            </a:pPr>
            <a:r>
              <a:rPr lang="en-US"/>
              <a:t>A member of the sample refers the researcher to others who fall within the population</a:t>
            </a:r>
            <a:endParaRPr/>
          </a:p>
          <a:p>
            <a:pPr marL="557287" lvl="1" indent="-214340" algn="l" rtl="0">
              <a:spcBef>
                <a:spcPts val="420"/>
              </a:spcBef>
              <a:spcAft>
                <a:spcPts val="0"/>
              </a:spcAft>
              <a:buSzPts val="2100"/>
              <a:buFont typeface="Arial"/>
              <a:buChar char="–"/>
            </a:pPr>
            <a:r>
              <a:rPr lang="en-US"/>
              <a:t>These members refer others</a:t>
            </a:r>
            <a:endParaRPr/>
          </a:p>
          <a:p>
            <a:pPr marL="857364" lvl="2" indent="-171473" algn="l" rtl="0">
              <a:spcBef>
                <a:spcPts val="360"/>
              </a:spcBef>
              <a:spcAft>
                <a:spcPts val="0"/>
              </a:spcAft>
              <a:buSzPts val="1800"/>
              <a:buFont typeface="Arial"/>
              <a:buChar char="•"/>
            </a:pPr>
            <a:r>
              <a:rPr lang="en-US"/>
              <a:t>These members refer others</a:t>
            </a:r>
            <a:endParaRPr/>
          </a:p>
          <a:p>
            <a:pPr marL="1200310" lvl="3" indent="-171472" algn="l" rtl="0">
              <a:spcBef>
                <a:spcPts val="300"/>
              </a:spcBef>
              <a:spcAft>
                <a:spcPts val="0"/>
              </a:spcAft>
              <a:buSzPts val="1500"/>
              <a:buFont typeface="Arial"/>
              <a:buChar char="–"/>
            </a:pPr>
            <a:r>
              <a:rPr lang="en-US"/>
              <a:t>And so on…</a:t>
            </a:r>
            <a:endParaRPr/>
          </a:p>
        </p:txBody>
      </p:sp>
      <p:sp>
        <p:nvSpPr>
          <p:cNvPr id="141" name="Google Shape;141;p11"/>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rgbClr val="595959"/>
              </a:solidFill>
              <a:latin typeface="Arial"/>
              <a:ea typeface="Arial"/>
              <a:cs typeface="Arial"/>
              <a:sym typeface="Arial"/>
            </a:endParaRPr>
          </a:p>
        </p:txBody>
      </p:sp>
      <p:sp>
        <p:nvSpPr>
          <p:cNvPr id="142" name="Google Shape;142;p11"/>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595959"/>
                </a:solidFill>
                <a:latin typeface="Arial"/>
                <a:ea typeface="Arial"/>
                <a:cs typeface="Arial"/>
                <a:sym typeface="Arial"/>
              </a:rPr>
              <a:t>11</a:t>
            </a:fld>
            <a:endParaRPr sz="1200" b="0" i="0" u="none" strike="noStrike" cap="none">
              <a:solidFill>
                <a:srgbClr val="595959"/>
              </a:solidFill>
              <a:latin typeface="Arial"/>
              <a:ea typeface="Arial"/>
              <a:cs typeface="Arial"/>
              <a:sym typeface="Arial"/>
            </a:endParaRPr>
          </a:p>
        </p:txBody>
      </p:sp>
      <p:pic>
        <p:nvPicPr>
          <p:cNvPr id="143" name="Google Shape;143;p11"/>
          <p:cNvPicPr preferRelativeResize="0"/>
          <p:nvPr/>
        </p:nvPicPr>
        <p:blipFill rotWithShape="1">
          <a:blip r:embed="rId3">
            <a:alphaModFix/>
          </a:blip>
          <a:srcRect/>
          <a:stretch/>
        </p:blipFill>
        <p:spPr>
          <a:xfrm>
            <a:off x="5415255" y="2395447"/>
            <a:ext cx="3623485" cy="244429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2"/>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Snowball Sampling</a:t>
            </a:r>
            <a:endParaRPr/>
          </a:p>
        </p:txBody>
      </p:sp>
      <p:sp>
        <p:nvSpPr>
          <p:cNvPr id="149" name="Google Shape;149;p12"/>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rgbClr val="595959"/>
              </a:solidFill>
              <a:latin typeface="Arial"/>
              <a:ea typeface="Arial"/>
              <a:cs typeface="Arial"/>
              <a:sym typeface="Arial"/>
            </a:endParaRPr>
          </a:p>
        </p:txBody>
      </p:sp>
      <p:sp>
        <p:nvSpPr>
          <p:cNvPr id="150" name="Google Shape;150;p12"/>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595959"/>
                </a:solidFill>
                <a:latin typeface="Arial"/>
                <a:ea typeface="Arial"/>
                <a:cs typeface="Arial"/>
                <a:sym typeface="Arial"/>
              </a:rPr>
              <a:t>12</a:t>
            </a:fld>
            <a:endParaRPr sz="1200" b="0" i="0" u="none" strike="noStrike" cap="none">
              <a:solidFill>
                <a:srgbClr val="595959"/>
              </a:solidFill>
              <a:latin typeface="Arial"/>
              <a:ea typeface="Arial"/>
              <a:cs typeface="Arial"/>
              <a:sym typeface="Arial"/>
            </a:endParaRPr>
          </a:p>
        </p:txBody>
      </p:sp>
      <p:pic>
        <p:nvPicPr>
          <p:cNvPr id="151" name="Google Shape;151;p12"/>
          <p:cNvPicPr preferRelativeResize="0"/>
          <p:nvPr/>
        </p:nvPicPr>
        <p:blipFill rotWithShape="1">
          <a:blip r:embed="rId3">
            <a:alphaModFix/>
          </a:blip>
          <a:srcRect/>
          <a:stretch/>
        </p:blipFill>
        <p:spPr>
          <a:xfrm>
            <a:off x="1285875" y="2190750"/>
            <a:ext cx="6562725" cy="2466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3"/>
          <p:cNvSpPr txBox="1">
            <a:spLocks noGrp="1"/>
          </p:cNvSpPr>
          <p:nvPr>
            <p:ph type="title"/>
          </p:nvPr>
        </p:nvSpPr>
        <p:spPr>
          <a:xfrm>
            <a:off x="938758" y="2263138"/>
            <a:ext cx="7633742" cy="1119099"/>
          </a:xfrm>
          <a:prstGeom prst="rect">
            <a:avLst/>
          </a:prstGeom>
          <a:noFill/>
          <a:ln>
            <a:noFill/>
          </a:ln>
        </p:spPr>
        <p:txBody>
          <a:bodyPr spcFirstLastPara="1" wrap="square" lIns="68575" tIns="34275" rIns="68575" bIns="34275" anchor="ctr" anchorCtr="0">
            <a:normAutofit/>
          </a:bodyPr>
          <a:lstStyle/>
          <a:p>
            <a:pPr marL="0" lvl="0" indent="0" algn="l" rtl="0">
              <a:spcBef>
                <a:spcPts val="0"/>
              </a:spcBef>
              <a:spcAft>
                <a:spcPts val="0"/>
              </a:spcAft>
              <a:buNone/>
            </a:pPr>
            <a:r>
              <a:rPr lang="en-US"/>
              <a:t>What are problems that come to mind with snowball sampling?</a:t>
            </a:r>
            <a:endParaRPr/>
          </a:p>
        </p:txBody>
      </p:sp>
      <p:sp>
        <p:nvSpPr>
          <p:cNvPr id="157" name="Google Shape;157;p13"/>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rgbClr val="595959"/>
              </a:solidFill>
              <a:latin typeface="Arial"/>
              <a:ea typeface="Arial"/>
              <a:cs typeface="Arial"/>
              <a:sym typeface="Arial"/>
            </a:endParaRPr>
          </a:p>
        </p:txBody>
      </p:sp>
      <p:sp>
        <p:nvSpPr>
          <p:cNvPr id="158" name="Google Shape;158;p13"/>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595959"/>
                </a:solidFill>
                <a:latin typeface="Arial"/>
                <a:ea typeface="Arial"/>
                <a:cs typeface="Arial"/>
                <a:sym typeface="Arial"/>
              </a:rPr>
              <a:t>13</a:t>
            </a:fld>
            <a:endParaRPr sz="1200" b="0" i="0" u="none" strike="noStrike" cap="none">
              <a:solidFill>
                <a:srgbClr val="595959"/>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4"/>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Selection Bias</a:t>
            </a:r>
            <a:endParaRPr/>
          </a:p>
        </p:txBody>
      </p:sp>
      <p:sp>
        <p:nvSpPr>
          <p:cNvPr id="164" name="Google Shape;164;p14"/>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Whoever is included as the Wave 1 recruit can have a strong influence on the rest of the sample</a:t>
            </a:r>
            <a:endParaRPr/>
          </a:p>
        </p:txBody>
      </p:sp>
      <p:sp>
        <p:nvSpPr>
          <p:cNvPr id="165" name="Google Shape;165;p14"/>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rgbClr val="595959"/>
              </a:solidFill>
              <a:latin typeface="Arial"/>
              <a:ea typeface="Arial"/>
              <a:cs typeface="Arial"/>
              <a:sym typeface="Arial"/>
            </a:endParaRPr>
          </a:p>
        </p:txBody>
      </p:sp>
      <p:sp>
        <p:nvSpPr>
          <p:cNvPr id="166" name="Google Shape;166;p14"/>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595959"/>
                </a:solidFill>
                <a:latin typeface="Arial"/>
                <a:ea typeface="Arial"/>
                <a:cs typeface="Arial"/>
                <a:sym typeface="Arial"/>
              </a:rPr>
              <a:t>14</a:t>
            </a:fld>
            <a:endParaRPr sz="1200" b="0" i="0" u="none" strike="noStrike" cap="none">
              <a:solidFill>
                <a:srgbClr val="595959"/>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5"/>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Minimizing bias in snowball sampling</a:t>
            </a:r>
            <a:endParaRPr/>
          </a:p>
        </p:txBody>
      </p:sp>
      <p:sp>
        <p:nvSpPr>
          <p:cNvPr id="172" name="Google Shape;172;p15"/>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Use Wave 1 recruits from different sub-populations</a:t>
            </a:r>
            <a:endParaRPr/>
          </a:p>
          <a:p>
            <a:pPr marL="257209" lvl="0" indent="-257209" algn="l" rtl="0">
              <a:spcBef>
                <a:spcPts val="480"/>
              </a:spcBef>
              <a:spcAft>
                <a:spcPts val="0"/>
              </a:spcAft>
              <a:buSzPts val="2400"/>
              <a:buFont typeface="Arial"/>
              <a:buChar char="•"/>
            </a:pPr>
            <a:r>
              <a:rPr lang="en-US"/>
              <a:t>Draw Wave 1 recruits randomly if possible</a:t>
            </a:r>
            <a:endParaRPr/>
          </a:p>
        </p:txBody>
      </p:sp>
      <p:sp>
        <p:nvSpPr>
          <p:cNvPr id="173" name="Google Shape;173;p15"/>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rgbClr val="595959"/>
              </a:solidFill>
              <a:latin typeface="Arial"/>
              <a:ea typeface="Arial"/>
              <a:cs typeface="Arial"/>
              <a:sym typeface="Arial"/>
            </a:endParaRPr>
          </a:p>
        </p:txBody>
      </p:sp>
      <p:sp>
        <p:nvSpPr>
          <p:cNvPr id="174" name="Google Shape;174;p15"/>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595959"/>
                </a:solidFill>
                <a:latin typeface="Arial"/>
                <a:ea typeface="Arial"/>
                <a:cs typeface="Arial"/>
                <a:sym typeface="Arial"/>
              </a:rPr>
              <a:t>15</a:t>
            </a:fld>
            <a:endParaRPr sz="1200" b="0" i="0" u="none" strike="noStrike" cap="none">
              <a:solidFill>
                <a:srgbClr val="595959"/>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6"/>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rgbClr val="595959"/>
              </a:solidFill>
              <a:latin typeface="Arial"/>
              <a:ea typeface="Arial"/>
              <a:cs typeface="Arial"/>
              <a:sym typeface="Arial"/>
            </a:endParaRPr>
          </a:p>
        </p:txBody>
      </p:sp>
      <p:sp>
        <p:nvSpPr>
          <p:cNvPr id="180" name="Google Shape;180;p16"/>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595959"/>
                </a:solidFill>
                <a:latin typeface="Arial"/>
                <a:ea typeface="Arial"/>
                <a:cs typeface="Arial"/>
                <a:sym typeface="Arial"/>
              </a:rPr>
              <a:t>16</a:t>
            </a:fld>
            <a:endParaRPr sz="1200" b="0" i="0" u="none" strike="noStrike" cap="none">
              <a:solidFill>
                <a:srgbClr val="595959"/>
              </a:solidFill>
              <a:latin typeface="Arial"/>
              <a:ea typeface="Arial"/>
              <a:cs typeface="Arial"/>
              <a:sym typeface="Arial"/>
            </a:endParaRPr>
          </a:p>
        </p:txBody>
      </p:sp>
      <p:pic>
        <p:nvPicPr>
          <p:cNvPr id="181" name="Google Shape;181;p16"/>
          <p:cNvPicPr preferRelativeResize="0"/>
          <p:nvPr/>
        </p:nvPicPr>
        <p:blipFill rotWithShape="1">
          <a:blip r:embed="rId3">
            <a:alphaModFix/>
          </a:blip>
          <a:srcRect/>
          <a:stretch/>
        </p:blipFill>
        <p:spPr>
          <a:xfrm>
            <a:off x="514350" y="1657350"/>
            <a:ext cx="8115300" cy="35337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5DEDA-B019-25A5-593A-1C2F4A300287}"/>
              </a:ext>
            </a:extLst>
          </p:cNvPr>
          <p:cNvSpPr>
            <a:spLocks noGrp="1"/>
          </p:cNvSpPr>
          <p:nvPr>
            <p:ph type="title"/>
          </p:nvPr>
        </p:nvSpPr>
        <p:spPr/>
        <p:txBody>
          <a:bodyPr/>
          <a:lstStyle/>
          <a:p>
            <a:r>
              <a:rPr lang="en-US" dirty="0"/>
              <a:t>Exercise: Which sampling method is used?</a:t>
            </a:r>
          </a:p>
        </p:txBody>
      </p:sp>
      <p:sp>
        <p:nvSpPr>
          <p:cNvPr id="3" name="Text Placeholder 2">
            <a:extLst>
              <a:ext uri="{FF2B5EF4-FFF2-40B4-BE49-F238E27FC236}">
                <a16:creationId xmlns:a16="http://schemas.microsoft.com/office/drawing/2014/main" id="{6691FD5A-EDC2-5089-483E-63AA4334B721}"/>
              </a:ext>
            </a:extLst>
          </p:cNvPr>
          <p:cNvSpPr>
            <a:spLocks noGrp="1"/>
          </p:cNvSpPr>
          <p:nvPr>
            <p:ph type="body" idx="1"/>
          </p:nvPr>
        </p:nvSpPr>
        <p:spPr/>
        <p:txBody>
          <a:bodyPr/>
          <a:lstStyle/>
          <a:p>
            <a:r>
              <a:rPr lang="en-US" b="0" i="0" dirty="0">
                <a:effectLst/>
                <a:highlight>
                  <a:srgbClr val="FFFFFF"/>
                </a:highlight>
                <a:latin typeface="DM Sans" pitchFamily="2" charset="0"/>
              </a:rPr>
              <a:t>A researcher wants to conduct a survey to study the eating habits of UMN students. </a:t>
            </a:r>
          </a:p>
          <a:p>
            <a:pPr lvl="1"/>
            <a:r>
              <a:rPr lang="en-US" b="0" i="0" dirty="0">
                <a:effectLst/>
                <a:highlight>
                  <a:srgbClr val="FFFFFF"/>
                </a:highlight>
                <a:latin typeface="DM Sans" pitchFamily="2" charset="0"/>
              </a:rPr>
              <a:t>They randomly select 100 students from the list of all enrolled students at the university.</a:t>
            </a:r>
          </a:p>
          <a:p>
            <a:pPr lvl="1"/>
            <a:r>
              <a:rPr lang="en-US" dirty="0">
                <a:highlight>
                  <a:srgbClr val="FFFFFF"/>
                </a:highlight>
                <a:latin typeface="DM Sans" pitchFamily="2" charset="0"/>
              </a:rPr>
              <a:t>They randomly select four from eight freshman-admitting colleges and then recruit students by advertising at the college buildings.</a:t>
            </a:r>
          </a:p>
          <a:p>
            <a:pPr lvl="1"/>
            <a:r>
              <a:rPr lang="en-US" b="0" i="0" dirty="0">
                <a:effectLst/>
                <a:highlight>
                  <a:srgbClr val="FFFFFF"/>
                </a:highlight>
                <a:latin typeface="DM Sans" pitchFamily="2" charset="0"/>
              </a:rPr>
              <a:t>They go to St. Paul Gym to find students who are interested in this survey.</a:t>
            </a:r>
          </a:p>
          <a:p>
            <a:pPr lvl="1"/>
            <a:r>
              <a:rPr lang="en-US" b="0" i="0" dirty="0">
                <a:effectLst/>
                <a:highlight>
                  <a:srgbClr val="FFFFFF"/>
                </a:highlight>
                <a:latin typeface="DM Sans" pitchFamily="2" charset="0"/>
              </a:rPr>
              <a:t>They go to Dinky town to identify 25 freshman, 25 sophomore, 25 junior and 25 senior undergraduates.</a:t>
            </a:r>
          </a:p>
          <a:p>
            <a:endParaRPr lang="en-US" dirty="0"/>
          </a:p>
        </p:txBody>
      </p:sp>
    </p:spTree>
    <p:extLst>
      <p:ext uri="{BB962C8B-B14F-4D97-AF65-F5344CB8AC3E}">
        <p14:creationId xmlns:p14="http://schemas.microsoft.com/office/powerpoint/2010/main" val="41119513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9A335-B25F-5D57-D2B9-B3D551CDF71A}"/>
              </a:ext>
            </a:extLst>
          </p:cNvPr>
          <p:cNvSpPr>
            <a:spLocks noGrp="1"/>
          </p:cNvSpPr>
          <p:nvPr>
            <p:ph type="title"/>
          </p:nvPr>
        </p:nvSpPr>
        <p:spPr/>
        <p:txBody>
          <a:bodyPr/>
          <a:lstStyle/>
          <a:p>
            <a:r>
              <a:rPr lang="en-US" dirty="0"/>
              <a:t>Exercise: Which sampling method is used?</a:t>
            </a:r>
          </a:p>
        </p:txBody>
      </p:sp>
      <p:sp>
        <p:nvSpPr>
          <p:cNvPr id="3" name="Text Placeholder 2">
            <a:extLst>
              <a:ext uri="{FF2B5EF4-FFF2-40B4-BE49-F238E27FC236}">
                <a16:creationId xmlns:a16="http://schemas.microsoft.com/office/drawing/2014/main" id="{6ADC92EA-39E2-D10E-3DFB-1DD04D00ADF1}"/>
              </a:ext>
            </a:extLst>
          </p:cNvPr>
          <p:cNvSpPr>
            <a:spLocks noGrp="1"/>
          </p:cNvSpPr>
          <p:nvPr>
            <p:ph type="body" idx="1"/>
          </p:nvPr>
        </p:nvSpPr>
        <p:spPr/>
        <p:txBody>
          <a:bodyPr/>
          <a:lstStyle/>
          <a:p>
            <a:r>
              <a:rPr lang="en-US" b="0" i="0" dirty="0">
                <a:effectLst/>
                <a:highlight>
                  <a:srgbClr val="FFFFFF"/>
                </a:highlight>
                <a:latin typeface="DM Sans" pitchFamily="2" charset="0"/>
              </a:rPr>
              <a:t>A researcher studying a rare disease starts with a few known patients and asks them to refer other patients they know.</a:t>
            </a:r>
          </a:p>
          <a:p>
            <a:r>
              <a:rPr lang="en-US" b="0" i="0" dirty="0">
                <a:effectLst/>
                <a:highlight>
                  <a:srgbClr val="FFFFFF"/>
                </a:highlight>
                <a:latin typeface="DM Sans" pitchFamily="2" charset="0"/>
              </a:rPr>
              <a:t>A student conducts a survey on study habits by asking friends and classmates to participate.</a:t>
            </a:r>
          </a:p>
          <a:p>
            <a:r>
              <a:rPr lang="en-US" b="0" i="0" dirty="0">
                <a:effectLst/>
                <a:highlight>
                  <a:srgbClr val="FFFFFF"/>
                </a:highlight>
                <a:latin typeface="DM Sans" pitchFamily="2" charset="0"/>
              </a:rPr>
              <a:t>A researcher conducts a survey of attitudes of drug users to rehabilitation services. Drug users are recruited by advertising in the local newspaper for potential respondents.</a:t>
            </a:r>
          </a:p>
          <a:p>
            <a:endParaRPr lang="en-US" dirty="0"/>
          </a:p>
        </p:txBody>
      </p:sp>
    </p:spTree>
    <p:extLst>
      <p:ext uri="{BB962C8B-B14F-4D97-AF65-F5344CB8AC3E}">
        <p14:creationId xmlns:p14="http://schemas.microsoft.com/office/powerpoint/2010/main" val="9511525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FF54E-5090-E0F2-61F6-89C79800A05D}"/>
              </a:ext>
            </a:extLst>
          </p:cNvPr>
          <p:cNvSpPr>
            <a:spLocks noGrp="1"/>
          </p:cNvSpPr>
          <p:nvPr>
            <p:ph type="title"/>
          </p:nvPr>
        </p:nvSpPr>
        <p:spPr/>
        <p:txBody>
          <a:bodyPr/>
          <a:lstStyle/>
          <a:p>
            <a:r>
              <a:rPr lang="en-US" dirty="0"/>
              <a:t>Exercise: Which sampling method is used?</a:t>
            </a:r>
          </a:p>
        </p:txBody>
      </p:sp>
      <p:sp>
        <p:nvSpPr>
          <p:cNvPr id="3" name="Text Placeholder 2">
            <a:extLst>
              <a:ext uri="{FF2B5EF4-FFF2-40B4-BE49-F238E27FC236}">
                <a16:creationId xmlns:a16="http://schemas.microsoft.com/office/drawing/2014/main" id="{8F2A769E-97C0-C2E4-89F7-37595FC8C34F}"/>
              </a:ext>
            </a:extLst>
          </p:cNvPr>
          <p:cNvSpPr>
            <a:spLocks noGrp="1"/>
          </p:cNvSpPr>
          <p:nvPr>
            <p:ph type="body" idx="1"/>
          </p:nvPr>
        </p:nvSpPr>
        <p:spPr/>
        <p:txBody>
          <a:bodyPr/>
          <a:lstStyle/>
          <a:p>
            <a:r>
              <a:rPr lang="en-US" b="0" i="0" dirty="0">
                <a:effectLst/>
                <a:highlight>
                  <a:srgbClr val="FFFFFF"/>
                </a:highlight>
                <a:latin typeface="DM Sans" pitchFamily="2" charset="0"/>
              </a:rPr>
              <a:t>A survey of the attitudes of mothers with children under one year. </a:t>
            </a:r>
          </a:p>
          <a:p>
            <a:pPr lvl="1"/>
            <a:r>
              <a:rPr lang="en-US" b="0" i="0" dirty="0">
                <a:effectLst/>
                <a:highlight>
                  <a:srgbClr val="FFFFFF"/>
                </a:highlight>
                <a:latin typeface="DM Sans" pitchFamily="2" charset="0"/>
              </a:rPr>
              <a:t>Method: interviewers stop likely looking women pushing prams in the street. The number of respondents who fall into different age bands and social classes is strictly controlled.</a:t>
            </a:r>
          </a:p>
          <a:p>
            <a:r>
              <a:rPr lang="en-US" b="0" i="0" dirty="0">
                <a:effectLst/>
                <a:highlight>
                  <a:srgbClr val="FFFFFF"/>
                </a:highlight>
                <a:latin typeface="DM Sans" pitchFamily="2" charset="0"/>
              </a:rPr>
              <a:t>A survey for children with and without chronic asthma. </a:t>
            </a:r>
          </a:p>
          <a:p>
            <a:pPr lvl="1"/>
            <a:r>
              <a:rPr lang="en-US" b="0" i="0" dirty="0">
                <a:effectLst/>
                <a:highlight>
                  <a:srgbClr val="FFFFFF"/>
                </a:highlight>
                <a:latin typeface="DM Sans" pitchFamily="2" charset="0"/>
              </a:rPr>
              <a:t>Method: the children are selected so that in the sample exactly 50% have chronic asthma and 50% have no asthma. Within each of these groups, the children are randomly selected.</a:t>
            </a:r>
            <a:endParaRPr lang="en-US" dirty="0"/>
          </a:p>
        </p:txBody>
      </p:sp>
    </p:spTree>
    <p:extLst>
      <p:ext uri="{BB962C8B-B14F-4D97-AF65-F5344CB8AC3E}">
        <p14:creationId xmlns:p14="http://schemas.microsoft.com/office/powerpoint/2010/main" val="555448715"/>
      </p:ext>
    </p:extLst>
  </p:cSld>
  <p:clrMapOvr>
    <a:masterClrMapping/>
  </p:clrMapOvr>
</p:sld>
</file>

<file path=ppt/theme/theme1.xml><?xml version="1.0" encoding="utf-8"?>
<a:theme xmlns:a="http://schemas.openxmlformats.org/drawingml/2006/main" name="UMN-yellow">
  <a:themeElements>
    <a:clrScheme name="Custom 1">
      <a:dk1>
        <a:srgbClr val="000000"/>
      </a:dk1>
      <a:lt1>
        <a:srgbClr val="FFFFFF"/>
      </a:lt1>
      <a:dk2>
        <a:srgbClr val="1F497D"/>
      </a:dk2>
      <a:lt2>
        <a:srgbClr val="D7D9D7"/>
      </a:lt2>
      <a:accent1>
        <a:srgbClr val="7A0019"/>
      </a:accent1>
      <a:accent2>
        <a:srgbClr val="FFCC33"/>
      </a:accent2>
      <a:accent3>
        <a:srgbClr val="C82936"/>
      </a:accent3>
      <a:accent4>
        <a:srgbClr val="003D4C"/>
      </a:accent4>
      <a:accent5>
        <a:srgbClr val="79C9C7"/>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TotalTime>
  <Words>885</Words>
  <Application>Microsoft Macintosh PowerPoint</Application>
  <PresentationFormat>On-screen Show (4:3)</PresentationFormat>
  <Paragraphs>98</Paragraphs>
  <Slides>19</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Verdana</vt:lpstr>
      <vt:lpstr>Arial</vt:lpstr>
      <vt:lpstr>DM Sans</vt:lpstr>
      <vt:lpstr>UMN-yellow</vt:lpstr>
      <vt:lpstr>Sampling II: Non-Probability Sampling</vt:lpstr>
      <vt:lpstr>Quota Sampling</vt:lpstr>
      <vt:lpstr>Quota Sampling</vt:lpstr>
      <vt:lpstr>Purposive Sampling</vt:lpstr>
      <vt:lpstr>Purposive Sampling</vt:lpstr>
      <vt:lpstr>An Example of Purposive Sampling: Extreme case sampling</vt:lpstr>
      <vt:lpstr>Convenience Samples</vt:lpstr>
      <vt:lpstr>Convenience Samples</vt:lpstr>
      <vt:lpstr>Convenience Samples</vt:lpstr>
      <vt:lpstr>Sampling Hard-to-Find or Hidden Populations</vt:lpstr>
      <vt:lpstr>Snowball Sampling</vt:lpstr>
      <vt:lpstr>Snowball Sampling</vt:lpstr>
      <vt:lpstr>What are problems that come to mind with snowball sampling?</vt:lpstr>
      <vt:lpstr>Selection Bias</vt:lpstr>
      <vt:lpstr>Minimizing bias in snowball sampling</vt:lpstr>
      <vt:lpstr>PowerPoint Presentation</vt:lpstr>
      <vt:lpstr>Exercise: Which sampling method is used?</vt:lpstr>
      <vt:lpstr>Exercise: Which sampling method is used?</vt:lpstr>
      <vt:lpstr>Exercise: Which sampling method is used?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Wenchao Ma</dc:creator>
  <cp:lastModifiedBy>Wenchao Ma</cp:lastModifiedBy>
  <cp:revision>7</cp:revision>
  <dcterms:created xsi:type="dcterms:W3CDTF">2024-07-16T02:19:12Z</dcterms:created>
  <dcterms:modified xsi:type="dcterms:W3CDTF">2024-10-08T20:44:06Z</dcterms:modified>
</cp:coreProperties>
</file>